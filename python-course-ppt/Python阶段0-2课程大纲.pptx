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9" Type="http://schemas.openxmlformats.org/officeDocument/2006/relationships/slide" Target="slides/slide9.xml" /><Relationship Id="rId27" Type="http://schemas.openxmlformats.org/officeDocument/2006/relationships/viewProps" Target="viewProps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5FA8">
                  <a:alpha val="95000"/>
                </a:srgbClr>
              </a:gs>
              <a:gs pos="100000">
                <a:srgbClr val="0E9B78">
                  <a:alpha val="95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4476750"/>
            <a:ext cx="12192000" cy="2381250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85800" y="800100"/>
            <a:ext cx="3752850" cy="333375"/>
          </a:xfrm>
          <a:prstGeom prst="roundRect">
            <a:avLst>
              <a:gd name="adj" fmla="val 17143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8667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零基础</a:t>
            </a:r>
            <a:r>
              <a:rPr lang="en-US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每周</a:t>
            </a:r>
            <a:r>
              <a:rPr lang="en-US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单元</a:t>
            </a:r>
            <a:r>
              <a:rPr lang="en-US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29 </a:t>
            </a:r>
            <a:r>
              <a:rPr lang="zh-CN" sz="1275" b="1" spc="225">
                <a:solidFill>
                  <a:srgbClr val="FFFFFF"/>
                </a:solidFill>
                <a:latin typeface="Microsoft YaHei"/>
                <a:ea typeface="Microsoft YaHei"/>
              </a:rPr>
              <a:t>周完整路径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362075"/>
            <a:ext cx="9144000" cy="10572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2647950"/>
            <a:ext cx="133350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8572500" cy="885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从第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行的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 print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，到能独立做出并上线一个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 Web 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应用</a:t>
            </a:r>
            <a:endParaRPr/>
          </a:p>
          <a:p>
            <a:pPr>
              <a:lnSpc>
                <a:spcPct val="155000"/>
              </a:lnSpc>
            </a:pP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依据《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编程：从入门到实践（第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版）》全</a:t>
            </a:r>
            <a:r>
              <a:rPr lang="en-US" sz="1875">
                <a:solidFill>
                  <a:srgbClr val="E8F1FA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875">
                <a:solidFill>
                  <a:srgbClr val="E8F1FA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4095750"/>
            <a:ext cx="4476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BD6EA"/>
                </a:solidFill>
                <a:latin typeface="Microsoft YaHei"/>
                <a:ea typeface="Microsoft YaHei"/>
              </a:rPr>
              <a:t>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495425" y="4095750"/>
            <a:ext cx="6762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111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495425" y="4533900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BD6EA"/>
                </a:solidFill>
                <a:latin typeface="Microsoft YaHei"/>
                <a:ea typeface="Microsoft YaHei"/>
              </a:rPr>
              <a:t>节课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533650" y="4095750"/>
            <a:ext cx="5715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33650" y="4533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BD6EA"/>
                </a:solidFill>
                <a:latin typeface="Microsoft YaHei"/>
                <a:ea typeface="Microsoft YaHei"/>
              </a:rPr>
              <a:t>个大项目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467100" y="4095750"/>
            <a:ext cx="4286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E08A15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467100" y="4533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BD6EA"/>
                </a:solidFill>
                <a:latin typeface="Microsoft YaHei"/>
                <a:ea typeface="Microsoft YaHei"/>
              </a:rPr>
              <a:t>道关卡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9601200" y="6238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791700" y="61912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DEEE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125">
                <a:solidFill>
                  <a:srgbClr val="C9DEEE"/>
                </a:solidFill>
                <a:latin typeface="Microsoft YaHei"/>
                <a:ea typeface="Microsoft YaHei"/>
              </a:rPr>
              <a:t>阶段</a:t>
            </a:r>
            <a:r>
              <a:rPr lang="en-US" sz="1125">
                <a:solidFill>
                  <a:srgbClr val="C9DEEE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125">
                <a:solidFill>
                  <a:srgbClr val="C9DEEE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课程坐标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这门课要把你从「从没写过代码」送到「能独立交付一个上线的项目」，中间设两道硬关卡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" y="1295400"/>
            <a:ext cx="264795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2343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F5FA8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2133600"/>
            <a:ext cx="23431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含单元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环境准备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十二个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十个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390900" y="1295400"/>
            <a:ext cx="2638425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543300" y="1447800"/>
            <a:ext cx="2333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9B78"/>
                </a:solidFill>
                <a:latin typeface="Microsoft YaHei"/>
                <a:ea typeface="Microsoft YaHei"/>
              </a:rPr>
              <a:t>111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543300" y="192405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32E"/>
                </a:solidFill>
                <a:latin typeface="Microsoft YaHei"/>
                <a:ea typeface="Microsoft YaHei"/>
              </a:rPr>
              <a:t>节课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543300" y="2133600"/>
            <a:ext cx="233362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每节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分钟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复盘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目标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实操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作业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讲评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162675" y="1295400"/>
            <a:ext cx="264795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315075" y="1447800"/>
            <a:ext cx="2343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9B78"/>
                </a:solidFill>
                <a:latin typeface="Microsoft YaHei"/>
                <a:ea typeface="Microsoft YaHei"/>
              </a:rPr>
              <a:t>29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315075" y="192405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32E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315075" y="2133600"/>
            <a:ext cx="23431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每周投入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6–10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小时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约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约</a:t>
            </a:r>
            <a:r>
              <a:rPr lang="en-US" sz="975">
                <a:solidFill>
                  <a:srgbClr val="5A6B7A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8943975" y="1295400"/>
            <a:ext cx="2638425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096375" y="1447800"/>
            <a:ext cx="2333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08A15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096375" y="192405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32E"/>
                </a:solidFill>
                <a:latin typeface="Microsoft YaHei"/>
                <a:ea typeface="Microsoft YaHei"/>
              </a:rPr>
              <a:t>道关卡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096375" y="2133600"/>
            <a:ext cx="233362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不达标不前进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A6B7A"/>
                </a:solidFill>
                <a:latin typeface="Microsoft YaHei"/>
                <a:ea typeface="Microsoft YaHei"/>
              </a:rPr>
              <a:t>只补那一项，不整体重学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781300"/>
            <a:ext cx="10972800" cy="2381250"/>
          </a:xfrm>
          <a:prstGeom prst="rect">
            <a:avLst/>
          </a:prstGeom>
          <a:ln/>
        </p:spPr>
      </p:pic>
      <p:sp>
        <p:nvSpPr>
          <p:cNvPr id="270" name=""/>
          <p:cNvSpPr/>
          <p:nvPr/>
        </p:nvSpPr>
        <p:spPr>
          <a:xfrm rot="0" flipH="0" flipV="0">
            <a:off x="609600" y="52959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1050" y="546735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这套课表的特点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81050" y="5724525"/>
            <a:ext cx="10629900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每个单元有产出物与验收标准，每节课有复盘与讲评，每阶段末有硬关卡。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讲义、题库、课节页全部本地可读，进度保存在本机浏览器。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22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个单元全景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每周一个单元，横轴是周次。蓝色是语法地基，绿色是三个项目，橙色是两道关卡</a:t>
            </a:r>
            <a:endParaRPr/>
          </a:p>
        </p:txBody>
      </p:sp>
      <p:pic>
        <p:nvPicPr>
          <p:cNvPr id="4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10972800" cy="4191000"/>
          </a:xfrm>
          <a:prstGeom prst="rect">
            <a:avLst/>
          </a:prstGeom>
          <a:ln/>
        </p:spPr>
      </p:pic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每周一次的课，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分钟怎么花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固定四段式。零基础最怕的是「听懂了就以为会了」，所以实操时长必须压过讲解时长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1485900"/>
            <a:ext cx="2647950" cy="41910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1485900"/>
            <a:ext cx="2647950" cy="4191000"/>
          </a:xfrm>
          <a:custGeom>
            <a:pathLst>
              <a:path w="278" h="440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6"/>
                  <a:pt x="274" y="4"/>
                  <a:pt x="27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2228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F5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19150" y="2419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复盘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19150" y="27146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19150" y="3914775"/>
            <a:ext cx="22288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上次作业逐题讲评，投屏三份典型答案对比。上次遗留的错误当场改对，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不接受「我看懂了」当过关。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19150" y="4857750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同一个题至少给两种写法，当场讲清哪种更该用。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3390900" y="1485900"/>
            <a:ext cx="2638425" cy="41910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390900" y="1485900"/>
            <a:ext cx="2638425" cy="4191000"/>
          </a:xfrm>
          <a:custGeom>
            <a:pathLst>
              <a:path w="277" h="440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6"/>
                  <a:pt x="273" y="4"/>
                  <a:pt x="269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600450" y="1695450"/>
            <a:ext cx="2219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F5F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600450" y="24193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讲解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600450" y="271462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600450" y="3914775"/>
            <a:ext cx="22193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本单元核心知识点，边讲边在编辑器里敲一遍。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每讲完一个概念，立刻问一句「这个能出什么错」。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600450" y="4857750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讲解不超过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分钟就必须让学员自己敲一次。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162675" y="1485900"/>
            <a:ext cx="2647950" cy="41910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162675" y="1485900"/>
            <a:ext cx="2647950" cy="4191000"/>
          </a:xfrm>
          <a:custGeom>
            <a:pathLst>
              <a:path w="278" h="440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6"/>
                  <a:pt x="274" y="4"/>
                  <a:pt x="27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372225" y="1695450"/>
            <a:ext cx="2228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9B78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372225" y="24193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现场实操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372225" y="27146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本节最长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372225" y="39147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教师故意敲错，展示报错怎么读。学员同步敲，禁止看答案。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372225" y="4572000"/>
            <a:ext cx="22288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分钟必须确认所有人都跑出了预期输出。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报错信息留在屏幕上，不要擦掉。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8943975" y="1485900"/>
            <a:ext cx="2638425" cy="41910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8943975" y="1485900"/>
            <a:ext cx="2638425" cy="4191000"/>
          </a:xfrm>
          <a:custGeom>
            <a:pathLst>
              <a:path w="277" h="440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6"/>
                  <a:pt x="273" y="4"/>
                  <a:pt x="269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9153525" y="1695450"/>
            <a:ext cx="2219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9B7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9153525" y="24193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讲评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153525" y="271462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153525" y="3914775"/>
            <a:ext cx="22193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三份作业投屏对比，讲清差异在哪。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布置作业时必须说清楚验收标准是什么。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9153525" y="4857750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作业量：基础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题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进阶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题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动手项目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个。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5829300"/>
            <a:ext cx="10972800" cy="495300"/>
          </a:xfrm>
          <a:prstGeom prst="roundRect">
            <a:avLst>
              <a:gd name="adj" fmla="val 15385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819150" y="6038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028700" y="59817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原则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485900" y="59817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实操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分钟必须大于讲解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分钟。讲得多不等于学得多，跑出输出才算。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001000" y="0"/>
            <a:ext cx="4191000" cy="68580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6667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零基础教学三原则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针对「没有编程习惯」的学员，这三条比讲多少知识点都重要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1485900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5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476375" y="1657350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讲完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分钟内必须敲一次代码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476375" y="1943100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报错是教材，不要擦掉。练习顺序固定为：先照抄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再改需求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最后自己写。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跳过照抄就会养成「看懂即会写」的错觉。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3038475"/>
            <a:ext cx="666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81050" y="320992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5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476375" y="3209925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>6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>7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允许放慢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476375" y="3495675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这四章是分水岭，课时可加，练习翻倍。允许落后，不允许跳过。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后面的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Django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全靠类和函数的地基，地基松了上层必塌。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4600575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9B7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476375" y="4772025"/>
            <a:ext cx="562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每个单元都有可跑的产出物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476375" y="5057775"/>
            <a:ext cx="5629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每章留一个能跑起来的小程序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一次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提交。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看得见的产出才是正反馈，否则学三周会怀疑自己在原地踏步。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382125" y="1485900"/>
            <a:ext cx="2276475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E08A15"/>
                </a:solidFill>
                <a:latin typeface="Microsoft YaHei"/>
                <a:ea typeface="Microsoft YaHei"/>
              </a:rPr>
              <a:t>90%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9848850" y="2838450"/>
            <a:ext cx="180975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学员的卡点不是听不懂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667875" y="3133725"/>
            <a:ext cx="1990725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而是从没自己跑通过一次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8515350" y="3695700"/>
            <a:ext cx="3143250" cy="2428875"/>
          </a:xfrm>
          <a:prstGeom prst="roundRect">
            <a:avLst>
              <a:gd name="adj" fmla="val 4706"/>
            </a:avLst>
          </a:prstGeom>
          <a:solidFill>
            <a:srgbClr val="1F2E3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724900" y="3905250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4D8"/>
                </a:solidFill>
                <a:latin typeface="Microsoft YaHei"/>
                <a:ea typeface="Microsoft YaHei"/>
              </a:rPr>
              <a:t>零基础最常见的假信号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724900" y="4191000"/>
            <a:ext cx="272415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「我好像看懂了」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「跟着敲一遍没问题」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「这段逻辑很清楚」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8724900" y="5181600"/>
            <a:ext cx="571500" cy="2857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724900" y="5324475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B36A"/>
                </a:solidFill>
                <a:latin typeface="Microsoft YaHei"/>
                <a:ea typeface="Microsoft YaHei"/>
              </a:rPr>
              <a:t>真信号只有一个：不看讲义，从空文件开始敲出来。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2014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93A8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1–3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先把地基拍实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三章都简单，但养成的是「写代码的手感」：命名、缩进、逐步验证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1428750"/>
            <a:ext cx="3552825" cy="38100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819150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71550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371600" y="16668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变量与简单数据类型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371600" y="1895475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31337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变量命名规范、字符串全套操作、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f-string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格式化、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int / float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与注释。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" y="2857500"/>
            <a:ext cx="31337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必须讲透的点：浮点不能直接比较相等（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0.1+0.2 ≠ 0.3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）。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这是后面数据处理第一个坑。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819150" y="4448175"/>
            <a:ext cx="3133725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952500" y="4562475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52500" y="47434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个人偏好调查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2-1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4314825" y="1428750"/>
            <a:ext cx="3562350" cy="38100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4524375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4676775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076825" y="1666875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列表简介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076825" y="1895475"/>
            <a:ext cx="942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W2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4524375" y="220980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增删改查、索引从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开始、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sort / sorted / reverse / len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的区别。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4524375" y="285750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sorted()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返回新列表，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.sort()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原地排序返回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None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这是新手最高频的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4524375" y="4448175"/>
            <a:ext cx="3143250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4657725" y="456247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657725" y="4743450"/>
            <a:ext cx="287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对同一个列表做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次操作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8067675" y="1428750"/>
            <a:ext cx="3552825" cy="38100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8067675" y="1428750"/>
            <a:ext cx="3552825" cy="3810000"/>
          </a:xfrm>
          <a:custGeom>
            <a:pathLst>
              <a:path w="373" h="40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392"/>
                </a:lnTo>
                <a:cubicBezTo>
                  <a:pt x="4" y="396"/>
                  <a:pt x="7" y="399"/>
                  <a:pt x="10" y="400"/>
                </a:cubicBezTo>
                <a:cubicBezTo>
                  <a:pt x="4" y="399"/>
                  <a:pt x="0" y="394"/>
                  <a:pt x="0" y="38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8277225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429625" y="1733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829675" y="1666875"/>
            <a:ext cx="129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操作列表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829675" y="1895475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B07A1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B07A10"/>
                </a:solidFill>
                <a:latin typeface="Microsoft YaHei"/>
                <a:ea typeface="Microsoft YaHei"/>
              </a:rPr>
              <a:t xml:space="preserve"> · W3 · </a:t>
            </a: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277225" y="2209800"/>
            <a:ext cx="3095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for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循环、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range()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、列表推导式、切片、元组、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PEP 8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缩进规范。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277225" y="2857500"/>
            <a:ext cx="30956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必须讲透的点：赋值是同一对象的别名，切片才是复制。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90%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的「我明明复制了怎么变了」都出在这里。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8277225" y="4448175"/>
            <a:ext cx="3095625" cy="581025"/>
          </a:xfrm>
          <a:prstGeom prst="roundRect">
            <a:avLst>
              <a:gd name="adj" fmla="val 13115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410575" y="45624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410575" y="4743450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忘记密码清单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3.4–3.8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09600" y="5505450"/>
            <a:ext cx="109728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57250" y="5791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验收标准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733550" y="5743575"/>
            <a:ext cx="92868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能不查资料写出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for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循环完整结构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能解释切片第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个参数的含义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能区分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sorted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3A4A58"/>
                </a:solidFill>
                <a:latin typeface="Microsoft YaHei"/>
                <a:ea typeface="Microsoft YaHei"/>
              </a:rPr>
              <a:t xml:space="preserve"> .sort · </a:t>
            </a:r>
            <a:r>
              <a:rPr lang="zh-CN" sz="1275">
                <a:solidFill>
                  <a:srgbClr val="3A4A58"/>
                </a:solidFill>
                <a:latin typeface="Microsoft YaHei"/>
                <a:ea typeface="Microsoft YaHei"/>
              </a:rPr>
              <a:t>能说清列表赋值与切片复制的区别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0" y="0"/>
            <a:ext cx="12192000" cy="17145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4–6 ·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让程序会做判断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C4DE"/>
                </a:solidFill>
                <a:latin typeface="Microsoft YaHei"/>
                <a:ea typeface="Microsoft YaHei"/>
              </a:rPr>
              <a:t>从「按顺序执行」到「会分支、会重复、会查表」，这是能写出第一个真程序的前提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0960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50495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语句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3820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W4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3820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条件测试、比较运算、布尔表达式、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in / not in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if-else / elif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链。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38200" y="37433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讲法要点：条件顺序必须从窄到宽，先挡掉非法输入再进业务逻辑。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用票价分级当例子最直观。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个条件判断小程序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432435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F5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219700" y="2152650"/>
            <a:ext cx="381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字典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55295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W5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55295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键值对、增删改查、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get()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安全取值、三种遍历方式、嵌套结构。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552950" y="37433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讲法要点：用生日调查演示字典列表、列表字典、字典字典三种嵌套。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嵌套是后面所有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数据的入门钥匙。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55295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产出生日调查字典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6.1–6.3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8039100" y="1924050"/>
            <a:ext cx="3543300" cy="3314700"/>
          </a:xfrm>
          <a:prstGeom prst="roundRect">
            <a:avLst>
              <a:gd name="adj" fmla="val 3448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267700" y="215265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E08A15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934450" y="2152650"/>
            <a:ext cx="1143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32E"/>
                </a:solidFill>
                <a:latin typeface="Microsoft YaHei"/>
                <a:ea typeface="Microsoft YaHei"/>
              </a:rPr>
              <a:t>输入与</a:t>
            </a:r>
            <a:r>
              <a:rPr lang="en-US" sz="15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while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267700" y="2819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教材第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B07A10"/>
                </a:solidFill>
                <a:latin typeface="Microsoft YaHei"/>
                <a:ea typeface="Microsoft YaHei"/>
              </a:rPr>
              <a:t xml:space="preserve"> · W6 · </a:t>
            </a:r>
            <a:r>
              <a:rPr lang="zh-CN" sz="1050">
                <a:solidFill>
                  <a:srgbClr val="B07A10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267700" y="3095625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input() / int() /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求模、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while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循环、标志位、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break / continue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267700" y="3743325"/>
            <a:ext cx="3086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讲法要点：整节围绕「避免无限循环」展开。非数字输入必须捕获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ValueError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，否则程序一崩学员就以为自己写错了。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267700" y="4838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产出投票统计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7.5–7.9 / </a:t>
            </a: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收银机</a:t>
            </a:r>
            <a:r>
              <a:rPr lang="en-US" sz="1125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7.10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" y="5391150"/>
            <a:ext cx="10972800" cy="895350"/>
          </a:xfrm>
          <a:prstGeom prst="roundRect">
            <a:avLst>
              <a:gd name="adj" fmla="val 12766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57250" y="5734050"/>
            <a:ext cx="1285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进入单元</a:t>
            </a:r>
            <a:r>
              <a:rPr lang="en-US" sz="1350" b="1">
                <a:solidFill>
                  <a:srgbClr val="E8B36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的门槛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2333625" y="5686425"/>
            <a:ext cx="90011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能写出一个「反复提示输入、直到输入合法为止」的循环程序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能解释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break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和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continue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的区别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能说出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for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各自适合什么场景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0" y="4476750"/>
            <a:ext cx="4000500" cy="2381250"/>
          </a:xfrm>
          <a:prstGeom prst="rect">
            <a:avLst/>
          </a:prstGeom>
          <a:solidFill>
            <a:srgbClr val="154477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304800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53340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33400" y="31337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33400" y="3629025"/>
            <a:ext cx="3048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· W7–W8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建议安排</a:t>
            </a:r>
            <a:r>
              <a:rPr lang="en-US" sz="1200">
                <a:solidFill>
                  <a:srgbClr val="BBD6E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BBD6E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4419600" y="457200"/>
            <a:ext cx="723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分水岭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抽象能力的第一次跳跃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419600" y="781050"/>
            <a:ext cx="723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从这里开始，代码不再是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「从上往下写一行算一行」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4419600" y="1600200"/>
            <a:ext cx="72390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4610100" y="1819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819650" y="17335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4819650" y="1971675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定义与返回值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位置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关键字实参与默认值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列表传参与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\*args / \*\*kwargs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模块与导入（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种写法）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函数编写指南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4419600" y="2752725"/>
            <a:ext cx="72390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4610100" y="2971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4819650" y="288607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学员真正的卡点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819650" y="312420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不是「怎么定义函数」，而是「不知道该拆成几个函数」。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对策：先照抄教材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个例子，再逐个改需求，最后才自己想拆法。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419600" y="3905250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4610100" y="4124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819650" y="403860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819650" y="428625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函数里改列表会改到原列表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默认参数写成可变对象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误以为实参被修改就是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不知道返回值才是函数真正的输出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4419600" y="5086350"/>
            <a:ext cx="7239000" cy="800100"/>
          </a:xfrm>
          <a:prstGeom prst="roundRect">
            <a:avLst>
              <a:gd name="adj" fmla="val 14286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6482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467350" y="5191125"/>
            <a:ext cx="33147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魔方消息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8.1–8.3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星际争霸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8.4–8.6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鸡尾酒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8.7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产出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个可复用函数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个自定义模块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381000" y="4438650"/>
            <a:ext cx="3238500" cy="1771650"/>
          </a:xfrm>
          <a:prstGeom prst="roundRect">
            <a:avLst>
              <a:gd name="adj" fmla="val 5376"/>
            </a:avLst>
          </a:prstGeom>
          <a:solidFill>
            <a:srgbClr val="0F3E6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90550" y="46291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FB4D8"/>
                </a:solidFill>
                <a:latin typeface="Microsoft YaHei"/>
                <a:ea typeface="Microsoft YaHei"/>
              </a:rPr>
              <a:t>为什么这里最难教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90550" y="4886325"/>
            <a:ext cx="28194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前面所有章节都是「想清楚再写」，函数是第一次要求在动手前就决定代码结构。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这种能力讲不出来，只能靠反复拆解和重构练出来。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1440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8191500" y="0"/>
            <a:ext cx="40005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8191500" y="4476750"/>
            <a:ext cx="4000500" cy="2381250"/>
          </a:xfrm>
          <a:prstGeom prst="rect">
            <a:avLst/>
          </a:prstGeom>
          <a:solidFill>
            <a:srgbClr val="0A7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886950" y="1238250"/>
            <a:ext cx="177165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10801350" y="2933700"/>
            <a:ext cx="85725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1372850" y="31337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0077450" y="3629025"/>
            <a:ext cx="1581150" cy="628650"/>
          </a:xfrm>
          <a:prstGeom prst="rect"/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教材第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· W9–W10</a:t>
            </a:r>
            <a:endParaRPr/>
          </a:p>
          <a:p>
            <a:pPr algn="r">
              <a:lnSpc>
                <a:spcPct val="170000"/>
              </a:lnSpc>
            </a:pP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允许慢</a:t>
            </a:r>
            <a:r>
              <a:rPr lang="en-US" sz="1200">
                <a:solidFill>
                  <a:srgbClr val="C6EDE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6EDE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最劝退的一章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但不能绕开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4371975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的模型、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>ORM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、视图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全部是类，学不会后面必然崩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16764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800100" y="18954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009650" y="18097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四次课的排法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009650" y="204787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类与实例、属性与方法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__init__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与默认值属性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继承与重写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导入类、标准库与类的编程风格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2695575"/>
            <a:ext cx="72390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00100" y="2914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009650" y="28289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32E"/>
                </a:solidFill>
                <a:latin typeface="Microsoft YaHei"/>
                <a:ea typeface="Microsoft YaHei"/>
              </a:rPr>
              <a:t>降低门槛的做法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009650" y="3067050"/>
            <a:ext cx="6648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自建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个类练手：学生记录、购物车、银行账户。不要只跟着教材的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Dog / Car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走。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自己造过一遍，下一次才不用想。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09600" y="396240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00100" y="41814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820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009650" y="4095750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常见错误清单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009650" y="4343400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方法忘记写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忘记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super().__init__()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就用父类属性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属性名前后不一致</a:t>
            </a:r>
            <a:r>
              <a:rPr lang="en-US" sz="10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A6B7A"/>
                </a:solidFill>
                <a:latin typeface="Microsoft YaHei"/>
                <a:ea typeface="Microsoft YaHei"/>
              </a:rPr>
              <a:t>把方法当属性调用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5143500"/>
            <a:ext cx="7239000" cy="742950"/>
          </a:xfrm>
          <a:prstGeom prst="roundRect">
            <a:avLst>
              <a:gd name="adj" fmla="val 15385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4197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FDCC0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657350" y="5381625"/>
            <a:ext cx="52673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手写一个含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、实例方法和一个子类的类，并能用自己的话解释</a:t>
            </a:r>
            <a:r>
              <a:rPr lang="en-US" sz="1125">
                <a:solidFill>
                  <a:srgbClr val="D6E4F0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125">
                <a:solidFill>
                  <a:srgbClr val="D6E4F0"/>
                </a:solidFill>
                <a:latin typeface="Microsoft YaHei"/>
                <a:ea typeface="Microsoft YaHei"/>
              </a:rPr>
              <a:t>指向什么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25908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9–10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从「能跑」到「靠谱」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程序要处理外部世界：文件会不存在、输入会出错、改代码会改坏旧功能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" y="1428750"/>
            <a:ext cx="539115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38200" y="1657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90600" y="17526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390650" y="1676400"/>
            <a:ext cx="1552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文件和异常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390650" y="192405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W11 ·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4933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读取文件、写入与追加、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with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语句、异常处理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try / except / else / finally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存取数据。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293370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必须讲透的两个点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永远用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with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，文件会自动关闭；且必须写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encoding="utf-8"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，否则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上中文乱码。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37719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2. 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子句在没有异常时才执行，适合「只在成功时保存文件」，这是最容易被忽略的用法。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38200" y="4810125"/>
            <a:ext cx="4933950" cy="581025"/>
          </a:xfrm>
          <a:prstGeom prst="roundRect">
            <a:avLst>
              <a:gd name="adj" fmla="val 13115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71550" y="4924425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动手项目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71550" y="51054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学习笔记管理</a:t>
            </a:r>
            <a:r>
              <a:rPr lang="en-US" sz="112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10.1–10.13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191250" y="1428750"/>
            <a:ext cx="539115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419850" y="1657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505575" y="17526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972300" y="1676400"/>
            <a:ext cx="1552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测试代码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72300" y="192405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教材第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章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W12 · 3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419850" y="2228850"/>
            <a:ext cx="4933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为什么测试、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pip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安装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pytest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、测试函数与断言、测试类、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fixture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与参数化。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419850" y="293370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9B78"/>
                </a:solidFill>
                <a:latin typeface="Microsoft YaHei"/>
                <a:ea typeface="Microsoft YaHei"/>
              </a:rPr>
              <a:t>必须讲透的两个点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19850" y="31623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1. assert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后面不要写说明文字，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会自动报告失败原因，写了反而覆盖掉。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19850" y="3771900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2.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测试的价值在改代码之前。先写测试再改，才能知道有没有改坏东西。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419850" y="4810125"/>
            <a:ext cx="4933950" cy="581025"/>
          </a:xfrm>
          <a:prstGeom prst="roundRect">
            <a:avLst>
              <a:gd name="adj" fmla="val 13115"/>
            </a:avLst>
          </a:prstGeom>
          <a:solidFill>
            <a:srgbClr val="E8F7F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553200" y="4924425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动手项目</a:t>
            </a:r>
            <a:r>
              <a:rPr lang="en-US" sz="975">
                <a:solidFill>
                  <a:srgbClr val="6B9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加练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553200" y="51054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投票分析器测试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11.1–11.3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，再给单元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7/8/9 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的代码补测试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57721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59436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B36A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314450" y="59436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一个能存到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的学习笔记程序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一个至少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条测试的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套件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32E">
                  <a:alpha val="90000"/>
                </a:srgbClr>
              </a:gs>
              <a:gs pos="100000">
                <a:srgbClr val="1F5FA8">
                  <a:alpha val="90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0" y="5334000"/>
            <a:ext cx="12192000" cy="1524000"/>
          </a:xfrm>
          <a:prstGeom prst="rect">
            <a:avLst/>
          </a:prstGeom>
          <a:solidFill>
            <a:srgbClr val="0B1620">
              <a:alpha val="5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4953000" cy="1847850"/>
          </a:xfrm>
          <a:prstGeom prst="rect"/>
        </p:spPr>
        <p:txBody>
          <a:bodyPr wrap="none" lIns="0" tIns="0" rIns="0" bIns="0"/>
          <a:p>
            <a:pPr>
              <a:lnSpc>
                <a:spcPct val="85000"/>
              </a:lnSpc>
            </a:pPr>
            <a:r>
              <a:rPr lang="en-US" sz="14250" b="1">
                <a:solidFill>
                  <a:srgbClr val="E08A15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1143000" y="3467100"/>
            <a:ext cx="1143000" cy="57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43000" y="3714750"/>
            <a:ext cx="4953000" cy="12573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总复习</a:t>
            </a:r>
            <a:endParaRPr/>
          </a:p>
          <a:p>
            <a:pPr>
              <a:lnSpc>
                <a:spcPct val="130000"/>
              </a:lnSpc>
            </a:pP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关卡验收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858000" y="1428750"/>
            <a:ext cx="4191000" cy="161925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067550" y="16192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串讲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67550" y="1924050"/>
            <a:ext cx="3771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画一张从变量到类的知识图谱，把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章串成一条线。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集中复盘最容易错的十处：缩进、索引、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sort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、传参、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self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super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with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>encoding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858000" y="32194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067550" y="34099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需求拆解示范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067550" y="3714750"/>
            <a:ext cx="3771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教师当众把一个模糊需求拆成步骤清单，再拆成函数。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学员看完整过程，这一步是给阶段</a:t>
            </a:r>
            <a:r>
              <a:rPr lang="en-US" sz="1200">
                <a:solidFill>
                  <a:srgbClr val="C9DEE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C9DEEE"/>
                </a:solidFill>
                <a:latin typeface="Microsoft YaHei"/>
                <a:ea typeface="Microsoft YaHei"/>
              </a:rPr>
              <a:t>的大项目做预演。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0" y="47053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067550" y="4895850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现场测评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067550" y="5200650"/>
            <a:ext cx="3771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限时</a:t>
            </a:r>
            <a:r>
              <a:rPr lang="en-US" sz="1200">
                <a:solidFill>
                  <a:srgbClr val="FDF0DC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小时，四项任务当场完成。</a:t>
            </a:r>
            <a:r>
              <a:rPr lang="en-US" sz="1200">
                <a:solidFill>
                  <a:srgbClr val="FDF0D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DF0DC"/>
                </a:solidFill>
                <a:latin typeface="Microsoft YaHei"/>
                <a:ea typeface="Microsoft YaHei"/>
              </a:rPr>
              <a:t>不查资料，测的是能不能独立写，不是记不记得住。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43000" y="6115050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教材第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1–11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章全部结束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小时</a:t>
            </a:r>
            <a:r>
              <a:rPr lang="en-US" sz="1125">
                <a:solidFill>
                  <a:srgbClr val="8FB4D8"/>
                </a:solidFill>
                <a:latin typeface="Microsoft YaHei"/>
                <a:ea typeface="Microsoft YaHei"/>
              </a:rPr>
              <a:t xml:space="preserve"> · 52 </a:t>
            </a:r>
            <a:r>
              <a:rPr lang="zh-CN" sz="1125">
                <a:solidFill>
                  <a:srgbClr val="8FB4D8"/>
                </a:solidFill>
                <a:latin typeface="Microsoft YaHei"/>
                <a:ea typeface="Microsoft YaHei"/>
              </a:rPr>
              <a:t>道练习题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591800" y="6124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4D8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400050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125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562100" y="342900"/>
            <a:ext cx="451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四项全部达标，才准进入阶段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8096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A6B7A"/>
                </a:solidFill>
                <a:latin typeface="Microsoft YaHei"/>
                <a:ea typeface="Microsoft YaHei"/>
              </a:rPr>
              <a:t>限时</a:t>
            </a:r>
            <a:r>
              <a:rPr lang="en-US" sz="127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>
                <a:solidFill>
                  <a:srgbClr val="5A6B7A"/>
                </a:solidFill>
                <a:latin typeface="Microsoft YaHei"/>
                <a:ea typeface="Microsoft YaHei"/>
              </a:rPr>
              <a:t>小时、不查资料、当场完成。测的不是记忆力，是能不能独立动手。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1457325"/>
            <a:ext cx="2647950" cy="37719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1457325"/>
            <a:ext cx="2647950" cy="3771900"/>
          </a:xfrm>
          <a:custGeom>
            <a:pathLst>
              <a:path w="278" h="396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7"/>
                  <a:pt x="274" y="5"/>
                  <a:pt x="271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19150" y="1666875"/>
            <a:ext cx="2228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F5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手写猜数字游戏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分钟内不查资料写出完整程序。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9150" y="320992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必须用到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循环、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input()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判断、随机数。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19150" y="385762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输入非数字不能崩溃，要有处理。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19150" y="4657725"/>
            <a:ext cx="2228850" cy="314325"/>
          </a:xfrm>
          <a:prstGeom prst="roundRect">
            <a:avLst>
              <a:gd name="adj" fmla="val 18182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33450" y="4733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考：循环</a:t>
            </a:r>
            <a:r>
              <a:rPr lang="en-US" sz="105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输入校验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390900" y="1457325"/>
            <a:ext cx="2638425" cy="3771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390900" y="1457325"/>
            <a:ext cx="2638425" cy="3771900"/>
          </a:xfrm>
          <a:custGeom>
            <a:pathLst>
              <a:path w="277" h="396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7"/>
                  <a:pt x="273" y="5"/>
                  <a:pt x="270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600450" y="1666875"/>
            <a:ext cx="22193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F5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600450" y="24955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手写一个类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600450" y="28479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含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__init__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、至少两个实例方法、一个子类。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600450" y="349567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子类要重写父类的方法。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600450" y="385762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能口述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指向什么才算过。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600450" y="4657725"/>
            <a:ext cx="2219325" cy="314325"/>
          </a:xfrm>
          <a:prstGeom prst="roundRect">
            <a:avLst>
              <a:gd name="adj" fmla="val 18182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714750" y="47339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5FA8"/>
                </a:solidFill>
                <a:latin typeface="Microsoft YaHei"/>
                <a:ea typeface="Microsoft YaHei"/>
              </a:rPr>
              <a:t>考：面向对象建模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162675" y="1457325"/>
            <a:ext cx="2647950" cy="37719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162675" y="1457325"/>
            <a:ext cx="2647950" cy="3771900"/>
          </a:xfrm>
          <a:custGeom>
            <a:pathLst>
              <a:path w="278" h="396">
                <a:moveTo>
                  <a:pt x="267" y="0"/>
                </a:moveTo>
                <a:cubicBezTo>
                  <a:pt x="272" y="0"/>
                  <a:pt x="277" y="4"/>
                  <a:pt x="278" y="10"/>
                </a:cubicBezTo>
                <a:cubicBezTo>
                  <a:pt x="277" y="7"/>
                  <a:pt x="274" y="5"/>
                  <a:pt x="271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372225" y="1666875"/>
            <a:ext cx="2228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E9B7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72225" y="2495550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写</a:t>
            </a:r>
            <a:r>
              <a:rPr lang="en-US" sz="1425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372225" y="28479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给单元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写过的任意一个函数写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条测试。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372225" y="3495675"/>
            <a:ext cx="2228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包含一条正常输入、一条边界、一条异常。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372225" y="414337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运行全部通过。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372225" y="4657725"/>
            <a:ext cx="2228850" cy="314325"/>
          </a:xfrm>
          <a:prstGeom prst="roundRect">
            <a:avLst>
              <a:gd name="adj" fmla="val 18182"/>
            </a:avLst>
          </a:prstGeom>
          <a:solidFill>
            <a:srgbClr val="E8F7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86525" y="4733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A7A5F"/>
                </a:solidFill>
                <a:latin typeface="Microsoft YaHei"/>
                <a:ea typeface="Microsoft YaHei"/>
              </a:rPr>
              <a:t>考：工程习惯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943975" y="1457325"/>
            <a:ext cx="2638425" cy="3771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943975" y="1457325"/>
            <a:ext cx="2638425" cy="3771900"/>
          </a:xfrm>
          <a:custGeom>
            <a:pathLst>
              <a:path w="277" h="396">
                <a:moveTo>
                  <a:pt x="266" y="0"/>
                </a:moveTo>
                <a:cubicBezTo>
                  <a:pt x="271" y="0"/>
                  <a:pt x="276" y="4"/>
                  <a:pt x="277" y="10"/>
                </a:cubicBezTo>
                <a:cubicBezTo>
                  <a:pt x="276" y="7"/>
                  <a:pt x="273" y="5"/>
                  <a:pt x="270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153525" y="1666875"/>
            <a:ext cx="22193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E08A15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153525" y="2495550"/>
            <a:ext cx="2219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32E"/>
                </a:solidFill>
                <a:latin typeface="Microsoft YaHei"/>
                <a:ea typeface="Microsoft YaHei"/>
              </a:rPr>
              <a:t>排错能力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153525" y="28479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给一段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行、含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的脚本。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153525" y="3495675"/>
            <a:ext cx="2219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分别修复缩进错误、变量名错误、逻辑错误。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153525" y="4143375"/>
            <a:ext cx="2219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要求能读懂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traceback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定位到行。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153525" y="4657725"/>
            <a:ext cx="2219325" cy="314325"/>
          </a:xfrm>
          <a:prstGeom prst="roundRect">
            <a:avLst>
              <a:gd name="adj" fmla="val 18182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267825" y="47339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5A08"/>
                </a:solidFill>
                <a:latin typeface="Microsoft YaHei"/>
                <a:ea typeface="Microsoft YaHei"/>
              </a:rPr>
              <a:t>考：读报错的能力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537210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76300" y="5553075"/>
            <a:ext cx="8477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E08A15"/>
                </a:solidFill>
                <a:latin typeface="Microsoft YaHei"/>
                <a:ea typeface="Microsoft YaHei"/>
              </a:rPr>
              <a:t>4/4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933575" y="5581650"/>
            <a:ext cx="19050" cy="533400"/>
          </a:xfrm>
          <a:prstGeom prst="rect">
            <a:avLst/>
          </a:prstGeom>
          <a:solidFill>
            <a:srgbClr val="3A506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2162175" y="5524500"/>
            <a:ext cx="708660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四项全部达标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你已经能独立写代码了，准予进入阶段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pygame → 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数据可视化</a:t>
            </a:r>
            <a:r>
              <a:rPr lang="en-US" sz="1275">
                <a:solidFill>
                  <a:srgbClr val="D6E4F0"/>
                </a:solidFill>
                <a:latin typeface="Microsoft YaHei"/>
                <a:ea typeface="Microsoft YaHei"/>
              </a:rPr>
              <a:t xml:space="preserve"> → Django</a:t>
            </a: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）。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D6E4F0"/>
                </a:solidFill>
                <a:latin typeface="Microsoft YaHei"/>
                <a:ea typeface="Microsoft YaHei"/>
              </a:rPr>
              <a:t>任何一项不达标：只补那一项，一周内重测，不要整体重学。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914400" y="723900"/>
            <a:ext cx="1733550" cy="304800"/>
          </a:xfrm>
          <a:prstGeom prst="roundRect">
            <a:avLst>
              <a:gd name="adj" fmla="val 18750"/>
            </a:avLst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66800" y="7810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项目实践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14400" y="1238250"/>
            <a:ext cx="1038225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16232E"/>
                </a:solidFill>
                <a:latin typeface="Microsoft YaHei"/>
                <a:ea typeface="Microsoft YaHei"/>
              </a:rPr>
              <a:t>从「能写」到「能交付」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914400" y="2305050"/>
            <a:ext cx="1524000" cy="5715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14400" y="2609850"/>
            <a:ext cx="99060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725">
                <a:solidFill>
                  <a:srgbClr val="3A4A58"/>
                </a:solidFill>
                <a:latin typeface="Microsoft YaHei"/>
                <a:ea typeface="Microsoft YaHei"/>
              </a:rPr>
              <a:t>阶段</a:t>
            </a:r>
            <a:r>
              <a:rPr lang="en-US" sz="1725">
                <a:solidFill>
                  <a:srgbClr val="3A4A5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725">
                <a:solidFill>
                  <a:srgbClr val="3A4A58"/>
                </a:solidFill>
                <a:latin typeface="Microsoft YaHei"/>
                <a:ea typeface="Microsoft YaHei"/>
              </a:rPr>
              <a:t>的产出是一个能跑的程序；阶段</a:t>
            </a:r>
            <a:r>
              <a:rPr lang="en-US" sz="17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725">
                <a:solidFill>
                  <a:srgbClr val="3A4A58"/>
                </a:solidFill>
                <a:latin typeface="Microsoft YaHei"/>
                <a:ea typeface="Microsoft YaHei"/>
              </a:rPr>
              <a:t>的产出是一个别人能接手、能长期改的项目。</a:t>
            </a:r>
            <a:r>
              <a:rPr lang="en-US" sz="1725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725">
                <a:solidFill>
                  <a:srgbClr val="3A4A58"/>
                </a:solidFill>
                <a:latin typeface="Microsoft YaHei"/>
                <a:ea typeface="Microsoft YaHei"/>
              </a:rPr>
              <a:t>这两个之间的距离，不是多学几个</a:t>
            </a:r>
            <a:r>
              <a:rPr lang="en-US" sz="1725">
                <a:solidFill>
                  <a:srgbClr val="3A4A5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725">
                <a:solidFill>
                  <a:srgbClr val="3A4A58"/>
                </a:solidFill>
                <a:latin typeface="Microsoft YaHei"/>
                <a:ea typeface="Microsoft YaHei"/>
              </a:rPr>
              <a:t>就能跨过去的。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914400" y="4038600"/>
            <a:ext cx="3343275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04900" y="4229100"/>
            <a:ext cx="2962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阶段</a:t>
            </a:r>
            <a:r>
              <a:rPr lang="en-US" sz="127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你练的是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04900" y="4505325"/>
            <a:ext cx="2962275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单个文件、百行以内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自己一个人看代码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「跑出结果」就算完成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报错了就查、改完再跑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429125" y="4038600"/>
            <a:ext cx="33528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619625" y="4229100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9B78"/>
                </a:solidFill>
                <a:latin typeface="Microsoft YaHei"/>
                <a:ea typeface="Microsoft YaHei"/>
              </a:rPr>
              <a:t>阶段</a:t>
            </a:r>
            <a:r>
              <a:rPr lang="en-US" sz="1275" b="1">
                <a:solidFill>
                  <a:srgbClr val="0E9B7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 b="1">
                <a:solidFill>
                  <a:srgbClr val="0E9B78"/>
                </a:solidFill>
                <a:latin typeface="Microsoft YaHei"/>
                <a:ea typeface="Microsoft YaHei"/>
              </a:rPr>
              <a:t>要练的是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619625" y="4505325"/>
            <a:ext cx="2971800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多文件项目、上千行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写给别人看（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>README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「能交付、能部署」才算完成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改错要能回滚、要有测试兜底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953375" y="4038600"/>
            <a:ext cx="3343275" cy="1866900"/>
          </a:xfrm>
          <a:prstGeom prst="roundRect">
            <a:avLst>
              <a:gd name="adj" fmla="val 6122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143875" y="4229100"/>
            <a:ext cx="2962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唯一的办法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143875" y="4505325"/>
            <a:ext cx="2962275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真做三个项目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每个都走完整流程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每个都推到公开仓库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最后一个必须真的上线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83945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476250"/>
            <a:ext cx="628650" cy="238125"/>
          </a:xfrm>
          <a:prstGeom prst="roundRect">
            <a:avLst>
              <a:gd name="adj" fmla="val 20000"/>
            </a:avLst>
          </a:pr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23900" y="5143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项目一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371600" y="381000"/>
            <a:ext cx="38957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外星人入侵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12–14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教材第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12–14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你写的第一个多文件、带状态、有输赢的完整程序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333500"/>
            <a:ext cx="10972800" cy="2857500"/>
          </a:xfrm>
          <a:prstGeom prst="rect">
            <a:avLst/>
          </a:prstGeom>
          <a:ln/>
        </p:spPr>
      </p:pic>
      <p:sp>
        <p:nvSpPr>
          <p:cNvPr id="146" name=""/>
          <p:cNvSpPr/>
          <p:nvPr/>
        </p:nvSpPr>
        <p:spPr>
          <a:xfrm rot="0" flipH="0" flipV="0">
            <a:off x="609600" y="4343400"/>
            <a:ext cx="6219825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81050" y="4514850"/>
            <a:ext cx="587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这个项目真正教你的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5876925" cy="8763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事件驱动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：程序不等你，它一直在跑，只在事件发生时响应。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精灵编组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Group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：不是一个一个管对象，而是一批一批管。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遍历时不能删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：必须遍历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.copy()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、删原件——和阶段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「遍历字典不能删键」是同一条红线。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981825" y="4343400"/>
            <a:ext cx="4600575" cy="1828800"/>
          </a:xfrm>
          <a:prstGeom prst="roundRect">
            <a:avLst>
              <a:gd name="adj" fmla="val 6250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153275" y="4514850"/>
            <a:ext cx="4257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最容易卡住的三处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153275" y="4791075"/>
            <a:ext cx="4257675" cy="12001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编组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列表，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pop()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行为不同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边缘检测用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==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会漏判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③ groupcollide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两个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True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设错</a:t>
            </a:r>
            <a:endParaRPr/>
          </a:p>
          <a:p>
            <a:pPr>
              <a:lnSpc>
                <a:spcPct val="180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这三处讲义里都有「故意写错」的示例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476250"/>
            <a:ext cx="628650" cy="238125"/>
          </a:xfrm>
          <a:prstGeom prst="roundRect">
            <a:avLst>
              <a:gd name="adj" fmla="val 20000"/>
            </a:avLst>
          </a:prstGeom>
          <a:solidFill>
            <a:srgbClr val="2F7BC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23900" y="5143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项目二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371600" y="381000"/>
            <a:ext cx="38957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数据可视化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15–17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教材第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15–17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从「自己造数据」走到「从真实世界取数据并画出来」</a:t>
            </a:r>
            <a:endParaRPr/>
          </a:p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333500"/>
            <a:ext cx="10972800" cy="2552700"/>
          </a:xfrm>
          <a:prstGeom prst="rect">
            <a:avLst/>
          </a:prstGeom>
          <a:ln/>
        </p:spPr>
      </p:pic>
      <p:sp>
        <p:nvSpPr>
          <p:cNvPr id="161" name=""/>
          <p:cNvSpPr/>
          <p:nvPr/>
        </p:nvSpPr>
        <p:spPr>
          <a:xfrm rot="0" flipH="0" flipV="0">
            <a:off x="609600" y="4038600"/>
            <a:ext cx="5410200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这个项目真正教你的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5067300" cy="8763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真实数据是脏的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：会缺值、会换列序、编码会不听话。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选型意识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：静态图用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matplotlib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，可交互图用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Plotly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是数据来源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：有配额（每小时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次）、会失败，必须处理。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172200" y="4038600"/>
            <a:ext cx="5410200" cy="1828800"/>
          </a:xfrm>
          <a:prstGeom prst="roundRect">
            <a:avLst>
              <a:gd name="adj" fmla="val 6250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343650" y="42100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最容易卡住的三处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343650" y="4486275"/>
            <a:ext cx="5067300" cy="12001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不调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>ax.axis()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导致点被裁掉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② GeoJSON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经纬度写反（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[0]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是经度）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表头列号写死，换数据就错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是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matplotlib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新手最高频的坑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76250"/>
            <a:ext cx="628650" cy="238125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23900" y="5143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371600" y="381000"/>
            <a:ext cx="4438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学习笔记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Web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18–20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教材第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18–20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全课程最密集的部分，也是唯一一个真的要上线的东西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333500"/>
            <a:ext cx="10972800" cy="2781300"/>
          </a:xfrm>
          <a:prstGeom prst="rect">
            <a:avLst/>
          </a:prstGeom>
          <a:ln/>
        </p:spPr>
      </p:pic>
      <p:sp>
        <p:nvSpPr>
          <p:cNvPr id="176" name=""/>
          <p:cNvSpPr/>
          <p:nvPr/>
        </p:nvSpPr>
        <p:spPr>
          <a:xfrm rot="0" flipH="0" flipV="0">
            <a:off x="609600" y="4267200"/>
            <a:ext cx="10972800" cy="1485900"/>
          </a:xfrm>
          <a:prstGeom prst="roundRect">
            <a:avLst>
              <a:gd name="adj" fmla="val 7692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这一层是全课程唯一的安全课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10591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把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>filter(owner=request.user)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写成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>.all()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每个用户就能看到所有人的笔记——这类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不会报错、不会崩溃，只会静静泄露数据。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所以单元</a:t>
            </a:r>
            <a:r>
              <a:rPr lang="en-US" sz="1125">
                <a:solidFill>
                  <a:srgbClr val="A8C4DE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会要求你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用两个账号实测一次</a:t>
            </a:r>
            <a:r>
              <a:rPr lang="zh-CN" sz="1125">
                <a:solidFill>
                  <a:srgbClr val="A8C4DE"/>
                </a:solidFill>
                <a:latin typeface="Microsoft YaHei"/>
                <a:ea typeface="Microsoft YaHei"/>
              </a:rPr>
              <a:t>，而不是「我记得写了」。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阶段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的统一工程流程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三个项目都走同一条七步流程。这条流程比「跟着教程敲完」重要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倍——它决定你能不能独立做下一个项目</a:t>
            </a:r>
            <a:endParaRPr/>
          </a:p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314450"/>
            <a:ext cx="10972800" cy="2381250"/>
          </a:xfrm>
          <a:prstGeom prst="rect">
            <a:avLst/>
          </a:prstGeom>
          <a:ln/>
        </p:spPr>
      </p:pic>
      <p:sp>
        <p:nvSpPr>
          <p:cNvPr id="186" name=""/>
          <p:cNvSpPr/>
          <p:nvPr/>
        </p:nvSpPr>
        <p:spPr>
          <a:xfrm rot="0" flipH="0" flipV="0">
            <a:off x="609600" y="3924300"/>
            <a:ext cx="50292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81050" y="4095750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27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② </a:t>
            </a: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步为什么最重要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81050" y="4371975"/>
            <a:ext cx="4686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教材把代码都写好了，直接抄最快。但抄完你只会做「这一个」项目。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先自己拆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分钟，再看教材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——这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分钟练的是把需求拆成模块的能力，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它是关卡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第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条（读陌生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行项目）唯一能靠练出来的路径。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791200" y="3924300"/>
            <a:ext cx="5791200" cy="1866900"/>
          </a:xfrm>
          <a:prstGeom prst="roundRect">
            <a:avLst>
              <a:gd name="adj" fmla="val 6122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962650" y="409575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阶段</a:t>
            </a:r>
            <a:r>
              <a:rPr lang="en-US" sz="1275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 b="1">
                <a:solidFill>
                  <a:srgbClr val="E08A15"/>
                </a:solidFill>
                <a:latin typeface="Microsoft YaHei"/>
                <a:ea typeface="Microsoft YaHei"/>
              </a:rPr>
              <a:t>附加的三条纪律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962650" y="4371975"/>
            <a:ext cx="54483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单文件不超过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300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行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，超了就拆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密钥、密码一律走环境变量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+ .gitignore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，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提交过就等于泄露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每个项目结束前跑一次「工程件体检」：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README / requirements / .gitignore /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测试是否齐全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476250"/>
            <a:ext cx="619125" cy="238125"/>
          </a:xfrm>
          <a:prstGeom prst="roundRect">
            <a:avLst>
              <a:gd name="adj" fmla="val 20000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23900" y="5143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362075" y="38100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判定「能独立做项目」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五项硬指标，全部达标才算走完阶段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。某一项没过，只补那一项并重测，不要整体重学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1371600"/>
            <a:ext cx="3552825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1371600"/>
            <a:ext cx="3552825" cy="1638300"/>
          </a:xfrm>
          <a:custGeom>
            <a:pathLst>
              <a:path w="373" h="172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2000" y="15240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08A1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285875" y="1524000"/>
            <a:ext cx="1181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6232E"/>
                </a:solidFill>
                <a:latin typeface="Microsoft YaHei"/>
                <a:ea typeface="Microsoft YaHei"/>
              </a:rPr>
              <a:t>三个项目全部跑通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3248025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且已推到公开仓库，每个都有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>README + requirements.txt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仓库里要有真实的提交历史，不是一次性传上去。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314825" y="1371600"/>
            <a:ext cx="3552825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314825" y="1371600"/>
            <a:ext cx="3552825" cy="1638300"/>
          </a:xfrm>
          <a:custGeom>
            <a:pathLst>
              <a:path w="373" h="172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467225" y="15240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08A1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991100" y="1524000"/>
            <a:ext cx="10382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6232E"/>
                </a:solidFill>
                <a:latin typeface="Microsoft YaHei"/>
                <a:ea typeface="Microsoft YaHei"/>
              </a:rPr>
              <a:t>学习笔记已上线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67225" y="2000250"/>
            <a:ext cx="3248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公网可访问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，错误页已定制。把网址发给一个人，让他注册并加一条笔记——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别人能用，才算真的部署成功。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8020050" y="1371600"/>
            <a:ext cx="3552825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020050" y="1371600"/>
            <a:ext cx="3552825" cy="1638300"/>
          </a:xfrm>
          <a:custGeom>
            <a:pathLst>
              <a:path w="373" h="172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172450" y="15240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5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696325" y="1524000"/>
            <a:ext cx="8858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6232E"/>
                </a:solidFill>
                <a:latin typeface="Microsoft YaHei"/>
                <a:ea typeface="Microsoft YaHei"/>
              </a:rPr>
              <a:t>能自己写测试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172450" y="2000250"/>
            <a:ext cx="3248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能用自己的函数写出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测试并跑过——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不是抄教材的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至少覆盖正常、边界、异常三种情况。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3086100"/>
            <a:ext cx="3552825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3086100"/>
            <a:ext cx="3552825" cy="1676400"/>
          </a:xfrm>
          <a:custGeom>
            <a:pathLst>
              <a:path w="373" h="176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62000" y="32385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5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85875" y="3238500"/>
            <a:ext cx="10382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6232E"/>
                </a:solidFill>
                <a:latin typeface="Microsoft YaHei"/>
                <a:ea typeface="Microsoft YaHei"/>
              </a:rPr>
              <a:t>读得懂陌生项目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000" y="3714750"/>
            <a:ext cx="3248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接手一个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没写过的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行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项目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，能读懂结构并定位一个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这条最难，也最能说明问题。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314825" y="3086100"/>
            <a:ext cx="3552825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314825" y="3086100"/>
            <a:ext cx="3552825" cy="1676400"/>
          </a:xfrm>
          <a:custGeom>
            <a:pathLst>
              <a:path w="373" h="176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0E9B7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67225" y="32385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9B7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91100" y="3238500"/>
            <a:ext cx="14763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6232E"/>
                </a:solidFill>
                <a:latin typeface="Microsoft YaHei"/>
                <a:ea typeface="Microsoft YaHei"/>
              </a:rPr>
              <a:t>说清「还能怎么扩展」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67225" y="3714750"/>
            <a:ext cx="3248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能说清每个项目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解决了什么问题、还能怎么扩展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。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这条考的是反思能力，不是背结论。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020050" y="3048000"/>
            <a:ext cx="3552825" cy="1676400"/>
          </a:xfrm>
          <a:prstGeom prst="roundRect">
            <a:avLst>
              <a:gd name="adj" fmla="val 6818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172450" y="3200400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5 / 5 </a:t>
            </a:r>
            <a:r>
              <a:rPr lang="zh-CN" sz="1163" b="1">
                <a:solidFill>
                  <a:srgbClr val="E08A15"/>
                </a:solidFill>
                <a:latin typeface="Microsoft YaHei"/>
                <a:ea typeface="Microsoft YaHei"/>
              </a:rPr>
              <a:t>全达标之后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72450" y="3457575"/>
            <a:ext cx="3248025" cy="1085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可以选方向继续深造：</a:t>
            </a:r>
            <a:endParaRPr/>
          </a:p>
          <a:p>
            <a:pPr>
              <a:lnSpc>
                <a:spcPct val="175000"/>
              </a:lnSpc>
            </a:pP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>Web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（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Django REST /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前端）</a:t>
            </a:r>
            <a:endParaRPr/>
          </a:p>
          <a:p>
            <a:pPr>
              <a:lnSpc>
                <a:spcPct val="175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数据（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>pandas / numpy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75000"/>
              </a:lnSpc>
            </a:pP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自动化与爬虫</a:t>
            </a:r>
            <a:r>
              <a:rPr lang="en-US" sz="1013">
                <a:solidFill>
                  <a:srgbClr val="3A4A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>
                <a:solidFill>
                  <a:srgbClr val="3A4A58"/>
                </a:solidFill>
                <a:latin typeface="Microsoft YaHei"/>
                <a:ea typeface="Microsoft YaHei"/>
              </a:rPr>
              <a:t>测试与工程化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4800600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81050" y="497205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与关卡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的区别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81050" y="5248275"/>
            <a:ext cx="10629900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关卡</a:t>
            </a:r>
            <a:r>
              <a:rPr lang="en-US" sz="1088">
                <a:solidFill>
                  <a:srgbClr val="A8C4DE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考的是「你会不会写」——闭卷、限时、手写。</a:t>
            </a:r>
            <a:endParaRPr/>
          </a:p>
          <a:p>
            <a:pPr>
              <a:lnSpc>
                <a:spcPct val="180000"/>
              </a:lnSpc>
            </a:pP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关卡</a:t>
            </a:r>
            <a:r>
              <a:rPr lang="en-US" sz="1088">
                <a:solidFill>
                  <a:srgbClr val="A8C4D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考的是「你做没做出来」——不看你能背多少</a:t>
            </a:r>
            <a:r>
              <a:rPr lang="en-US" sz="1088">
                <a:solidFill>
                  <a:srgbClr val="A8C4DE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，只看你能不能独立把东西做出来并交出去。</a:t>
            </a:r>
            <a:r>
              <a:rPr lang="en-US" sz="1088">
                <a:solidFill>
                  <a:srgbClr val="A8C4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88">
                <a:solidFill>
                  <a:srgbClr val="A8C4DE"/>
                </a:solidFill>
                <a:latin typeface="Microsoft YaHei"/>
                <a:ea typeface="Microsoft YaHei"/>
              </a:rPr>
              <a:t>所以它没有闭卷考试，答案就是你的三个仓库和一个线上网址。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3" name="" descr="&lt;Slide style={{&#13;&#10;    width: '1280px', height: '720px', backgroundColor: '#FAFCFE',&#13;&#10;    padding: 0, position: 'relative', overflow: 'hidden',&#13;&#10;}}&gt;&#13;&#10;    &lt;Box style={{ position: 'absolute', left: 64, top: 40, width: '1152px', flexDirection: 'column' }}&gt;&#13;&#10;        &lt;Text style={{ fontSize: 36, fontWeight: 'bold', color: '#16232E' }}&gt;练习题库 · 六档递进共 84 题&lt;/Text&gt;&#13;&#10;        &lt;Text style={{ fontSize: 18, color: '#5A6B7A', marginTop: 6 }}&gt;&#13;&#10;            每题都有参考答案与解析。卡 15 分钟再看答案，看完必须关掉重写一遍&#13;&#10;        &lt;/Text&gt;&#13;&#10;    &lt;/Box&gt;&#13;&#10;&#13;&#10;    &lt;Box style={{ position: 'absolute', left: 52, top: 152, width: '730px', height: 400 }}&gt;&#13;&#10;        &lt;svg width='730' height='400' viewBox='0 0 730 400'&gt;&#13;&#10;            &lt;line x1='20' y1='340' x2='710' y2='340' stroke='#D8E3EE' strokeWidth='2' /&gt;&#13;&#10;            &lt;rect x='26' y='260' width='86' height='80' rx='6' fill='#1F5FA8' /&gt;&#13;&#10;            &lt;text x='69' y='290' fontSize='22' fontWeight='bold' fill='#FFFFFF' textAnchor='middle' fontFamily='Inter'&gt;L1&lt;/text&gt;&#13;&#10;            &lt;text fontFamily='Microsoft YaHei' x='69' y='314' fontSize='13' fill='#CFE2F5' textAnchor='middle'&gt;12 题&lt;/text&gt;&#13;&#10;            &lt;text fontFamily='Microsoft YaHei' x='69' y='366' fontSize='12' fill='#5A6B7A' textAnchor='middle'&gt;变量 / 列表&lt;/text&gt;&#13;&#10;            &lt;text fontFamily='Microsoft YaHei' x='69' y='386' fontSize='12' fill='#8A9AAA' textAnchor='middle'&gt;3 小时&lt;/text&gt;&#13;&#10;            &lt;rect x='140' y='230' width='86' height='110' rx='6' fill='#1F5FA8' /&gt;&#13;&#10;            &lt;text x='183' y='260' fontSize='22' fontWeight='bold' fill='#FFFFFF' textAnchor='middle' fontFamily='Inter'&gt;L2&lt;/text&gt;&#13;&#10;            &lt;text fontFamily='Microsoft YaHei' x='183' y='284' fontSize='13' fill='#CFE2F5' textAnchor='middle'&gt;16 题&lt;/text&gt;&#13;&#10;            &lt;text fontFamily='Microsoft YaHei' x='183' y='366' fontSize='12' fill='#5A6B7A' textAnchor='middle'&gt;循环 / 条件 /&lt;/text&gt;&#13;&#10;            &lt;text fontFamily='Microsoft YaHei' x='183' y='386' fontSize='12' fill='#8A9AAA' textAnchor='middle'&gt;6 小时&lt;/text&gt;&#13;&#10;            &lt;rect x='254' y='200' width='86' height='140' rx='6' fill='#2F7BC8' /&gt;&#13;&#10;            &lt;text x='297' y='230' fontSize='22' fontWeight='bold' fill='#FFFFFF' textAnchor='middle' fontFamily='Inter'&gt;L3&lt;/text&gt;&#13;&#10;            &lt;text fontFamily='Microsoft YaHei' x='297' y='254' fontSize='13' fill='#EAF3FC' textAnchor='middle'&gt;8 题&lt;/text&gt;&#13;&#10;            &lt;text fontFamily='Microsoft YaHei' x='297' y='366' fontSize='12' fill='#5A6B7A' textAnchor='middle'&gt;函数 / 递归 /&lt;/text&gt;&#13;&#10;            &lt;text fontFamily='Microsoft YaHei' x='297' y='386' fontSize='12' fill='#8A9AAA' textAnchor='middle'&gt;4 小时&lt;/text&gt;&#13;&#10;            &lt;rect x='368' y='170' width='86' height='170' rx='6' fill='#0E9B78' /&gt;&#13;&#10;            &lt;text x='411' y='200' fontSize='22' fontWeight='bold' fill='#FFFFFF' textAnchor='middle' fontFamily='Inter'&gt;L4&lt;/text&gt;&#13;&#10;            &lt;text fontFamily='Microsoft YaHei' x='411' y='224' fontSize='13' fill='#D7F0E7' textAnchor='middle'&gt;8 题&lt;/text&gt;&#13;&#10;            &lt;text fontFamily='Microsoft YaHei' x='411' y='366' fontSize='12' fill='#5A6B7A' textAnchor='middle'&gt;类 / 继承 /&lt;/text&gt;&#13;&#10;            &lt;text fontFamily='Microsoft YaHei' x='411' y='386' fontSize='12' fill='#8A9AAA' textAnchor='middle'&gt;5 小时&lt;/text&gt;&#13;&#10;            &lt;rect x='482' y='140' width='86' height='200' rx='6' fill='#E08A15' /&gt;&#13;&#10;            &lt;text x='525' y='170' fontSize='22' fontWeight='bold' fill='#FFFFFF' textAnchor='middle' fontFamily='Inter'&gt;L5&lt;/text&gt;&#13;&#10;            &lt;text fontFamily='Microsoft YaHei' x='525' y='194' fontSize='13' fill='#FDF0DC' textAnchor='middle'&gt;10 题&lt;/text&gt;&#13;&#10;            &lt;text fontFamily='Microsoft YaHei' x='525' y='366' fontSize='12' fill='#5A6B7A' textAnchor='middle'&gt;文件 / 异常 /&lt;/text&gt;&#13;&#10;            &lt;text fontFamily='Microsoft YaHei' x='525' y='386' fontSize='12' fill='#8A9AAA' textAnchor='middle'&gt;6 小时&lt;/text&gt;&#13;&#10;            &lt;rect x='596' y='110' width='86' height='230' rx='6' fill='#8A5A08' /&gt;&#13;&#10;            &lt;text x='639' y='140' fontSize='22' fontWeight='bold' fill='#FFFFFF' textAnchor='middle' fontFamily='Inter'&gt;L6&lt;/text&gt;&#13;&#10;            &lt;text fontFamily='Microsoft YaHei' x='639' y='164' fontSize='13' fill='#F3E2CC' textAnchor='middle'&gt;30 题&lt;/text&gt;&#13;&#10;            &lt;text fontFamily='Microsoft YaHei' x='639' y='366' fontSize='12' fill='#5A6B7A' textAnchor='middle'&gt;项目 / 工程 /&lt;/text&gt;&#13;&#10;            &lt;text fontFamily='Microsoft YaHei' x='639' y='386' fontSize='12' fill='#8A9AAA' textAnchor='middle'&gt;12 小时&lt;/text&gt;&#13;&#10;        &lt;/svg&gt;&#13;&#10;    &lt;/Box&gt;&#13;&#10;&#13;&#10;    &lt;Box style={{ position: 'absolute', right: 64, top: 148, width: 420, flexDirection: 'column', gap: 14 }}&gt;&#13;&#10;        &lt;Box style={{ background: '#FFFFFF', border: '1px solid #D8E3EE', borderRadius: 12, padding: 18, flexDirection: 'column', gap: 8 }}&gt;&#13;&#10;            &lt;Text style={{ fontSize: 18, fontWeight: 'bold', color: '#1F5FA8' }}&gt;每题的固定三段结构&lt;/Text&gt;&#13;&#10;            &lt;Text style={{ fontSize: 15, color: '#5A6B7A', lineHeight: 1.65 }}&gt;&#13;&#10;                题目（写清输入输出）→ 参考答案（完整可运行代码，不是伪代码）→ 解析（说明为什么这么写，以及常见错法）&#13;&#10;            &lt;/Text&gt;&#13;&#10;        &lt;/Box&gt;&#13;&#10;&#13;&#10;        &lt;Box style={{ background: '#FFFFFF', border: '1px solid #D8E3EE', borderRadius: 12, padding: 18, flexDirection: 'column', gap: 8 }}&gt;&#13;&#10;            &lt;Text style={{ fontSize: 18, fontWeight: 'bold', color: '#1F5FA8' }}&gt;重点题（会卡人的）&lt;/Text&gt;&#13;&#10;            &lt;Text style={{ fontSize: 15, color: '#5A6B7A', lineHeight: 1.7 }}&gt;&#13;&#10;                L2-5 列表引用陷阱&lt;br /&gt;&#13;&#10;                L2-14 for-else 写法&lt;br /&gt;&#13;&#10;                L3-3 列表传参改与不改&lt;br /&gt;&#13;&#10;                L4-3 属性私有化与 @property&lt;br /&gt;&#13;&#10;                L5-3 异常 else 子句&#13;&#10;            &lt;/Text&gt;&#13;&#10;        &lt;/Box&gt;&#13;&#10;&#13;&#10;        &lt;Box style={{ background: '#FDF3E2', borderRadius: 12, padding: 18, flexDirection: 'column', gap: 8 }}&gt;&#13;&#10;            &lt;Text style={{ fontSize: 18, fontWeight: 'bold', color: '#8A5A08' }}&gt;另外有 3 道综合挑战&lt;/Text&gt;&#13;&#10;            &lt;Text style={{ fontSize: 15, color: '#5A6B7A', lineHeight: 1.7 }}&gt;&#13;&#10;                A 文本词频分析器&lt;br /&gt;&#13;&#10;                B 学生成绩管理器&lt;br /&gt;&#13;&#10;                C 命令行记事本&lt;br /&gt;&#13;&#10;                三道都涉及模块化拆分与 pytest&#13;&#10;            &lt;/Text&gt;&#13;&#10;        &lt;/Box&gt;&#13;&#10;    &lt;/Box&gt;&#13;&#10;&#13;&#10;    &lt;Box style={{&#13;&#10;        position: 'absolute', left: 64, bottom: 24, width: '1152px',&#13;&#10;        flexDirection: 'row', justifyContent: 'space-between', alignItems: 'center',&#13;&#10;    }}&gt;&#13;&#10;        &lt;Text style={{ fontSize: 14, color: '#8A9AAA' }}&gt;Python 阶段 0–2 课程大纲&lt;/Text&gt;&#13;&#10;        &lt;Text style={{ fontSize: 14, color: '#8A9AAA' }}&gt;19 / 23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练习题库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六档递进共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84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每题都有参考答案与解析。卡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分钟再看答案，看完必须关掉重写一遍</a:t>
            </a:r>
            <a:endParaRPr/>
          </a:p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5300" y="1447800"/>
            <a:ext cx="6953250" cy="3810000"/>
          </a:xfrm>
          <a:prstGeom prst="rect">
            <a:avLst/>
          </a:prstGeom>
          <a:ln/>
        </p:spPr>
      </p:pic>
      <p:sp>
        <p:nvSpPr>
          <p:cNvPr id="238" name=""/>
          <p:cNvSpPr/>
          <p:nvPr/>
        </p:nvSpPr>
        <p:spPr>
          <a:xfrm rot="0" flipH="0" flipV="0">
            <a:off x="7581900" y="1409700"/>
            <a:ext cx="4000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753350" y="158115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每题的固定三段结构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753350" y="1866900"/>
            <a:ext cx="3657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题目（写清输入输出）→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参考答案（完整可运行代码，不是伪代码）→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解析（说明为什么这么写，以及常见错法）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581900" y="2743200"/>
            <a:ext cx="4000500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753350" y="291465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5FA8"/>
                </a:solidFill>
                <a:latin typeface="Microsoft YaHei"/>
                <a:ea typeface="Microsoft YaHei"/>
              </a:rPr>
              <a:t>重点题（会卡人的）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753350" y="3200400"/>
            <a:ext cx="365760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L2-5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列表引用陷阱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L2-14 for-else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写法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L3-3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列表传参改与不改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L4-3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属性私有化与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@property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L5-3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异常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else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子句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581900" y="4962525"/>
            <a:ext cx="4000500" cy="1800225"/>
          </a:xfrm>
          <a:prstGeom prst="roundRect">
            <a:avLst>
              <a:gd name="adj" fmla="val 6349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753350" y="5133975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另外有</a:t>
            </a:r>
            <a:r>
              <a:rPr lang="en-US" sz="1350" b="1">
                <a:solidFill>
                  <a:srgbClr val="8A5A0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 b="1">
                <a:solidFill>
                  <a:srgbClr val="8A5A08"/>
                </a:solidFill>
                <a:latin typeface="Microsoft YaHei"/>
                <a:ea typeface="Microsoft YaHei"/>
              </a:rPr>
              <a:t>道综合挑战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753350" y="5419725"/>
            <a:ext cx="36576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文本词频分析器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命令行记事本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三道都涉及模块化拆分与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0" y="0"/>
            <a:ext cx="12192000" cy="1295400"/>
          </a:xfrm>
          <a:prstGeom prst="rect">
            <a:avLst/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常见卡点与对策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790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这六处是零基础学员</a:t>
            </a:r>
            <a:r>
              <a:rPr lang="en-US" sz="1275">
                <a:solidFill>
                  <a:srgbClr val="A8C4DE"/>
                </a:solidFill>
                <a:latin typeface="Microsoft YaHei"/>
                <a:ea typeface="Microsoft YaHei"/>
              </a:rPr>
              <a:t xml:space="preserve"> 90% </a:t>
            </a:r>
            <a:r>
              <a:rPr lang="zh-CN" sz="1275">
                <a:solidFill>
                  <a:srgbClr val="A8C4DE"/>
                </a:solidFill>
                <a:latin typeface="Microsoft YaHei"/>
                <a:ea typeface="Microsoft YaHei"/>
              </a:rPr>
              <a:t>会卡住的地方，提前告知比事后补救有效得多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4–7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 if → while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，语法密度陡增，缩进错误开始变多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0100" y="2962275"/>
            <a:ext cx="1333500" cy="25622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33450" y="30765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33450" y="322897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动手练重做一遍，同一道题写三遍直到不用想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2457450" y="1524000"/>
            <a:ext cx="1724025" cy="41910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647950" y="1714500"/>
            <a:ext cx="1343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2647950" y="203835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抽象思维跳跃，卡在「不知道该拆成几个函数」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2647950" y="2962275"/>
            <a:ext cx="1343025" cy="25622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2781300" y="307657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2781300" y="322897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先抄教材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个例子，再逐个改需求，最后自己拆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314825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505325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E08A15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505325" y="2038350"/>
            <a:ext cx="1333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零基础最劝退的一章，直觉上是「凭空造东西」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505325" y="2962275"/>
            <a:ext cx="1333500" cy="2562225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638675" y="30765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638675" y="3228975"/>
            <a:ext cx="1066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允许慢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周，造学生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购物车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账户三个真实类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162675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353175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文件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编码报错、路径找不到、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格式写错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353175" y="2686050"/>
            <a:ext cx="1333500" cy="283845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486525" y="280035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486525" y="295275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全程用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pathlib + with + utf-8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，从第一行就写对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8010525" y="1524000"/>
            <a:ext cx="1724025" cy="419100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201025" y="1714500"/>
            <a:ext cx="13430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500" b="1">
                <a:solidFill>
                  <a:srgbClr val="1F5FA8"/>
                </a:solidFill>
                <a:latin typeface="Microsoft YaHei"/>
                <a:ea typeface="Microsoft YaHei"/>
              </a:rPr>
              <a:t>章</a:t>
            </a:r>
            <a:r>
              <a:rPr lang="en-US" sz="1500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pytest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201025" y="2266950"/>
            <a:ext cx="1343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装不上、找不到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、不知道测什么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201025" y="3190875"/>
            <a:ext cx="1343025" cy="2333625"/>
          </a:xfrm>
          <a:prstGeom prst="roundRect">
            <a:avLst>
              <a:gd name="adj" fmla="val 5674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334375" y="3305175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AAA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34375" y="3457575"/>
            <a:ext cx="10763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1F5FA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1F5FA8"/>
                </a:solidFill>
                <a:latin typeface="Microsoft YaHei"/>
                <a:ea typeface="Microsoft YaHei"/>
              </a:rPr>
              <a:t>就建虚拟环境，只测自己写过的小函数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9867900" y="1524000"/>
            <a:ext cx="1714500" cy="4191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0584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1394B"/>
                </a:solidFill>
                <a:latin typeface="Microsoft YaHei"/>
                <a:ea typeface="Microsoft YaHei"/>
              </a:rPr>
              <a:t>学不下去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0058400" y="2038350"/>
            <a:ext cx="133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战线太长看不到进展，积极性断崖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10058400" y="2686050"/>
            <a:ext cx="1333500" cy="2838450"/>
          </a:xfrm>
          <a:prstGeom prst="roundRect">
            <a:avLst>
              <a:gd name="adj" fmla="val 5714"/>
            </a:avLst>
          </a:prstGeom>
          <a:solidFill>
            <a:srgbClr val="FDEE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191750" y="280035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5C68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0191750" y="2952750"/>
            <a:ext cx="1066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切回短任务，只做一个</a:t>
            </a:r>
            <a:r>
              <a:rPr lang="en-US" sz="1125">
                <a:solidFill>
                  <a:srgbClr val="A8323F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A8323F"/>
                </a:solidFill>
                <a:latin typeface="Microsoft YaHei"/>
                <a:ea typeface="Microsoft YaHei"/>
              </a:rPr>
              <a:t>行的小程序，两天内见效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57721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59721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通用原则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600200" y="5972175"/>
            <a:ext cx="605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任何一章卡住超过两周，先降难度而不是硬啃：降级到</a:t>
            </a:r>
            <a:r>
              <a:rPr lang="en-US" sz="1200">
                <a:solidFill>
                  <a:srgbClr val="3A4A58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200">
                <a:solidFill>
                  <a:srgbClr val="3A4A58"/>
                </a:solidFill>
                <a:latin typeface="Microsoft YaHei"/>
                <a:ea typeface="Microsoft YaHei"/>
              </a:rPr>
              <a:t>题库对应档位，重做一遍再来。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综合项目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三选一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之后花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2–3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周做掉一个。目的不是练新语法，是把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章串成一个完整程序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1390650"/>
            <a:ext cx="3552825" cy="417195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25400">
            <a:solidFill>
              <a:srgbClr val="E08A1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3333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08A15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495675" y="173355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609975" y="1771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3171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个人记账本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0100" y="25908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复习强度：中等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把交易记录写进文本文件，读取后汇总金额，按月统计并画成柱状图。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覆盖：文件读写、异常处理、字典与列表、字符串解析。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0100" y="4162425"/>
            <a:ext cx="31718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延伸：把图表导出成图片保存到本地。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00100" y="4819650"/>
            <a:ext cx="3171825" cy="552450"/>
          </a:xfrm>
          <a:prstGeom prst="roundRect">
            <a:avLst>
              <a:gd name="adj" fmla="val 13793"/>
            </a:avLst>
          </a:prstGeom>
          <a:solidFill>
            <a:srgbClr val="FDF3E2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905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7A10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5A08"/>
                </a:solidFill>
                <a:latin typeface="Microsoft YaHei"/>
                <a:ea typeface="Microsoft YaHei"/>
              </a:rPr>
              <a:t>文件与异常还不够熟的学员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314825" y="1390650"/>
            <a:ext cx="3562350" cy="417195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505325" y="1581150"/>
            <a:ext cx="304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F5FA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210425" y="1733550"/>
            <a:ext cx="476250" cy="228600"/>
          </a:xfrm>
          <a:prstGeom prst="roundRect">
            <a:avLst>
              <a:gd name="adj" fmla="val 20833"/>
            </a:avLst>
          </a:prstGeom>
          <a:solidFill>
            <a:srgbClr val="1F5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324725" y="1771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505325" y="222885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学生成绩管理器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505325" y="2590800"/>
            <a:ext cx="318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复习强度：较高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505325" y="2867025"/>
            <a:ext cx="3181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增删改查学生成绩，按总分或单科排序，计算平均分与及格率，数据存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505325" y="3514725"/>
            <a:ext cx="3181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覆盖：类、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@property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、每项操作要有输入校验。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505325" y="4162425"/>
            <a:ext cx="3181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延伸：补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条以上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505325" y="4819650"/>
            <a:ext cx="3181350" cy="552450"/>
          </a:xfrm>
          <a:prstGeom prst="roundRect">
            <a:avLst>
              <a:gd name="adj" fmla="val 13793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38675" y="493395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38675" y="5086350"/>
            <a:ext cx="291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5FA8"/>
                </a:solidFill>
                <a:latin typeface="Microsoft YaHei"/>
                <a:ea typeface="Microsoft YaHei"/>
              </a:rPr>
              <a:t>想重点巩固类与面向对象的学员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029575" y="1390650"/>
            <a:ext cx="3552825" cy="417195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220075" y="1581150"/>
            <a:ext cx="2952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9B78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220075" y="2228850"/>
            <a:ext cx="3171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32E"/>
                </a:solidFill>
                <a:latin typeface="Microsoft YaHei"/>
                <a:ea typeface="Microsoft YaHei"/>
              </a:rPr>
              <a:t>命令行记事本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220075" y="25908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复习强度：最高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3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220075" y="286702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支持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add / list / find / del / edit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五个子命令，数据存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argparse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处理命令行参数。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220075" y="3514725"/>
            <a:ext cx="31718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覆盖：模块化拆分、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argparse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、异常兜底、测试。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220075" y="3876675"/>
            <a:ext cx="3171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延伸：这是阶段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外星人项目的预热，提前练「大项目拆解」的手感。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8220075" y="4819650"/>
            <a:ext cx="3171825" cy="552450"/>
          </a:xfrm>
          <a:prstGeom prst="roundRect">
            <a:avLst>
              <a:gd name="adj" fmla="val 13793"/>
            </a:avLst>
          </a:prstGeom>
          <a:solidFill>
            <a:srgbClr val="E8F7F1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53425" y="4933950"/>
            <a:ext cx="2905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9F8C"/>
                </a:solidFill>
                <a:latin typeface="Microsoft YaHei"/>
                <a:ea typeface="Microsoft YaHei"/>
              </a:rPr>
              <a:t>适合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53425" y="50863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想直接衔接阶段</a:t>
            </a:r>
            <a:r>
              <a:rPr lang="en-US" sz="1125" b="1">
                <a:solidFill>
                  <a:srgbClr val="0A7A5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 b="1">
                <a:solidFill>
                  <a:srgbClr val="0A7A5F"/>
                </a:solidFill>
                <a:latin typeface="Microsoft YaHei"/>
                <a:ea typeface="Microsoft YaHei"/>
              </a:rPr>
              <a:t>的学员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563880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57250" y="58959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B36A"/>
                </a:solidFill>
                <a:latin typeface="Microsoft YaHei"/>
                <a:ea typeface="Microsoft YaHei"/>
              </a:rPr>
              <a:t>统一要求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733550" y="5857875"/>
            <a:ext cx="7677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拆成多个模块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补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pytest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测试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写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README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说明怎么跑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推到公开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仓库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D6E4F0"/>
                </a:solidFill>
                <a:latin typeface="Microsoft YaHei"/>
                <a:ea typeface="Microsoft YaHei"/>
              </a:rPr>
              <a:t>这四条做到位，直接衔接阶段</a:t>
            </a:r>
            <a:r>
              <a:rPr lang="en-US" sz="1200">
                <a:solidFill>
                  <a:srgbClr val="D6E4F0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1252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476250"/>
            <a:ext cx="1190625" cy="238125"/>
          </a:xfrm>
          <a:prstGeom prst="roundRect">
            <a:avLst>
              <a:gd name="adj" fmla="val 20000"/>
            </a:avLst>
          </a:prstGeom>
          <a:solidFill>
            <a:srgbClr val="16232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23900" y="51435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通过关卡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之后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933575" y="381000"/>
            <a:ext cx="51339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阶段</a:t>
            </a:r>
            <a:r>
              <a:rPr lang="en-US" sz="270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2700" b="1">
                <a:solidFill>
                  <a:srgbClr val="16232E"/>
                </a:solidFill>
                <a:latin typeface="Microsoft YaHei"/>
                <a:ea typeface="Microsoft YaHei"/>
              </a:rPr>
              <a:t>从会写代码到会交付软件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这部分教材刻意不讲，但它决定你是「会写代码的人」还是「能交付软件的人」。与阶段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5A6B7A"/>
                </a:solidFill>
                <a:latin typeface="Microsoft YaHei"/>
                <a:ea typeface="Microsoft YaHei"/>
              </a:rPr>
              <a:t>并行穿插，占比约</a:t>
            </a:r>
            <a:r>
              <a:rPr lang="en-US" sz="1350">
                <a:solidFill>
                  <a:srgbClr val="5A6B7A"/>
                </a:solidFill>
                <a:latin typeface="Microsoft YaHei"/>
                <a:ea typeface="Microsoft YaHei"/>
              </a:rPr>
              <a:t xml:space="preserve"> 15%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371600"/>
            <a:ext cx="10972800" cy="2057400"/>
          </a:xfrm>
          <a:prstGeom prst="rect">
            <a:avLst/>
          </a:prstGeom>
          <a:ln/>
        </p:spPr>
      </p:pic>
      <p:sp>
        <p:nvSpPr>
          <p:cNvPr id="371" name=""/>
          <p:cNvSpPr/>
          <p:nvPr/>
        </p:nvSpPr>
        <p:spPr>
          <a:xfrm rot="0" flipH="0" flipV="0">
            <a:off x="609600" y="3619500"/>
            <a:ext cx="54102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00100" y="381000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阶段</a:t>
            </a:r>
            <a:r>
              <a:rPr lang="en-US" sz="1275" b="1">
                <a:solidFill>
                  <a:srgbClr val="1F5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想解决什么问题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00100" y="4105275"/>
            <a:ext cx="50292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阶段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解决「写不出来」，阶段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解决「做不完整」，阶段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解决「交付不可靠」。</a:t>
            </a:r>
            <a:endParaRPr/>
          </a:p>
          <a:p>
            <a:pPr>
              <a:lnSpc>
                <a:spcPct val="180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具体表现是：改一个功能不小心弄坏了别处（没测试）、线上出问题不知道怎么回滚（没版本管理）、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换台电脑就跑不起来（没锁依赖）。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172200" y="3619500"/>
            <a:ext cx="5410200" cy="2171700"/>
          </a:xfrm>
          <a:prstGeom prst="roundRect">
            <a:avLst>
              <a:gd name="adj" fmla="val 5263"/>
            </a:avLst>
          </a:prstGeom>
          <a:solidFill>
            <a:srgbClr val="EEF5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362700" y="381000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5FA8"/>
                </a:solidFill>
                <a:latin typeface="Microsoft YaHei"/>
                <a:ea typeface="Microsoft YaHei"/>
              </a:rPr>
              <a:t>四条方向，先学什么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362700" y="4105275"/>
            <a:ext cx="5029200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>Web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Django REST Framework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，把学习笔记做成接口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数据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pandas / numpy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，处理十万行以上的表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自动化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requests +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定时任务，把重复劳动脚本化</a:t>
            </a:r>
            <a:endParaRPr/>
          </a:p>
          <a:p>
            <a:pPr>
              <a:lnSpc>
                <a:spcPct val="175000"/>
              </a:lnSpc>
            </a:pP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工程化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 xml:space="preserve"> → pytest 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进阶、</a:t>
            </a:r>
            <a:r>
              <a:rPr lang="en-US" sz="1088">
                <a:solidFill>
                  <a:srgbClr val="3A4A58"/>
                </a:solidFill>
                <a:latin typeface="Microsoft YaHei"/>
                <a:ea typeface="Microsoft YaHei"/>
              </a:rPr>
              <a:t>CI</a:t>
            </a:r>
            <a:r>
              <a:rPr lang="zh-CN" sz="1088">
                <a:solidFill>
                  <a:srgbClr val="3A4A58"/>
                </a:solidFill>
                <a:latin typeface="Microsoft YaHei"/>
                <a:ea typeface="Microsoft YaHei"/>
              </a:rPr>
              <a:t>、类型检查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8A9AAA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1252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AAA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32E"/>
              </a:gs>
              <a:gs pos="100000">
                <a:srgbClr val="1F5FA8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14400" y="990600"/>
            <a:ext cx="10382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300">
                <a:solidFill>
                  <a:srgbClr val="8FB8E0"/>
                </a:solidFill>
                <a:latin typeface="Microsoft YaHei"/>
                <a:ea typeface="Microsoft YaHei"/>
              </a:rPr>
              <a:t>阶段</a:t>
            </a:r>
            <a:r>
              <a:rPr lang="en-US" sz="2250" spc="300">
                <a:solidFill>
                  <a:srgbClr val="8FB8E0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2250" spc="300">
                <a:solidFill>
                  <a:srgbClr val="8FB8E0"/>
                </a:solidFill>
                <a:latin typeface="Microsoft YaHei"/>
                <a:ea typeface="Microsoft YaHei"/>
              </a:rPr>
              <a:t>完整路径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914400" y="1504950"/>
            <a:ext cx="10382250" cy="9144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今天就把环境装好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14400" y="2419350"/>
            <a:ext cx="10382250" cy="9144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E08A15"/>
                </a:solidFill>
                <a:latin typeface="Microsoft YaHei"/>
                <a:ea typeface="Microsoft YaHei"/>
              </a:rPr>
              <a:t>把第一行</a:t>
            </a:r>
            <a:r>
              <a:rPr lang="en-US" sz="4800" b="1">
                <a:solidFill>
                  <a:srgbClr val="E08A15"/>
                </a:solidFill>
                <a:latin typeface="Microsoft YaHei"/>
                <a:ea typeface="Microsoft YaHei"/>
              </a:rPr>
              <a:t xml:space="preserve"> print </a:t>
            </a:r>
            <a:r>
              <a:rPr lang="zh-CN" sz="4800" b="1">
                <a:solidFill>
                  <a:srgbClr val="E08A15"/>
                </a:solidFill>
                <a:latin typeface="Microsoft YaHei"/>
                <a:ea typeface="Microsoft YaHei"/>
              </a:rPr>
              <a:t>敲出来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914400" y="3619500"/>
            <a:ext cx="1524000" cy="47625"/>
          </a:xfrm>
          <a:prstGeom prst="rect">
            <a:avLst/>
          </a:prstGeom>
          <a:solidFill>
            <a:srgbClr val="E08A15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14400" y="3952875"/>
            <a:ext cx="95250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650">
                <a:solidFill>
                  <a:srgbClr val="C9DEEE"/>
                </a:solidFill>
                <a:latin typeface="Microsoft YaHei"/>
                <a:ea typeface="Microsoft YaHei"/>
              </a:rPr>
              <a:t xml:space="preserve">22 </a:t>
            </a: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个单元</a:t>
            </a:r>
            <a:r>
              <a:rPr lang="en-US" sz="1650">
                <a:solidFill>
                  <a:srgbClr val="C9DEEE"/>
                </a:solidFill>
                <a:latin typeface="Microsoft YaHei"/>
                <a:ea typeface="Microsoft YaHei"/>
              </a:rPr>
              <a:t xml:space="preserve"> · 111 </a:t>
            </a: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节课</a:t>
            </a:r>
            <a:r>
              <a:rPr lang="en-US" sz="1650">
                <a:solidFill>
                  <a:srgbClr val="C9DEEE"/>
                </a:solidFill>
                <a:latin typeface="Microsoft YaHei"/>
                <a:ea typeface="Microsoft YaHei"/>
              </a:rPr>
              <a:t xml:space="preserve"> · 29 </a:t>
            </a: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周，看起来很长。但每节课只有</a:t>
            </a:r>
            <a:r>
              <a:rPr lang="en-US" sz="1650">
                <a:solidFill>
                  <a:srgbClr val="C9DEEE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分钟，</a:t>
            </a:r>
            <a:r>
              <a:rPr lang="en-US" sz="1650">
                <a:solidFill>
                  <a:srgbClr val="C9DEE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每个单元的产出物都写得清清楚楚。</a:t>
            </a:r>
            <a:endParaRPr/>
          </a:p>
          <a:p>
            <a:pPr>
              <a:lnSpc>
                <a:spcPct val="180000"/>
              </a:lnSpc>
            </a:pPr>
            <a:r>
              <a:rPr lang="zh-CN" sz="1650">
                <a:solidFill>
                  <a:srgbClr val="C9DEEE"/>
                </a:solidFill>
                <a:latin typeface="Microsoft YaHei"/>
                <a:ea typeface="Microsoft YaHei"/>
              </a:rPr>
              <a:t>真正决定结果的不是速度，是「每节课都动手、每个单元都交东西」。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914400" y="4762500"/>
            <a:ext cx="3362325" cy="1123950"/>
          </a:xfrm>
          <a:prstGeom prst="roundRect">
            <a:avLst>
              <a:gd name="adj" fmla="val 1016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085850" y="4933950"/>
            <a:ext cx="3019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8E0"/>
                </a:solidFill>
                <a:latin typeface="Microsoft YaHei"/>
                <a:ea typeface="Microsoft YaHei"/>
              </a:rPr>
              <a:t>资料都在哪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085850" y="5162550"/>
            <a:ext cx="301942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22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份单元讲义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+ 111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节课节页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+ 52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道分阶题库，本地双击就能读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429125" y="4762500"/>
            <a:ext cx="3352800" cy="1123950"/>
          </a:xfrm>
          <a:prstGeom prst="roundRect">
            <a:avLst>
              <a:gd name="adj" fmla="val 1016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600575" y="4933950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8E0"/>
                </a:solidFill>
                <a:latin typeface="Microsoft YaHei"/>
                <a:ea typeface="Microsoft YaHei"/>
              </a:rPr>
              <a:t>进度怎么记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600575" y="5162550"/>
            <a:ext cx="30099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每节课和每个单元都有勾选框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勾选状态保存在本机浏览器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934325" y="4762500"/>
            <a:ext cx="3362325" cy="1123950"/>
          </a:xfrm>
          <a:prstGeom prst="roundRect">
            <a:avLst>
              <a:gd name="adj" fmla="val 10169"/>
            </a:avLst>
          </a:prstGeom>
          <a:solidFill>
            <a:srgbClr val="E08A15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105775" y="4933950"/>
            <a:ext cx="3019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8A15"/>
                </a:solidFill>
                <a:latin typeface="Microsoft YaHei"/>
                <a:ea typeface="Microsoft YaHei"/>
              </a:rPr>
              <a:t>第一个动作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105775" y="5162550"/>
            <a:ext cx="301942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装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Python 3.12+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（勾选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Add to PATH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装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VS Code + Python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扩展，跑通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hello.py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14400" y="63722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9AB8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050">
                <a:solidFill>
                  <a:srgbClr val="7E9AB8"/>
                </a:solidFill>
                <a:latin typeface="Microsoft YaHei"/>
                <a:ea typeface="Microsoft YaHei"/>
              </a:rPr>
              <a:t>阶段</a:t>
            </a:r>
            <a:r>
              <a:rPr lang="en-US" sz="1050">
                <a:solidFill>
                  <a:srgbClr val="7E9AB8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1050">
                <a:solidFill>
                  <a:srgbClr val="7E9AB8"/>
                </a:solidFill>
                <a:latin typeface="Microsoft YaHei"/>
                <a:ea typeface="Microsoft YaHei"/>
              </a:rPr>
              <a:t>课程大纲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0839450" y="63722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9AB8"/>
                </a:solidFill>
                <a:latin typeface="Microsoft YaHei"/>
                <a:ea typeface="Microsoft YaHei"/>
              </a:rPr>
              <a:t>23 / 23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2026-10-17T22:15:08Z</dcterms:created>
  <dcterms:modified xsi:type="dcterms:W3CDTF">2026-10-17T22:15:08Z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{"AIGC":{"Label":"1","ContentProducer":"00119111010856365494821B355","ProduceID":"01a14018019976988239e02b502d9ec0","ReservedCode1":"","ContentPropagator":"00119111010856365494821B355","PropagateID":"01a14018019976988239e02b502d9ec0","ReservedCode2":""}}</vt:lpwstr>
  </property>
</Properties>
</file>