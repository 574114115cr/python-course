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3" Type="http://schemas.openxmlformats.org/officeDocument/2006/relationships/slide" Target="slides/slide13.xml" /><Relationship Id="rId8" Type="http://schemas.openxmlformats.org/officeDocument/2006/relationships/slide" Target="slides/slide8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8" Type="http://schemas.openxmlformats.org/officeDocument/2006/relationships/slide" Target="slides/slide18.xml" /><Relationship Id="rId19" Type="http://schemas.openxmlformats.org/officeDocument/2006/relationships/slide" Target="slides/slide19.xml" /><Relationship Id="rId2" Type="http://schemas.openxmlformats.org/officeDocument/2006/relationships/slide" Target="slides/slide2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22" Type="http://schemas.openxmlformats.org/officeDocument/2006/relationships/slide" Target="slides/slide22.xml" /><Relationship Id="rId23" Type="http://schemas.openxmlformats.org/officeDocument/2006/relationships/slide" Target="slides/slide23.xml" /><Relationship Id="rId26" Type="http://schemas.openxmlformats.org/officeDocument/2006/relationships/tableStyles" Target="tableStyles.xml" /><Relationship Id="rId24" Type="http://schemas.openxmlformats.org/officeDocument/2006/relationships/notesMaster" Target="notesMasters/notesMaster1.xml" /><Relationship Id="rId25" Type="http://schemas.openxmlformats.org/officeDocument/2006/relationships/presProps" Target="presProps.xml" /><Relationship Id="rId27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&#13;&#10;    width: '1280px', height: '720px', backgroundColor: '#FAFCFE',&#13;&#10;    padding: 0, position: 'relative', overflow: 'hidden',&#13;&#10;}}&gt;&#13;&#10;    &lt;Box style={{&#13;&#10;        position: 'absolute', left: 0, top: 0, width: '1280px', height: '720px',&#13;&#10;        background: 'linear-gradient(135deg, #1F5FA8 0%, #0E9B78 100%)',&#13;&#10;        opacity: 0.95,&#13;&#10;    }} /&gt;&#13;&#10;    &lt;Box style={{&#13;&#10;        position: 'absolute', left: 0, top: 470, width: '1280px', height: '250px',&#13;&#10;        background: '#0B1F33', opacity: 0.28,&#13;&#10;    }} /&gt;&#13;&#10;&#13;&#10;    &lt;Box style={{&#13;&#10;        position: 'absolute', left: 72, top: 84, width: '960px',&#13;&#10;        flexDirection: 'column', gap: 24,&#13;&#10;    }}&gt;&#13;&#10;        &lt;Box style={{&#13;&#10;            alignSelf: 'flex-start', background: '#E08A15', borderRadius: 6,&#13;&#10;            padding: '7px 18px',&#13;&#10;        }}&gt;&#13;&#10;            &lt;Text style={{ fontSize: 17, fontWeight: 'bold', color: '#FFFFFF', letterSpacing: 3 }}&gt;&#13;&#10;                零基础 · 每周 1 单元 · 29 周完整路径&#13;&#10;            &lt;/Text&gt;&#13;&#10;        &lt;/Box&gt;&#13;&#10;&#13;&#10;        &lt;Text style={{ fontSize: 80, fontWeight: 'bold', color: '#FFFFFF', lineHeight: 1.15 }}&gt;&#13;&#10;            Python 课程大纲&#13;&#10;        &lt;/Text&gt;&#13;&#10;&#13;&#10;        &lt;Box style={{ width: 140, height: 5, background: '#E08A15' }} /&gt;&#13;&#10;&#13;&#10;        &lt;Text style={{ fontSize: 25, color: '#E8F1FA', lineHeight: 1.55, width: '900px' }}&gt;&#13;&#10;            从第 1 行的 print，到能独立做出并上线一个 Web 应用&lt;br /&gt;&#13;&#10;            依据《Python 编程：从入门到实践（第 3 版）》全 20 章&#13;&#10;        &lt;/Text&gt;&#13;&#10;&#13;&#10;        &lt;Box style={{ flexDirection: 'row', gap: 38, marginTop: 6 }}&gt;&#13;&#10;            &lt;Box style={{ flexDirection: 'column' }}&gt;&#13;&#10;                &lt;Text style={{ fontSize: 38, fontWeight: 'bold', color: '#FFFFFF' }}&gt;22&lt;/Text&gt;&#13;&#10;                &lt;Text style={{ fontSize: 15, color: '#BBD6EA' }}&gt;单元&lt;/Text&gt;&#13;&#10;            &lt;/Box&gt;&#13;&#10;            &lt;Box style={{ flexDirection: 'column' }}&gt;&#13;&#10;                &lt;Text style={{ fontSize: 38, fontWeight: 'bold', color: '#FFFFFF' }}&gt;111&lt;/Text&gt;&#13;&#10;                &lt;Text style={{ fontSize: 15, color: '#BBD6EA' }}&gt;节课&lt;/Text&gt;&#13;&#10;            &lt;/Box&gt;&#13;&#10;            &lt;Box style={{ flexDirection: 'column' }}&gt;&#13;&#10;                &lt;Text style={{ fontSize: 38, fontWeight: 'bold', color: '#FFFFFF' }}&gt;3&lt;/Text&gt;&#13;&#10;                &lt;Text style={{ fontSize: 15, color: '#BBD6EA' }}&gt;个大项目&lt;/Text&gt;&#13;&#10;            &lt;/Box&gt;&#13;&#10;            &lt;Box style={{ flexDirection: 'column' }}&gt;&#13;&#10;                &lt;Text style={{ fontSize: 38, fontWeight: 'bold', color: '#E08A15' }}&gt;2&lt;/Text&gt;&#13;&#10;                &lt;Text style={{ fontSize: 15, color: '#BBD6EA' }}&gt;道关卡&lt;/Text&gt;&#13;&#10;            &lt;/Box&gt;&#13;&#10;        &lt;/Box&gt;&#13;&#10;    &lt;/Box&gt;&#13;&#10;&#13;&#10;    &lt;Box style={{&#13;&#10;        position: 'absolute', right: 72, bottom: 52,&#13;&#10;        flexDirection: 'row', alignItems: 'center', gap: 12,&#13;&#10;    }}&gt;&#13;&#10;        &lt;Box style={{ width: 8, height: 8, borderRadius: 4, background: '#E08A15' }} /&gt;&#13;&#10;        &lt;Text style={{ fontSize: 15, color: '#C9DEEE' }}&gt;Python 阶段 0–2 课程大纲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F5FA8">
                  <a:alpha val="95000"/>
                </a:srgbClr>
              </a:gs>
              <a:gs pos="100000">
                <a:srgbClr val="0E9B78">
                  <a:alpha val="95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4476750"/>
            <a:ext cx="12192000" cy="2381250"/>
          </a:xfrm>
          <a:prstGeom prst="rect">
            <a:avLst/>
          </a:prstGeom>
          <a:solidFill>
            <a:srgbClr val="0B1F33">
              <a:alpha val="28000"/>
            </a:srgbClr>
          </a:solidFill>
          <a:ln/>
        </p:spPr>
        <p:txBody>
          <a:bodyPr/>
          <a:p/>
        </p:txBody>
      </p:sp>
      <p:sp>
        <p:nvSpPr>
          <p:cNvPr id="5" name=""/>
          <p:cNvSpPr/>
          <p:nvPr/>
        </p:nvSpPr>
        <p:spPr>
          <a:xfrm rot="0" flipH="0" flipV="0">
            <a:off x="685800" y="800100"/>
            <a:ext cx="3752850" cy="333375"/>
          </a:xfrm>
          <a:prstGeom prst="roundRect">
            <a:avLst>
              <a:gd name="adj" fmla="val 1714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57250" y="866775"/>
            <a:ext cx="3409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零基础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每周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275" b="1" spc="225">
                <a:solidFill>
                  <a:srgbClr val="FFFFFF"/>
                </a:solidFill>
                <a:latin typeface="Microsoft YaHei"/>
                <a:ea typeface="Microsoft YaHei"/>
              </a:rPr>
              <a:t>周完整路径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1362075"/>
            <a:ext cx="9144000" cy="10572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60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6000" b="1">
                <a:solidFill>
                  <a:srgbClr val="FFFFFF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85800" y="2647950"/>
            <a:ext cx="13335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685800" y="2924175"/>
            <a:ext cx="8572500" cy="8858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从第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行的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print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，到能独立做出并上线一个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应用</a:t>
            </a:r>
            <a:endParaRPr/>
          </a:p>
          <a:p>
            <a:pPr>
              <a:lnSpc>
                <a:spcPct val="155000"/>
              </a:lnSpc>
            </a:pP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依据《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编程：从入门到实践（第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版）》全</a:t>
            </a:r>
            <a:r>
              <a:rPr lang="en-US" sz="1875">
                <a:solidFill>
                  <a:srgbClr val="E8F1FA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875">
                <a:solidFill>
                  <a:srgbClr val="E8F1FA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095750"/>
            <a:ext cx="4476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447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495425" y="4095750"/>
            <a:ext cx="67627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495425" y="4533900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533650" y="4095750"/>
            <a:ext cx="5715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533650" y="45339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个大项目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467100" y="4095750"/>
            <a:ext cx="428625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467100" y="453390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BD6EA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9601200" y="6238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791700" y="61912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阶段</a:t>
            </a:r>
            <a:r>
              <a:rPr lang="en-US" sz="1125">
                <a:solidFill>
                  <a:srgbClr val="C9DEEE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125">
                <a:solidFill>
                  <a:srgbClr val="C9DEEE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4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课程坐标&lt;/Text&gt;&#13;&#10;        &lt;Text style={{ fontSize: 18, color: '#5A6B7A', marginTop: 6 }}&gt;&#13;&#10;            这门课要把你从「从没写过代码」送到「能独立交付一个上线的项目」，中间设两道硬关卡&#13;&#10;        &lt;/Text&gt;&#13;&#10;    &lt;/Box&gt;&#13;&#10;&#13;&#10;    &lt;Box style={{ position: 'absolute', left: 64, top: 136, width: '1152px', height: 152, flexDirection: 'row', gap: 14 }}&gt;&#13;&#10;        &lt;Box style={{ flex: 1, background: '#FFFFFF', border: '1px solid #D8E3EE', borderRadius: 12, padding: 16, flexDirection: 'column' }}&gt;&#13;&#10;            &lt;Text style={{ fontSize: 40, fontWeight: 'bold', color: '#1F5FA8' }}&gt;22&lt;/Text&gt;&#13;&#10;            &lt;Text style={{ fontSize: 15, fontWeight: 'bold', color: '#16232E', marginTop: 2 }}&gt;单元&lt;/Text&gt;&#13;&#10;            &lt;Text style={{ fontSize: 13, color: '#5A6B7A', marginTop: 4, lineHeight: 1.5 }}&gt;含单元 0 环境准备&lt;br /&gt;阶段 1 十二个 + 阶段 2 十个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111&lt;/Text&gt;&#13;&#10;            &lt;Text style={{ fontSize: 15, fontWeight: 'bold', color: '#16232E', marginTop: 2 }}&gt;节课&lt;/Text&gt;&#13;&#10;            &lt;Text style={{ fontSize: 13, color: '#5A6B7A', marginTop: 4, lineHeight: 1.5 }}&gt;每节 90 分钟&lt;br /&gt;复盘/目标/实操/作业/讲评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0E9B78' }}&gt;29&lt;/Text&gt;&#13;&#10;            &lt;Text style={{ fontSize: 15, fontWeight: 'bold', color: '#16232E', marginTop: 2 }}&gt;周&lt;/Text&gt;&#13;&#10;            &lt;Text style={{ fontSize: 13, color: '#5A6B7A', marginTop: 4, lineHeight: 1.5 }}&gt;每周投入 6–10 小时&lt;br /&gt;阶段 1 约 13 周 + 阶段 2 约 16 周&lt;/Text&gt;&#13;&#10;        &lt;/Box&gt;&#13;&#10;        &lt;Box style={{ flex: 1, background: '#FFFFFF', border: '1px solid #D8E3EE', borderRadius: 12, padding: 16, flexDirection: 'column' }}&gt;&#13;&#10;            &lt;Text style={{ fontSize: 40, fontWeight: 'bold', color: '#E08A15' }}&gt;2&lt;/Text&gt;&#13;&#10;            &lt;Text style={{ fontSize: 15, fontWeight: 'bold', color: '#16232E', marginTop: 2 }}&gt;道关卡&lt;/Text&gt;&#13;&#10;            &lt;Text style={{ fontSize: 13, color: '#5A6B7A', marginTop: 4, lineHeight: 1.5 }}&gt;不达标不前进&lt;br /&gt;只补那一项，不整体重学&lt;/Text&gt;&#13;&#10;        &lt;/Box&gt;&#13;&#10;    &lt;/Box&gt;&#13;&#10;&#13;&#10;    &lt;Box style={{ position: 'absolute', left: 64, top: 292, width: '1152px', height: 250 }}&gt;&#13;&#10;        &lt;svg width='1152' height='250' viewBox='0 0 1152 250'&gt;&#13;&#10;            &lt;text fontFamily='Microsoft YaHei' x='0' y='22' fontSize='17' fontWeight='bold' fill='#16232E'&gt;我现在的起点&lt;/text&gt;&#13;&#10;&#13;&#10;            &lt;rect x='0' y='40' width='1152' height='76' rx='10' fill='#EEF5FB' /&gt;&#13;&#10;            &lt;text fontFamily='Microsoft YaHei' x='22' y='72' fontSize='16' fontWeight='bold' fill='#1F5FA8'&gt;零基础 / 写过几行就没继续 / 看教程能懂但自己动手就卡住&lt;/text&gt;&#13;&#10;            &lt;text fontFamily='Microsoft YaHei' x='22' y='98' fontSize='14' fill='#5A6B7A'&gt;这三种情况都适用——本课程按「完全没写过代码」设计，不预设任何基础&lt;/text&gt;&#13;&#10;&#13;&#10;            &lt;text fontFamily='Microsoft YaHei' x='0' y='152' fontSize='17' fontWeight='bold' fill='#16232E'&gt;我要达到的终点&lt;/text&gt;&#13;&#10;&#13;&#10;            &lt;rect x='0' y='170' width='560' height='72' rx='10' fill='#1F5FA8' /&gt;&#13;&#10;            &lt;text fontFamily='Microsoft YaHei' x='22' y='200' fontSize='15' fontWeight='bold' fill='#FFFFFF'&gt;阶段 1 结束（关卡 1）&lt;/text&gt;&#13;&#10;            &lt;text fontFamily='Microsoft YaHei' x='22' y='224' fontSize='13.5' fill='#CFE2F5'&gt;能独立写 100 行以内的小程序，会测试、会用 Git&lt;/text&gt;&#13;&#10;&#13;&#10;            &lt;path d='M572 206 L 600 206' stroke='#E08A15' strokeWidth='3' fill='none' /&gt;&#13;&#10;            &lt;path d='M592 200 L 600 206 L 592 212' stroke='#E08A15' strokeWidth='3' fill='none' /&gt;&#13;&#10;&#13;&#10;            &lt;rect x='610' y='170' width='542' height='72' rx='10' fill='#0E9B78' /&gt;&#13;&#10;            &lt;text fontFamily='Microsoft YaHei' x='632' y='200' fontSize='15' fontWeight='bold' fill='#FFFFFF'&gt;阶段 2 结束（关卡 2）&lt;/text&gt;&#13;&#10;            &lt;text fontFamily='Microsoft YaHei' x='632' y='224' fontSize='13.5' fill='#D7F0E7'&gt;三个项目上线、公网可访问、别人能接手&lt;/text&gt;&#13;&#10;        &lt;/svg&gt;&#13;&#10;    &lt;/Box&gt;&#13;&#10;&#13;&#10;    &lt;Box style={{&#13;&#10;        position: 'absolute', left: 64, top: 556, width: '1152px', height: 92,&#13;&#10;        background: '#FDF3E2', borderRadius: 12, padding: 18, flexDirection: 'column', gap: 6,&#13;&#10;    }}&gt;&#13;&#10;        &lt;Text style={{ fontSize: 17, fontWeight: 'bold', color: '#E08A15' }}&gt;这套课表的特点&lt;/Text&gt;&#13;&#10;        &lt;Text style={{ fontSize: 14.5, color: '#3A4A58', lineHeight: 1.7 }}&gt;&#13;&#10;            每个单元有产出物与验收标准，每节课有复盘与讲评，每阶段末有硬关卡。&#13;&#10;            讲义、题库、课节页全部本地可读，进度保存在本机浏览器。&#13;&#10;        &lt;/Text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课程坐标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这门课要把你从「从没写过代码」送到「能独立交付一个上线的项目」，中间设两道硬关卡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609600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762000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F5FA8"/>
                </a:solidFill>
                <a:latin typeface="Microsoft YaHei"/>
                <a:ea typeface="Microsoft YaHei"/>
              </a:rPr>
              <a:t>22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762000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含单元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环境准备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十二个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十个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3390900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543300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111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543300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节课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543300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每节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分钟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复盘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目标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实操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作业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162675" y="1295400"/>
            <a:ext cx="26479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315075" y="1447800"/>
            <a:ext cx="2343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9B7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315075" y="1924050"/>
            <a:ext cx="2343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315075" y="2133600"/>
            <a:ext cx="2343150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每周投入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6–10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小时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13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约</a:t>
            </a:r>
            <a:r>
              <a:rPr lang="en-US" sz="975">
                <a:solidFill>
                  <a:srgbClr val="5A6B7A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8943975" y="1295400"/>
            <a:ext cx="2638425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096375" y="1447800"/>
            <a:ext cx="2333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E08A15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096375" y="1924050"/>
            <a:ext cx="2333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6232E"/>
                </a:solidFill>
                <a:latin typeface="Microsoft YaHei"/>
                <a:ea typeface="Microsoft YaHei"/>
              </a:rPr>
              <a:t>道关卡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096375" y="2133600"/>
            <a:ext cx="2333625" cy="4476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不达标不前进</a:t>
            </a:r>
            <a:endParaRPr/>
          </a:p>
          <a:p>
            <a:pPr>
              <a:lnSpc>
                <a:spcPct val="150000"/>
              </a:lnSpc>
            </a:pPr>
            <a:r>
              <a:rPr lang="zh-CN" sz="975">
                <a:solidFill>
                  <a:srgbClr val="5A6B7A"/>
                </a:solidFill>
                <a:latin typeface="Microsoft YaHei"/>
                <a:ea typeface="Microsoft YaHei"/>
              </a:rPr>
              <a:t>只补那一项，不整体重学</a:t>
            </a:r>
            <a:endParaRPr/>
          </a:p>
        </p:txBody>
      </p:sp>
      <p:pic>
        <p:nvPicPr>
          <p:cNvPr id="2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10972800" cy="2381250"/>
          </a:xfrm>
          <a:prstGeom prst="rect">
            <a:avLst/>
          </a:prstGeom>
          <a:ln/>
        </p:spPr>
      </p:pic>
      <p:sp>
        <p:nvSpPr>
          <p:cNvPr id="270" name=""/>
          <p:cNvSpPr/>
          <p:nvPr/>
        </p:nvSpPr>
        <p:spPr>
          <a:xfrm rot="0" flipH="0" flipV="0">
            <a:off x="609600" y="5295900"/>
            <a:ext cx="10972800" cy="876300"/>
          </a:xfrm>
          <a:prstGeom prst="roundRect">
            <a:avLst>
              <a:gd name="adj" fmla="val 1304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781050" y="54673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这套课表的特点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81050" y="5724525"/>
            <a:ext cx="10629900" cy="2857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每个单元有产出物与验收标准，每节课有复盘与讲评，每阶段末有硬关卡。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讲义、题库、课节页全部本地可读，进度保存在本机浏览器。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02 / 23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98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22 个单元全景&lt;/Text&gt;&#13;&#10;        &lt;Text style={{ fontSize: 18, color: '#5A6B7A', marginTop: 6 }}&gt;&#13;&#10;            每周一个单元，横轴是周次。蓝色是语法地基，绿色是三个项目，橙色是两道关卡&#13;&#10;        &lt;/Text&gt;&#13;&#10;    &lt;/Box&gt;&#13;&#10;&#13;&#10;    &lt;Box style={{ position: 'absolute', left: 64, top: 130, width: '1152px', height: 440 }}&gt;&#13;&#10;        &lt;svg width='1152' height='440' viewBox='0 0 1152 440'&gt;&#13;&#10;            &lt;rect x='0' y='0' width='1152' height='196' rx='12' fill='#EEF5FB' /&gt;&#13;&#10;            &lt;text fontFamily='Microsoft YaHei' x='18' y='26' fontSize='16' fontWeight='bold' fill='#1F5FA8'&gt;阶段 1 · 语法基础　教材第 1–11 章　12 个单元 · 64 节课 · 约 13 周&lt;/text&gt;&#13;&#10;&#13;&#10;            &lt;rect x='18' y='42' width='86' height='62' rx='8' fill='#2F7BC8' /&gt;&#13;&#10;            &lt;text x='61' y='70' fontSize='15' fontWeight='bold' fill='#FFFFFF' textAnchor='middle' fontFamily='Inter'&gt;00&lt;/text&gt;&#13;&#10;            &lt;text fontFamily='Microsoft YaHei' x='61' y='90' fontSize='11.5' fill='#EAF3FC' textAnchor='middle'&gt;环境&lt;/text&gt;&#13;&#10;&#13;&#10;            &lt;rect x='112' y='42' width='86' height='62' rx='8' fill='#2F7BC8' /&gt;&#13;&#10;            &lt;text x='155' y='70' fontSize='15' fontWeight='bold' fill='#FFFFFF' textAnchor='middle' fontFamily='Inter'&gt;01&lt;/text&gt;&#13;&#10;            &lt;text fontFamily='Microsoft YaHei' x='155' y='90' fontSize='11.5' fill='#EAF3FC' textAnchor='middle'&gt;变量&lt;/text&gt;&#13;&#10;&#13;&#10;            &lt;rect x='206' y='42' width='86' height='62' rx='8' fill='#2F7BC8' /&gt;&#13;&#10;            &lt;text x='249' y='70' fontSize='15' fontWeight='bold' fill='#FFFFFF' textAnchor='middle' fontFamily='Inter'&gt;02&lt;/text&gt;&#13;&#10;            &lt;text fontFamily='Microsoft YaHei' x='249' y='90' fontSize='11.5' fill='#EAF3FC' textAnchor='middle'&gt;列表&lt;/text&gt;&#13;&#10;&#13;&#10;            &lt;rect x='300' y='42' width='86' height='62' rx='8' fill='#2F7BC8' /&gt;&#13;&#10;            &lt;text x='343' y='70' fontSize='15' fontWeight='bold' fill='#FFFFFF' textAnchor='middle' fontFamily='Inter'&gt;03&lt;/text&gt;&#13;&#10;            &lt;text fontFamily='Microsoft YaHei' x='343' y='90' fontSize='11.5' fill='#EAF3FC' textAnchor='middle'&gt;操作列表&lt;/text&gt;&#13;&#10;&#13;&#10;            &lt;rect x='394' y='42' width='86' height='62' rx='8' fill='#2F7BC8' /&gt;&#13;&#10;            &lt;text x='437' y='70' fontSize='15' fontWeight='bold' fill='#FFFFFF' textAnchor='middle' fontFamily='Inter'&gt;04&lt;/text&gt;&#13;&#10;            &lt;text x='437' y='90' fontSize='11.5' fill='#EAF3FC' textAnchor='middle' fontFamily='Inter'&gt;if&lt;/text&gt;&#13;&#10;&#13;&#10;            &lt;rect x='488' y='42' width='86' height='62' rx='8' fill='#2F7BC8' /&gt;&#13;&#10;            &lt;text x='531' y='70' fontSize='15' fontWeight='bold' fill='#FFFFFF' textAnchor='middle' fontFamily='Inter'&gt;05&lt;/text&gt;&#13;&#10;            &lt;text fontFamily='Microsoft YaHei' x='531' y='90' fontSize='11.5' fill='#EAF3FC' textAnchor='middle'&gt;字典&lt;/text&gt;&#13;&#10;&#13;&#10;            &lt;rect x='582' y='42' width='86' height='62' rx='8' fill='#2F7BC8' /&gt;&#13;&#10;            &lt;text x='625' y='70' fontSize='15' fontWeight='bold' fill='#FFFFFF' textAnchor='middle' fontFamily='Inter'&gt;06&lt;/text&gt;&#13;&#10;            &lt;text x='625' y='90' fontSize='11.5' fill='#EAF3FC' textAnchor='middle' fontFamily='Inter'&gt;while&lt;/text&gt;&#13;&#10;&#13;&#10;            &lt;rect x='676' y='42' width='86' height='62' rx='8' fill='#1F5FA8' /&gt;&#13;&#10;            &lt;text x='719' y='70' fontSize='15' fontWeight='bold' fill='#FFFFFF' textAnchor='middle' fontFamily='Inter'&gt;07&lt;/text&gt;&#13;&#10;            &lt;text fontFamily='Microsoft YaHei' x='719' y='90' fontSize='11.5' fill='#CFE2F5' textAnchor='middle'&gt;函数&lt;/text&gt;&#13;&#10;&#13;&#10;            &lt;rect x='770' y='42' width='86' height='62' rx='8' fill='#1F5FA8' /&gt;&#13;&#10;            &lt;text x='813' y='70' fontSize='15' fontWeight='bold' fill='#FFFFFF' textAnchor='middle' fontFamily='Inter'&gt;08&lt;/text&gt;&#13;&#10;            &lt;text fontFamily='Microsoft YaHei' x='813' y='90' fontSize='11.5' fill='#CFE2F5' textAnchor='middle'&gt;类&lt;/text&gt;&#13;&#10;&#13;&#10;            &lt;rect x='864' y='42' width='86' height='62' rx='8' fill='#2F7BC8' /&gt;&#13;&#10;            &lt;text x='907' y='70' fontSize='15' fontWeight='bold' fill='#FFFFFF' textAnchor='middle' fontFamily='Inter'&gt;09&lt;/text&gt;&#13;&#10;            &lt;text fontFamily='Microsoft YaHei' x='907' y='90' fontSize='11.5' fill='#EAF3FC' textAnchor='middle'&gt;文件异常&lt;/text&gt;&#13;&#10;&#13;&#10;            &lt;rect x='958' y='42' width='86' height='62' rx='8' fill='#2F7BC8' /&gt;&#13;&#10;            &lt;text x='1001' y='70' fontSize='15' fontWeight='bold' fill='#FFFFFF' textAnchor='middle' fontFamily='Inter'&gt;10&lt;/text&gt;&#13;&#10;            &lt;text fontFamily='Microsoft YaHei' x='1001' y='90' fontSize='11.5' fill='#EAF3FC' textAnchor='middle'&gt;测试&lt;/text&gt;&#13;&#10;&#13;&#10;            &lt;rect x='1052' y='42' width='86' height='62' rx='8' fill='#E08A15' /&gt;&#13;&#10;            &lt;text x='1095' y='70' fontSize='15' fontWeight='bold' fill='#FFFFFF' textAnchor='middle' fontFamily='Inter'&gt;11&lt;/text&gt;&#13;&#10;            &lt;text fontFamily='Microsoft YaHei' x='1095' y='90' fontSize='11.5' fill='#FDF0DC' textAnchor='middle'&gt;关卡 1&lt;/text&gt;&#13;&#10;&#13;&#10;            &lt;text fontFamily='Microsoft YaHei' x='18' y='132' fontSize='13.5' fill='#5A6B7A'&gt;先打地基：数据能存住 → 批量能处理 → 条件能判断 → 循环能重复 → 代码能抽象 → 数据能建模 → 结果能持久 → 质量能验证&lt;/text&gt;&#13;&#10;            &lt;text fontFamily='Microsoft YaHei' x='18' y='160' fontSize='13.5' fontWeight='bold' fill='#1F5FA8'&gt;本阶段产出：3 个综合项目任选一个 + 一整套 pytest 测试 + 通过关卡 1&lt;/text&gt;&#13;&#10;            &lt;text fontFamily='Microsoft YaHei' x='18' y='182' fontSize='12.5' fill='#8A9AAA'&gt;★ 单元 07 / 08 是全阶段的两个分水岭，允许放慢 50%&lt;/text&gt;&#13;&#10;            &lt;rect x='0' y='210' width='1152' height='230' rx='12' fill='#EAF7F2' /&gt;&#13;&#10;            &lt;text fontFamily='Microsoft YaHei' x='18' y='236' fontSize='16' fontWeight='bold' fill='#0E9B78'&gt;阶段 2 · 项目实践　教材第 12–20 章　10 个单元 · 47 节课 · 约 16 周&lt;/text&gt;&#13;&#10;&#13;&#10;            &lt;rect x='18' y='252' width='106' height='62' rx='8' fill='#0E9B78' /&gt;&#13;&#10;            &lt;text x='71' y='280' fontSize='15' fontWeight='bold' fill='#FFFFFF' textAnchor='middle' fontFamily='Inter'&gt;12&lt;/text&gt;&#13;&#10;            &lt;text x='71' y='300' fontSize='11.5' fill='#D7F0E7' textAnchor='middle' fontFamily='Inter'&gt;Pygame&lt;/text&gt;&#13;&#10;&#13;&#10;            &lt;rect x='132' y='252' width='106' height='62' rx='8' fill='#0E9B78' /&gt;&#13;&#10;            &lt;text x='185' y='280' fontSize='15' fontWeight='bold' fill='#FFFFFF' textAnchor='middle' fontFamily='Inter'&gt;13&lt;/text&gt;&#13;&#10;            &lt;text fontFamily='Microsoft YaHei' x='185' y='300' fontSize='11.5' fill='#D7F0E7' textAnchor='middle'&gt;射击碰撞&lt;/text&gt;&#13;&#10;&#13;&#10;            &lt;rect x='246' y='252' width='106' height='62' rx='8' fill='#0E9B78' /&gt;&#13;&#10;            &lt;text x='299' y='280' fontSize='15' fontWeight='bold' fill='#FFFFFF' textAnchor='middle' fontFamily='Inter'&gt;14&lt;/text&gt;&#13;&#10;            &lt;text fontFamily='Microsoft YaHei' x='299' y='300' fontSize='11.5' fill='#D7F0E7' textAnchor='middle'&gt;记分&lt;/text&gt;&#13;&#10;&#13;&#10;            &lt;rect x='360' y='252' width='106' height='62' rx='8' fill='#2F7BC8' /&gt;&#13;&#10;            &lt;text x='413' y='280' fontSize='15' fontWeight='bold' fill='#FFFFFF' textAnchor='middle' fontFamily='Inter'&gt;15&lt;/text&gt;&#13;&#10;            &lt;text x='413' y='300' fontSize='11.5' fill='#EAF3FC' textAnchor='middle' fontFamily='Inter'&gt;Matplotlib&lt;/text&gt;&#13;&#10;&#13;&#10;            &lt;rect x='474' y='252' width='106' height='62' rx='8' fill='#2F7BC8' /&gt;&#13;&#10;            &lt;text x='527' y='280' fontSize='15' fontWeight='bold' fill='#FFFFFF' textAnchor='middle' fontFamily='Inter'&gt;16&lt;/text&gt;&#13;&#10;            &lt;text fontFamily='Microsoft YaHei' x='527' y='300' fontSize='11.5' fill='#EAF3FC' textAnchor='middle'&gt;真实数据&lt;/text&gt;&#13;&#10;&#13;&#10;            &lt;rect x='588' y='252' width='106' height='62' rx='8' fill='#2F7BC8' /&gt;&#13;&#10;            &lt;text x='641' y='280' fontSize='15' fontWeight='bold' fill='#FFFFFF' textAnchor='middle' fontFamily='Inter'&gt;17&lt;/text&gt;&#13;&#10;            &lt;text x='641' y='300' fontSize='11.5' fill='#EAF3FC' textAnchor='middle' fontFamily='Inter'&gt;API&lt;/text&gt;&#13;&#10;&#13;&#10;            &lt;rect x='702' y='252' width='106' height='62' rx='8' fill='#1F5FA8' /&gt;&#13;&#10;            &lt;text x='755' y='280' fontSize='15' fontWeight='bold' fill='#FFFFFF' textAnchor='middle' fontFamily='Inter'&gt;18&lt;/text&gt;&#13;&#10;            &lt;text x='755' y='300' fontSize='11.5' fill='#CFE2F5' textAnchor='middle' fontFamily='Inter'&gt;Django&lt;/text&gt;&#13;&#10;&#13;&#10;            &lt;rect x='816' y='252' width='106' height='62' rx='8' fill='#1F5FA8' /&gt;&#13;&#10;            &lt;text x='869' y='280' fontSize='15' fontWeight='bold' fill='#FFFFFF' textAnchor='middle' fontFamily='Inter'&gt;19&lt;/text&gt;&#13;&#10;            &lt;text fontFamily='Microsoft YaHei' x='869' y='300' fontSize='11.5' fill='#CFE2F5' textAnchor='middle'&gt;用户账户&lt;/text&gt;&#13;&#10;&#13;&#10;            &lt;rect x='930' y='252' width='106' height='62' rx='8' fill='#1F5FA8' /&gt;&#13;&#10;            &lt;text x='983' y='280' fontSize='15' fontWeight='bold' fill='#FFFFFF' textAnchor='middle' fontFamily='Inter'&gt;20&lt;/text&gt;&#13;&#10;            &lt;text fontFamily='Microsoft YaHei' x='983' y='300' fontSize='11.5' fill='#CFE2F5' textAnchor='middle'&gt;部署上线&lt;/text&gt;&#13;&#10;&#13;&#10;            &lt;rect x='1044' y='252' width='94' height='62' rx='8' fill='#E08A15' /&gt;&#13;&#10;            &lt;text x='1091' y='280' fontSize='15' fontWeight='bold' fill='#FFFFFF' textAnchor='middle' fontFamily='Inter'&gt;21&lt;/text&gt;&#13;&#10;            &lt;text fontFamily='Microsoft YaHei' x='1091' y='300' fontSize='11.5' fill='#FDF0DC' textAnchor='middle'&gt;关卡 2&lt;/text&gt;&#13;&#10;&#13;&#10;            &lt;text fontFamily='Microsoft YaHei' x='18' y='344' fontSize='13.5' fill='#5A6B7A'&gt;再做项目：三个项目都是几百行、多文件、有第三方依赖的真实程序，每个都走完整工程流程&lt;/text&gt;&#13;&#10;            &lt;text fontFamily='Microsoft YaHei' x='18' y='372' fontSize='13.5' fontWeight='bold' fill='#0E9B78'&gt;本阶段产出：三个推到公开仓库的项目 + 一个已部署上线的网站 + 通过关卡 2&lt;/text&gt;&#13;&#10;            &lt;text fontFamily='Microsoft YaHei' x='18' y='396' fontSize='12.5' fill='#8A9AAA'&gt;★ 单元 18–20（Django）是全阶段最密集的部分，建议连续学、不要断开&lt;/text&gt;&#13;&#10;            &lt;text fontFamily='Microsoft YaHei' x='18' y='424' fontSize='12.5' fill='#E08A15'&gt;橙色 = 关卡；深蓝 = 分水岭单元；浅蓝 = 常规单元；绿色 = 项目线&lt;/text&gt;&#13;&#10;        &lt;/svg&gt;&#13;&#10;    &lt;/Box&gt;&#13;&#10;&#13;&#10;    &lt;Box style={{&#13;&#10;        position: 'absolute', left: 64, bottom: 22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个单元全景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每周一个单元，横轴是周次。蓝色是语法地基，绿色是三个项目，橙色是两道关卡</a:t>
            </a:r>
            <a:endParaRPr/>
          </a:p>
        </p:txBody>
      </p:sp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238250"/>
            <a:ext cx="10972800" cy="4191000"/>
          </a:xfrm>
          <a:prstGeom prst="rect">
            <a:avLst/>
          </a:prstGeom>
          <a:ln/>
        </p:spPr>
      </p:pic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03 / 23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405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每周一次的课，90 分钟怎么花&lt;/Text&gt;&#13;&#10;        &lt;Text style={{ fontSize: 18, color: '#5A6B7A', marginTop: 6 }}&gt;&#13;&#10;            固定四段式。零基础最怕的是「听懂了就以为会了」，所以实操时长必须压过讲解时长&#13;&#10;        &lt;/Text&gt;&#13;&#10;    &lt;/Box&gt;&#13;&#10;&#13;&#10;    &lt;Box style={{&#13;&#10;        position: 'absolute', left: 64, top: 152, width: '1152px', height: 440,&#13;&#10;        flexDirection: 'row', gap: 14,&#13;&#10;    }}&gt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10&lt;/Text&gt;&#13;&#10;                &lt;Text style={{ fontSize: 19, fontWeight: 'bold', color: '#16232E' }}&gt;复盘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上次作业逐题讲评，投屏三份典型答案对比。上次遗留的错误当场改对，&#13;&#10;                    不接受「我看懂了」当过关。&#13;&#10;                &lt;/Text&gt;&#13;&#10;                &lt;Text style={{ fontSize: 15, color: '#3A4A58', lineHeight: 1.65 }}&gt;&#13;&#10;                    同一个题至少给两种写法，当场讲清哪种更该用。&#13;&#10;                &lt;/Text&gt;&#13;&#10;            &lt;/Box&gt;&#13;&#10;        &lt;/Box&gt;&#13;&#10;&#13;&#10;        &lt;Box style={{&#13;&#10;            flex: 1, background: '#FFFFFF', border: '1px solid #D8E3EE', borderTop: '4px solid #1F5FA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1F5FA8', lineHeight: 1 }}&gt;30&lt;/Text&gt;&#13;&#10;                &lt;Text style={{ fontSize: 19, fontWeight: 'bold', color: '#16232E' }}&gt;讲解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本单元核心知识点，边讲边在编辑器里敲一遍。&#13;&#10;                    每讲完一个概念，立刻问一句「这个能出什么错」。&#13;&#10;                &lt;/Text&gt;&#13;&#10;                &lt;Text style={{ fontSize: 15, color: '#3A4A58', lineHeight: 1.65 }}&gt;&#13;&#10;                    讲解不超过 10 分钟就必须让学员自己敲一次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40&lt;/Text&gt;&#13;&#10;                &lt;Text style={{ fontSize: 19, fontWeight: 'bold', color: '#16232E' }}&gt;现场实操&lt;/Text&gt;&#13;&#10;                &lt;Text style={{ fontSize: 13, color: '#8A9AAA' }}&gt;分钟 · 本节最长&lt;/Text&gt;&#13;&#10;            &lt;/Box&gt;&#13;&#10;            &lt;Box style={{ flexDirection: 'column', gap: 9 }}&gt;&#13;&#10;                &lt;Text style={{ fontSize: 15, color: '#3A4A58', lineHeight: 1.65 }}&gt;&#13;&#10;                    教师故意敲错，展示报错怎么读。学员同步敲，禁止看答案。&#13;&#10;                &lt;/Text&gt;&#13;&#10;                &lt;Text style={{ fontSize: 15, color: '#3A4A58', lineHeight: 1.65 }}&gt;&#13;&#10;                    每 10 分钟必须确认所有人都跑出了预期输出。&#13;&#10;                    报错信息留在屏幕上，不要擦掉。&#13;&#10;                &lt;/Text&gt;&#13;&#10;            &lt;/Box&gt;&#13;&#10;        &lt;/Box&gt;&#13;&#10;&#13;&#10;        &lt;Box style={{&#13;&#10;            flex: 1, background: '#FFFFFF', border: '1px solid #D8E3EE', borderTop: '4px solid #0E9B78',&#13;&#10;            borderRadius: 12, padding: 22, flexDirection: 'column', justifyContent: 'space-between',&#13;&#10;        }}&gt;&#13;&#10;            &lt;Box style={{ flexDirection: 'column', gap: 8 }}&gt;&#13;&#10;                &lt;Text style={{ fontSize: 56, fontWeight: 'bold', color: '#0E9B78', lineHeight: 1 }}&gt;20&lt;/Text&gt;&#13;&#10;                &lt;Text style={{ fontSize: 19, fontWeight: 'bold', color: '#16232E' }}&gt;讲评&lt;/Text&gt;&#13;&#10;                &lt;Text style={{ fontSize: 13, color: '#8A9AAA' }}&gt;分钟&lt;/Text&gt;&#13;&#10;            &lt;/Box&gt;&#13;&#10;            &lt;Box style={{ flexDirection: 'column', gap: 9 }}&gt;&#13;&#10;                &lt;Text style={{ fontSize: 15, color: '#3A4A58', lineHeight: 1.65 }}&gt;&#13;&#10;                    三份作业投屏对比，讲清差异在哪。&#13;&#10;                    布置作业时必须说清楚验收标准是什么。&#13;&#10;                &lt;/Text&gt;&#13;&#10;                &lt;Text style={{ fontSize: 15, color: '#3A4A58', lineHeight: 1.65 }}&gt;&#13;&#10;                    作业量：基础 3 题 + 进阶 3 题 + 动手项目 1 个。&#13;&#10;                &lt;/Text&gt;&#13;&#10;            &lt;/Box&gt;&#13;&#10;        &lt;/Box&gt;&#13;&#10;    &lt;/Box&gt;&#13;&#10;&#13;&#10;    &lt;Box style={{&#13;&#10;        position: 'absolute', left: 64, top: 612, width: '1152px', height: 52,&#13;&#10;        background: '#EEF5FB', borderRadius: 8, flexDirection: 'row',&#13;&#10;        alignItems: 'center', padding: '0 22px', gap: 14,&#13;&#10;    }}&gt;&#13;&#10;        &lt;Box style={{ width: 8, height: 8, borderRadius: 4, background: '#E08A15' }} /&gt;&#13;&#10;        &lt;Text style={{ fontSize: 17, color: '#1F5FA8', fontWeight: 'bold' }}&gt;原则&lt;/Text&gt;&#13;&#10;        &lt;Text style={{ fontSize: 17, color: '#3A4A58' }}&gt;&#13;&#10;            实操 40 分钟必须大于讲解 30 分钟。讲得多不等于学得多，跑出输出才算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4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每周一次的课，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90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分钟怎么花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固定四段式。零基础最怕的是「听懂了就以为会了」，所以实操时长必须压过讲解时长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09600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609600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819150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819150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819150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819150" y="3914775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上次作业逐题讲评，投屏三份典型答案对比。上次遗留的错误当场改对，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不接受「我看懂了」当过关。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819150" y="4857750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同一个题至少给两种写法，当场讲清哪种更该用。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3390900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7" name=""/>
          <p:cNvSpPr/>
          <p:nvPr/>
        </p:nvSpPr>
        <p:spPr>
          <a:xfrm rot="0" flipH="0" flipV="0">
            <a:off x="3390900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600450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1F5FA8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3600450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讲解</a:t>
            </a:r>
            <a:endParaRPr/>
          </a:p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3600450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600450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本单元核心知识点，边讲边在编辑器里敲一遍。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每讲完一个概念，立刻问一句「这个能出什么错」。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3600450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讲解不超过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分钟就必须让学员自己敲一次。</a:t>
            </a:r>
            <a:endParaRPr/>
          </a:p>
        </p:txBody>
      </p:sp>
      <p:sp>
        <p:nvSpPr>
          <p:cNvPr id="423" name=""/>
          <p:cNvSpPr/>
          <p:nvPr/>
        </p:nvSpPr>
        <p:spPr>
          <a:xfrm rot="0" flipH="0" flipV="0">
            <a:off x="6162675" y="1485900"/>
            <a:ext cx="2647950" cy="41910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4" name=""/>
          <p:cNvSpPr/>
          <p:nvPr/>
        </p:nvSpPr>
        <p:spPr>
          <a:xfrm rot="0" flipH="0" flipV="0">
            <a:off x="6162675" y="1485900"/>
            <a:ext cx="2647950" cy="4191000"/>
          </a:xfrm>
          <a:custGeom>
            <a:pathLst>
              <a:path w="278" h="440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6"/>
                  <a:pt x="274" y="4"/>
                  <a:pt x="27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6372225" y="1695450"/>
            <a:ext cx="2228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6372225" y="24193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现场实操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372225" y="2714625"/>
            <a:ext cx="2228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本节最长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6372225" y="39147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教师故意敲错，展示报错怎么读。学员同步敲，禁止看答案。</a:t>
            </a:r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372225" y="4572000"/>
            <a:ext cx="222885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分钟必须确认所有人都跑出了预期输出。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报错信息留在屏幕上，不要擦掉。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8943975" y="1485900"/>
            <a:ext cx="2638425" cy="41910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8943975" y="1485900"/>
            <a:ext cx="2638425" cy="4191000"/>
          </a:xfrm>
          <a:custGeom>
            <a:pathLst>
              <a:path w="277" h="440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6"/>
                  <a:pt x="273" y="4"/>
                  <a:pt x="26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9153525" y="1695450"/>
            <a:ext cx="2219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0E9B7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9153525" y="24193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讲评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9153525" y="2714625"/>
            <a:ext cx="2219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9153525" y="3914775"/>
            <a:ext cx="2219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三份作业投屏对比，讲清差异在哪。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布置作业时必须说清楚验收标准是什么。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9153525" y="4857750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作业量：基础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进阶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题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动手项目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609600" y="5829300"/>
            <a:ext cx="10972800" cy="495300"/>
          </a:xfrm>
          <a:prstGeom prst="roundRect">
            <a:avLst>
              <a:gd name="adj" fmla="val 1538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38" name=""/>
          <p:cNvSpPr/>
          <p:nvPr/>
        </p:nvSpPr>
        <p:spPr>
          <a:xfrm rot="0" flipH="0" flipV="0">
            <a:off x="819150" y="6038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1028700" y="59817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原则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1485900" y="59817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实操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分钟必须大于讲解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分钟。讲得多不等于学得多，跑出输出才算。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04 / 23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443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EEF5FB' }} /&gt;&#13;&#10;    &lt;Box style={{ position: 'absolute', right: 0, top: 0, width: '440px', height: '720px', background: '#16232E' }} /&gt;&#13;&#10;&#13;&#10;    &lt;Box style={{ position: 'absolute', left: 64, top: 44, width: '700px', flexDirection: 'column' }}&gt;&#13;&#10;        &lt;Text style={{ fontSize: 36, fontWeight: 'bold', color: '#16232E' }}&gt;零基础教学三原则&lt;/Text&gt;&#13;&#10;        &lt;Text style={{ fontSize: 18, color: '#5A6B7A', marginTop: 8 }}&gt;&#13;&#10;            针对「没有编程习惯」的学员，这三条比讲多少知识点都重要&#13;&#10;        &lt;/Text&gt;&#13;&#10;    &lt;/Box&gt;&#13;&#10;&#13;&#10;    &lt;Box style={{ position: 'absolute', left: 64, top: 156, width: '700px', height: 476, flexDirection: 'column', gap: 14 }}&gt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1&lt;/Text&gt;&#13;&#10;            &lt;Box style={{ flex: 1, flexDirection: 'column', gap: 6 }}&gt;&#13;&#10;                &lt;Text style={{ fontSize: 20, fontWeight: 'bold', color: '#16232E' }}&gt;讲完 10 分钟内必须敲一次代码&lt;/Text&gt;&#13;&#10;                &lt;Text style={{ fontSize: 15, color: '#5A6B7A', lineHeight: 1.6 }}&gt;&#13;&#10;                    报错是教材，不要擦掉。练习顺序固定为：先照抄 → 再改需求 → 最后自己写。&#13;&#10;                    跳过照抄就会养成「看懂即会写」的错觉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1F5FA8', lineHeight: 1 }}&gt;02&lt;/Text&gt;&#13;&#10;            &lt;Box style={{ flex: 1, flexDirection: 'column', gap: 6 }}&gt;&#13;&#10;                &lt;Text style={{ fontSize: 20, fontWeight: 'bold', color: '#16232E' }}&gt;单元 3、6、7、8 允许放慢 50%&lt;/Text&gt;&#13;&#10;                &lt;Text style={{ fontSize: 15, color: '#5A6B7A', lineHeight: 1.6 }}&gt;&#13;&#10;                    这四章是分水岭，课时可加，练习翻倍。允许落后，不允许跳过。&#13;&#10;                    后面的 Django 全靠类和函数的地基，地基松了上层必塌。&#13;&#10;                &lt;/Text&gt;&#13;&#10;            &lt;/Box&gt;&#13;&#10;        &lt;/Box&gt;&#13;&#10;&#13;&#10;        &lt;Box style={{&#13;&#10;            background: '#FFFFFF', borderRadius: 12, padding: 18,&#13;&#10;            flexDirection: 'row', gap: 18, alignItems: 'flex-start', flex: 1,&#13;&#10;        }}&gt;&#13;&#10;            &lt;Text style={{ fontSize: 44, fontWeight: 'bold', color: '#0E9B78', lineHeight: 1 }}&gt;03&lt;/Text&gt;&#13;&#10;            &lt;Box style={{ flex: 1, flexDirection: 'column', gap: 6 }}&gt;&#13;&#10;                &lt;Text style={{ fontSize: 20, fontWeight: 'bold', color: '#16232E' }}&gt;每个单元都有可跑的产出物&lt;/Text&gt;&#13;&#10;                &lt;Text style={{ fontSize: 15, color: '#5A6B7A', lineHeight: 1.6 }}&gt;&#13;&#10;                    每章留一个能跑起来的小程序 + 一次 git 提交。&#13;&#10;                    看得见的产出才是正反馈，否则学三周会怀疑自己在原地踏步。&#13;&#10;                &lt;/Text&gt;&#13;&#10;            &lt;/Box&gt;&#13;&#10;        &lt;/Box&gt;&#13;&#10;    &lt;/Box&gt;&#13;&#10;&#13;&#10;    &lt;Box style={{&#13;&#10;        position: 'absolute', right: 56, top: 156, width: '330px', flexDirection: 'column', alignItems: 'flex-end',&#13;&#10;    }}&gt;&#13;&#10;        &lt;Text style={{ fontSize: 110, fontWeight: 'bold', color: '#E08A15', lineHeight: 1 }}&gt;90%&lt;/Text&gt;&#13;&#10;        &lt;Text style={{ fontSize: 19, color: '#FFFFFF', marginTop: 10, textAlign: 'right' }}&gt;学员的卡点不是听不懂&lt;/Text&gt;&#13;&#10;        &lt;Text style={{ fontSize: 19, color: '#FFFFFF', marginTop: 8, textAlign: 'right' }}&gt;而是从没自己跑通过一次&lt;/Text&gt;&#13;&#10;    &lt;/Box&gt;&#13;&#10;&#13;&#10;    &lt;Box style={{&#13;&#10;        position: 'absolute', right: 56, top: 388, width: '330px',&#13;&#10;        background: '#1F2E3C', borderRadius: 12, padding: 22, flexDirection: 'column', gap: 12,&#13;&#10;    }}&gt;&#13;&#10;        &lt;Text style={{ fontSize: 15, color: '#8FB4D8', fontWeight: 'bold' }}&gt;零基础最常见的假信号&lt;/Text&gt;&#13;&#10;        &lt;Text style={{ fontSize: 15, color: '#D6E4F0', lineHeight: 1.7 }}&gt;&#13;&#10;            「我好像看懂了」&lt;br /&gt;&#13;&#10;            「跟着敲一遍没问题」&lt;br /&gt;&#13;&#10;            「这段逻辑很清楚」&#13;&#10;        &lt;/Text&gt;&#13;&#10;        &lt;Box style={{ width: '60px', height: 3, background: '#E08A15' }} /&gt;&#13;&#10;        &lt;Text style={{ fontSize: 15, color: '#E8B36A', lineHeight: 1.7 }}&gt;&#13;&#10;            真信号只有一个：不看讲义，从空文件开始敲出来。&#13;&#10;        &lt;/Text&gt;&#13;&#10;    &lt;/Box&gt;&#13;&#10;&#13;&#10;    &lt;Box style={{&#13;&#10;        position: 'absolute', right: 56, bottom: 32,&#13;&#10;        flexDirection: 'row', alignItems: 'center', gap: 12,&#13;&#10;    }}&gt;&#13;&#10;        &lt;Text style={{ fontSize: 14, color: '#7C93A8' }}&gt;05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46" name=""/>
          <p:cNvSpPr/>
          <p:nvPr/>
        </p:nvSpPr>
        <p:spPr>
          <a:xfrm rot="0" flipH="0" flipV="0">
            <a:off x="8001000" y="0"/>
            <a:ext cx="4191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6667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零基础教学三原则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6667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针对「没有编程习惯」的学员，这三条比讲多少知识点都重要</a:t>
            </a:r>
            <a:endParaRPr/>
          </a:p>
        </p:txBody>
      </p:sp>
      <p:sp>
        <p:nvSpPr>
          <p:cNvPr id="449" name=""/>
          <p:cNvSpPr/>
          <p:nvPr/>
        </p:nvSpPr>
        <p:spPr>
          <a:xfrm rot="0" flipH="0" flipV="0">
            <a:off x="609600" y="1485900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81050" y="1657350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476375" y="1657350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讲完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分钟内必须敲一次代码</a:t>
            </a:r>
            <a:endParaRPr/>
          </a:p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1476375" y="1943100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报错是教材，不要擦掉。练习顺序固定为：先照抄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再改需求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最后自己写。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跳过照抄就会养成「看懂即会写」的错觉。</a:t>
            </a:r>
            <a:endParaRPr/>
          </a:p>
        </p:txBody>
      </p:sp>
      <p:sp>
        <p:nvSpPr>
          <p:cNvPr id="453" name=""/>
          <p:cNvSpPr/>
          <p:nvPr/>
        </p:nvSpPr>
        <p:spPr>
          <a:xfrm rot="0" flipH="0" flipV="0">
            <a:off x="609600" y="3038475"/>
            <a:ext cx="6667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781050" y="32099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F5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1476375" y="32099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6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>7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、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允许放慢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50%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476375" y="34956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这四章是分水岭，课时可加，练习翻倍。允许落后，不允许跳过。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全靠类和函数的地基，地基松了上层必塌。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9600" y="4600575"/>
            <a:ext cx="6667500" cy="1419225"/>
          </a:xfrm>
          <a:prstGeom prst="roundRect">
            <a:avLst>
              <a:gd name="adj" fmla="val 8054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781050" y="4772025"/>
            <a:ext cx="5238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E9B7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1476375" y="4772025"/>
            <a:ext cx="5629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每个单元都有可跑的产出物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1476375" y="5057775"/>
            <a:ext cx="56292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每章留一个能跑起来的小程序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提交。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看得见的产出才是正反馈，否则学三周会怀疑自己在原地踏步。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9382125" y="1485900"/>
            <a:ext cx="2276475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E08A15"/>
                </a:solidFill>
                <a:latin typeface="Microsoft YaHei"/>
                <a:ea typeface="Microsoft YaHei"/>
              </a:rPr>
              <a:t>90%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9848850" y="2838450"/>
            <a:ext cx="1809750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学员的卡点不是听不懂</a:t>
            </a:r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9667875" y="3133725"/>
            <a:ext cx="1990725" cy="219075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而是从没自己跑通过一次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8515350" y="3695700"/>
            <a:ext cx="3143250" cy="2428875"/>
          </a:xfrm>
          <a:prstGeom prst="roundRect">
            <a:avLst>
              <a:gd name="adj" fmla="val 4706"/>
            </a:avLst>
          </a:prstGeom>
          <a:solidFill>
            <a:srgbClr val="1F2E3C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8724900" y="390525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4D8"/>
                </a:solidFill>
                <a:latin typeface="Microsoft YaHei"/>
                <a:ea typeface="Microsoft YaHei"/>
              </a:rPr>
              <a:t>零基础最常见的假信号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8724900" y="4191000"/>
            <a:ext cx="2724150" cy="8763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「我好像看懂了」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「跟着敲一遍没问题」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「这段逻辑很清楚」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8724900" y="5181600"/>
            <a:ext cx="571500" cy="2857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8724900" y="5324475"/>
            <a:ext cx="27241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E8B36A"/>
                </a:solidFill>
                <a:latin typeface="Microsoft YaHei"/>
                <a:ea typeface="Microsoft YaHei"/>
              </a:rPr>
              <a:t>真信号只有一个：不看讲义，从空文件开始敲出来。</a:t>
            </a:r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11201400" y="63912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C93A8"/>
                </a:solidFill>
                <a:latin typeface="Microsoft YaHei"/>
                <a:ea typeface="Microsoft YaHei"/>
              </a:rPr>
              <a:t>05 / 23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47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1–3 · 先把地基拍实&lt;/Text&gt;&#13;&#10;        &lt;Text style={{ fontSize: 18, color: '#5A6B7A', marginTop: 6 }}&gt;&#13;&#10;            三章都简单，但养成的是「写代码的手感」：命名、缩进、逐步验证&#13;&#10;        &lt;/Text&gt;&#13;&#10;    &lt;/Box&gt;&#13;&#10;&#13;&#10;    &lt;Box style={{&#13;&#10;        position: 'absolute', left: 64, top: 150, width: '1152px', height: 400,&#13;&#10;        flexDirection: 'row', gap: 16,&#13;&#10;    }}&gt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1&lt;/Text&gt;&#13;&#10;                &lt;/Box&gt;&#13;&#10;                &lt;Box style={{ flexDirection: 'column' }}&gt;&#13;&#10;                    &lt;Text style={{ fontSize: 20, fontWeight: 'bold', color: '#16232E' }}&gt;变量与简单数据类型&lt;/Text&gt;&#13;&#10;                    &lt;Text style={{ fontSize: 13, color: '#8A9AAA' }}&gt;教材第 1–2 章 · W1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变量命名规范、字符串全套操作、f-string 格式化、int / float 与注释。&#13;&#10;                &lt;/Text&gt;&#13;&#10;                &lt;Text style={{ fontSize: 15, color: '#3A4A58', lineHeight: 1.65 }}&gt;&#13;&#10;                    必须讲透的点：浮点不能直接比较相等（0.1+0.2 ≠ 0.3）。&#13;&#10;                    这是后面数据处理第一个坑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个人偏好调查 2-1&lt;/Text&gt;&#13;&#10;            &lt;/Box&gt;&#13;&#10;        &lt;/Box&gt;&#13;&#10;&#13;&#10;        &lt;Box style={{&#13;&#10;            flex: 1, background: '#FFFFFF', border: '1px solid #D8E3EE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2&lt;/Text&gt;&#13;&#10;                &lt;/Box&gt;&#13;&#10;                &lt;Box style={{ flexDirection: 'column' }}&gt;&#13;&#10;                    &lt;Text style={{ fontSize: 20, fontWeight: 'bold', color: '#16232E' }}&gt;列表简介&lt;/Text&gt;&#13;&#10;                    &lt;Text style={{ fontSize: 13, color: '#8A9AAA' }}&gt;教材第 3 章 · W2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增删改查、索引从 0 开始、sort / sorted / reverse / len 的区别。&#13;&#10;                &lt;/Text&gt;&#13;&#10;                &lt;Text style={{ fontSize: 15, color: '#3A4A58', lineHeight: 1.65 }}&gt;&#13;&#10;                    必须讲透的点：sorted() 返回新列表，.sort() 原地排序返回 None。&#13;&#10;                    这是新手最高频的 bug。&#13;&#10;                &lt;/Text&gt;&#13;&#10;            &lt;/Box&gt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练习&lt;/Text&gt;&#13;&#10;                &lt;Text style={{ fontSize: 15, color: '#1F5FA8', fontWeight: 'bold' }}&gt;对同一个列表做 20 次操作&lt;/Text&gt;&#13;&#10;            &lt;/Box&gt;&#13;&#10;        &lt;/Box&gt;&#13;&#10;&#13;&#10;        &lt;Box style={{&#13;&#10;            flex: 1, background: '#FFFFFF', border: '1px solid #F0D9B0', borderLeft: '4px solid #E08A15', borderRadius: 12,&#13;&#10;            padding: 22, flexDirection: 'column', gap: 14,&#13;&#10;        }}&gt;&#13;&#10;            &lt;Box style={{ flexDirection: 'row', alignItems: 'center', gap: 12 }}&gt;&#13;&#10;                &lt;Box style={{ width: 46, height: 46, borderRadius: 8, background: '#E08A15', alignItems: 'center', justifyContent: 'center' }}&gt;&#13;&#10;                    &lt;Text style={{ fontSize: 22, fontWeight: 'bold', color: '#FFFFFF' }}&gt;3&lt;/Text&gt;&#13;&#10;                &lt;/Box&gt;&#13;&#10;                &lt;Box style={{ flexDirection: 'column' }}&gt;&#13;&#10;                    &lt;Text style={{ fontSize: 20, fontWeight: 'bold', color: '#16232E' }}&gt;操作列表&lt;/Text&gt;&#13;&#10;                    &lt;Text style={{ fontSize: 13, color: '#B07A10' }}&gt;教材第 4 章 · W3 · 难点&lt;/Text&gt;&#13;&#10;                &lt;/Box&gt;&#13;&#10;            &lt;/Box&gt;&#13;&#10;            &lt;Box style={{ flex: 1, flexDirection: 'column', gap: 8 }}&gt;&#13;&#10;                &lt;Text style={{ fontSize: 15, color: '#3A4A58', lineHeight: 1.65 }}&gt;&#13;&#10;                    for 循环、range()、列表推导式、切片、元组、PEP 8 缩进规范。&#13;&#10;                &lt;/Text&gt;&#13;&#10;                &lt;Text style={{ fontSize: 15, color: '#3A4A58', lineHeight: 1.65 }}&gt;&#13;&#10;                    必须讲透的点：赋值是同一对象的别名，切片才是复制。&#13;&#10;                    90% 的「我明明复制了怎么变了」都出在这里。&#13;&#10;                &lt;/Text&gt;&#13;&#10;            &lt;/Box&gt;&#13;&#10;            &lt;Box style={{&#13;&#10;                background: '#FDF3E2', borderRadius: 8, padding: '12px 14px',&#13;&#10;                marginTop: 'auto', flexDirection: 'column', gap: 3,&#13;&#10;            }}&gt;&#13;&#10;                &lt;Text style={{ fontSize: 13, color: '#B07A10' }}&gt;动手项目&lt;/Text&gt;&#13;&#10;                &lt;Text style={{ fontSize: 15, color: '#8A5A08', fontWeight: 'bold' }}&gt;忘记密码清单 3.4–3.8&lt;/Text&gt;&#13;&#10;            &lt;/Box&gt;&#13;&#10;        &lt;/Box&gt;&#13;&#10;    &lt;/Box&gt;&#13;&#10;&#13;&#10;    &lt;Box style={{&#13;&#10;        position: 'absolute', left: 64, top: 578, width: '1152px', height: 82,&#13;&#10;        background: '#FFFFFF', border: '1px solid #D8E3EE', borderRadius: 12,&#13;&#10;        flexDirection: 'row', alignItems: 'center', padding: '0 26px', gap: 20,&#13;&#10;    }}&gt;&#13;&#10;        &lt;Text style={{ fontSize: 18, fontWeight: 'bold', color: '#1F5FA8' }}&gt;验收标准&lt;/Text&gt;&#13;&#10;        &lt;Text style={{ fontSize: 17, color: '#3A4A58', lineHeight: 1.6 }}&gt;&#13;&#10;            能不查资料写出 for 循环完整结构 · 能解释切片第 2、3 个参数的含义 · 能区分 sorted 与 .sort · 能说清列表赋值与切片复制的区别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06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1–3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先把地基拍实</a:t>
            </a:r>
            <a:endParaRPr/>
          </a:p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三章都简单，但养成的是「写代码的手感」：命名、缩进、逐步验证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609600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819150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971550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371600" y="1666875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1371600" y="189547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1–2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</a:t>
            </a:r>
            <a:endParaRPr/>
          </a:p>
        </p:txBody>
      </p:sp>
      <p:sp>
        <p:nvSpPr>
          <p:cNvPr id="479" name="" descr="{&quot;isTemplate&quot;:true,&quot;type&quot;:&quot;text&quot;}"/>
          <p:cNvSpPr txBox="1"/>
          <p:nvPr/>
        </p:nvSpPr>
        <p:spPr>
          <a:xfrm rot="0" flipH="0" flipV="0">
            <a:off x="819150" y="22098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变量命名规范、字符串全套操作、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f-string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格式化、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int / float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与注释。</a:t>
            </a:r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819150" y="2857500"/>
            <a:ext cx="31337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必须讲透的点：浮点不能直接比较相等（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0.1+0.2 ≠ 0.3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这是后面数据处理第一个坑。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819150" y="4448175"/>
            <a:ext cx="3133725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952500" y="4562475"/>
            <a:ext cx="2867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952500" y="4743450"/>
            <a:ext cx="2867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个人偏好调查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2-1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4314825" y="1428750"/>
            <a:ext cx="3562350" cy="381000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452437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467677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5076825" y="1666875"/>
            <a:ext cx="9429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列表简介</a:t>
            </a:r>
            <a:endParaRPr/>
          </a:p>
        </p:txBody>
      </p:sp>
      <p:sp>
        <p:nvSpPr>
          <p:cNvPr id="488" name="" descr="{&quot;isTemplate&quot;:true,&quot;type&quot;:&quot;text&quot;}"/>
          <p:cNvSpPr txBox="1"/>
          <p:nvPr/>
        </p:nvSpPr>
        <p:spPr>
          <a:xfrm rot="0" flipH="0" flipV="0">
            <a:off x="5076825" y="1895475"/>
            <a:ext cx="9429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W2</a:t>
            </a:r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524375" y="22098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增删改查、索引从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开始、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 / sorted / reverse / len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的区别。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4524375" y="2857500"/>
            <a:ext cx="31432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sorted()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返回新列表，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.sort()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原地排序返回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None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这是新手最高频的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524375" y="4448175"/>
            <a:ext cx="31432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4657725" y="4562475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练习</a:t>
            </a:r>
            <a:endParaRPr/>
          </a:p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4657725" y="47434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对同一个列表做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次操作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8067675" y="1428750"/>
            <a:ext cx="3552825" cy="381000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5" name=""/>
          <p:cNvSpPr/>
          <p:nvPr/>
        </p:nvSpPr>
        <p:spPr>
          <a:xfrm rot="0" flipH="0" flipV="0">
            <a:off x="8067675" y="1428750"/>
            <a:ext cx="3552825" cy="3810000"/>
          </a:xfrm>
          <a:custGeom>
            <a:pathLst>
              <a:path w="373" h="40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392"/>
                </a:lnTo>
                <a:cubicBezTo>
                  <a:pt x="4" y="396"/>
                  <a:pt x="7" y="399"/>
                  <a:pt x="10" y="400"/>
                </a:cubicBezTo>
                <a:cubicBezTo>
                  <a:pt x="4" y="399"/>
                  <a:pt x="0" y="394"/>
                  <a:pt x="0" y="3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6" name=""/>
          <p:cNvSpPr/>
          <p:nvPr/>
        </p:nvSpPr>
        <p:spPr>
          <a:xfrm rot="0" flipH="0" flipV="0">
            <a:off x="8277225" y="163830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8429625" y="173355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8829675" y="1666875"/>
            <a:ext cx="1295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操作列表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8829675" y="1895475"/>
            <a:ext cx="1295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W3 · </a:t>
            </a: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00" name="" descr="{&quot;isTemplate&quot;:true,&quot;type&quot;:&quot;text&quot;}"/>
          <p:cNvSpPr txBox="1"/>
          <p:nvPr/>
        </p:nvSpPr>
        <p:spPr>
          <a:xfrm rot="0" flipH="0" flipV="0">
            <a:off x="8277225" y="2209800"/>
            <a:ext cx="30956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for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range()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、列表推导式、切片、元组、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PEP 8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缩进规范。</a:t>
            </a:r>
            <a:endParaRPr/>
          </a:p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8277225" y="2857500"/>
            <a:ext cx="30956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必须讲透的点：赋值是同一对象的别名，切片才是复制。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的「我明明复制了怎么变了」都出在这里。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8277225" y="4448175"/>
            <a:ext cx="3095625" cy="581025"/>
          </a:xfrm>
          <a:prstGeom prst="roundRect">
            <a:avLst>
              <a:gd name="adj" fmla="val 13115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8410575" y="4562475"/>
            <a:ext cx="2828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8410575" y="4743450"/>
            <a:ext cx="2828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忘记密码清单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3.4–3.8</a:t>
            </a:r>
            <a:endParaRPr/>
          </a:p>
        </p:txBody>
      </p:sp>
      <p:sp>
        <p:nvSpPr>
          <p:cNvPr id="505" name=""/>
          <p:cNvSpPr/>
          <p:nvPr/>
        </p:nvSpPr>
        <p:spPr>
          <a:xfrm rot="0" flipH="0" flipV="0">
            <a:off x="609600" y="5505450"/>
            <a:ext cx="109728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857250" y="57912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验收标准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1733550" y="5743575"/>
            <a:ext cx="928687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能不查资料写出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循环完整结构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能解释切片第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个参数的含义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能区分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sorted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3A4A58"/>
                </a:solidFill>
                <a:latin typeface="Microsoft YaHei"/>
                <a:ea typeface="Microsoft YaHei"/>
              </a:rPr>
              <a:t xml:space="preserve"> .sort · </a:t>
            </a:r>
            <a:r>
              <a:rPr lang="zh-CN" sz="1275">
                <a:solidFill>
                  <a:srgbClr val="3A4A58"/>
                </a:solidFill>
                <a:latin typeface="Microsoft YaHei"/>
                <a:ea typeface="Microsoft YaHei"/>
              </a:rPr>
              <a:t>能说清列表赋值与切片复制的区别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06 / 23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510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80px', background: '#16232E' }} /&gt;&#13;&#10;&#13;&#10;    &lt;Box style={{ position: 'absolute', left: 64, top: 44, width: '1152px', flexDirection: 'column' }}&gt;&#13;&#10;        &lt;Text style={{ fontSize: 36, fontWeight: 'bold', color: '#FFFFFF' }}&gt;单元 4–6 · 让程序会做判断&lt;/Text&gt;&#13;&#10;        &lt;Text style={{ fontSize: 18, color: '#A8C4DE', marginTop: 8 }}&gt;&#13;&#10;            从「按顺序执行」到「会分支、会重复、会查表」，这是能写出第一个真程序的前提&#13;&#10;        &lt;/Text&gt;&#13;&#10;    &lt;/Box&gt;&#13;&#10;&#13;&#10;    &lt;Box style={{&#13;&#10;        position: 'absolute', left: 64, top: 202, width: '1152px', height: 348,&#13;&#10;        flexDirection: 'row', gap: 18,&#13;&#10;    }}&gt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4&lt;/Text&gt;&#13;&#10;                &lt;Text style={{ fontSize: 20, fontWeight: 'bold', color: '#16232E' }}&gt;if 语句&lt;/Text&gt;&#13;&#10;            &lt;/Box&gt;&#13;&#10;            &lt;Text style={{ fontSize: 14, color: '#8A9AAA' }}&gt;教材第 5 章 · W4&lt;/Text&gt;&#13;&#10;            &lt;Box style={{ flex: 1, flexDirection: 'column', gap: 8 }}&gt;&#13;&#10;                &lt;Text style={{ fontSize: 15, color: '#3A4A58', lineHeight: 1.65 }}&gt;&#13;&#10;                    条件测试、比较运算、布尔表达式、in / not in、if-else / elif 链。&#13;&#10;                &lt;/Text&gt;&#13;&#10;                &lt;Text style={{ fontSize: 15, color: '#3A4A58', lineHeight: 1.65 }}&gt;&#13;&#10;                    讲法要点：条件顺序必须从窄到宽，先挡掉非法输入再进业务逻辑。&#13;&#10;                    用票价分级当例子最直观。&#13;&#10;                &lt;/Text&gt;&#13;&#10;            &lt;/Box&gt;&#13;&#10;            &lt;Text style={{ fontSize: 15, color: '#1F5FA8', fontWeight: 'bold', marginTop: 'auto' }}&gt;&#13;&#10;                产出 3 个条件判断小程序&#13;&#10;            &lt;/Text&gt;&#13;&#10;        &lt;/Box&gt;&#13;&#10;&#13;&#10;        &lt;Box style={{&#13;&#10;            flex: 1, background: '#EEF5FB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1F5FA8', lineHeight: 1 }}&gt;05&lt;/Text&gt;&#13;&#10;                &lt;Text style={{ fontSize: 20, fontWeight: 'bold', color: '#16232E' }}&gt;字典&lt;/Text&gt;&#13;&#10;            &lt;/Box&gt;&#13;&#10;            &lt;Text style={{ fontSize: 14, color: '#8A9AAA' }}&gt;教材第 6 章 · W5&lt;/Text&gt;&#13;&#10;            &lt;Box style={{ flex: 1, flexDirection: 'column', gap: 8 }}&gt;&#13;&#10;                &lt;Text style={{ fontSize: 15, color: '#3A4A58', lineHeight: 1.65 }}&gt;&#13;&#10;                    键值对、增删改查、get() 安全取值、三种遍历方式、嵌套结构。&#13;&#10;                &lt;/Text&gt;&#13;&#10;                &lt;Text style={{ fontSize: 15, color: '#3A4A58', lineHeight: 1.65 }}&gt;&#13;&#10;                    讲法要点：用生日调查演示字典列表、列表字典、字典字典三种嵌套。&#13;&#10;                    嵌套是后面所有 JSON 数据的入门钥匙。&#13;&#10;                &lt;/Text&gt;&#13;&#10;            &lt;/Box&gt;&#13;&#10;            &lt;Text style={{ fontSize: 15, color: '#1F5FA8', fontWeight: 'bold', marginTop: 'auto' }}&gt;&#13;&#10;                产出生日调查字典 6.1–6.3&#13;&#10;            &lt;/Text&gt;&#13;&#10;        &lt;/Box&gt;&#13;&#10;&#13;&#10;        &lt;Box style={{&#13;&#10;            flex: 1, background: '#FDF3E2', borderRadius: 12, padding: 24,&#13;&#10;            flexDirection: 'column', gap: 12,&#13;&#10;        }}&gt;&#13;&#10;            &lt;Box style={{ flexDirection: 'row', alignItems: 'baseline', gap: 10 }}&gt;&#13;&#10;                &lt;Text style={{ fontSize: 48, fontWeight: 'bold', color: '#E08A15', lineHeight: 1 }}&gt;06&lt;/Text&gt;&#13;&#10;                &lt;Text style={{ fontSize: 20, fontWeight: 'bold', color: '#16232E' }}&gt;输入与 while&lt;/Text&gt;&#13;&#10;            &lt;/Box&gt;&#13;&#10;            &lt;Text style={{ fontSize: 14, color: '#B07A10' }}&gt;教材第 7 章 · W6 · 难点&lt;/Text&gt;&#13;&#10;            &lt;Box style={{ flex: 1, flexDirection: 'column', gap: 8 }}&gt;&#13;&#10;                &lt;Text style={{ fontSize: 15, color: '#3A4A58', lineHeight: 1.65 }}&gt;&#13;&#10;                    input() / int() / 求模、while 循环、标志位、break / continue。&#13;&#10;                &lt;/Text&gt;&#13;&#10;                &lt;Text style={{ fontSize: 15, color: '#3A4A58', lineHeight: 1.65 }}&gt;&#13;&#10;                    讲法要点：整节围绕「避免无限循环」展开。非数字输入必须捕获&#13;&#10;                    ValueError，否则程序一崩学员就以为自己写错了。&#13;&#10;                &lt;/Text&gt;&#13;&#10;            &lt;/Box&gt;&#13;&#10;            &lt;Text style={{ fontSize: 15, color: '#8A5A08', fontWeight: 'bold', marginTop: 'auto' }}&gt;&#13;&#10;                产出投票统计 7.5–7.9 / 收银机 7.10&#13;&#10;            &lt;/Text&gt;&#13;&#10;        &lt;/Box&gt;&#13;&#10;    &lt;/Box&gt;&#13;&#10;&#13;&#10;    &lt;Box style={{&#13;&#10;        position: 'absolute', left: 64, top: 566, width: '1152px', height: 94,&#13;&#10;        background: '#16232E', borderRadius: 12,&#13;&#10;        flexDirection: 'row', alignItems: 'center', padding: '0 26px', gap: 20,&#13;&#10;    }}&gt;&#13;&#10;        &lt;Text style={{ fontSize: 18, fontWeight: 'bold', color: '#E8B36A' }}&gt;进入单元 7 的门槛&lt;/Text&gt;&#13;&#10;        &lt;Text style={{ fontSize: 17, color: '#D6E4F0', lineHeight: 1.6 }}&gt;&#13;&#10;            能写出一个「反复提示输入、直到输入合法为止」的循环程序 · 能解释 break 和 continue 的区别 · 能说出 for 与 while 各自适合什么场景&#13;&#10;        &lt;/Text&gt;&#13;&#10;    &lt;/Box&gt;&#13;&#10;&#13;&#10;    &lt;Box style={{&#13;&#10;        position: 'absolute', right: 64, bottom: 24,&#13;&#10;        flexDirection: 'row', alignItems: 'center', gap: 40,&#13;&#10;    }}&gt;&#13;&#10;        &lt;Text style={{ fontSize: 14, color: '#8A9AAA' }}&gt;Python 阶段 0–2 课程大纲&lt;/Text&gt;&#13;&#10;        &lt;Text style={{ fontSize: 14, color: '#8A9AAA' }}&gt;07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2" name=""/>
          <p:cNvSpPr/>
          <p:nvPr/>
        </p:nvSpPr>
        <p:spPr>
          <a:xfrm rot="0" flipH="0" flipV="0">
            <a:off x="0" y="0"/>
            <a:ext cx="12192000" cy="17145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609600" y="4191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4–6 · </a:t>
            </a:r>
            <a:r>
              <a:rPr lang="zh-CN" sz="2700" b="1">
                <a:solidFill>
                  <a:srgbClr val="FFFFFF"/>
                </a:solidFill>
                <a:latin typeface="Microsoft YaHei"/>
                <a:ea typeface="Microsoft YaHei"/>
              </a:rPr>
              <a:t>让程序会做判断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91440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A8C4DE"/>
                </a:solidFill>
                <a:latin typeface="Microsoft YaHei"/>
                <a:ea typeface="Microsoft YaHei"/>
              </a:rPr>
              <a:t>从「按顺序执行」到「会分支、会重复、会查表」，这是能写出第一个真程序的前提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6096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8382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1504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语句</a:t>
            </a:r>
            <a:endParaRPr/>
          </a:p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8382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W4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8382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条件测试、比较运算、布尔表达式、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in / not in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if-else / elif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链。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38200" y="37433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讲法要点：条件顺序必须从窄到宽，先挡掉非法输入再进业务逻辑。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用票价分级当例子最直观。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8382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个条件判断小程序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432435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55295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F5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5219700" y="2152650"/>
            <a:ext cx="381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525" name="" descr="{&quot;isTemplate&quot;:true,&quot;type&quot;:&quot;text&quot;}"/>
          <p:cNvSpPr txBox="1"/>
          <p:nvPr/>
        </p:nvSpPr>
        <p:spPr>
          <a:xfrm rot="0" flipH="0" flipV="0">
            <a:off x="455295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W5</a:t>
            </a:r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5295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键值对、增删改查、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get()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安全取值、三种遍历方式、嵌套结构。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55295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讲法要点：用生日调查演示字典列表、列表字典、字典字典三种嵌套。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嵌套是后面所有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数据的入门钥匙。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5295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产出生日调查字典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6.1–6.3</a:t>
            </a:r>
            <a:endParaRPr/>
          </a:p>
        </p:txBody>
      </p:sp>
      <p:sp>
        <p:nvSpPr>
          <p:cNvPr id="529" name=""/>
          <p:cNvSpPr/>
          <p:nvPr/>
        </p:nvSpPr>
        <p:spPr>
          <a:xfrm rot="0" flipH="0" flipV="0">
            <a:off x="8039100" y="1924050"/>
            <a:ext cx="3543300" cy="3314700"/>
          </a:xfrm>
          <a:prstGeom prst="roundRect">
            <a:avLst>
              <a:gd name="adj" fmla="val 344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8267700" y="2152650"/>
            <a:ext cx="5715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E08A15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8934450" y="2152650"/>
            <a:ext cx="114300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6232E"/>
                </a:solidFill>
                <a:latin typeface="Microsoft YaHei"/>
                <a:ea typeface="Microsoft YaHei"/>
              </a:rPr>
              <a:t>输入与</a:t>
            </a:r>
            <a:r>
              <a:rPr lang="en-US" sz="15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while</a:t>
            </a:r>
            <a:endParaRPr/>
          </a:p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8267700" y="2819400"/>
            <a:ext cx="3086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教材第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章</a:t>
            </a:r>
            <a:r>
              <a:rPr lang="en-US" sz="1050">
                <a:solidFill>
                  <a:srgbClr val="B07A10"/>
                </a:solidFill>
                <a:latin typeface="Microsoft YaHei"/>
                <a:ea typeface="Microsoft YaHei"/>
              </a:rPr>
              <a:t xml:space="preserve"> · W6 · </a:t>
            </a:r>
            <a:r>
              <a:rPr lang="zh-CN" sz="1050">
                <a:solidFill>
                  <a:srgbClr val="B07A10"/>
                </a:solidFill>
                <a:latin typeface="Microsoft YaHei"/>
                <a:ea typeface="Microsoft YaHei"/>
              </a:rPr>
              <a:t>难点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267700" y="3095625"/>
            <a:ext cx="30861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input() / int() /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求模、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while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循环、标志位、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break / continue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267700" y="3743325"/>
            <a:ext cx="30861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讲法要点：整节围绕「避免无限循环」展开。非数字输入必须捕获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ValueError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，否则程序一崩学员就以为自己写错了。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8267700" y="4838700"/>
            <a:ext cx="3086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产出投票统计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7.5–7.9 / </a:t>
            </a: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收银机</a:t>
            </a:r>
            <a:r>
              <a:rPr lang="en-US" sz="1125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7.10</a:t>
            </a:r>
            <a:endParaRPr/>
          </a:p>
        </p:txBody>
      </p:sp>
      <p:sp>
        <p:nvSpPr>
          <p:cNvPr id="536" name=""/>
          <p:cNvSpPr/>
          <p:nvPr/>
        </p:nvSpPr>
        <p:spPr>
          <a:xfrm rot="0" flipH="0" flipV="0">
            <a:off x="609600" y="5391150"/>
            <a:ext cx="10972800" cy="895350"/>
          </a:xfrm>
          <a:prstGeom prst="roundRect">
            <a:avLst>
              <a:gd name="adj" fmla="val 1276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857250" y="573405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进入单元</a:t>
            </a:r>
            <a:r>
              <a:rPr lang="en-US" sz="1350" b="1">
                <a:solidFill>
                  <a:srgbClr val="E8B36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的门槛</a:t>
            </a:r>
            <a:endParaRPr/>
          </a:p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2333625" y="5686425"/>
            <a:ext cx="90011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能写出一个「反复提示输入、直到输入合法为止」的循环程序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能解释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break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和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continue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的区别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能说出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for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与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各自适合什么场景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07 / 23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541" name="" descr="&lt;Slide style={{&#13;&#10;    width: '1280px', height: '720px', backgroundColor: '#FAFCFE',&#13;&#10;    padding: 0, position: 'relative', overflow: 'hidden',&#13;&#10;}}&gt;&#13;&#10;    &lt;Box style={{ position: 'absolute', left: 0, top: 0, width: '420px', height: '720px', background: '#1F5FA8' }} /&gt;&#13;&#10;    &lt;Box style={{ position: 'absolute', left: 0, top: 470, width: '420px', height: '250px', background: '#154477' }} /&gt;&#13;&#10;&#13;&#10;    &lt;Box style={{ position: 'absolute', left: 56, top: 130, width: '320px', flexDirection: 'column', gap: 16 }}&gt;&#13;&#10;        &lt;Text style={{ fontSize: 150, fontWeight: 'bold', color: '#FFFFFF', lineHeight: 0.9 }}&gt;07&lt;/Text&gt;&#13;&#10;        &lt;Box style={{ width: 90, height: 5, background: '#E08A15' }} /&gt;&#13;&#10;        &lt;Text style={{ fontSize: 30, fontWeight: 'bold', color: '#FFFFFF' }}&gt;函数&lt;/Text&gt;&#13;&#10;        &lt;Text style={{ fontSize: 16, color: '#BBD6EA', lineHeight: 1.7 }}&gt;&#13;&#10;            教材第 8 章 · W7–W8&lt;br /&gt;&#13;&#10;            建议安排 4 次课&#13;&#10;        &lt;/Text&gt;&#13;&#10;    &lt;/Box&gt;&#13;&#10;&#13;&#10;    &lt;Box style={{ position: 'absolute', left: 464, top: 48, width: 760, flexDirection: 'column' }}&gt;&#13;&#10;        &lt;Text style={{ fontSize: 20, fontWeight: 'bold', color: '#E08A15' }}&gt;分水岭 · 抽象能力的第一次跳跃&lt;/Text&gt;&#13;&#10;        &lt;Text style={{ fontSize: 34, fontWeight: 'bold', color: '#16232E', marginTop: 10, lineHeight: 1.35 }}&gt;&#13;&#10;            从这里开始，代码不再是&lt;br /&gt;「从上往下写一行算一行」&#13;&#10;        &lt;/Text&gt;&#13;&#10;    &lt;/Box&gt;&#13;&#10;&#13;&#10;    &lt;Box style={{ position: 'absolute', left: 464, top: 168, width: 760, height: 352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定义与返回值 → 位置 / 关键字实参与默认值 → 列表传参与 \*args / \*\*kwargs → 模块与导入（4 种写法）+ 函数编写指南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E08A15', marginTop: 9 }} /&gt;&#13;&#10;            &lt;Box style={{ flex: 1, flexDirection: 'column', gap: 4 }}&gt;&#13;&#10;                &lt;Text style={{ fontSize: 17, fontWeight: 'bold', color: '#16232E' }}&gt;学员真正的卡点&lt;/Text&gt;&#13;&#10;                &lt;Text style={{ fontSize: 14, color: '#5A6B7A', lineHeight: 1.55 }}&gt;&#13;&#10;                    不是「怎么定义函数」，而是「不知道该拆成几个函数」。&#13;&#10;                    对策：先照抄教材 3 个例子，再逐个改需求，最后才自己想拆法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函数里改列表会改到原列表 · 默认参数写成可变对象 · 误以为实参被修改就是 bug · 不知道返回值才是函数真正的输出&#13;&#10;                &lt;/Text&gt;&#13;&#10;            &lt;/Box&gt;&#13;&#10;        &lt;/Box&gt;&#13;&#10;    &lt;/Box&gt;&#13;&#10;&#13;&#10;    &lt;Box style={{&#13;&#10;        position: 'absolute', left: 464, top: 534, width: 760, height: 84,&#13;&#10;        background: '#16232E', borderRadius: 12, padding: '0 24px',&#13;&#10;        flexDirection: 'row', alignItems: 'center', gap: 18,&#13;&#10;    }}&gt;&#13;&#10;        &lt;Text style={{ fontSize: 17, fontWeight: 'bold', color: '#E8B36A' }}&gt;动手项目&lt;/Text&gt;&#13;&#10;        &lt;Text style={{ fontSize: 16, color: '#D6E4F0', lineHeight: 1.6 }}&gt;&#13;&#10;            魔方消息 8.1–8.3 · 星际争霸 8.4–8.6 · 鸡尾酒 8.7&lt;br /&gt;&#13;&#10;            产出 3 个可复用函数 + 2 个自定义模块&#13;&#10;        &lt;/Text&gt;&#13;&#10;    &lt;/Box&gt;&#13;&#10;&#13;&#10;    &lt;Box style={{&#13;&#10;        position: 'absolute', left: 40, top: 466, width: '340px', height: 186,&#13;&#10;        background: '#0F3E6E', borderRadius: 10, padding: '20px 22px',&#13;&#10;        flexDirection: 'column', gap: 10, justifyContent: 'space-between',&#13;&#10;    }}&gt;&#13;&#10;        &lt;Text style={{ fontSize: 14, color: '#8FB4D8', fontWeight: 'bold' }}&gt;为什么这里最难教&lt;/Text&gt;&#13;&#10;        &lt;Text style={{ fontSize: 15, color: '#D6E4F0', lineHeight: 1.65 }}&gt;&#13;&#10;            前面所有章节都是「想清楚再写」，函数是第一次要求在动手前就决定代码结构。&#13;&#10;            这种能力讲不出来，只能靠反复拆解和重构练出来。&#13;&#10;        &lt;/Text&gt;&#13;&#10;    &lt;/Box&gt;&#13;&#10;&#13;&#10;    &lt;Box style={{ position: 'absolute', right: 64, bottom: 24, flexDirection: 'row', gap: 40 }}&gt;&#13;&#10;        &lt;Text style={{ fontSize: 14, color: '#8A9AAA' }}&gt;Python 阶段 0–2 课程大纲&lt;/Text&gt;&#13;&#10;        &lt;Text style={{ fontSize: 14, color: '#8A9AAA' }}&gt;08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4000500" cy="685800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44" name=""/>
          <p:cNvSpPr/>
          <p:nvPr/>
        </p:nvSpPr>
        <p:spPr>
          <a:xfrm rot="0" flipH="0" flipV="0">
            <a:off x="0" y="4476750"/>
            <a:ext cx="4000500" cy="2381250"/>
          </a:xfrm>
          <a:prstGeom prst="rect">
            <a:avLst/>
          </a:prstGeom>
          <a:solidFill>
            <a:srgbClr val="154477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533400" y="1238250"/>
            <a:ext cx="304800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53340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533400" y="3133725"/>
            <a:ext cx="3048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533400" y="3629025"/>
            <a:ext cx="3048000" cy="62865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· W7–W8</a:t>
            </a:r>
            <a:endParaRPr/>
          </a:p>
          <a:p>
            <a:pPr>
              <a:lnSpc>
                <a:spcPct val="170000"/>
              </a:lnSpc>
            </a:pP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建议安排</a:t>
            </a:r>
            <a:r>
              <a:rPr lang="en-US" sz="1200">
                <a:solidFill>
                  <a:srgbClr val="BBD6EA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BBD6E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4419600" y="457200"/>
            <a:ext cx="7239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分水岭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抽象能力的第一次跳跃</a:t>
            </a:r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4419600" y="781050"/>
            <a:ext cx="7239000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从这里开始，代码不再是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「从上往下写一行算一行」</a:t>
            </a:r>
            <a:endParaRPr/>
          </a:p>
        </p:txBody>
      </p:sp>
      <p:sp>
        <p:nvSpPr>
          <p:cNvPr id="551" name=""/>
          <p:cNvSpPr/>
          <p:nvPr/>
        </p:nvSpPr>
        <p:spPr>
          <a:xfrm rot="0" flipH="0" flipV="0">
            <a:off x="4419600" y="1600200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4610100" y="18192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4819650" y="17335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4819650" y="1971675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定义与返回值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位置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关键字实参与默认值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列表传参与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\*args / \*\*kwargs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模块与导入（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种写法）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函数编写指南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4419600" y="2752725"/>
            <a:ext cx="7239000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6" name=""/>
          <p:cNvSpPr/>
          <p:nvPr/>
        </p:nvSpPr>
        <p:spPr>
          <a:xfrm rot="0" flipH="0" flipV="0">
            <a:off x="4610100" y="29718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4819650" y="288607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学员真正的卡点</a:t>
            </a:r>
            <a:endParaRPr/>
          </a:p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4819650" y="312420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不是「怎么定义函数」，而是「不知道该拆成几个函数」。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对策：先照抄教材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个例子，再逐个改需求，最后才自己想拆法。</a:t>
            </a:r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4419600" y="3905250"/>
            <a:ext cx="7239000" cy="1047750"/>
          </a:xfrm>
          <a:prstGeom prst="roundRect">
            <a:avLst>
              <a:gd name="adj" fmla="val 1090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60" name=""/>
          <p:cNvSpPr/>
          <p:nvPr/>
        </p:nvSpPr>
        <p:spPr>
          <a:xfrm rot="0" flipH="0" flipV="0">
            <a:off x="4610100" y="412432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4819650" y="403860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4819650" y="42862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函数里改列表会改到原列表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默认参数写成可变对象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误以为实参被修改就是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不知道返回值才是函数真正的输出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4419600" y="5086350"/>
            <a:ext cx="7239000" cy="800100"/>
          </a:xfrm>
          <a:prstGeom prst="roundRect">
            <a:avLst>
              <a:gd name="adj" fmla="val 14286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4648200" y="5391150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5467350" y="5191125"/>
            <a:ext cx="331470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魔方消息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8.1–8.3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星际争霸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8.4–8.6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鸡尾酒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8.7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产出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个可复用函数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+ 2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个自定义模块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381000" y="4438650"/>
            <a:ext cx="3238500" cy="1771650"/>
          </a:xfrm>
          <a:prstGeom prst="roundRect">
            <a:avLst>
              <a:gd name="adj" fmla="val 5376"/>
            </a:avLst>
          </a:prstGeom>
          <a:solidFill>
            <a:srgbClr val="0F3E6E"/>
          </a:solidFill>
          <a:ln/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590550" y="4629150"/>
            <a:ext cx="2819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FB4D8"/>
                </a:solidFill>
                <a:latin typeface="Microsoft YaHei"/>
                <a:ea typeface="Microsoft YaHei"/>
              </a:rPr>
              <a:t>为什么这里最难教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590550" y="4886325"/>
            <a:ext cx="28194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前面所有章节都是「想清楚再写」，函数是第一次要求在动手前就决定代码结构。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这种能力讲不出来，只能靠反复拆解和重构练出来。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91440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08 / 23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571" name="" descr="&lt;Slide style={{&#13;&#10;    width: '1280px', height: '720px', backgroundColor: '#FAFCFE',&#13;&#10;    padding: 0, position: 'relative', overflow: 'hidden',&#13;&#10;}}&gt;&#13;&#10;    &lt;Box style={{ position: 'absolute', right: 0, top: 0, width: '420px', height: '720px', background: '#0E9B78' }} /&gt;&#13;&#10;    &lt;Box style={{ position: 'absolute', right: 0, top: 470, width: '420px', height: '250px', background: '#0A7A5F' }} /&gt;&#13;&#10;&#13;&#10;    &lt;Box style={{ position: 'absolute', right: 56, top: 130, width: '320px', flexDirection: 'column', gap: 16, alignItems: 'flex-end' }}&gt;&#13;&#10;        &lt;Text style={{ fontSize: 150, fontWeight: 'bold', color: '#FFFFFF', lineHeight: 0.9 }}&gt;08&lt;/Text&gt;&#13;&#10;        &lt;Box style={{ width: 90, height: 5, background: '#E08A15' }} /&gt;&#13;&#10;        &lt;Text style={{ fontSize: 30, fontWeight: 'bold', color: '#FFFFFF' }}&gt;类&lt;/Text&gt;&#13;&#10;        &lt;Text style={{ fontSize: 16, color: '#C6EDE0', lineHeight: 1.7, textAlign: 'right' }}&gt;&#13;&#10;            教材第 9 章 · W9–W10&lt;br /&gt;&#13;&#10;            允许慢 2 周&#13;&#10;        &lt;/Text&gt;&#13;&#10;    &lt;/Box&gt;&#13;&#10;&#13;&#10;    &lt;Box style={{ position: 'absolute', left: 64, top: 48, width: 760, flexDirection: 'column', alignItems: 'flex-start' }}&gt;&#13;&#10;        &lt;Text style={{ fontSize: 20, fontWeight: 'bold', color: '#E08A15' }}&gt;最劝退的一章 · 但不能绕开&lt;/Text&gt;&#13;&#10;        &lt;Text style={{ fontSize: 34, fontWeight: 'bold', color: '#16232E', marginTop: 10, lineHeight: 1.35 }}&gt;&#13;&#10;            Django 的模型、ORM、视图&lt;br /&gt;全部是类，学不会后面必然崩&#13;&#10;        &lt;/Text&gt;&#13;&#10;    &lt;/Box&gt;&#13;&#10;&#13;&#10;    &lt;Box style={{ position: 'absolute', left: 64, top: 176, width: 760, height: 336, flexDirection: 'column', gap: 12 }}&gt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四次课的排法&lt;/Text&gt;&#13;&#10;                &lt;Text style={{ fontSize: 14, color: '#5A6B7A', lineHeight: 1.55 }}&gt;&#13;&#10;                    类与实例、属性与方法 → __init__ 与默认值属性 → 继承与重写 → 导入类、标准库与类的编程风格&#13;&#10;                &lt;/Text&gt;&#13;&#10;            &lt;/Box&gt;&#13;&#10;        &lt;/Box&gt;&#13;&#10;&#13;&#10;        &lt;Box style={{ background: '#FFFFFF', borderRadius: 12, padding: '14px 20px', flexDirection: 'row', gap: 16, alignItems: 'flex-start', flex: 1 }}&gt;&#13;&#10;            &lt;Box style={{ width: 6, height: 6, borderRadius: 3, background: '#0E9B78', marginTop: 9 }} /&gt;&#13;&#10;            &lt;Box style={{ flex: 1, flexDirection: 'column', gap: 4 }}&gt;&#13;&#10;                &lt;Text style={{ fontSize: 17, fontWeight: 'bold', color: '#16232E' }}&gt;降低门槛的做法&lt;/Text&gt;&#13;&#10;                &lt;Text style={{ fontSize: 14, color: '#5A6B7A', lineHeight: 1.55 }}&gt;&#13;&#10;                    自建 3 个类练手：学生记录、购物车、银行账户。不要只跟着教材的 Dog / Car 走。&#13;&#10;                    自己造过一遍，下一次才不用想。&#13;&#10;                &lt;/Text&gt;&#13;&#10;            &lt;/Box&gt;&#13;&#10;        &lt;/Box&gt;&#13;&#10;&#13;&#10;        &lt;Box style={{ background: '#FDF3E2', borderRadius: 12, padding: '14px 20px', flexDirection: 'row', gap: 16, alignItems: 'flex-start', flex: 1 }}&gt;&#13;&#10;            &lt;Box style={{ width: 6, height: 6, borderRadius: 3, background: '#D9820F', marginTop: 9 }} /&gt;&#13;&#10;            &lt;Box style={{ flex: 1, flexDirection: 'column', gap: 4 }}&gt;&#13;&#10;                &lt;Text style={{ fontSize: 18, fontWeight: 'bold', color: '#8A5A08' }}&gt;常见错误清单&lt;/Text&gt;&#13;&#10;                &lt;Text style={{ fontSize: 14, color: '#5A6B7A', lineHeight: 1.55 }}&gt;&#13;&#10;                    方法忘记写 self · 忘记 super().__init__() 就用父类属性 · 属性名前后不一致 · 把方法当属性调用&#13;&#10;                &lt;/Text&gt;&#13;&#10;            &lt;/Box&gt;&#13;&#10;        &lt;/Box&gt;&#13;&#10;    &lt;/Box&gt;&#13;&#10;&#13;&#10;    &lt;Box style={{&#13;&#10;        position: 'absolute', left: 64, top: 540, width: 760, height: 78,&#13;&#10;        background: '#16232E', borderRadius: 12, padding: '0 24px',&#13;&#10;        flexDirection: 'row', alignItems: 'center', gap: 18,&#13;&#10;    }}&gt;&#13;&#10;        &lt;Text style={{ fontSize: 17, fontWeight: 'bold', color: '#7FDCC0' }}&gt;过关标准&lt;/Text&gt;&#13;&#10;        &lt;Text style={{ fontSize: 15, color: '#D6E4F0', lineHeight: 1.55 }}&gt;&#13;&#10;            手写一个含 __init__、实例方法和一个子类的类，并能用自己的话解释 self 指向什么&#13;&#10;        &lt;/Text&gt;&#13;&#10;    &lt;/Box&gt;&#13;&#10;&#13;&#10;    &lt;Box style={{ position: 'absolute', left: 64, bottom: 24, flexDirection: 'row', gap: 40 }}&gt;&#13;&#10;        &lt;Text style={{ fontSize: 14, color: '#8A9AAA' }}&gt;Python 阶段 0–2 课程大纲&lt;/Text&gt;&#13;&#10;        &lt;Text style={{ fontSize: 14, color: '#8A9AAA' }}&gt;0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8191500" y="0"/>
            <a:ext cx="40005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8191500" y="4476750"/>
            <a:ext cx="4000500" cy="2381250"/>
          </a:xfrm>
          <a:prstGeom prst="rect">
            <a:avLst/>
          </a:prstGeom>
          <a:solidFill>
            <a:srgbClr val="0A7A5F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9886950" y="1238250"/>
            <a:ext cx="1771650" cy="1543050"/>
          </a:xfrm>
          <a:prstGeom prst="rect"/>
        </p:spPr>
        <p:txBody>
          <a:bodyPr wrap="none" lIns="0" tIns="0" rIns="0" bIns="0"/>
          <a:p>
            <a:pPr>
              <a:lnSpc>
                <a:spcPct val="90000"/>
              </a:lnSpc>
            </a:pPr>
            <a:r>
              <a:rPr lang="en-US" sz="1125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576" name=""/>
          <p:cNvSpPr/>
          <p:nvPr/>
        </p:nvSpPr>
        <p:spPr>
          <a:xfrm rot="0" flipH="0" flipV="0">
            <a:off x="10801350" y="2933700"/>
            <a:ext cx="85725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577" name="" descr="{&quot;isTemplate&quot;:true,&quot;type&quot;:&quot;text&quot;}"/>
          <p:cNvSpPr txBox="1"/>
          <p:nvPr/>
        </p:nvSpPr>
        <p:spPr>
          <a:xfrm rot="0" flipH="0" flipV="0">
            <a:off x="11372850" y="3133725"/>
            <a:ext cx="285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077450" y="3629025"/>
            <a:ext cx="1581150" cy="628650"/>
          </a:xfrm>
          <a:prstGeom prst="rect"/>
        </p:spPr>
        <p:txBody>
          <a:bodyPr wrap="none" lIns="0" tIns="0" rIns="0" bIns="0"/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教材第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章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· W9–W10</a:t>
            </a:r>
            <a:endParaRPr/>
          </a:p>
          <a:p>
            <a:pPr algn="r">
              <a:lnSpc>
                <a:spcPct val="170000"/>
              </a:lnSpc>
            </a:pP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允许慢</a:t>
            </a:r>
            <a:r>
              <a:rPr lang="en-US" sz="1200">
                <a:solidFill>
                  <a:srgbClr val="C6EDE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6EDE0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609600" y="457200"/>
            <a:ext cx="2295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最劝退的一章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但不能绕开</a:t>
            </a:r>
            <a:endParaRPr/>
          </a:p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4371975" cy="1057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的模型、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>ORM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、视图</a:t>
            </a:r>
            <a:endParaRPr/>
          </a:p>
          <a:p>
            <a:pPr>
              <a:lnSpc>
                <a:spcPct val="135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全部是类，学不会后面必然崩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609600" y="1676400"/>
            <a:ext cx="7239000" cy="904875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2" name=""/>
          <p:cNvSpPr/>
          <p:nvPr/>
        </p:nvSpPr>
        <p:spPr>
          <a:xfrm rot="0" flipH="0" flipV="0">
            <a:off x="800100" y="1895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009650" y="1809750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四次课的排法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1009650" y="2047875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类与实例、属性与方法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__init__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与默认值属性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继承与重写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导入类、标准库与类的编程风格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609600" y="2695575"/>
            <a:ext cx="7239000" cy="1152525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800100" y="2914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1009650" y="2828925"/>
            <a:ext cx="6648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6232E"/>
                </a:solidFill>
                <a:latin typeface="Microsoft YaHei"/>
                <a:ea typeface="Microsoft YaHei"/>
              </a:rPr>
              <a:t>降低门槛的做法</a:t>
            </a:r>
            <a:endParaRPr/>
          </a:p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1009650" y="3067050"/>
            <a:ext cx="66484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自建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个类练手：学生记录、购物车、银行账户。不要只跟着教材的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Dog / Car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走。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自己造过一遍，下一次才不用想。</a:t>
            </a:r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609600" y="3962400"/>
            <a:ext cx="7239000" cy="914400"/>
          </a:xfrm>
          <a:prstGeom prst="roundRect">
            <a:avLst>
              <a:gd name="adj" fmla="val 125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90" name=""/>
          <p:cNvSpPr/>
          <p:nvPr/>
        </p:nvSpPr>
        <p:spPr>
          <a:xfrm rot="0" flipH="0" flipV="0">
            <a:off x="800100" y="41814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D9820F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009650" y="4095750"/>
            <a:ext cx="6648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常见错误清单</a:t>
            </a:r>
            <a:endParaRPr/>
          </a:p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1009650" y="4343400"/>
            <a:ext cx="66484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方法忘记写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忘记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super().__init__()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就用父类属性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属性名前后不一致</a:t>
            </a:r>
            <a:r>
              <a:rPr lang="en-US" sz="10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A6B7A"/>
                </a:solidFill>
                <a:latin typeface="Microsoft YaHei"/>
                <a:ea typeface="Microsoft YaHei"/>
              </a:rPr>
              <a:t>把方法当属性调用</a:t>
            </a:r>
            <a:endParaRPr/>
          </a:p>
        </p:txBody>
      </p:sp>
      <p:sp>
        <p:nvSpPr>
          <p:cNvPr id="593" name=""/>
          <p:cNvSpPr/>
          <p:nvPr/>
        </p:nvSpPr>
        <p:spPr>
          <a:xfrm rot="0" flipH="0" flipV="0">
            <a:off x="609600" y="5143500"/>
            <a:ext cx="7239000" cy="742950"/>
          </a:xfrm>
          <a:prstGeom prst="roundRect">
            <a:avLst>
              <a:gd name="adj" fmla="val 15385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838200" y="5419725"/>
            <a:ext cx="647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7FDCC0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1657350" y="5381625"/>
            <a:ext cx="526732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手写一个含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、实例方法和一个子类的类，并能用自己的话解释</a:t>
            </a:r>
            <a:r>
              <a:rPr lang="en-US" sz="1125">
                <a:solidFill>
                  <a:srgbClr val="D6E4F0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D6E4F0"/>
                </a:solidFill>
                <a:latin typeface="Microsoft YaHei"/>
                <a:ea typeface="Microsoft YaHei"/>
              </a:rPr>
              <a:t>指向什么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25908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09 / 23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0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单元 9–10 · 从「能跑」到「靠谱」&lt;/Text&gt;&#13;&#10;        &lt;Text style={{ fontSize: 18, color: '#5A6B7A', marginTop: 6 }}&gt;&#13;&#10;            程序要处理外部世界：文件会不存在、输入会出错、改代码会改坏旧功能&#13;&#10;        &lt;/Text&gt;&#13;&#10;    &lt;/Box&gt;&#13;&#10;&#13;&#10;    &lt;Box style={{ position: 'absolute', lef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1F5FA8', alignItems: 'center', justifyContent: 'center' }}&gt;&#13;&#10;                    &lt;Text style={{ fontSize: 22, fontWeight: 'bold', color: '#FFFFFF' }}&gt;9&lt;/Text&gt;&#13;&#10;                &lt;/Box&gt;&#13;&#10;                &lt;Box style={{ flexDirection: 'column' }}&gt;&#13;&#10;                    &lt;Text style={{ fontSize: 21, fontWeight: 'bold', color: '#16232E' }}&gt;文件和异常&lt;/Text&gt;&#13;&#10;                    &lt;Text style={{ fontSize: 13, color: '#8A9AAA' }}&gt;教材第 10 章 · W11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读取文件、写入与追加、with 语句、异常处理 try / except / else / finally、&#13;&#10;                    JSON 存取数据。&#13;&#10;                &lt;/Text&gt;&#13;&#10;                &lt;Box style={{ flexDirection: 'column', gap: 6 }}&gt;&#13;&#10;                    &lt;Text style={{ fontSize: 15, fontWeight: 'bold', color: '#1F5FA8' }}&gt;必须讲透的两个点&lt;/Text&gt;&#13;&#10;                    &lt;Text style={{ fontSize: 15, color: '#5A6B7A', lineHeight: 1.6 }}&gt;&#13;&#10;                        1. 永远用 with，文件会自动关闭；且必须写 encoding=&quot;utf-8&quot;，否则 Windows 上中文乱码。&#13;&#10;                    &lt;/Text&gt;&#13;&#10;                    &lt;Text style={{ fontSize: 15, color: '#5A6B7A', lineHeight: 1.6 }}&gt;&#13;&#10;                        2. else 子句在没有异常时才执行，适合「只在成功时保存文件」，这是最容易被忽略的用法。&#13;&#10;                    &lt;/Text&gt;&#13;&#10;                &lt;/Box&gt;&#13;&#10;            &lt;/Box&gt;&#13;&#10;&#13;&#10;            &lt;Box style={{&#13;&#10;                background: '#EEF5FB', borderRadius: 8, padding: '12px 14px',&#13;&#10;                marginTop: 'auto', flexDirection: 'column', gap: 3,&#13;&#10;            }}&gt;&#13;&#10;                &lt;Text style={{ fontSize: 13, color: '#8A9AAA' }}&gt;动手项目&lt;/Text&gt;&#13;&#10;                &lt;Text style={{ fontSize: 15, color: '#1F5FA8', fontWeight: 'bold' }}&gt;学习笔记管理 10.1–10.13&lt;/Text&gt;&#13;&#10;            &lt;/Box&gt;&#13;&#10;        &lt;/Box&gt;&#13;&#10;    &lt;/Box&gt;&#13;&#10;&#13;&#10;    &lt;Box style={{ position: 'absolute', right: 64, top: 150, width: '566px', height: 440, flexDirection: 'column' }}&gt;&#13;&#10;        &lt;Box style={{&#13;&#10;            flex: 1, background: '#FFFFFF', border: '1px solid #D8E3EE', borderRadius: 12,&#13;&#10;            padding: 24, flexDirection: 'column', gap: 14,&#13;&#10;        }}&gt;&#13;&#10;            &lt;Box style={{ flexDirection: 'row', alignItems: 'center', gap: 12 }}&gt;&#13;&#10;                &lt;Box style={{ width: 46, height: 46, borderRadius: 8, background: '#0E9B78', alignItems: 'center', justifyContent: 'center' }}&gt;&#13;&#10;                    &lt;Text style={{ fontSize: 22, fontWeight: 'bold', color: '#FFFFFF' }}&gt;10&lt;/Text&gt;&#13;&#10;                &lt;/Box&gt;&#13;&#10;                &lt;Box style={{ flexDirection: 'column' }}&gt;&#13;&#10;                    &lt;Text style={{ fontSize: 21, fontWeight: 'bold', color: '#16232E' }}&gt;测试代码&lt;/Text&gt;&#13;&#10;                    &lt;Text style={{ fontSize: 13, color: '#8A9AAA' }}&gt;教材第 11 章 · W12 · 3 次课&lt;/Text&gt;&#13;&#10;                &lt;/Box&gt;&#13;&#10;            &lt;/Box&gt;&#13;&#10;&#13;&#10;            &lt;Box style={{ flex: 1, flexDirection: 'column', gap: 10 }}&gt;&#13;&#10;                &lt;Text style={{ fontSize: 16, color: '#3A4A58', lineHeight: 1.65 }}&gt;&#13;&#10;                    为什么测试、pip 安装 pytest、测试函数与断言、测试类、fixture 与参数化。&#13;&#10;                &lt;/Text&gt;&#13;&#10;                &lt;Box style={{ flexDirection: 'column', gap: 6 }}&gt;&#13;&#10;                    &lt;Text style={{ fontSize: 15, fontWeight: 'bold', color: '#0E9B78' }}&gt;必须讲透的两个点&lt;/Text&gt;&#13;&#10;                    &lt;Text style={{ fontSize: 15, color: '#5A6B7A', lineHeight: 1.6 }}&gt;&#13;&#10;                        1. assert 后面不要写说明文字，pytest 会自动报告失败原因，写了反而覆盖掉。&#13;&#10;                    &lt;/Text&gt;&#13;&#10;                    &lt;Text style={{ fontSize: 15, color: '#5A6B7A', lineHeight: 1.6 }}&gt;&#13;&#10;                        2. 测试的价值在改代码之前。先写测试再改，才能知道有没有改坏东西。&#13;&#10;                    &lt;/Text&gt;&#13;&#10;                &lt;/Box&gt;&#13;&#10;            &lt;/Box&gt;&#13;&#10;&#13;&#10;            &lt;Box style={{&#13;&#10;                background: '#E8F7F1', borderRadius: 8, padding: '12px 14px',&#13;&#10;                marginTop: 'auto', flexDirection: 'column', gap: 3,&#13;&#10;            }}&gt;&#13;&#10;                &lt;Text style={{ fontSize: 13, color: '#6B9F8C' }}&gt;动手项目 + 加练&lt;/Text&gt;&#13;&#10;                &lt;Text style={{ fontSize: 15, color: '#0A7A5F', fontWeight: 'bold' }}&gt;&#13;&#10;                    投票分析器测试 11.1–11.3，再给单元 7/8/9 的代码补测试&#13;&#10;                &lt;/Text&gt;&#13;&#10;            &lt;/Box&gt;&#13;&#10;        &lt;/Box&gt;&#13;&#10;    &lt;/Box&gt;&#13;&#10;&#13;&#10;    &lt;Box style={{&#13;&#10;        position: 'absolute', left: 64, top: 606, width: '1152px', height: 56,&#13;&#10;        background: '#16232E', borderRadius: 10, flexDirection: 'row',&#13;&#10;        alignItems: 'center', padding: '0 24px', gap: 16,&#13;&#10;    }}&gt;&#13;&#10;        &lt;Text style={{ fontSize: 17, fontWeight: 'bold', color: '#E8B36A' }}&gt;产出&lt;/Text&gt;&#13;&#10;        &lt;Text style={{ fontSize: 16, color: '#D6E4F0' }}&gt;&#13;&#10;            一个能存到 JSON 的学习笔记程序 + 一个至少 10 条测试的 pytest 套件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9–10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从「能跑」到「靠谱」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程序要处理外部世界：文件会不存在、输入会出错、改代码会改坏旧功能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60960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83820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990600" y="1752600"/>
            <a:ext cx="133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39065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文件和异常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139065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W11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83820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读取文件、写入与追加、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with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语句、异常处理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try / except / else / finally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存取数据。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3820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3820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永远用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with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，文件会自动关闭；且必须写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encoding="utf-8"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，否则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Windows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上中文乱码。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38200" y="37719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子句在没有异常时才执行，适合「只在成功时保存文件」，这是最容易被忽略的用法。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83820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97155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动手项目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学习笔记管理</a:t>
            </a:r>
            <a:r>
              <a:rPr lang="en-US" sz="112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10.1–10.13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6191250" y="1428750"/>
            <a:ext cx="539115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419850" y="1657350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505575" y="1752600"/>
            <a:ext cx="266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972300" y="1676400"/>
            <a:ext cx="15525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测试代码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972300" y="1924050"/>
            <a:ext cx="15525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教材第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章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W12 · 3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次课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419850" y="2228850"/>
            <a:ext cx="4933950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为什么测试、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pip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安装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、测试函数与断言、测试类、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fixture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与参数化。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6419850" y="2933700"/>
            <a:ext cx="493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E9B78"/>
                </a:solidFill>
                <a:latin typeface="Microsoft YaHei"/>
                <a:ea typeface="Microsoft YaHei"/>
              </a:rPr>
              <a:t>必须讲透的两个点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419850" y="3162300"/>
            <a:ext cx="49339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1. assert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后面不要写说明文字，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会自动报告失败原因，写了反而覆盖掉。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19850" y="3771900"/>
            <a:ext cx="49339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2.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测试的价值在改代码之前。先写测试再改，才能知道有没有改坏东西。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6419850" y="4810125"/>
            <a:ext cx="4933950" cy="581025"/>
          </a:xfrm>
          <a:prstGeom prst="roundRect">
            <a:avLst>
              <a:gd name="adj" fmla="val 13115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553200" y="4924425"/>
            <a:ext cx="466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动手项目</a:t>
            </a:r>
            <a:r>
              <a:rPr lang="en-US" sz="975">
                <a:solidFill>
                  <a:srgbClr val="6B9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加练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553200" y="5105400"/>
            <a:ext cx="466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投票分析器测试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11.1–11.3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，再给单元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7/8/9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的代码补测试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609600" y="5772150"/>
            <a:ext cx="10972800" cy="533400"/>
          </a:xfrm>
          <a:prstGeom prst="roundRect">
            <a:avLst>
              <a:gd name="adj" fmla="val 17857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838200" y="5943600"/>
            <a:ext cx="32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8B36A"/>
                </a:solidFill>
                <a:latin typeface="Microsoft YaHei"/>
                <a:ea typeface="Microsoft YaHei"/>
              </a:rPr>
              <a:t>产出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314450" y="5943600"/>
            <a:ext cx="4857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一个能存到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JSON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的学习笔记程序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一个至少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条测试的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10 / 23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3" name="" descr="&lt;Slide style={{&#13;&#10;    width: '1280px', height: '720px', backgroundColor: '#16232E',&#13;&#10;    padding: 0, position: 'relative', overflow: 'hidden',&#13;&#10;}}&gt;&#13;&#10;    &lt;Box style={{ position: 'absolute', left: 0, top: 0, width: '1280px', height: '720px', background: 'linear-gradient(135deg, #16232E 0%, #1F5FA8 100%)', opacity: 0.9 }} /&gt;&#13;&#10;    &lt;Box style={{ position: 'absolute', left: 0, top: 560, width: '1280px', height: '160px', background: '#0B1620', opacity: 0.5 }} /&gt;&#13;&#10;&#13;&#10;    &lt;Box style={{ position: 'absolute', left: 120, top: 150, width: '520px', flexDirection: 'column', gap: 20 }}&gt;&#13;&#10;        &lt;Text style={{ fontSize: 190, fontWeight: 'bold', color: '#E08A15', lineHeight: 0.85 }}&gt;11&lt;/Text&gt;&#13;&#10;        &lt;Box style={{ width: 120, height: 6, background: '#FFFFFF' }} /&gt;&#13;&#10;        &lt;Text style={{ fontSize: 42, fontWeight: 'bold', color: '#FFFFFF', lineHeight: 1.3 }}&gt;&#13;&#10;            总复习&lt;br /&gt;+ 关卡验收&#13;&#10;        &lt;/Text&gt;&#13;&#10;    &lt;/Box&gt;&#13;&#10;&#13;&#10;    &lt;Box style={{ position: 'absolute', left: 720, top: 150, width: '440px', flexDirection: 'column', gap: 18 }}&gt;&#13;&#10;        &lt;Box style={{ background: 'rgba(255,255,255,0.10)', borderRadius: 12, padding: '20px 22px', flexDirection: 'column', gap: 8 }}&gt;&#13;&#10;            &lt;Text style={{ fontSize: 20, fontWeight: 'bold', color: '#FFFFFF' }}&gt;课 1 · 串讲&lt;/Text&gt;&#13;&#10;            &lt;Text style={{ fontSize: 16, color: '#C9DEEE', lineHeight: 1.7 }}&gt;&#13;&#10;                画一张从变量到类的知识图谱，把 11 章串成一条线。&#13;&#10;                集中复盘最容易错的十处：缩进、索引、sort、传参、self、super、with、encoding。&#13;&#10;            &lt;/Text&gt;&#13;&#10;        &lt;/Box&gt;&#13;&#10;&#13;&#10;        &lt;Box style={{ background: 'rgba(255,255,255,0.10)', borderRadius: 12, padding: '20px 22px', flexDirection: 'column', gap: 8 }}&gt;&#13;&#10;            &lt;Text style={{ fontSize: 20, fontWeight: 'bold', color: '#FFFFFF' }}&gt;课 2 · 需求拆解示范&lt;/Text&gt;&#13;&#10;            &lt;Text style={{ fontSize: 16, color: '#C9DEEE', lineHeight: 1.7 }}&gt;&#13;&#10;                教师当众把一个模糊需求拆成步骤清单，再拆成函数。&#13;&#10;                学员看完整过程，这一步是给阶段 2 的大项目做预演。&#13;&#10;            &lt;/Text&gt;&#13;&#10;        &lt;/Box&gt;&#13;&#10;&#13;&#10;        &lt;Box style={{ background: '#E08A15', borderRadius: 12, padding: '20px 22px', flexDirection: 'column', gap: 8 }}&gt;&#13;&#10;            &lt;Text style={{ fontSize: 20, fontWeight: 'bold', color: '#FFFFFF' }}&gt;课 3 · 关卡 1 现场测评&lt;/Text&gt;&#13;&#10;            &lt;Text style={{ fontSize: 16, color: '#FDF0DC', lineHeight: 1.7 }}&gt;&#13;&#10;                限时 2 小时，四项任务当场完成。&#13;&#10;                不查资料，测的是能不能独立写，不是记不记得住。&#13;&#10;            &lt;/Text&gt;&#13;&#10;        &lt;/Box&gt;&#13;&#10;    &lt;/Box&gt;&#13;&#10;&#13;&#10;    &lt;Box style={{ position: 'absolute', left: 120, bottom: 60, width: '1040px', flexDirection: 'row', justifyContent: 'space-between', alignItems: 'center' }}&gt;&#13;&#10;        &lt;Text style={{ fontSize: 15, color: '#8FB4D8' }}&gt;教材第 1–11 章全部结束 · 约 40 小时 · 52 道练习题&lt;/Text&gt;&#13;&#10;        &lt;Text style={{ fontSize: 14, color: '#8FB4D8' }}&gt;1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>
                  <a:alpha val="90000"/>
                </a:srgbClr>
              </a:gs>
              <a:gs pos="100000">
                <a:srgbClr val="1F5FA8">
                  <a:alpha val="90000"/>
                </a:srgbClr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0" y="5334000"/>
            <a:ext cx="12192000" cy="1524000"/>
          </a:xfrm>
          <a:prstGeom prst="rect">
            <a:avLst/>
          </a:prstGeom>
          <a:solidFill>
            <a:srgbClr val="0B1620">
              <a:alpha val="50000"/>
            </a:srgbClr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43000" y="1428750"/>
            <a:ext cx="4953000" cy="1847850"/>
          </a:xfrm>
          <a:prstGeom prst="rect"/>
        </p:spPr>
        <p:txBody>
          <a:bodyPr wrap="none" lIns="0" tIns="0" rIns="0" bIns="0"/>
          <a:p>
            <a:pPr>
              <a:lnSpc>
                <a:spcPct val="85000"/>
              </a:lnSpc>
            </a:pPr>
            <a:r>
              <a:rPr lang="en-US" sz="14250" b="1">
                <a:solidFill>
                  <a:srgbClr val="E08A15"/>
                </a:solidFill>
                <a:latin typeface="Microsoft YaHei"/>
                <a:ea typeface="Microsoft YaHei"/>
              </a:rPr>
              <a:t>11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1143000" y="3467100"/>
            <a:ext cx="1143000" cy="57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143000" y="3714750"/>
            <a:ext cx="49530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endParaRPr/>
          </a:p>
          <a:p>
            <a:pPr>
              <a:lnSpc>
                <a:spcPct val="130000"/>
              </a:lnSpc>
            </a:pPr>
            <a:r>
              <a:rPr lang="en-US" sz="31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+ </a:t>
            </a: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858000" y="1428750"/>
            <a:ext cx="4191000" cy="1619250"/>
          </a:xfrm>
          <a:prstGeom prst="roundRect">
            <a:avLst>
              <a:gd name="adj" fmla="val 705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067550" y="16192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串讲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067550" y="1924050"/>
            <a:ext cx="37719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画一张从变量到类的知识图谱，把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章串成一条线。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集中复盘最容易错的十处：缩进、索引、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sort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、传参、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self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super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with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>encoding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0" y="32194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067550" y="34099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需求拆解示范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067550" y="37147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教师当众把一个模糊需求拆成步骤清单，再拆成函数。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学员看完整过程，这一步是给阶段</a:t>
            </a:r>
            <a:r>
              <a:rPr lang="en-US" sz="1200">
                <a:solidFill>
                  <a:srgbClr val="C9DEE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C9DEEE"/>
                </a:solidFill>
                <a:latin typeface="Microsoft YaHei"/>
                <a:ea typeface="Microsoft YaHei"/>
              </a:rPr>
              <a:t>的大项目做预演。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0" y="4705350"/>
            <a:ext cx="4191000" cy="1314450"/>
          </a:xfrm>
          <a:prstGeom prst="roundRect">
            <a:avLst>
              <a:gd name="adj" fmla="val 8696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7067550" y="4895850"/>
            <a:ext cx="3771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课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7067550" y="5200650"/>
            <a:ext cx="3771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限时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小时，四项任务当场完成。</a:t>
            </a:r>
            <a:r>
              <a:rPr lang="en-US" sz="1200">
                <a:solidFill>
                  <a:srgbClr val="FDF0DC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FDF0DC"/>
                </a:solidFill>
                <a:latin typeface="Microsoft YaHei"/>
                <a:ea typeface="Microsoft YaHei"/>
              </a:rPr>
              <a:t>不查资料，测的是能不能独立写，不是记不记得住。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43000" y="6115050"/>
            <a:ext cx="3257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教材第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1–11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章全部结束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约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小时</a:t>
            </a:r>
            <a:r>
              <a:rPr lang="en-US" sz="1125">
                <a:solidFill>
                  <a:srgbClr val="8FB4D8"/>
                </a:solidFill>
                <a:latin typeface="Microsoft YaHei"/>
                <a:ea typeface="Microsoft YaHei"/>
              </a:rPr>
              <a:t xml:space="preserve"> · 52 </a:t>
            </a:r>
            <a:r>
              <a:rPr lang="zh-CN" sz="1125">
                <a:solidFill>
                  <a:srgbClr val="8FB4D8"/>
                </a:solidFill>
                <a:latin typeface="Microsoft YaHei"/>
                <a:ea typeface="Microsoft YaHei"/>
              </a:rPr>
              <a:t>道练习题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0591800" y="61245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FB4D8"/>
                </a:solidFill>
                <a:latin typeface="Microsoft YaHei"/>
                <a:ea typeface="Microsoft YaHei"/>
              </a:rPr>
              <a:t>11 / 23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1" name="" descr="&lt;Slide style={{&#13;&#10;    width: '1280px', height: '720px', backgroundColor: '#FAFCFE',&#13;&#10;    padding: 0, position: 'relative', overflow: 'hidden',&#13;&#10;}}&gt;&#13;&#10;    &lt;Box style={{ position: 'absolute', left: 64, top: 36, width: '1152px', flexDirection: 'column' }}&gt;&#13;&#10;        &lt;Box style={{ flexDirection: 'row', alignItems: 'center', gap: 16 }}&gt;&#13;&#10;            &lt;Box style={{ background: '#E08A15', borderRadius: 6, padding: '6px 16px' }}&gt;&#13;&#10;                &lt;Text style={{ fontSize: 15, fontWeight: 'bold', color: '#FFFFFF', letterSpacing: 2 }}&gt;关卡 1&lt;/Text&gt;&#13;&#10;            &lt;/Box&gt;&#13;&#10;            &lt;Text style={{ fontSize: 34, fontWeight: 'bold', color: '#16232E' }}&gt;四项全部达标，才准进入阶段 2&lt;/Text&gt;&#13;&#10;        &lt;/Box&gt;&#13;&#10;        &lt;Text style={{ fontSize: 17, color: '#5A6B7A', marginTop: 8 }}&gt;&#13;&#10;            限时 2 小时、不查资料、当场完成。测的不是记忆力，是能不能独立动手。&#13;&#10;        &lt;/Text&gt;&#13;&#10;    &lt;/Box&gt;&#13;&#10;&#13;&#10;    &lt;Box style={{ position: 'absolute', left: 64, top: 148, width: '1152px', height: 396, flexDirection: 'row', gap: 14 }}&gt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1&lt;/Text&gt;&#13;&#10;            &lt;Text style={{ fontSize: 19, fontWeight: 'bold', color: '#16232E' }}&gt;手写猜数字游戏&lt;/Text&gt;&#13;&#10;            &lt;Box style={{ flex: 1, flexDirection: 'column', gap: 8, marginTop: 2 }}&gt;&#13;&#10;                &lt;Text style={{ fontSize: 15, color: '#5A6B7A', lineHeight: 1.65 }}&gt;&#13;&#10;                    10 分钟内不查资料写出完整程序。&#13;&#10;                &lt;/Text&gt;&#13;&#10;                &lt;Text style={{ fontSize: 15, color: '#5A6B7A', lineHeight: 1.65 }}&gt;&#13;&#10;                    必须用到 while 循环、input()、if 判断、随机数。&#13;&#10;                &lt;/Text&gt;&#13;&#10;                &lt;Text style={{ fontSize: 15, color: '#5A6B7A', lineHeight: 1.65 }}&gt;&#13;&#10;                    输入非数字不能崩溃，要有处理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循环 + 输入校验&lt;/Text&gt;&#13;&#10;            &lt;/Box&gt;&#13;&#10;        &lt;/Box&gt;&#13;&#10;&#13;&#10;        &lt;Box style={{&#13;&#10;            flex: 1, background: '#FFFFFF', border: '1px solid #D8E3EE', borderTop: '5px solid #1F5FA8',&#13;&#10;            borderRadius: 12, padding: 22, flexDirection: 'column', gap: 12,&#13;&#10;        }}&gt;&#13;&#10;            &lt;Text style={{ fontSize: 62, fontWeight: 'bold', color: '#1F5FA8', lineHeight: 1 }}&gt;2&lt;/Text&gt;&#13;&#10;            &lt;Text style={{ fontSize: 19, fontWeight: 'bold', color: '#16232E' }}&gt;手写一个类&lt;/Text&gt;&#13;&#10;            &lt;Box style={{ flex: 1, flexDirection: 'column', gap: 8, marginTop: 2 }}&gt;&#13;&#10;                &lt;Text style={{ fontSize: 15, color: '#5A6B7A', lineHeight: 1.65 }}&gt;&#13;&#10;                    含 __init__、至少两个实例方法、一个子类。&#13;&#10;                &lt;/Text&gt;&#13;&#10;                &lt;Text style={{ fontSize: 15, color: '#5A6B7A', lineHeight: 1.65 }}&gt;&#13;&#10;                    子类要重写父类的方法。&#13;&#10;                &lt;/Text&gt;&#13;&#10;                &lt;Text style={{ fontSize: 15, color: '#5A6B7A', lineHeight: 1.65 }}&gt;&#13;&#10;                    能口述 self 指向什么才算过。&#13;&#10;                &lt;/Text&gt;&#13;&#10;            &lt;/Box&gt;&#13;&#10;            &lt;Box style={{ background: '#EEF5FB', borderRadius: 6, padding: '8px 12px', marginTop: 'auto' }}&gt;&#13;&#10;                &lt;Text style={{ fontSize: 14, color: '#1F5FA8', fontWeight: 'bold' }}&gt;考：面向对象建模&lt;/Text&gt;&#13;&#10;            &lt;/Box&gt;&#13;&#10;        &lt;/Box&gt;&#13;&#10;&#13;&#10;        &lt;Box style={{&#13;&#10;            flex: 1, background: '#FFFFFF', border: '1px solid #D8E3EE', borderTop: '5px solid #0E9B78',&#13;&#10;            borderRadius: 12, padding: 22, flexDirection: 'column', gap: 12,&#13;&#10;        }}&gt;&#13;&#10;            &lt;Text style={{ fontSize: 62, fontWeight: 'bold', color: '#0E9B78', lineHeight: 1 }}&gt;3&lt;/Text&gt;&#13;&#10;            &lt;Text style={{ fontSize: 19, fontWeight: 'bold', color: '#16232E' }}&gt;写 pytest 测试&lt;/Text&gt;&#13;&#10;            &lt;Box style={{ flex: 1, flexDirection: 'column', gap: 8, marginTop: 2 }}&gt;&#13;&#10;                &lt;Text style={{ fontSize: 15, color: '#5A6B7A', lineHeight: 1.65 }}&gt;&#13;&#10;                    给单元 7 写过的任意一个函数写 3 条测试。&#13;&#10;                &lt;/Text&gt;&#13;&#10;                &lt;Text style={{ fontSize: 15, color: '#5A6B7A', lineHeight: 1.65 }}&gt;&#13;&#10;                    包含一条正常输入、一条边界、一条异常。&#13;&#10;                &lt;/Text&gt;&#13;&#10;                &lt;Text style={{ fontSize: 15, color: '#5A6B7A', lineHeight: 1.65 }}&gt;&#13;&#10;                    pytest 运行全部通过。&#13;&#10;                &lt;/Text&gt;&#13;&#10;            &lt;/Box&gt;&#13;&#10;            &lt;Box style={{ background: '#E8F7F1', borderRadius: 6, padding: '8px 12px', marginTop: 'auto' }}&gt;&#13;&#10;                &lt;Text style={{ fontSize: 14, color: '#0A7A5F', fontWeight: 'bold' }}&gt;考：工程习惯&lt;/Text&gt;&#13;&#10;            &lt;/Box&gt;&#13;&#10;        &lt;/Box&gt;&#13;&#10;&#13;&#10;        &lt;Box style={{&#13;&#10;            flex: 1, background: '#FFFFFF', border: '1px solid #D8E3EE', borderTop: '5px solid #E08A15',&#13;&#10;            borderRadius: 12, padding: 22, flexDirection: 'column', gap: 12,&#13;&#10;        }}&gt;&#13;&#10;            &lt;Text style={{ fontSize: 62, fontWeight: 'bold', color: '#E08A15', lineHeight: 1 }}&gt;4&lt;/Text&gt;&#13;&#10;            &lt;Text style={{ fontSize: 19, fontWeight: 'bold', color: '#16232E' }}&gt;排错能力&lt;/Text&gt;&#13;&#10;            &lt;Box style={{ flex: 1, flexDirection: 'column', gap: 8, marginTop: 2 }}&gt;&#13;&#10;                &lt;Text style={{ fontSize: 15, color: '#5A6B7A', lineHeight: 1.65 }}&gt;&#13;&#10;                    给一段 30 行、含 3 个 bug 的脚本。&#13;&#10;                &lt;/Text&gt;&#13;&#10;                &lt;Text style={{ fontSize: 15, color: '#5A6B7A', lineHeight: 1.65 }}&gt;&#13;&#10;                    分别修复缩进错误、变量名错误、逻辑错误。&#13;&#10;                &lt;/Text&gt;&#13;&#10;                &lt;Text style={{ fontSize: 15, color: '#5A6B7A', lineHeight: 1.65 }}&gt;&#13;&#10;                    要求能读懂 traceback 定位到行。&#13;&#10;                &lt;/Text&gt;&#13;&#10;            &lt;/Box&gt;&#13;&#10;            &lt;Box style={{ background: '#FDF3E2', borderRadius: 6, padding: '8px 12px', marginTop: 'auto' }}&gt;&#13;&#10;                &lt;Text style={{ fontSize: 14, color: '#8A5A08', fontWeight: 'bold' }}&gt;考：读报错的能力&lt;/Text&gt;&#13;&#10;            &lt;/Box&gt;&#13;&#10;        &lt;/Box&gt;&#13;&#10;    &lt;/Box&gt;&#13;&#10;&#13;&#10;    &lt;Box style={{&#13;&#10;        position: 'absolute', left: 64, top: 564, width: '1152px', height: 100,&#13;&#10;        background: '#16232E', borderRadius: 12, flexDirection: 'row',&#13;&#10;        alignItems: 'center', padding: '0 28px', gap: 22,&#13;&#10;    }}&gt;&#13;&#10;        &lt;Text style={{ fontSize: 52, fontWeight: 'bold', color: '#E08A15', lineHeight: 1 }}&gt;4/4&lt;/Text&gt;&#13;&#10;        &lt;Box style={{ width: 2, height: 56, background: '#3A5064' }} /&gt;&#13;&#10;        &lt;Text style={{ fontSize: 17, color: '#D6E4F0', lineHeight: 1.65 }}&gt;&#13;&#10;            四项全部达标 = 你已经能独立写代码了，准予进入阶段 2（pygame → 数据可视化 → Django）。&lt;br /&gt;&#13;&#10;            任何一项不达标：只补那一项，一周内重测，不要整体重学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2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3" name=""/>
          <p:cNvSpPr/>
          <p:nvPr/>
        </p:nvSpPr>
        <p:spPr>
          <a:xfrm rot="0" flipH="0" flipV="0">
            <a:off x="609600" y="400050"/>
            <a:ext cx="800100" cy="285750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762000" y="457200"/>
            <a:ext cx="49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125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562100" y="342900"/>
            <a:ext cx="4514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四项全部达标，才准进入阶段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限时</a:t>
            </a:r>
            <a:r>
              <a:rPr lang="en-US" sz="127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>
                <a:solidFill>
                  <a:srgbClr val="5A6B7A"/>
                </a:solidFill>
                <a:latin typeface="Microsoft YaHei"/>
                <a:ea typeface="Microsoft YaHei"/>
              </a:rPr>
              <a:t>小时、不查资料、当场完成。测的不是记忆力，是能不能独立动手。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09600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609600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819150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19150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手写猜数字游戏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19150" y="28479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分钟内不查资料写出完整程序。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819150" y="320992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必须用到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循环、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input()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if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判断、随机数。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19150" y="385762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输入非数字不能崩溃，要有处理。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819150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33450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考：循环</a:t>
            </a:r>
            <a:r>
              <a:rPr lang="en-US" sz="105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输入校验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390900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3390900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00450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1F5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3600450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手写一个类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00450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__init__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、至少两个实例方法、一个子类。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600450" y="34956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子类要重写父类的方法。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3600450" y="385762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能口述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self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指向什么才算过。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3600450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714750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1F5FA8"/>
                </a:solidFill>
                <a:latin typeface="Microsoft YaHei"/>
                <a:ea typeface="Microsoft YaHei"/>
              </a:rPr>
              <a:t>考：面向对象建模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162675" y="1457325"/>
            <a:ext cx="2647950" cy="377190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162675" y="1457325"/>
            <a:ext cx="2647950" cy="3771900"/>
          </a:xfrm>
          <a:custGeom>
            <a:pathLst>
              <a:path w="278" h="396">
                <a:moveTo>
                  <a:pt x="267" y="0"/>
                </a:moveTo>
                <a:cubicBezTo>
                  <a:pt x="272" y="0"/>
                  <a:pt x="277" y="4"/>
                  <a:pt x="278" y="10"/>
                </a:cubicBezTo>
                <a:cubicBezTo>
                  <a:pt x="277" y="7"/>
                  <a:pt x="274" y="5"/>
                  <a:pt x="271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6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6372225" y="1666875"/>
            <a:ext cx="2228850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0E9B7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6372225" y="2495550"/>
            <a:ext cx="2228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写</a:t>
            </a:r>
            <a:r>
              <a:rPr lang="en-US" sz="1425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6372225" y="28479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写过的任意一个函数写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条测试。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372225" y="3495675"/>
            <a:ext cx="2228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包含一条正常输入、一条边界、一条异常。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6372225" y="4143375"/>
            <a:ext cx="22288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运行全部通过。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6372225" y="4657725"/>
            <a:ext cx="2228850" cy="314325"/>
          </a:xfrm>
          <a:prstGeom prst="roundRect">
            <a:avLst>
              <a:gd name="adj" fmla="val 18182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6486525" y="4733925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A7A5F"/>
                </a:solidFill>
                <a:latin typeface="Microsoft YaHei"/>
                <a:ea typeface="Microsoft YaHei"/>
              </a:rPr>
              <a:t>考：工程习惯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8943975" y="1457325"/>
            <a:ext cx="2638425" cy="3771900"/>
          </a:xfrm>
          <a:prstGeom prst="roundRect">
            <a:avLst>
              <a:gd name="adj" fmla="val 433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5" name=""/>
          <p:cNvSpPr/>
          <p:nvPr/>
        </p:nvSpPr>
        <p:spPr>
          <a:xfrm rot="0" flipH="0" flipV="0">
            <a:off x="8943975" y="1457325"/>
            <a:ext cx="2638425" cy="3771900"/>
          </a:xfrm>
          <a:custGeom>
            <a:pathLst>
              <a:path w="277" h="396">
                <a:moveTo>
                  <a:pt x="266" y="0"/>
                </a:moveTo>
                <a:cubicBezTo>
                  <a:pt x="271" y="0"/>
                  <a:pt x="276" y="4"/>
                  <a:pt x="277" y="10"/>
                </a:cubicBezTo>
                <a:cubicBezTo>
                  <a:pt x="276" y="7"/>
                  <a:pt x="273" y="5"/>
                  <a:pt x="270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65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9153525" y="1666875"/>
            <a:ext cx="22193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E08A15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9153525" y="2495550"/>
            <a:ext cx="2219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6232E"/>
                </a:solidFill>
                <a:latin typeface="Microsoft YaHei"/>
                <a:ea typeface="Microsoft YaHei"/>
              </a:rPr>
              <a:t>排错能力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9153525" y="28479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给一段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行、含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个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的脚本。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9153525" y="3495675"/>
            <a:ext cx="22193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分别修复缩进错误、变量名错误、逻辑错误。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9153525" y="4143375"/>
            <a:ext cx="22193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要求能读懂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traceback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定位到行。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9153525" y="4657725"/>
            <a:ext cx="2219325" cy="314325"/>
          </a:xfrm>
          <a:prstGeom prst="roundRect">
            <a:avLst>
              <a:gd name="adj" fmla="val 1818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267825" y="4733925"/>
            <a:ext cx="1990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8A5A08"/>
                </a:solidFill>
                <a:latin typeface="Microsoft YaHei"/>
                <a:ea typeface="Microsoft YaHei"/>
              </a:rPr>
              <a:t>考：读报错的能力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09600" y="5372100"/>
            <a:ext cx="10972800" cy="952500"/>
          </a:xfrm>
          <a:prstGeom prst="roundRect">
            <a:avLst>
              <a:gd name="adj" fmla="val 12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76300" y="5553075"/>
            <a:ext cx="847725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900" b="1">
                <a:solidFill>
                  <a:srgbClr val="E08A15"/>
                </a:solidFill>
                <a:latin typeface="Microsoft YaHei"/>
                <a:ea typeface="Microsoft YaHei"/>
              </a:rPr>
              <a:t>4/4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1933575" y="5581650"/>
            <a:ext cx="19050" cy="533400"/>
          </a:xfrm>
          <a:prstGeom prst="rect">
            <a:avLst/>
          </a:prstGeom>
          <a:solidFill>
            <a:srgbClr val="3A5064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2162175" y="5524500"/>
            <a:ext cx="7086600" cy="6477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四项全部达标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你已经能独立写代码了，准予进入阶段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（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pygame → 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数据可视化</a:t>
            </a:r>
            <a:r>
              <a:rPr lang="en-US" sz="1275">
                <a:solidFill>
                  <a:srgbClr val="D6E4F0"/>
                </a:solidFill>
                <a:latin typeface="Microsoft YaHei"/>
                <a:ea typeface="Microsoft YaHei"/>
              </a:rPr>
              <a:t xml:space="preserve"> → Django</a:t>
            </a: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）。</a:t>
            </a:r>
            <a:endParaRPr/>
          </a:p>
          <a:p>
            <a:pPr>
              <a:lnSpc>
                <a:spcPct val="165000"/>
              </a:lnSpc>
            </a:pPr>
            <a:r>
              <a:rPr lang="zh-CN" sz="1275">
                <a:solidFill>
                  <a:srgbClr val="D6E4F0"/>
                </a:solidFill>
                <a:latin typeface="Microsoft YaHei"/>
                <a:ea typeface="Microsoft YaHei"/>
              </a:rPr>
              <a:t>任何一项不达标：只补那一项，一周内重测，不要整体重学。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12 / 23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 background: '#FAFCFE' }} /&gt;&#13;&#10;    &lt;Box style={{ position: 'absolute', left: 0, top: 0, width: '12px', height: '720px', background: '#0E9B78' }} /&gt;&#13;&#10;&#13;&#10;    &lt;Box style={{ position: 'absolute', left: 96, top: 76, width: '1090px', flexDirection: 'column' }}&gt;&#13;&#10;        &lt;Box style={{&#13;&#10;            alignSelf: 'flex-start', background: '#0E9B78', borderRadius: 6,&#13;&#10;            padding: '6px 16px', marginBottom: 22,&#13;&#10;        }}&gt;&#13;&#10;            &lt;Text style={{ fontSize: 16, fontWeight: 'bold', color: '#FFFFFF', letterSpacing: 2 }}&gt;&#13;&#10;                阶段 2 · 项目实践&#13;&#10;            &lt;/Text&gt;&#13;&#10;        &lt;/Box&gt;&#13;&#10;&#13;&#10;        &lt;Text style={{ fontSize: 62, fontWeight: 'bold', color: '#16232E', lineHeight: 1.2 }}&gt;&#13;&#10;            从「能写」到「能交付」&#13;&#10;        &lt;/Text&gt;&#13;&#10;&#13;&#10;        &lt;Box style={{ width: 160, height: 6, background: '#0E9B78', marginTop: 22, marginBottom: 26 }} /&gt;&#13;&#10;&#13;&#10;        &lt;Text style={{ fontSize: 23, color: '#3A4A58', lineHeight: 1.7, width: '1040px' }}&gt;&#13;&#10;            阶段 1 的产出是一个能跑的程序；阶段 2 的产出是一个别人能接手、能长期改的项目。&#13;&#10;            这两个之间的距离，不是多学几个 API 就能跨过去的。&#13;&#10;        &lt;/Text&gt;&#13;&#10;    &lt;/Box&gt;&#13;&#10;&#13;&#10;    &lt;Box style={{ position: 'absolute', left: 96, top: 424, width: '1090px', height: 196, flexDirection: 'row', gap: 18 }}&gt;&#13;&#10;        &lt;Box style={{ flex: 1, background: '#FFFFFF', border: '1px solid #D8E3EE', borderRadius: 12, padding: 20, flexDirection: 'column', gap: 8 }}&gt;&#13;&#10;            &lt;Text style={{ fontSize: 17, fontWeight: 'bold', color: '#1F5FA8' }}&gt;阶段 1 你练的是&lt;/Text&gt;&#13;&#10;            &lt;Text style={{ fontSize: 15, color: '#5A6B7A', lineHeight: 1.75 }}&gt;&#13;&#10;                单个文件、百行以内&lt;br /&gt;&#13;&#10;                自己一个人看代码&lt;br /&gt;&#13;&#10;                「跑出结果」就算完成&lt;br /&gt;&#13;&#10;                报错了就查、改完再跑&#13;&#10;            &lt;/Text&gt;&#13;&#10;        &lt;/Box&gt;&#13;&#10;        &lt;Box style={{ flex: 1, background: '#FFFFFF', border: '1px solid #D8E3EE', borderRadius: 12, padding: 20, flexDirection: 'column', gap: 8 }}&gt;&#13;&#10;            &lt;Text style={{ fontSize: 17, fontWeight: 'bold', color: '#0E9B78' }}&gt;阶段 2 要练的是&lt;/Text&gt;&#13;&#10;            &lt;Text style={{ fontSize: 15, color: '#3A4A58', lineHeight: 1.75 }}&gt;&#13;&#10;                多文件项目、上千行&lt;br /&gt;&#13;&#10;                写给别人看（README）&lt;br /&gt;&#13;&#10;                「能交付、能部署」才算完成&lt;br /&gt;&#13;&#10;                改错要能回滚、要有测试兜底&#13;&#10;            &lt;/Text&gt;&#13;&#10;        &lt;/Box&gt;&#13;&#10;        &lt;Box style={{ flex: 1, background: '#FDF3E2', borderRadius: 12, padding: 20, flexDirection: 'column', gap: 8 }}&gt;&#13;&#10;            &lt;Text style={{ fontSize: 17, fontWeight: 'bold', color: '#E08A15' }}&gt;唯一的办法&lt;/Text&gt;&#13;&#10;            &lt;Text style={{ fontSize: 15, color: '#3A4A58', lineHeight: 1.75 }}&gt;&#13;&#10;                真做三个项目&lt;br /&gt;&#13;&#10;                每个都走完整流程&lt;br /&gt;&#13;&#10;                每个都推到公开仓库&lt;br /&gt;&#13;&#10;                最后一个必须真的上线&#13;&#10;            &lt;/Text&gt;&#13;&#10;        &lt;/Box&gt;&#13;&#10;    &lt;/Box&gt;&#13;&#10;&#13;&#10;    &lt;Box style={{ position: 'absolute', left: 96, bottom: 30, width: '1090px', flexDirection: 'row', justifyContent: 'space-between' }}&gt;&#13;&#10;        &lt;Text style={{ fontSize: 14, color: '#8A9AAA' }}&gt;Python 阶段 0–2 课程大纲&lt;/Text&gt;&#13;&#10;        &lt;Text style={{ fontSize: 14, color: '#8A9AAA' }}&gt;1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/>
          <p:cNvSpPr/>
          <p:nvPr/>
        </p:nvSpPr>
        <p:spPr>
          <a:xfrm rot="0" flipH="0" flipV="0">
            <a:off x="914400" y="723900"/>
            <a:ext cx="1733550" cy="304800"/>
          </a:xfrm>
          <a:prstGeom prst="roundRect">
            <a:avLst>
              <a:gd name="adj" fmla="val 1875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66800" y="781050"/>
            <a:ext cx="1428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项目实践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1238250"/>
            <a:ext cx="10382250" cy="8572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4650" b="1">
                <a:solidFill>
                  <a:srgbClr val="16232E"/>
                </a:solidFill>
                <a:latin typeface="Microsoft YaHei"/>
                <a:ea typeface="Microsoft YaHei"/>
              </a:rPr>
              <a:t>从「能写」到「能交付」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4400" y="2305050"/>
            <a:ext cx="1524000" cy="5715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4400" y="2609850"/>
            <a:ext cx="99060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的产出是一个能跑的程序；阶段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的产出是一个别人能接手、能长期改的项目。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这两个之间的距离，不是多学几个</a:t>
            </a:r>
            <a:r>
              <a:rPr lang="en-US" sz="1725">
                <a:solidFill>
                  <a:srgbClr val="3A4A5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725">
                <a:solidFill>
                  <a:srgbClr val="3A4A58"/>
                </a:solidFill>
                <a:latin typeface="Microsoft YaHei"/>
                <a:ea typeface="Microsoft YaHei"/>
              </a:rPr>
              <a:t>就能跨过去的。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914400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1104900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你练的是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04900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单个文件、百行以内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自己一个人看代码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「跑出结果」就算完成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报错了就查、改完再跑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4429125" y="4038600"/>
            <a:ext cx="33528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19625" y="4229100"/>
            <a:ext cx="297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0E9B7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0E9B78"/>
                </a:solidFill>
                <a:latin typeface="Microsoft YaHei"/>
                <a:ea typeface="Microsoft YaHei"/>
              </a:rPr>
              <a:t>要练的是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19625" y="4505325"/>
            <a:ext cx="2971800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多文件项目、上千行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写给别人看（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>README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「能交付、能部署」才算完成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改错要能回滚、要有测试兜底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7953375" y="4038600"/>
            <a:ext cx="3343275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143875" y="4229100"/>
            <a:ext cx="2962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唯一的办法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8143875" y="4505325"/>
            <a:ext cx="2962275" cy="12001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真做三个项目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每个都走完整流程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每个都推到公开仓库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最后一个必须真的上线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64103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0839450" y="64103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13 / 23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3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0E9B78', borderRadius: 5, padding: '4px 12px' }}&gt;&#13;&#10;                &lt;Text style={{ fontSize: 14, fontWeight: 'bold', color: '#FFFFFF' }}&gt;项目一&lt;/Text&gt;&#13;&#10;            &lt;/Box&gt;&#13;&#10;            &lt;Text style={{ fontSize: 36, fontWeight: 'bold', color: '#16232E' }}&gt;外星人入侵 · 单元 12–14&lt;/Text&gt;&#13;&#10;        &lt;/Box&gt;&#13;&#10;        &lt;Text style={{ fontSize: 18, color: '#5A6B7A' }}&gt;&#13;&#10;            教材第 12–14 章 · 5 周 · 你写的第一个多文件、带状态、有输赢的完整程序&#13;&#10;        &lt;/Text&gt;&#13;&#10;    &lt;/Box&gt;&#13;&#10;&#13;&#10;    &lt;Box style={{ position: 'absolute', left: 64, top: 140, width: '1152px', height: 300 }}&gt;&#13;&#10;        &lt;svg width='1152' height='300' viewBox='0 0 1152 300'&gt;&#13;&#10;            &lt;text fontFamily='Microsoft YaHei' x='0' y='18' fontSize='15' fontWeight='bold' fill='#16232E'&gt;程序结构：四个文件，各管一件事&lt;/text&gt;&#13;&#10;&#13;&#10;            &lt;rect x='0' y='34' width='212' height='96' rx='10' fill='#1F5FA8' /&gt;&#13;&#10;            &lt;text x='106' y='66' fontSize='16' fontWeight='bold' fill='#FFFFFF' textAnchor='middle' fontFamily='Inter'&gt;alien_invasion.py&lt;/text&gt;&#13;&#10;            &lt;text fontFamily='Microsoft YaHei' x='106' y='90' fontSize='12.5' fill='#CFE2F5' textAnchor='middle'&gt;主循环 · 事件的入口&lt;/text&gt;&#13;&#10;            &lt;text fontFamily='Microsoft YaHei' x='106' y='112' fontSize='12.5' fill='#CFE2F5' textAnchor='middle'&gt;监听 → 更新 → 绘制 → 锁帧&lt;/text&gt;&#13;&#10;&#13;&#10;            &lt;rect x='238' y='34' width='212' height='96' rx='10' fill='#2F7BC8' /&gt;&#13;&#10;            &lt;text x='344' y='66' fontSize='16' fontWeight='bold' fill='#FFFFFF' textAnchor='middle' fontFamily='Inter'&gt;settings.py&lt;/text&gt;&#13;&#10;            &lt;text fontFamily='Microsoft YaHei' x='344' y='90' fontSize='12.5' fill='#EAF3FC' textAnchor='middle'&gt;会变的数值集中管理&lt;/text&gt;&#13;&#10;            &lt;text fontFamily='Microsoft YaHei' x='344' y='112' fontSize='12.5' fill='#EAF3FC' textAnchor='middle'&gt;速度 · 颜色 · 屏幕尺寸&lt;/text&gt;&#13;&#10;&#13;&#10;            &lt;rect x='476' y='34' width='212' height='96' rx='10' fill='#2F7BC8' /&gt;&#13;&#10;            &lt;text x='582' y='66' fontSize='16' fontWeight='bold' fill='#FFFFFF' textAnchor='middle' fontFamily='Inter'&gt;ship.py / bullet.py&lt;/text&gt;&#13;&#10;            &lt;text fontFamily='Microsoft YaHei' x='582' y='90' fontSize='12.5' fill='#EAF3FC' textAnchor='middle'&gt;飞船与子弹（精灵类）&lt;/text&gt;&#13;&#10;            &lt;text x='582' y='112' fontSize='12.5' fill='#EAF3FC' textAnchor='middle' fontFamily='Inter'&gt;image + rect + update&lt;/text&gt;&#13;&#10;&#13;&#10;            &lt;rect x='714' y='34' width='212' height='96' rx='10' fill='#0E9B78' /&gt;&#13;&#10;            &lt;text x='820' y='66' fontSize='16' fontWeight='bold' fill='#FFFFFF' textAnchor='middle' fontFamily='Inter'&gt;alien.py&lt;/text&gt;&#13;&#10;            &lt;text fontFamily='Microsoft YaHei' x='820' y='90' fontSize='12.5' fill='#D7F0E7' textAnchor='middle'&gt;外星人 + 整队移动&lt;/text&gt;&#13;&#10;            &lt;text fontFamily='Microsoft YaHei' x='820' y='112' fontSize='12.5' fill='#D7F0E7' textAnchor='middle'&gt;fleet_direction 方向标志&lt;/text&gt;&#13;&#10;&#13;&#10;            &lt;rect x='950' y='34' width='202' height='96' rx='10' fill='#16232E' /&gt;&#13;&#10;            &lt;text x='1051' y='66' fontSize='16' fontWeight='bold' fill='#FFFFFF' textAnchor='middle' fontFamily='Inter'&gt;game_stats.py&lt;/text&gt;&#13;&#10;            &lt;text fontFamily='Microsoft YaHei' x='1051' y='90' fontSize='12.5' fill='#A8C4DE' textAnchor='middle'&gt;游戏状态与分数&lt;/text&gt;&#13;&#10;            &lt;text x='1051' y='112' fontSize='12.5' fill='#A8C4DE' textAnchor='middle' fontFamily='Inter'&gt;inactive / active / over&lt;/text&gt;&#13;&#10;&#13;&#10;            &lt;text fontFamily='Microsoft YaHei' x='0' y='172' fontSize='15' fontWeight='bold' fill='#16232E'&gt;三节课的学习曲线&lt;/text&gt;&#13;&#10;&#13;&#10;            &lt;path d='M18 210 L 1120 210' stroke='#D8E3EE' strokeWidth='2' fill='none' /&gt;&#13;&#10;&#13;&#10;            &lt;circle cx='120' cy='210' r='13' fill='#1F5FA8' /&gt;&#13;&#10;            &lt;text fontFamily='Microsoft YaHei' x='120' y='250' fontSize='14.5' fontWeight='bold' fill='#1F5FA8' textAnchor='middle'&gt;单元 12&lt;/text&gt;&#13;&#10;            &lt;text fontFamily='Microsoft YaHei' x='120' y='273' fontSize='12.5' fill='#5A6B7A' textAnchor='middle'&gt;窗口 + 飞船能开能停&lt;/text&gt;&#13;&#10;&#13;&#10;            &lt;circle cx='520' cy='210' r='13' fill='#0E9B78' /&gt;&#13;&#10;            &lt;text fontFamily='Microsoft YaHei' x='520' y='250' fontSize='14.5' fontWeight='bold' fill='#0E9B78' textAnchor='middle'&gt;单元 13&lt;/text&gt;&#13;&#10;            &lt;text fontFamily='Microsoft YaHei' x='520' y='273' fontSize='12.5' fill='#5A6B7A' textAnchor='middle'&gt;子弹 + 舰队 + 碰撞 + 胜负&lt;/text&gt;&#13;&#10;&#13;&#10;            &lt;circle cx='920' cy='210' r='13' fill='#E08A15' /&gt;&#13;&#10;            &lt;text fontFamily='Microsoft YaHei' x='920' y='250' fontSize='14.5' fontWeight='bold' fill='#E08A15' textAnchor='middle'&gt;单元 14&lt;/text&gt;&#13;&#10;            &lt;text fontFamily='Microsoft YaHei' x='920' y='273' fontSize='12.5' fill='#5A6B7A' textAnchor='middle'&gt;Play 按钮 + 记分 + 动态难度&lt;/text&gt;&#13;&#10;&#13;&#10;            &lt;path d='M320 210 L 400 210' stroke='#D8E3EE' strokeWidth='2' fill='none' /&gt;&#13;&#10;            &lt;path d='M720 210 L 800 210' stroke='#D8E3EE' strokeWidth='2' fill='none' /&gt;&#13;&#10;        &lt;/svg&gt;&#13;&#10;    &lt;/Box&gt;&#13;&#10;&#13;&#10;    &lt;Box style={{ position: 'absolute', left: 64, top: 456, width: '1152px', height: 192, flexDirection: 'row', gap: 16 }}&gt;&#13;&#10;        &lt;Box style={{ flex: 1.35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事件驱动&lt;/b&gt;：程序不等你，它一直在跑，只在事件发生时响应。&lt;br /&gt;&#13;&#10;                &lt;b&gt;精灵编组 Group&lt;/b&gt;：不是一个一个管对象，而是一批一批管。&lt;br /&gt;&#13;&#10;                &lt;b&gt;遍历时不能删&lt;/b&gt;：必须遍历 .copy()、删原件——和阶段 1「遍历字典不能删键」是同一条红线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编组 ≠ 列表，pop() 行为不同&lt;br /&gt;&#13;&#10;                ② 边缘检测用 == 会漏判&lt;br /&gt;&#13;&#10;                ③ groupcollide 两个 True 设错&lt;br /&gt;&#13;&#10;                &lt;b&gt;这三处讲义里都有「故意写错」的示例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4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项目一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外星人入侵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12–14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12–14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你写的第一个多文件、带状态、有输赢的完整程序</a:t>
            </a:r>
            <a:endParaRPr/>
          </a:p>
        </p:txBody>
      </p:sp>
      <p:pic>
        <p:nvPicPr>
          <p:cNvPr id="1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857500"/>
          </a:xfrm>
          <a:prstGeom prst="rect">
            <a:avLst/>
          </a:prstGeom>
          <a:ln/>
        </p:spPr>
      </p:pic>
      <p:sp>
        <p:nvSpPr>
          <p:cNvPr id="146" name=""/>
          <p:cNvSpPr/>
          <p:nvPr/>
        </p:nvSpPr>
        <p:spPr>
          <a:xfrm rot="0" flipH="0" flipV="0">
            <a:off x="609600" y="4343400"/>
            <a:ext cx="6219825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81050" y="4514850"/>
            <a:ext cx="5876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81050" y="4791075"/>
            <a:ext cx="5876925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事件驱动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：程序不等你，它一直在跑，只在事件发生时响应。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精灵编组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Group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：不是一个一个管对象，而是一批一批管。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遍历时不能删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：必须遍历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.copy()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、删原件——和阶段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「遍历字典不能删键」是同一条红线。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6981825" y="4343400"/>
            <a:ext cx="4600575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153275" y="4514850"/>
            <a:ext cx="4257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153275" y="4791075"/>
            <a:ext cx="4257675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编组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列表，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pop()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行为不同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边缘检测用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==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会漏判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groupcollide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两个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True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设错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这三处讲义里都有「故意写错」的示例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14 / 23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2F7BC8', borderRadius: 5, padding: '4px 12px' }}&gt;&#13;&#10;                &lt;Text style={{ fontSize: 14, fontWeight: 'bold', color: '#FFFFFF' }}&gt;项目二&lt;/Text&gt;&#13;&#10;            &lt;/Box&gt;&#13;&#10;            &lt;Text style={{ fontSize: 36, fontWeight: 'bold', color: '#16232E' }}&gt;数据可视化 · 单元 15–17&lt;/Text&gt;&#13;&#10;        &lt;/Box&gt;&#13;&#10;        &lt;Text style={{ fontSize: 18, color: '#5A6B7A' }}&gt;&#13;&#10;            教材第 15–17 章 · 4 周 · 从「自己造数据」走到「从真实世界取数据并画出来」&#13;&#10;        &lt;/Text&gt;&#13;&#10;    &lt;/Box&gt;&#13;&#10;&#13;&#10;    &lt;Box style={{ position: 'absolute', left: 64, top: 140, width: '1152px', height: 268 }}&gt;&#13;&#10;        &lt;svg width='1152' height='268' viewBox='0 0 1152 268'&gt;&#13;&#10;            &lt;rect x='0' y='0' width='370' height='120' rx='10' fill='#2F7BC8' /&gt;&#13;&#10;            &lt;text fontFamily='Microsoft YaHei' x='20' y='32' fontSize='16' fontWeight='bold' fill='#FFFFFF'&gt;单元 15 · 自己造数据&lt;/text&gt;&#13;&#10;            &lt;text fontFamily='Microsoft YaHei' x='20' y='58' fontSize='13' fill='#EAF3FC'&gt;matplotlib 折线图 / 散点图&lt;/text&gt;&#13;&#10;            &lt;text fontFamily='Microsoft YaHei' x='20' y='80' fontSize='13' fill='#EAF3FC'&gt;随机游走 · Plotly 掷骰子&lt;/text&gt;&#13;&#10;            &lt;text fontFamily='Microsoft YaHei' x='20' y='104' fontSize='12.5' fill='#BFD9F2'&gt;第 15 章&lt;/text&gt;&#13;&#10;&#13;&#10;            &lt;rect x='391' y='0' width='370' height='120' rx='10' fill='#2F7BC8' /&gt;&#13;&#10;            &lt;text fontFamily='Microsoft YaHei' x='411' y='32' fontSize='16' fontWeight='bold' fill='#FFFFFF'&gt;单元 16 · 下载真实数据&lt;/text&gt;&#13;&#10;            &lt;text fontFamily='Microsoft YaHei' x='411' y='58' fontSize='13' fill='#EAF3FC'&gt;CSV 气温图 · GeoJSON 地震散点&lt;/text&gt;&#13;&#10;            &lt;text fontFamily='Microsoft YaHei' x='411' y='80' fontSize='13' fill='#EAF3FC'&gt;datetime · 缺失值 · 地图&lt;/text&gt;&#13;&#10;            &lt;text fontFamily='Microsoft YaHei' x='411' y='104' fontSize='12.5' fill='#BFD9F2'&gt;第 16 章&lt;/text&gt;&#13;&#10;&#13;&#10;            &lt;rect x='782' y='0' width='370' height='120' rx='10' fill='#0E9B78' /&gt;&#13;&#10;            &lt;text fontFamily='Microsoft YaHei' x='802' y='32' fontSize='16' fontWeight='bold' fill='#FFFFFF'&gt;单元 17 · 调用 API&lt;/text&gt;&#13;&#10;            &lt;text fontFamily='Microsoft YaHei' x='802' y='58' fontSize='13' fill='#D7F0E7'&gt;requests 取 GitHub / HN 数据&lt;/text&gt;&#13;&#10;            &lt;text fontFamily='Microsoft YaHei' x='802' y='80' fontSize='13' fill='#D7F0E7'&gt;速率限制 · Plotly 交互图&lt;/text&gt;&#13;&#10;            &lt;text fontFamily='Microsoft YaHei' x='802' y='104' fontSize='12.5' fill='#B9E4D5'&gt;第 17 章&lt;/text&gt;&#13;&#10;&#13;&#10;            &lt;text fontFamily='Microsoft YaHei' x='0' y='158' fontSize='15' fontWeight='bold' fill='#16232E'&gt;一条数据处理的完整链路&lt;/text&gt;&#13;&#10;&#13;&#10;            &lt;rect x='0' y='176' width='212' height='78' rx='9' fill='#EEF5FB' /&gt;&#13;&#10;            &lt;text fontFamily='Microsoft YaHei' x='106' y='204' fontSize='14.5' fontWeight='bold' fill='#1F5FA8' textAnchor='middle'&gt;① 取数&lt;/text&gt;&#13;&#10;            &lt;text x='106' y='228' fontSize='12.5' fill='#5A6B7A' textAnchor='middle' fontFamily='Inter'&gt;CSV / JSON / API&lt;/text&gt;&#13;&#10;&#13;&#10;            &lt;path d='M220 215 L 240 215' stroke='#1F5FA8' strokeWidth='3' fill='none' /&gt;&#13;&#10;            &lt;path d='M232 209 L 240 215 L 232 221' stroke='#1F5FA8' strokeWidth='3' fill='none' /&gt;&#13;&#10;&#13;&#10;            &lt;rect x='248' y='176' width='212' height='78' rx='9' fill='#EEF5FB' /&gt;&#13;&#10;            &lt;text fontFamily='Microsoft YaHei' x='354' y='204' fontSize='14.5' fontWeight='bold' fill='#1F5FA8' textAnchor='middle'&gt;② 清洗&lt;/text&gt;&#13;&#10;            &lt;text fontFamily='Microsoft YaHei' x='354' y='228' fontSize='12.5' fill='#5A6B7A' textAnchor='middle'&gt;缺失值 · 类型转换 · 日期&lt;/text&gt;&#13;&#10;&#13;&#10;            &lt;path d='M468 215 L 488 215' stroke='#1F5FA8' strokeWidth='3' fill='none' /&gt;&#13;&#10;            &lt;path d='M480 209 L 488 215 L 480 221' stroke='#1F5FA8' strokeWidth='3' fill='none' /&gt;&#13;&#10;&#13;&#10;            &lt;rect x='496' y='176' width='212' height='78' rx='9' fill='#EEF5FB' /&gt;&#13;&#10;            &lt;text fontFamily='Microsoft YaHei' x='602' y='204' fontSize='14.5' fontWeight='bold' fill='#1F5FA8' textAnchor='middle'&gt;③ 分析&lt;/text&gt;&#13;&#10;            &lt;text fontFamily='Microsoft YaHei' x='602' y='228' fontSize='12.5' fill='#5A6B7A' textAnchor='middle'&gt;取字段 · 算极值 · 排序&lt;/text&gt;&#13;&#10;&#13;&#10;            &lt;path d='M716 215 L 736 215' stroke='#1F5FA8' strokeWidth='3' fill='none' /&gt;&#13;&#10;            &lt;path d='M728 209 L 736 215 L 728 221' stroke='#1F5FA8' strokeWidth='3' fill='none' /&gt;&#13;&#10;&#13;&#10;            &lt;rect x='744' y='176' width='212' height='78' rx='9' fill='#EEF5FB' /&gt;&#13;&#10;            &lt;text fontFamily='Microsoft YaHei' x='850' y='204' fontSize='14.5' fontWeight='bold' fill='#1F5FA8' textAnchor='middle'&gt;④ 呈现&lt;/text&gt;&#13;&#10;            &lt;text fontFamily='Microsoft YaHei' x='850' y='228' fontSize='12.5' fill='#5A6B7A' textAnchor='middle'&gt;静态 PNG / 交互 HTML&lt;/text&gt;&#13;&#10;&#13;&#10;            &lt;path d='M964 215 L 984 215' stroke='#E08A15' strokeWidth='3' fill='none' /&gt;&#13;&#10;            &lt;path d='M976 209 L 984 215 L 976 221' stroke='#E08A15' strokeWidth='3' fill='none' /&gt;&#13;&#10;&#13;&#10;            &lt;rect x='992' y='176' width='160' height='78' rx='9' fill='#FDF3E2' /&gt;&#13;&#10;            &lt;text fontFamily='Microsoft YaHei' x='1072' y='204' fontSize='14.5' fontWeight='bold' fill='#E08A15' textAnchor='middle'&gt;⑤ 结论&lt;/text&gt;&#13;&#10;            &lt;text fontFamily='Microsoft YaHei' x='1072' y='228' fontSize='12.5' fill='#8A6A2A' textAnchor='middle'&gt;这张图说明了什么&lt;/text&gt;&#13;&#10;        &lt;/svg&gt;&#13;&#10;    &lt;/Box&gt;&#13;&#10;&#13;&#10;    &lt;Box style={{ position: 'absolute', left: 64, top: 424, width: '1152px', height: 192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这个项目真正教你的&lt;/Text&gt;&#13;&#10;            &lt;Text style={{ fontSize: 14.5, color: '#3A4A58', lineHeight: 1.75 }}&gt;&#13;&#10;                &lt;b&gt;真实数据是脏的&lt;/b&gt;：会缺值、会换列序、编码会不听话。&lt;br /&gt;&#13;&#10;                &lt;b&gt;选型意识&lt;/b&gt;：静态图用 matplotlib，可交互图用 Plotly。&lt;br /&gt;&#13;&#10;                &lt;b&gt;API 是数据来源&lt;/b&gt;：有配额（每小时 60 次）、会失败，必须处理。&#13;&#10;            &lt;/Text&gt;&#13;&#10;        &lt;/Box&gt;&#13;&#10;        &lt;Box style={{ flex: 1, background: '#FDF3E2', borderRadius: 12, padding: 18, flexDirection: 'column', gap: 8 }}&gt;&#13;&#10;            &lt;Text style={{ fontSize: 17, fontWeight: 'bold', color: '#E08A15' }}&gt;最容易卡住的三处&lt;/Text&gt;&#13;&#10;            &lt;Text style={{ fontSize: 14.5, color: '#3A4A58', lineHeight: 1.8 }}&gt;&#13;&#10;                ① 不调 &lt;code style={{ fontSize: 13 }}&gt;ax.axis()&lt;/code&gt; 导致点被裁掉&lt;br /&gt;&#13;&#10;                ② GeoJSON 经纬度写反（[0] 是经度）&lt;br /&gt;&#13;&#10;                ③ 表头列号写死，换数据就错&lt;br /&gt;&#13;&#10;                &lt;b&gt;① 是 matplotlib 新手最高频的坑&lt;/b&gt;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5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2F7BC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项目二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3895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数据可视化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15–17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15–17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从「自己造数据」走到「从真实世界取数据并画出来」</a:t>
            </a:r>
            <a:endParaRPr/>
          </a:p>
        </p:txBody>
      </p:sp>
      <p:pic>
        <p:nvPicPr>
          <p:cNvPr id="1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552700"/>
          </a:xfrm>
          <a:prstGeom prst="rect">
            <a:avLst/>
          </a:prstGeom>
          <a:ln/>
        </p:spPr>
      </p:pic>
      <p:sp>
        <p:nvSpPr>
          <p:cNvPr id="161" name=""/>
          <p:cNvSpPr/>
          <p:nvPr/>
        </p:nvSpPr>
        <p:spPr>
          <a:xfrm rot="0" flipH="0" flipV="0">
            <a:off x="6096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810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这个项目真正教你的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781050" y="4486275"/>
            <a:ext cx="5067300" cy="8763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真实数据是脏的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：会缺值、会换列序、编码会不听话。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选型意识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：静态图用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，可交互图用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Plotly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endParaRPr/>
          </a:p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是数据来源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：有配额（每小时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次）、会失败，必须处理。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6172200" y="4038600"/>
            <a:ext cx="5410200" cy="1828800"/>
          </a:xfrm>
          <a:prstGeom prst="roundRect">
            <a:avLst>
              <a:gd name="adj" fmla="val 625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343650" y="4210050"/>
            <a:ext cx="5067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最容易卡住的三处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343650" y="4486275"/>
            <a:ext cx="5067300" cy="12001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不调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ax.axis()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导致点被裁掉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GeoJSON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经纬度写反（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[0]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是经度）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表头列号写死，换数据就错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是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matplotlib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新手最高频的坑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15 / 23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9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F5FA8', borderRadius: 5, padding: '4px 12px' }}&gt;&#13;&#10;                &lt;Text style={{ fontSize: 14, fontWeight: 'bold', color: '#FFFFFF' }}&gt;项目三&lt;/Text&gt;&#13;&#10;            &lt;/Box&gt;&#13;&#10;            &lt;Text style={{ fontSize: 36, fontWeight: 'bold', color: '#16232E' }}&gt;学习笔记 Web · 单元 18–20&lt;/Text&gt;&#13;&#10;        &lt;/Box&gt;&#13;&#10;        &lt;Text style={{ fontSize: 18, color: '#5A6B7A' }}&gt;&#13;&#10;            教材第 18–20 章 · 5 周 · 全课程最密集的部分，也是唯一一个真的要上线的东西&#13;&#10;        &lt;/Text&gt;&#13;&#10;    &lt;/Box&gt;&#13;&#10;&#13;&#10;    &lt;Box style={{ position: 'absolute', left: 64, top: 140, width: '1152px', height: 292 }}&gt;&#13;&#10;        &lt;svg width='1152' height='292' viewBox='0 0 1152 292'&gt;&#13;&#10;            &lt;text fontFamily='Microsoft YaHei' x='0' y='18' fontSize='15' fontWeight='bold' fill='#16232E'&gt;一次请求的旅程（单元 18 的核心）&lt;/text&gt;&#13;&#10;&#13;&#10;            &lt;rect x='0' y='34' width='152' height='72' rx='9' fill='#1F5FA8' /&gt;&#13;&#10;            &lt;text fontFamily='Microsoft YaHei' x='76' y='64' fontSize='14.5' fontWeight='bold' fill='#FFFFFF' textAnchor='middle'&gt;浏览器&lt;/text&gt;&#13;&#10;            &lt;text fontFamily='Microsoft YaHei' x='76' y='88' fontSize='12' fill='#CFE2F5' textAnchor='middle'&gt;访问一个 URL&lt;/text&gt;&#13;&#10;&#13;&#10;            &lt;path d='M160 70 L 186 70' stroke='#1F5FA8' strokeWidth='3' fill='none' /&gt;&#13;&#10;            &lt;path d='M178 64 L 186 70 L 178 76' stroke='#1F5FA8' strokeWidth='3' fill='none' /&gt;&#13;&#10;&#13;&#10;            &lt;rect x='194' y='34' width='152' height='72' rx='9' fill='#2F7BC8' /&gt;&#13;&#10;            &lt;text x='270' y='64' fontSize='14.5' fontWeight='bold' fill='#FFFFFF' textAnchor='middle' fontFamily='Inter'&gt;urls.py&lt;/text&gt;&#13;&#10;            &lt;text fontFamily='Microsoft YaHei' x='270' y='88' fontSize='12' fill='#EAF3FC' textAnchor='middle'&gt;找路由&lt;/text&gt;&#13;&#10;&#13;&#10;            &lt;path d='M354 70 L 380 70' stroke='#2F7BC8' strokeWidth='3' fill='none' /&gt;&#13;&#10;            &lt;path d='M372 64 L 380 70 L 372 76' stroke='#2F7BC8' strokeWidth='3' fill='none' /&gt;&#13;&#10;&#13;&#10;            &lt;rect x='388' y='34' width='152' height='72' rx='9' fill='#0E9B78' /&gt;&#13;&#10;            &lt;text x='464' y='64' fontSize='14.5' fontWeight='bold' fill='#FFFFFF' textAnchor='middle' fontFamily='Inter'&gt;views.py&lt;/text&gt;&#13;&#10;            &lt;text fontFamily='Microsoft YaHei' x='464' y='88' fontSize='12' fill='#D7F0E7' textAnchor='middle'&gt;处理 + 查数据库&lt;/text&gt;&#13;&#10;&#13;&#10;            &lt;path d='M548 70 L 574 70' stroke='#0E9B78' strokeWidth='3' fill='none' /&gt;&#13;&#10;            &lt;path d='M566 64 L 574 70 L 566 76' stroke='#0E9B78' strokeWidth='3' fill='none' /&gt;&#13;&#10;&#13;&#10;            &lt;rect x='582' y='34' width='152' height='72' rx='9' fill='#16232E' /&gt;&#13;&#10;            &lt;text x='658' y='64' fontSize='14.5' fontWeight='bold' fill='#FFFFFF' textAnchor='middle' fontFamily='Inter'&gt;models.py&lt;/text&gt;&#13;&#10;            &lt;text fontFamily='Microsoft YaHei' x='658' y='88' fontSize='12' fill='#A8C4DE' textAnchor='middle'&gt;ORM 取数据&lt;/text&gt;&#13;&#10;&#13;&#10;            &lt;path d='M742 70 L 768 70' stroke='#16232E' strokeWidth='3' fill='none' /&gt;&#13;&#10;            &lt;path d='M760 64 L 768 70 L 760 76' stroke='#16232E' strokeWidth='3' fill='none' /&gt;&#13;&#10;&#13;&#10;            &lt;rect x='776' y='34' width='152' height='72' rx='9' fill='#2F7BC8' /&gt;&#13;&#10;            &lt;text fontFamily='Microsoft YaHei' x='852' y='64' fontSize='14.5' fontWeight='bold' fill='#FFFFFF' textAnchor='middle'&gt;模板 .html&lt;/text&gt;&#13;&#10;            &lt;text fontFamily='Microsoft YaHei' x='852' y='88' fontSize='12' fill='#EAF3FC' textAnchor='middle'&gt;渲染成页面&lt;/text&gt;&#13;&#10;&#13;&#10;            &lt;path d='M936 70 L 962 70' stroke='#E08A15' strokeWidth='3' fill='none' /&gt;&#13;&#10;            &lt;path d='M954 64 L 962 70 L 954 76' stroke='#E08A15' strokeWidth='3' fill='none' /&gt;&#13;&#10;&#13;&#10;            &lt;rect x='970' y='34' width='182' height='72' rx='9' fill='#E08A15' /&gt;&#13;&#10;            &lt;text fontFamily='Microsoft YaHei' x='1061' y='64' fontSize='14.5' fontWeight='bold' fill='#FFFFFF' textAnchor='middle'&gt;返回给用户&lt;/text&gt;&#13;&#10;            &lt;text fontFamily='Microsoft YaHei' x='1061' y='88' fontSize='12' fill='#FDF0DC' textAnchor='middle'&gt;HTML 页面&lt;/text&gt;&#13;&#10;&#13;&#10;            &lt;text fontFamily='Microsoft YaHei' x='0' y='156' fontSize='15' fontWeight='bold' fill='#16232E'&gt;三个单元各解决一层问题&lt;/text&gt;&#13;&#10;&#13;&#10;            &lt;rect x='0' y='174' width='370' height='106' rx='10' fill='#EEF5FB' /&gt;&#13;&#10;            &lt;text fontFamily='Microsoft YaHei' x='20' y='204' fontSize='15.5' fontWeight='bold' fill='#1F5FA8'&gt;单元 18 · 网站能跑起来&lt;/text&gt;&#13;&#10;            &lt;text fontFamily='Microsoft YaHei' x='20' y='230' fontSize='13' fill='#5A6B7A'&gt;虚拟环境 · 项目 / 应用分层 · 模型与迁移&lt;/text&gt;&#13;&#10;            &lt;text fontFamily='Microsoft YaHei' x='20' y='252' fontSize='13' fill='#5A6B7A'&gt;URL → 视图 → 模板 · 模板继承&lt;/text&gt;&#13;&#10;            &lt;text fontFamily='Microsoft YaHei' x='20' y='272' fontSize='12.5' fill='#8A9AAA'&gt;第 18 章 · 6 节课&lt;/text&gt;&#13;&#10;&#13;&#10;            &lt;rect x='391' y='174' width='370' height='106' rx='10' fill='#FDF3E2' /&gt;&#13;&#10;            &lt;text fontFamily='Microsoft YaHei' x='411' y='204' fontSize='15.5' fontWeight='bold' fill='#E08A15'&gt;单元 19 · 数据属于谁&lt;/text&gt;&#13;&#10;            &lt;text fontFamily='Microsoft YaHei' x='411' y='230' fontSize='13' fill='#3A4A58'&gt;ModelForm · 登录 / 注销 / 注册&lt;/text&gt;&#13;&#10;            &lt;text fontFamily='Microsoft YaHei' x='411' y='252' fontSize='13' fontWeight='bold' fill='#C0561A'&gt;★ filter(owner=request.user) 安全红线&lt;/text&gt;&#13;&#10;            &lt;text fontFamily='Microsoft YaHei' x='411' y='272' fontSize='12.5' fill='#8A9AAA'&gt;第 19 章 · 5 节课&lt;/text&gt;&#13;&#10;&#13;&#10;            &lt;rect x='782' y='174' width='370' height='106' rx='10' fill='#EAF7F2' /&gt;&#13;&#10;            &lt;text fontFamily='Microsoft YaHei' x='802' y='204' fontSize='15.5' fontWeight='bold' fill='#0E9B78'&gt;单元 20 · 别人也能访问&lt;/text&gt;&#13;&#10;            &lt;text fontFamily='Microsoft YaHei' x='802' y='230' fontSize='13' fill='#3A4A58'&gt;django-bootstrap5 · Platform.sh 部署&lt;/text&gt;&#13;&#10;            &lt;text x='802' y='252' fontSize='13' fill='#3A4A58' fontFamily='Inter'&gt;ALLOWED_HOSTS / DEBUG / collectstatic&lt;/text&gt;&#13;&#10;            &lt;text fontFamily='Microsoft YaHei' x='802' y='272' fontSize='12.5' fill='#8A9AAA'&gt;第 20 章 · 5 节课&lt;/text&gt;&#13;&#10;        &lt;/svg&gt;&#13;&#10;    &lt;/Box&gt;&#13;&#10;&#13;&#10;    &lt;Box style={{ position: 'absolute', left: 64, top: 448, width: '1152px', height: 156,&#13;&#10;        background: '#16232E', borderRadius: 12, padding: 20, flexDirection: 'column', gap: 8 }}&gt;&#13;&#10;        &lt;Text style={{ fontSize: 17, fontWeight: 'bold', color: '#FFFFFF' }}&gt;这一层是全课程唯一的安全课&lt;/Text&gt;&#13;&#10;        &lt;Text style={{ fontSize: 15, color: '#A8C4DE', lineHeight: 1.8 }}&gt;&#13;&#10;            把 &lt;code style={{ fontSize: 14 }}&gt;filter(owner=request.user)&lt;/code&gt; 写成 &lt;code style={{ fontSize: 14 }}&gt;.all()&lt;/code&gt;，&#13;&#10;            每个用户就能看到所有人的笔记——这类 bug 不会报错、不会崩溃，只会静静泄露数据。&#13;&#10;            所以单元 19 会要求你&lt;b style={{ color: '#E08A15' }}&gt;用两个账号实测一次&lt;/b&gt;，而不是「我记得写了」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6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609600" y="476250"/>
            <a:ext cx="628650" cy="238125"/>
          </a:xfrm>
          <a:prstGeom prst="roundRect">
            <a:avLst>
              <a:gd name="adj" fmla="val 20000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项目三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371600" y="381000"/>
            <a:ext cx="44386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学习笔记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Web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18–20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教材第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18–20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全课程最密集的部分，也是唯一一个真的要上线的东西</a:t>
            </a:r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33500"/>
            <a:ext cx="10972800" cy="2781300"/>
          </a:xfrm>
          <a:prstGeom prst="rect">
            <a:avLst/>
          </a:prstGeom>
          <a:ln/>
        </p:spPr>
      </p:pic>
      <p:sp>
        <p:nvSpPr>
          <p:cNvPr id="176" name=""/>
          <p:cNvSpPr/>
          <p:nvPr/>
        </p:nvSpPr>
        <p:spPr>
          <a:xfrm rot="0" flipH="0" flipV="0">
            <a:off x="609600" y="4267200"/>
            <a:ext cx="10972800" cy="1485900"/>
          </a:xfrm>
          <a:prstGeom prst="roundRect">
            <a:avLst>
              <a:gd name="adj" fmla="val 7692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00100" y="4457700"/>
            <a:ext cx="10591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这一层是全课程唯一的安全课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00100" y="4733925"/>
            <a:ext cx="105918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把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filter(owner=request.user)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写成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>.all()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每个用户就能看到所有人的笔记——这类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bug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不会报错、不会崩溃，只会静静泄露数据。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所以单元</a:t>
            </a:r>
            <a:r>
              <a:rPr lang="en-US" sz="1125">
                <a:solidFill>
                  <a:srgbClr val="A8C4DE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会要求你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用两个账号实测一次</a:t>
            </a:r>
            <a:r>
              <a:rPr lang="zh-CN" sz="1125">
                <a:solidFill>
                  <a:srgbClr val="A8C4DE"/>
                </a:solidFill>
                <a:latin typeface="Microsoft YaHei"/>
                <a:ea typeface="Microsoft YaHei"/>
              </a:rPr>
              <a:t>，而不是「我记得写了」。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16 / 23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8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阶段 2 的统一工程流程&lt;/Text&gt;&#13;&#10;        &lt;Text style={{ fontSize: 18, color: '#5A6B7A', marginTop: 6 }}&gt;&#13;&#10;            三个项目都走同一条七步流程。这条流程比「跟着教程敲完」重要 10 倍——它决定你能不能独立做下一个项目&#13;&#10;        &lt;/Text&gt;&#13;&#10;    &lt;/Box&gt;&#13;&#10;&#13;&#10;    &lt;Box style={{ position: 'absolute', left: 64, top: 138, width: '1152px', height: 250 }}&gt;&#13;&#10;        &lt;svg width='1152' height='250' viewBox='0 0 1152 250'&gt;&#13;&#10;            &lt;rect x='0' y='30' width='152' height='86' rx='10' fill='#1F5FA8' /&gt;&#13;&#10;            &lt;text fontFamily='Microsoft YaHei' x='76' y='62' fontSize='14' fontWeight='bold' fill='#FFFFFF' textAnchor='middle'&gt;① 读需求&lt;/text&gt;&#13;&#10;            &lt;text fontFamily='Microsoft YaHei' x='76' y='86' fontSize='11.5' fill='#CFE2F5' textAnchor='middle'&gt;这个程序要做什么&lt;/text&gt;&#13;&#10;            &lt;text fontFamily='Microsoft YaHei' x='76' y='106' fontSize='11.5' fill='#CFE2F5' textAnchor='middle'&gt;完成的标准是什么&lt;/text&gt;&#13;&#10;&#13;&#10;            &lt;path d='M160 73 L 182 73' stroke='#1F5FA8' strokeWidth='3' fill='none' /&gt;&#13;&#10;            &lt;path d='M174 67 L 182 73 L 174 79' stroke='#1F5FA8' strokeWidth='3' fill='none' /&gt;&#13;&#10;&#13;&#10;            &lt;rect x='190' y='30' width='152' height='86' rx='10' fill='#2F7BC8' /&gt;&#13;&#10;            &lt;text fontFamily='Microsoft YaHei' x='266' y='62' fontSize='14' fontWeight='bold' fill='#FFFFFF' textAnchor='middle'&gt;② 自己先拆解&lt;/text&gt;&#13;&#10;            &lt;text fontFamily='Microsoft YaHei' x='266' y='86' fontSize='11.5' fill='#EAF3FC' textAnchor='middle'&gt;写成几个文件&lt;/text&gt;&#13;&#10;            &lt;text fontFamily='Microsoft YaHei' x='266' y='106' fontSize='11.5' fill='#EAF3FC' textAnchor='middle' &gt;★ 别急着抄教材&lt;/text&gt;&#13;&#10;&#13;&#10;            &lt;path d='M350 73 L 372 73' stroke='#2F7BC8' strokeWidth='3' fill='none' /&gt;&#13;&#10;            &lt;path d='M364 67 L 372 73 L 364 79' stroke='#2F7BC8' strokeWidth='3' fill='none' /&gt;&#13;&#10;&#13;&#10;            &lt;rect x='380' y='30' width='152' height='86' rx='10' fill='#2F7BC8' /&gt;&#13;&#10;            &lt;text fontFamily='Microsoft YaHei' x='456' y='62' fontSize='14' fontWeight='bold' fill='#FFFFFF' textAnchor='middle'&gt;③ 查官方文档&lt;/text&gt;&#13;&#10;            &lt;text fontFamily='Microsoft YaHei' x='456' y='86' fontSize='11.5' fill='#EAF3FC' textAnchor='middle'&gt;参数记不清就查&lt;/text&gt;&#13;&#10;            &lt;text fontFamily='Microsoft YaHei' x='456' y='106' fontSize='11.5' fill='#EAF3FC' textAnchor='middle'&gt;不要猜、不要试错&lt;/text&gt;&#13;&#10;&#13;&#10;            &lt;path d='M540 73 L 562 73' stroke='#2F7BC8' strokeWidth='3' fill='none' /&gt;&#13;&#10;            &lt;path d='M554 67 L 562 73 L 554 79' stroke='#2F7BC8' strokeWidth='3' fill='none' /&gt;&#13;&#10;&#13;&#10;            &lt;rect x='570' y='30' width='152' height='86' rx='10' fill='#0E9B78' /&gt;&#13;&#10;            &lt;text fontFamily='Microsoft YaHei' x='646' y='62' fontSize='14' fontWeight='bold' fill='#FFFFFF' textAnchor='middle'&gt;④ 编码&lt;/text&gt;&#13;&#10;            &lt;text fontFamily='Microsoft YaHei' x='646' y='86' fontSize='11.5' fill='#D7F0E7' textAnchor='middle'&gt;小步跑通再往下&lt;/text&gt;&#13;&#10;            &lt;text fontFamily='Microsoft YaHei' x='646' y='106' fontSize='11.5' fill='#D7F0E7' textAnchor='middle'&gt;每步都能看到输出&lt;/text&gt;&#13;&#10;&#13;&#10;            &lt;path d='M730 73 L 752 73' stroke='#0E9B78' strokeWidth='3' fill='none' /&gt;&#13;&#10;            &lt;path d='M744 67 L 752 73 L 744 79' stroke='#0E9B78' strokeWidth='3' fill='none' /&gt;&#13;&#10;&#13;&#10;            &lt;rect x='760' y='30' width='152' height='86' rx='10' fill='#0E9B78' /&gt;&#13;&#10;            &lt;text fontFamily='Microsoft YaHei' x='836' y='62' fontSize='14' fontWeight='bold' fill='#FFFFFF' textAnchor='middle'&gt;⑤ git 提交&lt;/text&gt;&#13;&#10;            &lt;text fontFamily='Microsoft YaHei' x='836' y='86' fontSize='11.5' fill='#D7F0E7' textAnchor='middle'&gt;每完成一小节一次&lt;/text&gt;&#13;&#10;            &lt;text fontFamily='Microsoft YaHei' x='836' y='106' fontSize='11.5' fill='#D7F0E7' textAnchor='middle'&gt;提交信息说清做了什么&lt;/text&gt;&#13;&#10;&#13;&#10;            &lt;path d='M920 73 L 942 73' stroke='#E08A15' strokeWidth='3' fill='none' /&gt;&#13;&#10;            &lt;path d='M934 67 L 942 73 L 934 79' stroke='#E08A15' strokeWidth='3' fill='none' /&gt;&#13;&#10;&#13;&#10;            &lt;rect x='950' y='30' width='202' height='86' rx='10' fill='#E08A15' /&gt;&#13;&#10;            &lt;text fontFamily='Microsoft YaHei' x='1051' y='62' fontSize='14' fontWeight='bold' fill='#FFFFFF' textAnchor='middle'&gt;⑥ README ⑦ 重构&lt;/text&gt;&#13;&#10;            &lt;text fontFamily='Microsoft YaHei' x='1051' y='86' fontSize='11.5' fill='#FDF0DC' textAnchor='middle'&gt;写清怎么装、怎么跑&lt;/text&gt;&#13;&#10;            &lt;text fontFamily='Microsoft YaHei' x='1051' y='106' fontSize='11.5' fill='#FDF0DC' textAnchor='middle'&gt;超 300 行就拆模块&lt;/text&gt;&#13;&#10;&#13;&#10;            &lt;text fontFamily='Microsoft YaHei' x='0' y='158' fontSize='15' fontWeight='bold' fill='#16232E'&gt;每个项目必须交付的四件套&lt;/text&gt;&#13;&#10;&#13;&#10;            &lt;rect x='0' y='176' width='272' height='62' rx='9' fill='#EEF5FB' /&gt;&#13;&#10;            &lt;text fontFamily='Microsoft YaHei' x='136' y='202' fontSize='14' fontWeight='bold' fill='#1F5FA8' textAnchor='middle'&gt;公开 git 仓库&lt;/text&gt;&#13;&#10;            &lt;text fontFamily='Microsoft YaHei' x='136' y='224' fontSize='12' fill='#5A6B7A' textAnchor='middle'&gt;要有实质提交历史&lt;/text&gt;&#13;&#10;&#13;&#10;            &lt;rect x='294' y='176' width='272' height='62' rx='9' fill='#EEF5FB' /&gt;&#13;&#10;            &lt;text x='430' y='202' fontSize='14' fontWeight='bold' fill='#1F5FA8' textAnchor='middle' fontFamily='Inter'&gt;README&lt;/text&gt;&#13;&#10;            &lt;text fontFamily='Microsoft YaHei' x='430' y='224' fontSize='12' fill='#5A6B7A' textAnchor='middle'&gt;怎么装、怎么跑、做了什么&lt;/text&gt;&#13;&#10;&#13;&#10;            &lt;rect x='588' y='176' width='272' height='62' rx='9' fill='#EEF5FB' /&gt;&#13;&#10;            &lt;text x='724' y='202' fontSize='14' fontWeight='bold' fill='#1F5FA8' textAnchor='middle' fontFamily='Inter'&gt;requirements.txt&lt;/text&gt;&#13;&#10;            &lt;text fontFamily='Microsoft YaHei' x='724' y='224' fontSize='12' fill='#5A6B7A' textAnchor='middle'&gt;别人能重建你的环境&lt;/text&gt;&#13;&#10;&#13;&#10;            &lt;rect x='882' y='176' width='270' height='62' rx='9' fill='#FDF3E2' /&gt;&#13;&#10;            &lt;text fontFamily='Microsoft YaHei' x='1017' y='202' fontSize='14' fontWeight='bold' fill='#E08A15' textAnchor='middle'&gt;pytest 测试&lt;/text&gt;&#13;&#10;            &lt;text fontFamily='Microsoft YaHei' x='1017' y='224' fontSize='12' fill='#8A6A2A' textAnchor='middle'&gt;至少覆盖纯逻辑函数&lt;/text&gt;&#13;&#10;        &lt;/svg&gt;&#13;&#10;    &lt;/Box&gt;&#13;&#10;&#13;&#10;    &lt;Box style={{ position: 'absolute', left: 64, top: 412, width: '1152px', height: 196, flexDirection: 'row', gap: 16 }}&gt;&#13;&#10;        &lt;Box style={{ flex: 1, background: '#FFFFFF', border: '1px solid #D8E3EE', borderRadius: 12, padding: 18, flexDirection: 'column', gap: 8 }}&gt;&#13;&#10;            &lt;Text style={{ fontSize: 17, fontWeight: 'bold', color: '#1F5FA8' }}&gt;第 ② 步为什么最重要&lt;/Text&gt;&#13;&#10;            &lt;Text style={{ fontSize: 14.5, color: '#3A4A58', lineHeight: 1.75 }}&gt;&#13;&#10;                教材把代码都写好了，直接抄最快。但抄完你只会做「这一个」项目。&#13;&#10;                &lt;b&gt;先自己拆 40 分钟，再看教材&lt;/b&gt;——这 40 分钟练的是把需求拆成模块的能力，&#13;&#10;                它是关卡 2 第 4 条（读陌生 500 行项目）唯一能靠练出来的路径。&#13;&#10;            &lt;/Text&gt;&#13;&#10;        &lt;/Box&gt;&#13;&#10;        &lt;Box style={{ flex: 1.15, background: '#FDF3E2', borderRadius: 12, padding: 18, flexDirection: 'column', gap: 8 }}&gt;&#13;&#10;            &lt;Text style={{ fontSize: 17, fontWeight: 'bold', color: '#E08A15' }}&gt;阶段 2 附加的三条纪律&lt;/Text&gt;&#13;&#10;            &lt;Text style={{ fontSize: 14.5, color: '#3A4A58', lineHeight: 1.8 }}&gt;&#13;&#10;                ① 单文件不超过 &lt;b&gt;300 行&lt;/b&gt;，超了就拆&lt;br /&gt;&#13;&#10;                ② 密钥、密码一律走环境变量 + .gitignore，&lt;b&gt;提交过就等于泄露&lt;/b&gt;&lt;br /&gt;&#13;&#10;                ③ 每个项目结束前跑一次「工程件体检」：README / requirements / .gitignore / 测试是否齐全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7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的统一工程流程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三个项目都走同一条七步流程。这条流程比「跟着教程敲完」重要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倍——它决定你能不能独立做下一个项目</a:t>
            </a:r>
            <a:endParaRPr/>
          </a:p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14450"/>
            <a:ext cx="10972800" cy="2381250"/>
          </a:xfrm>
          <a:prstGeom prst="rect">
            <a:avLst/>
          </a:prstGeom>
          <a:ln/>
        </p:spPr>
      </p:pic>
      <p:sp>
        <p:nvSpPr>
          <p:cNvPr id="186" name=""/>
          <p:cNvSpPr/>
          <p:nvPr/>
        </p:nvSpPr>
        <p:spPr>
          <a:xfrm rot="0" flipH="0" flipV="0">
            <a:off x="609600" y="3924300"/>
            <a:ext cx="5029200" cy="1866900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81050" y="409575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②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步为什么最重要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781050" y="4371975"/>
            <a:ext cx="46863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教材把代码都写好了，直接抄最快。但抄完你只会做「这一个」项目。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先自己拆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分钟，再看教材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——这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分钟练的是把需求拆成模块的能力，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它是关卡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第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条（读陌生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行项目）唯一能靠练出来的路径。</a:t>
            </a:r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5791200" y="3924300"/>
            <a:ext cx="5791200" cy="1866900"/>
          </a:xfrm>
          <a:prstGeom prst="roundRect">
            <a:avLst>
              <a:gd name="adj" fmla="val 6122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5962650" y="4095750"/>
            <a:ext cx="544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E08A15"/>
                </a:solidFill>
                <a:latin typeface="Microsoft YaHei"/>
                <a:ea typeface="Microsoft YaHei"/>
              </a:rPr>
              <a:t>附加的三条纪律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962650" y="4371975"/>
            <a:ext cx="54483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单文件不超过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300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，超了就拆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密钥、密码一律走环境变量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+ .gitignore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提交过就等于泄露</a:t>
            </a:r>
            <a:endParaRPr/>
          </a:p>
          <a:p>
            <a:pPr>
              <a:lnSpc>
                <a:spcPct val="180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每个项目结束前跑一次「工程件体检」：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README / requirements / .gitignore /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测试是否齐全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17 / 23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9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E08A15', borderRadius: 5, padding: '4px 12px' }}&gt;&#13;&#10;                &lt;Text style={{ fontSize: 14, fontWeight: 'bold', color: '#FFFFFF' }}&gt;关卡 2&lt;/Text&gt;&#13;&#10;            &lt;/Box&gt;&#13;&#10;            &lt;Text style={{ fontSize: 36, fontWeight: 'bold', color: '#16232E' }}&gt;判定「能独立做项目」&lt;/Text&gt;&#13;&#10;        &lt;/Box&gt;&#13;&#10;        &lt;Text style={{ fontSize: 18, color: '#5A6B7A' }}&gt;&#13;&#10;            五项硬指标，全部达标才算走完阶段 2。某一项没过，只补那一项并重测，不要整体重学&#13;&#10;        &lt;/Text&gt;&#13;&#10;    &lt;/Box&gt;&#13;&#10;&#13;&#10;    &lt;Box style={{ position: 'absolute', left: 64, top: 140, width: '1152px', height: 172, flexDirection: 'row', gap: 16 }}&gt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1&lt;/Text&gt;&#13;&#10;                &lt;Text style={{ fontSize: 15.5, fontWeight: 'bold', color: '#16232E' }}&gt;三个项目全部跑通&lt;/Text&gt;&#13;&#10;            &lt;/Box&gt;&#13;&#10;            &lt;Text style={{ fontSize: 13.5, color: '#3A4A58', lineHeight: 1.7 }}&gt;&#13;&#10;                且已推到公开仓库，每个都有 &lt;b&gt;README + requirements.txt&lt;/b&gt;。&#13;&#10;                仓库里要有真实的提交历史，不是一次性传上去。&#13;&#10;            &lt;/Text&gt;&#13;&#10;        &lt;/Box&gt;&#13;&#10;&#13;&#10;        &lt;Box style={{ width: '373px', background: '#FFFFFF', borderTop: '4px solid #E08A15', borderRadius: 12, padding: 16, flexDirection: 'column', gap: 6 }}&gt;&#13;&#10;            &lt;Box style={{ flexDirection: 'row', alignItems: 'baseline', gap: 10 }}&gt;&#13;&#10;                &lt;Text style={{ fontSize: 36, fontWeight: 'bold', color: '#E08A15' }}&gt;02&lt;/Text&gt;&#13;&#10;                &lt;Text style={{ fontSize: 15.5, fontWeight: 'bold', color: '#16232E' }}&gt;学习笔记已上线&lt;/Text&gt;&#13;&#10;            &lt;/Box&gt;&#13;&#10;            &lt;Text style={{ fontSize: 13.5, color: '#3A4A58', lineHeight: 1.7 }}&gt;&#13;&#10;                &lt;b&gt;公网可访问&lt;/b&gt;，错误页已定制。把网址发给一个人，让他注册并加一条笔记——&#13;&#10;                别人能用，才算真的部署成功。&#13;&#10;            &lt;/Text&gt;&#13;&#10;        &lt;/Box&gt;&#13;&#10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3&lt;/Text&gt;&#13;&#10;                &lt;Text style={{ fontSize: 15.5, fontWeight: 'bold', color: '#16232E' }}&gt;能自己写测试&lt;/Text&gt;&#13;&#10;            &lt;/Box&gt;&#13;&#10;            &lt;Text style={{ fontSize: 13.5, color: '#3A4A58', lineHeight: 1.7 }}&gt;&#13;&#10;                能用自己的函数写出 pytest 测试并跑过——&lt;b&gt;不是抄教材的&lt;/b&gt;。&#13;&#10;                至少覆盖正常、边界、异常三种情况。&#13;&#10;            &lt;/Text&gt;&#13;&#10;        &lt;/Box&gt;&#13;&#10;    &lt;/Box&gt;&#13;&#10;&#13;&#10;    &lt;Box style={{ position: 'absolute', left: 64, top: 320, width: '1152px', height: 176, flexDirection: 'row', gap: 16 }}&gt;&#13;&#10;        &lt;Box style={{ width: '373px', background: '#FFFFFF', borderTop: '4px solid #1F5FA8', borderRadius: 12, padding: 16, flexDirection: 'column', gap: 6 }}&gt;&#13;&#10;            &lt;Box style={{ flexDirection: 'row', alignItems: 'baseline', gap: 10 }}&gt;&#13;&#10;                &lt;Text style={{ fontSize: 36, fontWeight: 'bold', color: '#1F5FA8' }}&gt;04&lt;/Text&gt;&#13;&#10;                &lt;Text style={{ fontSize: 15.5, fontWeight: 'bold', color: '#16232E' }}&gt;读得懂陌生项目&lt;/Text&gt;&#13;&#10;            &lt;/Box&gt;&#13;&#10;            &lt;Text style={{ fontSize: 13.5, color: '#3A4A58', lineHeight: 1.7 }}&gt;&#13;&#10;                接手一个&lt;b&gt;没写过的 500 行 Python 项目&lt;/b&gt;，能读懂结构并定位一个 bug。&#13;&#10;                这条最难，也最能说明问题。&#13;&#10;            &lt;/Text&gt;&#13;&#10;        &lt;/Box&gt;&#13;&#10;&#13;&#10;        &lt;Box style={{ width: '373px', background: '#FFFFFF', borderTop: '4px solid #0E9B78', borderRadius: 12, padding: 16, flexDirection: 'column', gap: 6 }}&gt;&#13;&#10;            &lt;Box style={{ flexDirection: 'row', alignItems: 'baseline', gap: 10 }}&gt;&#13;&#10;                &lt;Text style={{ fontSize: 36, fontWeight: 'bold', color: '#0E9B78' }}&gt;05&lt;/Text&gt;&#13;&#10;                &lt;Text style={{ fontSize: 15.5, fontWeight: 'bold', color: '#16232E' }}&gt;说清「还能怎么扩展」&lt;/Text&gt;&#13;&#10;            &lt;/Box&gt;&#13;&#10;            &lt;Text style={{ fontSize: 13.5, color: '#3A4A58', lineHeight: 1.7 }}&gt;&#13;&#10;                能说清每个项目&lt;b&gt;解决了什么问题、还能怎么扩展&lt;/b&gt;。&#13;&#10;                这条考的是反思能力，不是背结论。&#13;&#10;            &lt;/Text&gt;&#13;&#10;        &lt;/Box&gt;&#13;&#10;&#13;&#10;        &lt;Box style={{ width: '373px', background: '#FDF3E2', borderRadius: 12, padding: 16, flexDirection: 'column', gap: 8 }}&gt;&#13;&#10;            &lt;Text style={{ fontSize: 15.5, fontWeight: 'bold', color: '#E08A15' }}&gt;5 / 5 全达标之后&lt;/Text&gt;&#13;&#10;            &lt;Text style={{ fontSize: 13.5, color: '#3A4A58', lineHeight: 1.75 }}&gt;&#13;&#10;                可以选方向继续深造：&lt;br /&gt;&#13;&#10;                Web（Django REST / 前端）&lt;br /&gt;&#13;&#10;                数据（pandas / numpy）&lt;br /&gt;&#13;&#10;                自动化与爬虫 · 测试与工程化&#13;&#10;            &lt;/Text&gt;&#13;&#10;        &lt;/Box&gt;&#13;&#10;    &lt;/Box&gt;&#13;&#10;&#13;&#10;    &lt;Box style={{ position: 'absolute', left: 64, top: 504, width: '1152px', height: 130,&#13;&#10;        background: '#16232E', borderRadius: 12, padding: 18, flexDirection: 'column', gap: 8 }}&gt;&#13;&#10;        &lt;Text style={{ fontSize: 17, fontWeight: 'bold', color: '#FFFFFF' }}&gt;关卡 1 与关卡 2 的区别&lt;/Text&gt;&#13;&#10;        &lt;Text style={{ fontSize: 14.5, color: '#A8C4DE', lineHeight: 1.8 }}&gt;&#13;&#10;            关卡 1 考的是「你会不会写」——闭卷、限时、手写。&lt;br /&gt;&#13;&#10;            关卡 2 考的是「你做没做出来」——不看你能背多少 API，只看你能不能独立把东西做出来并交出去。&#13;&#10;            所以它没有闭卷考试，答案就是你的三个仓库和一个线上网址。&#13;&#10;        &lt;/Text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18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96" name=""/>
          <p:cNvSpPr/>
          <p:nvPr/>
        </p:nvSpPr>
        <p:spPr>
          <a:xfrm rot="0" flipH="0" flipV="0">
            <a:off x="609600" y="476250"/>
            <a:ext cx="619125" cy="238125"/>
          </a:xfrm>
          <a:prstGeom prst="roundRect">
            <a:avLst>
              <a:gd name="adj" fmla="val 20000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1362075" y="381000"/>
            <a:ext cx="3429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判定「能独立做项目」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五项硬指标，全部达标才算走完阶段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。某一项没过，只补那一项并重测，不要整体重学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0960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1" name=""/>
          <p:cNvSpPr/>
          <p:nvPr/>
        </p:nvSpPr>
        <p:spPr>
          <a:xfrm rot="0" flipH="0" flipV="0">
            <a:off x="60960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285875" y="1524000"/>
            <a:ext cx="1181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三个项目全部跑通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3248025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且已推到公开仓库，每个都有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README + requirements.txt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仓库里要有真实的提交历史，不是一次性传上去。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4314825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4314825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E08A15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4467225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E08A1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991100" y="15240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学习笔记已上线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467225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公网可访问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，错误页已定制。把网址发给一个人，让他注册并加一条笔记——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别人能用，才算真的部署成功。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020050" y="1371600"/>
            <a:ext cx="3552825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8020050" y="1371600"/>
            <a:ext cx="3552825" cy="1638300"/>
          </a:xfrm>
          <a:custGeom>
            <a:pathLst>
              <a:path w="373" h="172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8172450" y="15240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696325" y="1524000"/>
            <a:ext cx="8858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能自己写测试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172450" y="20002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能用自己的函数写出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测试并跑过——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不是抄教材的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至少覆盖正常、边界、异常三种情况。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09600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/>
          <p:cNvSpPr/>
          <p:nvPr/>
        </p:nvSpPr>
        <p:spPr>
          <a:xfrm rot="0" flipH="0" flipV="0">
            <a:off x="609600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1F5FA8"/>
          </a:solidFill>
          <a:ln/>
        </p:spPr>
        <p:txBody>
          <a:bodyPr/>
          <a:p/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762000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F5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285875" y="3238500"/>
            <a:ext cx="10382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读得懂陌生项目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62000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接手一个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没写过的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行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，能读懂结构并定位一个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bug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这条最难，也最能说明问题。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4314825" y="30861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1" name=""/>
          <p:cNvSpPr/>
          <p:nvPr/>
        </p:nvSpPr>
        <p:spPr>
          <a:xfrm rot="0" flipH="0" flipV="0">
            <a:off x="4314825" y="3086100"/>
            <a:ext cx="3552825" cy="1676400"/>
          </a:xfrm>
          <a:custGeom>
            <a:pathLst>
              <a:path w="373" h="176">
                <a:moveTo>
                  <a:pt x="362" y="0"/>
                </a:moveTo>
                <a:cubicBezTo>
                  <a:pt x="367" y="0"/>
                  <a:pt x="372" y="4"/>
                  <a:pt x="373" y="10"/>
                </a:cubicBezTo>
                <a:cubicBezTo>
                  <a:pt x="372" y="6"/>
                  <a:pt x="369" y="4"/>
                  <a:pt x="36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61" y="0"/>
                </a:lnTo>
                <a:close/>
              </a:path>
            </a:pathLst>
          </a:custGeom>
          <a:solidFill>
            <a:srgbClr val="0E9B7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67225" y="3238500"/>
            <a:ext cx="4286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0E9B7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4991100" y="3238500"/>
            <a:ext cx="14763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6232E"/>
                </a:solidFill>
                <a:latin typeface="Microsoft YaHei"/>
                <a:ea typeface="Microsoft YaHei"/>
              </a:rPr>
              <a:t>说清「还能怎么扩展」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4467225" y="3714750"/>
            <a:ext cx="3248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能说清每个项目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解决了什么问题、还能怎么扩展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。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这条考的是反思能力，不是背结论。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020050" y="3048000"/>
            <a:ext cx="3552825" cy="1676400"/>
          </a:xfrm>
          <a:prstGeom prst="roundRect">
            <a:avLst>
              <a:gd name="adj" fmla="val 6818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72450" y="3200400"/>
            <a:ext cx="3248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5 / 5 </a:t>
            </a:r>
            <a:r>
              <a:rPr lang="zh-CN" sz="1163" b="1">
                <a:solidFill>
                  <a:srgbClr val="E08A15"/>
                </a:solidFill>
                <a:latin typeface="Microsoft YaHei"/>
                <a:ea typeface="Microsoft YaHei"/>
              </a:rPr>
              <a:t>全达标之后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172450" y="3457575"/>
            <a:ext cx="3248025" cy="10858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可以选方向继续深造：</a:t>
            </a:r>
            <a:endParaRPr/>
          </a:p>
          <a:p>
            <a:pPr>
              <a:lnSpc>
                <a:spcPct val="175000"/>
              </a:lnSpc>
            </a:pP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Django REST /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前端）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数据（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>pandas / numpy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75000"/>
              </a:lnSpc>
            </a:pP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自动化与爬虫</a:t>
            </a:r>
            <a:r>
              <a:rPr lang="en-US" sz="1013">
                <a:solidFill>
                  <a:srgbClr val="3A4A5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13">
                <a:solidFill>
                  <a:srgbClr val="3A4A58"/>
                </a:solidFill>
                <a:latin typeface="Microsoft YaHei"/>
                <a:ea typeface="Microsoft YaHei"/>
              </a:rPr>
              <a:t>测试与工程化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09600" y="4800600"/>
            <a:ext cx="10972800" cy="1238250"/>
          </a:xfrm>
          <a:prstGeom prst="roundRect">
            <a:avLst>
              <a:gd name="adj" fmla="val 9231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781050" y="4972050"/>
            <a:ext cx="1062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与关卡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的区别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781050" y="5248275"/>
            <a:ext cx="10629900" cy="6000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考的是「你会不会写」——闭卷、限时、手写。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关卡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考的是「你做没做出来」——不看你能背多少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API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，只看你能不能独立把东西做出来并交出去。</a:t>
            </a:r>
            <a:r>
              <a:rPr lang="en-US" sz="1088">
                <a:solidFill>
                  <a:srgbClr val="A8C4D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A8C4DE"/>
                </a:solidFill>
                <a:latin typeface="Microsoft YaHei"/>
                <a:ea typeface="Microsoft YaHei"/>
              </a:rPr>
              <a:t>所以它没有闭卷考试，答案就是你的三个仓库和一个线上网址。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18 / 23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3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练习题库 · 六档递进共 120 题&lt;/Text&gt;&#13;&#10;        &lt;Text style={{ fontSize: 18, color: '#5A6B7A', marginTop: 6 }}&gt;&#13;&#10;            每题都有参考答案与解析。卡 15 分钟再看答案，看完必须关掉重写一遍&#13;&#10;        &lt;/Text&gt;&#13;&#10;    &lt;/Box&gt;&#13;&#10;&#13;&#10;    &lt;Box style={{ position: 'absolute', left: 52, top: 152, width: '730px', height: 400 }}&gt;&#13;&#10;        &lt;svg width='730' height='400' viewBox='0 0 730 400'&gt;&#13;&#10;            &lt;line x1='20' y1='340' x2='710' y2='340' stroke='#D8E3EE' strokeWidth='2' /&gt;&#13;&#10;            &lt;rect x='26' y='260' width='86' height='80' rx='6' fill='#1F5FA8' /&gt;&#13;&#10;            &lt;text x='69' y='290' fontSize='22' fontWeight='bold' fill='#FFFFFF' textAnchor='middle' fontFamily='Inter'&gt;L1&lt;/text&gt;&#13;&#10;            &lt;text fontFamily='Microsoft YaHei' x='69' y='314' fontSize='13' fill='#CFE2F5' textAnchor='middle'&gt;16 题&lt;/text&gt;&#13;&#10;            &lt;text fontFamily='Microsoft YaHei' x='69' y='366' fontSize='12' fill='#5A6B7A' textAnchor='middle'&gt;变量 / 列表&lt;/text&gt;&#13;&#10;            &lt;text fontFamily='Microsoft YaHei' x='69' y='386' fontSize='12' fill='#8A9AAA' textAnchor='middle'&gt;3 小时&lt;/text&gt;&#13;&#10;            &lt;rect x='140' y='230' width='86' height='110' rx='6' fill='#1F5FA8' /&gt;&#13;&#10;            &lt;text x='183' y='260' fontSize='22' fontWeight='bold' fill='#FFFFFF' textAnchor='middle' fontFamily='Inter'&gt;L2&lt;/text&gt;&#13;&#10;            &lt;text fontFamily='Microsoft YaHei' x='183' y='284' fontSize='13' fill='#CFE2F5' textAnchor='middle'&gt;24 题&lt;/text&gt;&#13;&#10;            &lt;text fontFamily='Microsoft YaHei' x='183' y='366' fontSize='12' fill='#5A6B7A' textAnchor='middle'&gt;循环 / 条件 /&lt;/text&gt;&#13;&#10;            &lt;text fontFamily='Microsoft YaHei' x='183' y='386' fontSize='12' fill='#8A9AAA' textAnchor='middle'&gt;6 小时&lt;/text&gt;&#13;&#10;            &lt;rect x='254' y='200' width='86' height='140' rx='6' fill='#2F7BC8' /&gt;&#13;&#10;            &lt;text x='297' y='230' fontSize='22' fontWeight='bold' fill='#FFFFFF' textAnchor='middle' fontFamily='Inter'&gt;L3&lt;/text&gt;&#13;&#10;            &lt;text fontFamily='Microsoft YaHei' x='297' y='254' fontSize='13' fill='#EAF3FC' textAnchor='middle'&gt;10 题&lt;/text&gt;&#13;&#10;            &lt;text fontFamily='Microsoft YaHei' x='297' y='366' fontSize='12' fill='#5A6B7A' textAnchor='middle'&gt;函数 / 递归 /&lt;/text&gt;&#13;&#10;            &lt;text fontFamily='Microsoft YaHei' x='297' y='386' fontSize='12' fill='#8A9AAA' textAnchor='middle'&gt;4 小时&lt;/text&gt;&#13;&#10;            &lt;rect x='368' y='170' width='86' height='170' rx='6' fill='#0E9B78' /&gt;&#13;&#10;            &lt;text x='411' y='200' fontSize='22' fontWeight='bold' fill='#FFFFFF' textAnchor='middle' fontFamily='Inter'&gt;L4&lt;/text&gt;&#13;&#10;            &lt;text fontFamily='Microsoft YaHei' x='411' y='224' fontSize='13' fill='#D7F0E7' textAnchor='middle'&gt;10 题&lt;/text&gt;&#13;&#10;            &lt;text fontFamily='Microsoft YaHei' x='411' y='366' fontSize='12' fill='#5A6B7A' textAnchor='middle'&gt;类 / 继承 /&lt;/text&gt;&#13;&#10;            &lt;text fontFamily='Microsoft YaHei' x='411' y='386' fontSize='12' fill='#8A9AAA' textAnchor='middle'&gt;5 小时&lt;/text&gt;&#13;&#10;            &lt;rect x='482' y='140' width='86' height='200' rx='6' fill='#E08A15' /&gt;&#13;&#10;            &lt;text x='525' y='170' fontSize='22' fontWeight='bold' fill='#FFFFFF' textAnchor='middle' fontFamily='Inter'&gt;L5&lt;/text&gt;&#13;&#10;            &lt;text fontFamily='Microsoft YaHei' x='525' y='194' fontSize='13' fill='#FDF0DC' textAnchor='middle'&gt;10 题&lt;/text&gt;&#13;&#10;            &lt;text fontFamily='Microsoft YaHei' x='525' y='366' fontSize='12' fill='#5A6B7A' textAnchor='middle'&gt;文件 / 异常 /&lt;/text&gt;&#13;&#10;            &lt;text fontFamily='Microsoft YaHei' x='525' y='386' fontSize='12' fill='#8A9AAA' textAnchor='middle'&gt;6 小时&lt;/text&gt;&#13;&#10;            &lt;rect x='596' y='110' width='86' height='230' rx='6' fill='#8A5A08' /&gt;&#13;&#10;            &lt;text x='639' y='140' fontSize='22' fontWeight='bold' fill='#FFFFFF' textAnchor='middle' fontFamily='Inter'&gt;L6&lt;/text&gt;&#13;&#10;            &lt;text fontFamily='Microsoft YaHei' x='639' y='164' fontSize='13' fill='#F3E2CC' textAnchor='middle'&gt;50 题&lt;/text&gt;&#13;&#10;            &lt;text fontFamily='Microsoft YaHei' x='639' y='366' fontSize='12' fill='#5A6B7A' textAnchor='middle'&gt;项目 / 工程 /&lt;/text&gt;&#13;&#10;            &lt;text fontFamily='Microsoft YaHei' x='639' y='386' fontSize='12' fill='#8A9AAA' textAnchor='middle'&gt;12 小时&lt;/text&gt;&#13;&#10;        &lt;/svg&gt;&#13;&#10;    &lt;/Box&gt;&#13;&#10;&#13;&#10;    &lt;Box style={{ position: 'absolute', right: 64, top: 148, width: 420, flexDirection: 'column', gap: 14 }}&gt;&#13;&#10;        &lt;Box style={{ background: '#FFFFFF', border: '1px solid #D8E3EE', borderRadius: 12, padding: 18, flexDirection: 'column', gap: 8 }}&gt;&#13;&#10;            &lt;Text style={{ fontSize: 18, fontWeight: 'bold', color: '#1F5FA8' }}&gt;每题的固定三段结构&lt;/Text&gt;&#13;&#10;            &lt;Text style={{ fontSize: 15, color: '#5A6B7A', lineHeight: 1.65 }}&gt;&#13;&#10;                题目（写清输入输出）→ 参考答案（完整可运行代码，不是伪代码）→ 解析（说明为什么这么写，以及常见错法）&#13;&#10;            &lt;/Text&gt;&#13;&#10;        &lt;/Box&gt;&#13;&#10;&#13;&#10;        &lt;Box style={{ background: '#FFFFFF', border: '1px solid #D8E3EE', borderRadius: 12, padding: 18, flexDirection: 'column', gap: 8 }}&gt;&#13;&#10;            &lt;Text style={{ fontSize: 18, fontWeight: 'bold', color: '#1F5FA8' }}&gt;重点题（会卡人的）&lt;/Text&gt;&#13;&#10;            &lt;Text style={{ fontSize: 15, color: '#5A6B7A', lineHeight: 1.7 }}&gt;&#13;&#10;                L2-5 列表引用陷阱&lt;br /&gt;&#13;&#10;                L2-14 for-else 写法&lt;br /&gt;&#13;&#10;                L3-3 列表传参改与不改&lt;br /&gt;&#13;&#10;                L4-3 属性私有化与 @property&lt;br /&gt;&#13;&#10;                L5-3 异常 else 子句&#13;&#10;            &lt;/Text&gt;&#13;&#10;        &lt;/Box&gt;&#13;&#10;&#13;&#10;        &lt;Box style={{ background: '#FDF3E2', borderRadius: 12, padding: 18, flexDirection: 'column', gap: 8 }}&gt;&#13;&#10;            &lt;Text style={{ fontSize: 18, fontWeight: 'bold', color: '#8A5A08' }}&gt;另外有 3 道综合挑战&lt;/Text&gt;&#13;&#10;            &lt;Text style={{ fontSize: 15, color: '#5A6B7A', lineHeight: 1.7 }}&gt;&#13;&#10;                A 文本词频分析器&lt;br /&gt;&#13;&#10;                B 学生成绩管理器&lt;br /&gt;&#13;&#10;                C 命令行记事本&lt;br /&gt;&#13;&#10;                三道都涉及模块化拆分与 pytest&#13;&#10;            &lt;/Text&gt;&#13;&#10;        &lt;/Box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19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练习题库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六档递进共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120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题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每题都有参考答案与解析。卡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分钟再看答案，看完必须关掉重写一遍</a:t>
            </a:r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5300" y="1447800"/>
            <a:ext cx="6953250" cy="3810000"/>
          </a:xfrm>
          <a:prstGeom prst="rect">
            <a:avLst/>
          </a:prstGeom>
          <a:ln/>
        </p:spPr>
      </p:pic>
      <p:sp>
        <p:nvSpPr>
          <p:cNvPr id="238" name=""/>
          <p:cNvSpPr/>
          <p:nvPr/>
        </p:nvSpPr>
        <p:spPr>
          <a:xfrm rot="0" flipH="0" flipV="0">
            <a:off x="7581900" y="140970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753350" y="15811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每题的固定三段结构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7753350" y="1866900"/>
            <a:ext cx="36576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题目（写清输入输出）→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参考答案（完整可运行代码，不是伪代码）→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解析（说明为什么这么写，以及常见错法）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7581900" y="2743200"/>
            <a:ext cx="4000500" cy="208597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753350" y="2914650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5FA8"/>
                </a:solidFill>
                <a:latin typeface="Microsoft YaHei"/>
                <a:ea typeface="Microsoft YaHei"/>
              </a:rPr>
              <a:t>重点题（会卡人的）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753350" y="3200400"/>
            <a:ext cx="3657600" cy="14573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列表引用陷阱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L2-14 for-else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写法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L3-3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列表传参改与不改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L4-3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属性私有化与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@property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L5-3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异常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else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子句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581900" y="4962525"/>
            <a:ext cx="4000500" cy="1800225"/>
          </a:xfrm>
          <a:prstGeom prst="roundRect">
            <a:avLst>
              <a:gd name="adj" fmla="val 6349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753350" y="5133975"/>
            <a:ext cx="3657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另外有</a:t>
            </a:r>
            <a:r>
              <a:rPr lang="en-US" sz="1350" b="1">
                <a:solidFill>
                  <a:srgbClr val="8A5A0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350" b="1">
                <a:solidFill>
                  <a:srgbClr val="8A5A08"/>
                </a:solidFill>
                <a:latin typeface="Microsoft YaHei"/>
                <a:ea typeface="Microsoft YaHei"/>
              </a:rPr>
              <a:t>道综合挑战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753350" y="5419725"/>
            <a:ext cx="3657600" cy="11715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A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文本词频分析器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  <a:p>
            <a:pPr>
              <a:lnSpc>
                <a:spcPct val="17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命令行记事本</a:t>
            </a:r>
            <a:endParaRPr/>
          </a:p>
          <a:p>
            <a:pPr>
              <a:lnSpc>
                <a:spcPct val="17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三道都涉及模块化拆分与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19 / 23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275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136px', background: '#16232E' }} /&gt;&#13;&#10;    &lt;Box style={{ position: 'absolute', left: 64, top: 34, width: '1152px', flexDirection: 'column' }}&gt;&#13;&#10;        &lt;Text style={{ fontSize: 34, fontWeight: 'bold', color: '#FFFFFF' }}&gt;常见卡点与对策&lt;/Text&gt;&#13;&#10;        &lt;Text style={{ fontSize: 17, color: '#A8C4DE', marginTop: 8 }}&gt;&#13;&#10;            这六处是零基础学员 90% 会卡住的地方，提前告知比事后补救有效得多&#13;&#10;        &lt;/Text&gt;&#13;&#10;    &lt;/Box&gt;&#13;&#10;&#13;&#10;    &lt;Box style={{ position: 'absolute', left: 64, top: 160, width: '1152px', height: 440, flexDirection: 'row', gap: 14 }}&gt;&#13;&#10;        &lt;Box style={{ flex: 1, background: '#FFFFFF', border: '1px solid #D8E3EE', borderRadius: 12, padding: 20, flexDirection: 'column', gap: 10 }}&gt;&#13;&#10;            &lt;Text style={{ fontSize: 20, fontWeight: 'bold', color: '#E08A15' }}&gt;第 4–7 章&lt;/Text&gt;&#13;&#10;            &lt;Text style={{ fontSize: 15, color: '#5A6B7A', lineHeight: 1.6 }}&gt;列表 → if → while，语法密度陡增，缩进错误开始变多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动手练重做一遍，同一道题写三遍直到不用想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8 章 函数&lt;/Text&gt;&#13;&#10;            &lt;Text style={{ fontSize: 15, color: '#5A6B7A', lineHeight: 1.6 }}&gt;抽象思维跳跃，卡在「不知道该拆成几个函数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先抄教材 3 个例子，再逐个改需求，最后自己拆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E08A15' }}&gt;第 9 章 类&lt;/Text&gt;&#13;&#10;            &lt;Text style={{ fontSize: 15, color: '#5A6B7A', lineHeight: 1.6 }}&gt;零基础最劝退的一章，直觉上是「凭空造东西」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允许慢 2 周，造学生 / 购物车 / 账户三个真实类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0 章 文件&lt;/Text&gt;&#13;&#10;            &lt;Text style={{ fontSize: 15, color: '#5A6B7A', lineHeight: 1.6 }}&gt;编码报错、路径找不到、JSON 格式写错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全程用 pathlib + with + utf-8，从第一行就写对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1F5FA8' }}&gt;第 11 章 pytest&lt;/Text&gt;&#13;&#10;            &lt;Text style={{ fontSize: 15, color: '#5A6B7A', lineHeight: 1.6 }}&gt;装不上、找不到 pytest、不知道测什么&lt;/Text&gt;&#13;&#10;            &lt;Box style={{ flex: 1, background: '#EEF5FB', borderRadius: 8, padding: '12px 14px', marginTop: 'auto' }}&gt;&#13;&#10;                &lt;Text style={{ fontSize: 13, color: '#8A9AAA', fontWeight: 'bold' }}&gt;对策&lt;/Text&gt;&#13;&#10;                &lt;Text style={{ fontSize: 15, color: '#1F5FA8', lineHeight: 1.6 }}&gt;单元 0 就建虚拟环境，只测自己写过的小函数&lt;/Text&gt;&#13;&#10;            &lt;/Box&gt;&#13;&#10;        &lt;/Box&gt;&#13;&#10;&#13;&#10;        &lt;Box style={{ flex: 1, background: '#FFFFFF', border: '1px solid #D8E3EE', borderRadius: 12, padding: 20, flexDirection: 'column', gap: 10 }}&gt;&#13;&#10;            &lt;Text style={{ fontSize: 20, fontWeight: 'bold', color: '#D1394B' }}&gt;学不下去&lt;/Text&gt;&#13;&#10;            &lt;Text style={{ fontSize: 15, color: '#5A6B7A', lineHeight: 1.6 }}&gt;战线太长看不到进展，积极性断崖&lt;/Text&gt;&#13;&#10;            &lt;Box style={{ flex: 1, background: '#FDEEF0', borderRadius: 8, padding: '12px 14px', marginTop: 'auto' }}&gt;&#13;&#10;                &lt;Text style={{ fontSize: 13, color: '#A85C68', fontWeight: 'bold' }}&gt;对策&lt;/Text&gt;&#13;&#10;                &lt;Text style={{ fontSize: 15, color: '#A8323F', lineHeight: 1.6 }}&gt;切回短任务，只做一个 20 行的小程序，两天内见效&lt;/Text&gt;&#13;&#10;            &lt;/Box&gt;&#13;&#10;        &lt;/Box&gt;&#13;&#10;    &lt;/Box&gt;&#13;&#10;&#13;&#10;    &lt;Box style={{&#13;&#10;        position: 'absolute', left: 64, top: 606, width: '1152px', height: 62,&#13;&#10;        background: '#EEF5FB', borderRadius: 10, flexDirection: 'row',&#13;&#10;        alignItems: 'center', padding: '0 24px', gap: 16,&#13;&#10;    }}&gt;&#13;&#10;        &lt;Text style={{ fontSize: 16, fontWeight: 'bold', color: '#1F5FA8' }}&gt;通用原则&lt;/Text&gt;&#13;&#10;        &lt;Text style={{ fontSize: 16, color: '#3A4A58' }}&gt;&#13;&#10;            任何一章卡住超过两周，先降难度而不是硬啃：降级到 L3 题库对应档位，重做一遍再来。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0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0" y="0"/>
            <a:ext cx="12192000" cy="1295400"/>
          </a:xfrm>
          <a:prstGeom prst="rect">
            <a:avLst/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常见卡点与对策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09600" y="790575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这六处是零基础学员</a:t>
            </a:r>
            <a:r>
              <a:rPr lang="en-US" sz="1275">
                <a:solidFill>
                  <a:srgbClr val="A8C4DE"/>
                </a:solidFill>
                <a:latin typeface="Microsoft YaHei"/>
                <a:ea typeface="Microsoft YaHei"/>
              </a:rPr>
              <a:t xml:space="preserve"> 90% </a:t>
            </a:r>
            <a:r>
              <a:rPr lang="zh-CN" sz="1275">
                <a:solidFill>
                  <a:srgbClr val="A8C4DE"/>
                </a:solidFill>
                <a:latin typeface="Microsoft YaHei"/>
                <a:ea typeface="Microsoft YaHei"/>
              </a:rPr>
              <a:t>会卡住的地方，提前告知比事后补救有效得多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6096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001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4–7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列表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 if → while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，语法密度陡增，缩进错误开始变多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800100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933450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33450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动手练重做一遍，同一道题写三遍直到不用想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2457450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647950" y="1714500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2647950" y="20383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抽象思维跳跃，卡在「不知道该拆成几个函数」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2647950" y="2962275"/>
            <a:ext cx="1343025" cy="25622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781300" y="30765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2781300" y="32289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先抄教材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个例子，再逐个改需求，最后自己拆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431482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50532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E08A15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505325" y="2038350"/>
            <a:ext cx="13335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零基础最劝退的一章，直觉上是「凭空造东西」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4505325" y="2962275"/>
            <a:ext cx="1333500" cy="2562225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638675" y="3076575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638675" y="3228975"/>
            <a:ext cx="10668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允许慢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周，造学生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购物车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账户三个真实类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6162675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353175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文件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6353175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编码报错、路径找不到、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格式写错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353175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486525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486525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全程用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pathlib + with + utf-8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，从第一行就写对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8010525" y="1524000"/>
            <a:ext cx="1724025" cy="4191000"/>
          </a:xfrm>
          <a:prstGeom prst="roundRect">
            <a:avLst>
              <a:gd name="adj" fmla="val 663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8201025" y="1714500"/>
            <a:ext cx="134302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第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F5FA8"/>
                </a:solidFill>
                <a:latin typeface="Microsoft YaHei"/>
                <a:ea typeface="Microsoft YaHei"/>
              </a:rPr>
              <a:t>章</a:t>
            </a:r>
            <a:r>
              <a:rPr lang="en-US" sz="1500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pytest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8201025" y="2266950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装不上、找不到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、不知道测什么</a:t>
            </a:r>
            <a:endParaRPr/>
          </a:p>
        </p:txBody>
      </p:sp>
      <p:sp>
        <p:nvSpPr>
          <p:cNvPr id="307" name=""/>
          <p:cNvSpPr/>
          <p:nvPr/>
        </p:nvSpPr>
        <p:spPr>
          <a:xfrm rot="0" flipH="0" flipV="0">
            <a:off x="8201025" y="3190875"/>
            <a:ext cx="1343025" cy="2333625"/>
          </a:xfrm>
          <a:prstGeom prst="roundRect">
            <a:avLst>
              <a:gd name="adj" fmla="val 5674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8334375" y="3305175"/>
            <a:ext cx="1076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8A9AAA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8334375" y="3457575"/>
            <a:ext cx="10763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1F5FA8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125">
                <a:solidFill>
                  <a:srgbClr val="1F5FA8"/>
                </a:solidFill>
                <a:latin typeface="Microsoft YaHei"/>
                <a:ea typeface="Microsoft YaHei"/>
              </a:rPr>
              <a:t>就建虚拟环境，只测自己写过的小函数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9867900" y="1524000"/>
            <a:ext cx="1714500" cy="41910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058400" y="171450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1394B"/>
                </a:solidFill>
                <a:latin typeface="Microsoft YaHei"/>
                <a:ea typeface="Microsoft YaHei"/>
              </a:rPr>
              <a:t>学不下去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10058400" y="2038350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战线太长看不到进展，积极性断崖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10058400" y="2686050"/>
            <a:ext cx="1333500" cy="2838450"/>
          </a:xfrm>
          <a:prstGeom prst="roundRect">
            <a:avLst>
              <a:gd name="adj" fmla="val 5714"/>
            </a:avLst>
          </a:prstGeom>
          <a:solidFill>
            <a:srgbClr val="FDEEF0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0191750" y="2800350"/>
            <a:ext cx="1066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A85C68"/>
                </a:solidFill>
                <a:latin typeface="Microsoft YaHei"/>
                <a:ea typeface="Microsoft YaHei"/>
              </a:rPr>
              <a:t>对策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10191750" y="2952750"/>
            <a:ext cx="1066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切回短任务，只做一个</a:t>
            </a:r>
            <a:r>
              <a:rPr lang="en-US" sz="1125">
                <a:solidFill>
                  <a:srgbClr val="A8323F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125">
                <a:solidFill>
                  <a:srgbClr val="A8323F"/>
                </a:solidFill>
                <a:latin typeface="Microsoft YaHei"/>
                <a:ea typeface="Microsoft YaHei"/>
              </a:rPr>
              <a:t>行的小程序，两天内见效</a:t>
            </a:r>
            <a:endParaRPr/>
          </a:p>
        </p:txBody>
      </p:sp>
      <p:sp>
        <p:nvSpPr>
          <p:cNvPr id="316" name=""/>
          <p:cNvSpPr/>
          <p:nvPr/>
        </p:nvSpPr>
        <p:spPr>
          <a:xfrm rot="0" flipH="0" flipV="0">
            <a:off x="609600" y="5772150"/>
            <a:ext cx="10972800" cy="590550"/>
          </a:xfrm>
          <a:prstGeom prst="roundRect">
            <a:avLst>
              <a:gd name="adj" fmla="val 16129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38200" y="59721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通用原则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1600200" y="5972175"/>
            <a:ext cx="605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任何一章卡住超过两周，先降难度而不是硬啃：降级到</a:t>
            </a:r>
            <a:r>
              <a:rPr lang="en-US" sz="1200">
                <a:solidFill>
                  <a:srgbClr val="3A4A58"/>
                </a:solidFill>
                <a:latin typeface="Microsoft YaHei"/>
                <a:ea typeface="Microsoft YaHei"/>
              </a:rPr>
              <a:t xml:space="preserve"> L3 </a:t>
            </a:r>
            <a:r>
              <a:rPr lang="zh-CN" sz="1200">
                <a:solidFill>
                  <a:srgbClr val="3A4A58"/>
                </a:solidFill>
                <a:latin typeface="Microsoft YaHei"/>
                <a:ea typeface="Microsoft YaHei"/>
              </a:rPr>
              <a:t>题库对应档位，重做一遍再来。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20 / 23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>
  <p:cSld>
    <p:spTree>
      <p:nvGrpSpPr>
        <p:cNvPr id="321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Text style={{ fontSize: 36, fontWeight: 'bold', color: '#16232E' }}&gt;综合项目 · 三选一&lt;/Text&gt;&#13;&#10;        &lt;Text style={{ fontSize: 18, color: '#5A6B7A', marginTop: 6 }}&gt;&#13;&#10;            单元 11 之后花 2–3 周做掉一个。目的不是练新语法，是把 11 章串成一个完整程序&#13;&#10;        &lt;/Text&gt;&#13;&#10;    &lt;/Box&gt;&#13;&#10;&#13;&#10;    &lt;Box style={{ position: 'absolute', left: 64, top: 146, width: '1152px', height: 438, flexDirection: 'row', gap: 16 }}&gt;&#13;&#10;        &lt;Box style={{&#13;&#10;            flex: 1, background: '#FFFFFF', border: '2px solid #E08A15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E08A15', lineHeight: 1 }}&gt;A&lt;/Text&gt;&#13;&#10;                &lt;Box style={{ background: '#E08A15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个人记账本&lt;/Text&gt;&#13;&#10;            &lt;Text style={{ fontSize: 14, color: '#8A9AAA' }}&gt;复习强度：中等 · 2 周&lt;/Text&gt;&#13;&#10;            &lt;Box style={{ flex: 1, flexDirection: 'column', gap: 8 }}&gt;&#13;&#10;                &lt;Text style={{ fontSize: 15, color: '#5A6B7A', lineHeight: 1.65 }}&gt;&#13;&#10;                    把交易记录写进文本文件，读取后汇总金额，按月统计并画成柱状图。&#13;&#10;                &lt;/Text&gt;&#13;&#10;                &lt;Text style={{ fontSize: 15, color: '#5A6B7A', lineHeight: 1.65 }}&gt;&#13;&#10;                    覆盖：文件读写、异常处理、字典与列表、字符串解析。&#13;&#10;                &lt;/Text&gt;&#13;&#10;                &lt;Text style={{ fontSize: 15, color: '#5A6B7A', lineHeight: 1.65 }}&gt;&#13;&#10;                    延伸：把图表导出成图片保存到本地。&#13;&#10;                &lt;/Text&gt;&#13;&#10;            &lt;/Box&gt;&#13;&#10;            &lt;Box style={{ background: '#FDF3E2', borderRadius: 8, padding: '12px 14px', marginTop: 'auto' }}&gt;&#13;&#10;                &lt;Text style={{ fontSize: 13, color: '#B07A10' }}&gt;适合&lt;/Text&gt;&#13;&#10;                &lt;Text style={{ fontSize: 15, color: '#8A5A08', fontWeight: 'bold' }}&gt;文件与异常还不够熟的学员&lt;/Text&gt;&#13;&#10;            &lt;/Box&gt;&#13;&#10;        &lt;/Box&gt;&#13;&#10;&#13;&#10;        &lt;Box style={{&#13;&#10;            flex: 1, background: '#FFFFFF', border: '2px solid #1F5FA8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1F5FA8', lineHeight: 1 }}&gt;B&lt;/Text&gt;&#13;&#10;                &lt;Box style={{ background: '#1F5FA8', borderRadius: 5, padding: '4px 12px' }}&gt;&#13;&#10;                    &lt;Text style={{ fontSize: 13, fontWeight: 'bold', color: '#FFFFFF' }}&gt;推荐&lt;/Text&gt;&#13;&#10;                &lt;/Box&gt;&#13;&#10;            &lt;/Box&gt;&#13;&#10;            &lt;Text style={{ fontSize: 21, fontWeight: 'bold', color: '#16232E' }}&gt;学生成绩管理器&lt;/Text&gt;&#13;&#10;            &lt;Text style={{ fontSize: 14, color: '#8A9AAA' }}&gt;复习强度：较高 · 3 周&lt;/Text&gt;&#13;&#10;            &lt;Box style={{ flex: 1, flexDirection: 'column', gap: 8 }}&gt;&#13;&#10;                &lt;Text style={{ fontSize: 15, color: '#5A6B7A', lineHeight: 1.65 }}&gt;&#13;&#10;                    增删改查学生成绩，按总分或单科排序，计算平均分与及格率，数据存 JSON。&#13;&#10;                &lt;/Text&gt;&#13;&#10;                &lt;Text style={{ fontSize: 15, color: '#5A6B7A', lineHeight: 1.65 }}&gt;&#13;&#10;                    覆盖：类、@property、异常、JSON、每项操作要有输入校验。&#13;&#10;                &lt;/Text&gt;&#13;&#10;                &lt;Text style={{ fontSize: 15, color: '#5A6B7A', lineHeight: 1.65 }}&gt;&#13;&#10;                    延伸：补 8 条以上 pytest 测试。&#13;&#10;                &lt;/Text&gt;&#13;&#10;            &lt;/Box&gt;&#13;&#10;            &lt;Box style={{ background: '#EEF5FB', borderRadius: 8, padding: '12px 14px', marginTop: 'auto' }}&gt;&#13;&#10;                &lt;Text style={{ fontSize: 13, color: '#8A9AAA' }}&gt;适合&lt;/Text&gt;&#13;&#10;                &lt;Text style={{ fontSize: 15, color: '#1F5FA8', fontWeight: 'bold' }}&gt;想重点巩固类与面向对象的学员&lt;/Text&gt;&#13;&#10;            &lt;/Box&gt;&#13;&#10;        &lt;/Box&gt;&#13;&#10;&#13;&#10;        &lt;Box style={{&#13;&#10;            flex: 1, background: '#FFFFFF', border: '1px solid #D8E3EE', borderRadius: 12,&#13;&#10;            padding: 20, flexDirection: 'column', gap: 12,&#13;&#10;        }}&gt;&#13;&#10;            &lt;Box style={{ flexDirection: 'row', alignItems: 'center', justifyContent: 'space-between' }}&gt;&#13;&#10;                &lt;Text style={{ fontSize: 46, fontWeight: 'bold', color: '#0E9B78', lineHeight: 1 }}&gt;C&lt;/Text&gt;&#13;&#10;            &lt;/Box&gt;&#13;&#10;            &lt;Text style={{ fontSize: 21, fontWeight: 'bold', color: '#16232E' }}&gt;命令行记事本&lt;/Text&gt;&#13;&#10;            &lt;Text style={{ fontSize: 14, color: '#8A9AAA' }}&gt;复习强度：最高 · 3 周&lt;/Text&gt;&#13;&#10;            &lt;Box style={{ flex: 1, flexDirection: 'column', gap: 8 }}&gt;&#13;&#10;                &lt;Text style={{ fontSize: 15, color: '#5A6B7A', lineHeight: 1.65 }}&gt;&#13;&#10;                    支持 add / list / find / del / edit 五个子命令，数据存 JSON，&#13;&#10;                    用 argparse 处理命令行参数。&#13;&#10;                &lt;/Text&gt;&#13;&#10;                &lt;Text style={{ fontSize: 15, color: '#5A6B7A', lineHeight: 1.65 }}&gt;&#13;&#10;                    覆盖：模块化拆分、argparse、异常兜底、测试。&#13;&#10;                &lt;/Text&gt;&#13;&#10;                &lt;Text style={{ fontSize: 15, color: '#5A6B7A', lineHeight: 1.65 }}&gt;&#13;&#10;                    延伸：这是阶段 2 外星人项目的预热，提前练「大项目拆解」的手感。&#13;&#10;                &lt;/Text&gt;&#13;&#10;            &lt;/Box&gt;&#13;&#10;            &lt;Box style={{ background: '#E8F7F1', borderRadius: 8, padding: '12px 14px', marginTop: 'auto' }}&gt;&#13;&#10;                &lt;Text style={{ fontSize: 13, color: '#6B9F8C' }}&gt;适合&lt;/Text&gt;&#13;&#10;                &lt;Text style={{ fontSize: 15, color: '#0A7A5F', fontWeight: 'bold' }}&gt;想直接衔接阶段 2 的学员&lt;/Text&gt;&#13;&#10;            &lt;/Box&gt;&#13;&#10;        &lt;/Box&gt;&#13;&#10;    &lt;/Box&gt;&#13;&#10;&#13;&#10;    &lt;Box style={{&#13;&#10;        position: 'absolute', left: 64, top: 592, width: '1152px', height: 76,&#13;&#10;        background: '#16232E', borderRadius: 12, flexDirection: 'row',&#13;&#10;        alignItems: 'center', padding: '0 26px', gap: 20,&#13;&#10;    }}&gt;&#13;&#10;        &lt;Text style={{ fontSize: 18, fontWeight: 'bold', color: '#E8B36A' }}&gt;统一要求&lt;/Text&gt;&#13;&#10;        &lt;Text style={{ fontSize: 16, color: '#D6E4F0', lineHeight: 1.6 }}&gt;&#13;&#10;            拆成多个模块 · 补 pytest 测试 · 写 README 说明怎么跑 · 推到公开 git 仓库&#13;&#10;            —— 这四条做到位，直接衔接阶段 2&#13;&#10;        &lt;/Text&gt;&#13;&#10;    &lt;/Box&gt;&#13;&#10;&#13;&#10;    &lt;Box style={{&#13;&#10;        position: 'absolute', left: 64, bottom: 24, width: '1152px',&#13;&#10;        flexDirection: 'row', justifyContent: 'space-between', alignItems: 'center',&#13;&#10;    }}&gt;&#13;&#10;        &lt;Text style={{ fontSize: 14, color: '#8A9AAA' }}&gt;Python 阶段 0–2 课程大纲&lt;/Text&gt;&#13;&#10;        &lt;Text style={{ fontSize: 14, color: '#8A9AAA' }}&gt;21 / 23&lt;/Text&gt;&#13;&#10;  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09600" y="381000"/>
            <a:ext cx="10972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三选一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之后花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周做掉一个。目的不是练新语法，是把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章串成一个完整程序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609600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25400">
            <a:solidFill>
              <a:srgbClr val="E08A15"/>
            </a:solidFill>
            <a:prstDash val="solid"/>
          </a:ln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0100" y="1581150"/>
            <a:ext cx="3333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E08A15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349567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60997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800100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个人记账本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00100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复习强度：中等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00100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把交易记录写进文本文件，读取后汇总金额，按月统计并画成柱状图。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00100" y="35147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覆盖：文件读写、异常处理、字典与列表、字符串解析。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41624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延伸：把图表导出成图片保存到本地。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800100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933450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B07A10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933450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A5A08"/>
                </a:solidFill>
                <a:latin typeface="Microsoft YaHei"/>
                <a:ea typeface="Microsoft YaHei"/>
              </a:rPr>
              <a:t>文件与异常还不够熟的学员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314825" y="1390650"/>
            <a:ext cx="3562350" cy="417195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25400">
            <a:solidFill>
              <a:srgbClr val="1F5FA8"/>
            </a:solidFill>
            <a:prstDash val="solid"/>
          </a:ln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505325" y="1581150"/>
            <a:ext cx="3048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1F5FA8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7210425" y="1733550"/>
            <a:ext cx="476250" cy="228600"/>
          </a:xfrm>
          <a:prstGeom prst="roundRect">
            <a:avLst>
              <a:gd name="adj" fmla="val 20833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324725" y="1771650"/>
            <a:ext cx="247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>
                <a:solidFill>
                  <a:srgbClr val="FFFFFF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4505325" y="2228850"/>
            <a:ext cx="3181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学生成绩管理器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4505325" y="2590800"/>
            <a:ext cx="3181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复习强度：较高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505325" y="28670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增删改查学生成绩，按总分或单科排序，计算平均分与及格率，数据存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4505325" y="3514725"/>
            <a:ext cx="3181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覆盖：类、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@property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、每项操作要有输入校验。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4505325" y="4162425"/>
            <a:ext cx="3181350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延伸：补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条以上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测试。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4505325" y="4819650"/>
            <a:ext cx="3181350" cy="552450"/>
          </a:xfrm>
          <a:prstGeom prst="roundRect">
            <a:avLst>
              <a:gd name="adj" fmla="val 1379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4638675" y="4933950"/>
            <a:ext cx="29146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4638675" y="5086350"/>
            <a:ext cx="2914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F5FA8"/>
                </a:solidFill>
                <a:latin typeface="Microsoft YaHei"/>
                <a:ea typeface="Microsoft YaHei"/>
              </a:rPr>
              <a:t>想重点巩固类与面向对象的学员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8029575" y="1390650"/>
            <a:ext cx="3552825" cy="417195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220075" y="1581150"/>
            <a:ext cx="295275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450" b="1">
                <a:solidFill>
                  <a:srgbClr val="0E9B78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8220075" y="2228850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6232E"/>
                </a:solidFill>
                <a:latin typeface="Microsoft YaHei"/>
                <a:ea typeface="Microsoft YaHei"/>
              </a:rPr>
              <a:t>命令行记事本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220075" y="2590800"/>
            <a:ext cx="3171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复习强度：最高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周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20075" y="286702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支持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add / list / find / del / edit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五个子命令，数据存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JSON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用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argparse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处理命令行参数。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20075" y="3514725"/>
            <a:ext cx="3171825" cy="28575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覆盖：模块化拆分、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argparse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、异常兜底、测试。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220075" y="3876675"/>
            <a:ext cx="31718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延伸：这是阶段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外星人项目的预热，提前练「大项目拆解」的手感。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8220075" y="4819650"/>
            <a:ext cx="3171825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8353425" y="4933950"/>
            <a:ext cx="2905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B9F8C"/>
                </a:solidFill>
                <a:latin typeface="Microsoft YaHei"/>
                <a:ea typeface="Microsoft YaHei"/>
              </a:rPr>
              <a:t>适合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353425" y="5086350"/>
            <a:ext cx="2905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想直接衔接阶段</a:t>
            </a:r>
            <a:r>
              <a:rPr lang="en-US" sz="1125" b="1">
                <a:solidFill>
                  <a:srgbClr val="0A7A5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 b="1">
                <a:solidFill>
                  <a:srgbClr val="0A7A5F"/>
                </a:solidFill>
                <a:latin typeface="Microsoft YaHei"/>
                <a:ea typeface="Microsoft YaHei"/>
              </a:rPr>
              <a:t>的学员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09600" y="5638800"/>
            <a:ext cx="10972800" cy="723900"/>
          </a:xfrm>
          <a:prstGeom prst="roundRect">
            <a:avLst>
              <a:gd name="adj" fmla="val 15789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57250" y="58959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E8B36A"/>
                </a:solidFill>
                <a:latin typeface="Microsoft YaHei"/>
                <a:ea typeface="Microsoft YaHei"/>
              </a:rPr>
              <a:t>统一要求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1733550" y="5857875"/>
            <a:ext cx="767715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拆成多个模块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补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pytest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测试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写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README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说明怎么跑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推到公开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git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仓库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>
                <a:solidFill>
                  <a:srgbClr val="D6E4F0"/>
                </a:solidFill>
                <a:latin typeface="Microsoft YaHei"/>
                <a:ea typeface="Microsoft YaHei"/>
              </a:rPr>
              <a:t>这四条做到位，直接衔接阶段</a:t>
            </a:r>
            <a:r>
              <a:rPr lang="en-US" sz="1200">
                <a:solidFill>
                  <a:srgbClr val="D6E4F0"/>
                </a:solidFill>
                <a:latin typeface="Microsoft YaHei"/>
                <a:ea typeface="Microsoft YaHei"/>
              </a:rPr>
              <a:t xml:space="preserve"> 2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09600" y="646747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1125200" y="64674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21 / 23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4" name="" descr="&lt;Slide style={{&#13;&#10;    width: '1280px', height: '720px', backgroundColor: '#FAFCFE',&#13;&#10;    padding: 0, position: 'relative', overflow: 'hidden',&#13;&#10;}}&gt;&#13;&#10;    &lt;Box style={{ position: 'absolute', left: 64, top: 40, width: '1152px', flexDirection: 'column' }}&gt;&#13;&#10;        &lt;Box style={{ flexDirection: 'row', alignItems: 'center', gap: 14, marginBottom: 6 }}&gt;&#13;&#10;            &lt;Box style={{ background: '#16232E', borderRadius: 5, padding: '4px 12px' }}&gt;&#13;&#10;                &lt;Text style={{ fontSize: 14, fontWeight: 'bold', color: '#FFFFFF' }}&gt;通过关卡 2 之后&lt;/Text&gt;&#13;&#10;            &lt;/Box&gt;&#13;&#10;            &lt;Text style={{ fontSize: 36, fontWeight: 'bold', color: '#16232E' }}&gt;阶段 3 · 从会写代码到会交付软件&lt;/Text&gt;&#13;&#10;        &lt;/Box&gt;&#13;&#10;        &lt;Text style={{ fontSize: 18, color: '#5A6B7A' }}&gt;&#13;&#10;            这部分教材刻意不讲，但它决定你是「会写代码的人」还是「能交付软件的人」。与阶段 2 并行穿插，占比约 15%&#13;&#10;        &lt;/Text&gt;&#13;&#10;    &lt;/Box&gt;&#13;&#10;&#13;&#10;    &lt;Box style={{ position: 'absolute', left: 64, top: 144, width: '1152px', height: 216 }}&gt;&#13;&#10;        &lt;svg width='1152' height='216' viewBox='0 0 1152 216'&gt;&#13;&#10;            &lt;text x='0' y='18' fontSize='15' fontWeight='bold' fill='#16232E' fontFamily='Microsoft YaHei'&gt;六项教材外的必补能力&lt;/text&gt;&#13;&#10;&#13;&#10;            &lt;rect x='0' y='34' width='182' height='88' rx='10' fill='#1F5FA8' /&gt;&#13;&#10;            &lt;text x='91' y='64' fontSize='14.5' fontWeight='bold' fill='#FFFFFF' textAnchor='middle' fontFamily='Microsoft YaHei'&gt;虚拟环境&lt;/text&gt;&#13;&#10;            &lt;text x='91' y='86' fontSize='12' fill='#CFE2F5' textAnchor='middle' fontFamily='Microsoft YaHei'&gt;venv / pip&lt;/text&gt;&#13;&#10;            &lt;text x='91' y='106' fontSize='12' fill='#CFE2F5' textAnchor='middle' fontFamily='Microsoft YaHei'&gt;requirements.txt&lt;/text&gt;&#13;&#10;&#13;&#10;            &lt;rect x='194' y='34' width='182' height='88' rx='10' fill='#2F7BC8' /&gt;&#13;&#10;            &lt;text x='285' y='64' fontSize='14.5' fontWeight='bold' fill='#FFFFFF' textAnchor='middle' fontFamily='Microsoft YaHei'&gt;Git 进阶&lt;/text&gt;&#13;&#10;            &lt;text x='285' y='86' fontSize='12' fill='#EAF3FC' textAnchor='middle' fontFamily='Microsoft YaHei'&gt;分支 / 合并&lt;/text&gt;&#13;&#10;            &lt;text x='285' y='106' fontSize='12' fill='#EAF3FC' textAnchor='middle' fontFamily='Microsoft YaHei'&gt;解决冲突 / tag&lt;/text&gt;&#13;&#10;&#13;&#10;            &lt;rect x='388' y='34' width='182' height='88' rx='10' fill='#2F7BC8' /&gt;&#13;&#10;            &lt;text x='479' y='64' fontSize='14.5' fontWeight='bold' fill='#FFFFFF' textAnchor='middle' fontFamily='Microsoft YaHei'&gt;调试能力&lt;/text&gt;&#13;&#10;            &lt;text x='479' y='86' fontSize='12' fill='#EAF3FC' textAnchor='middle' fontFamily='Microsoft YaHei'&gt;断点调试&lt;/text&gt;&#13;&#10;            &lt;text x='479' y='106' fontSize='12' fill='#EAF3FC' textAnchor='middle' fontFamily='Microsoft YaHei'&gt;逐层读 traceback&lt;/text&gt;&#13;&#10;&#13;&#10;            &lt;rect x='582' y='34' width='182' height='88' rx='10' fill='#0E9B78' /&gt;&#13;&#10;            &lt;text x='673' y='64' fontSize='14.5' fontWeight='bold' fill='#FFFFFF' textAnchor='middle' fontFamily='Microsoft YaHei'&gt;代码组织&lt;/text&gt;&#13;&#10;            &lt;text x='673' y='86' fontSize='12' fill='#D7F0E7' textAnchor='middle' fontFamily='Microsoft YaHei'&gt;超 300 行就拆&lt;/text&gt;&#13;&#10;            &lt;text x='673' y='106' fontSize='12' fill='#D7F0E7' textAnchor='middle' fontFamily='Microsoft YaHei'&gt;类型注解入门&lt;/text&gt;&#13;&#10;&#13;&#10;            &lt;rect x='776' y='34' width='182' height='88' rx='10' fill='#0E9B78' /&gt;&#13;&#10;            &lt;text x='867' y='64' fontSize='14.5' fontWeight='bold' fill='#FFFFFF' textAnchor='middle' fontFamily='Microsoft YaHei'&gt;读文档&lt;/text&gt;&#13;&#10;            &lt;text x='867' y='86' fontSize='12' fill='#D7F0E7' textAnchor='middle' fontFamily='Microsoft YaHei'&gt;官方文档检索&lt;/text&gt;&#13;&#10;            &lt;text x='867' y='106' fontSize='12' fill='#D7F0E7' textAnchor='middle' fontFamily='Microsoft YaHei'&gt;看源码与 changelog&lt;/text&gt;&#13;&#10;&#13;&#10;            &lt;rect x='970' y='34' width='182' height='88' rx='10' fill='#E08A15' /&gt;&#13;&#10;            &lt;text x='1061' y='64' fontSize='14.5' fontWeight='bold' fill='#FFFFFF' textAnchor='middle' fontFamily='Microsoft YaHei'&gt;选一个方向深挖&lt;/text&gt;&#13;&#10;            &lt;text x='1061' y='86' fontSize='12' fill='#FDF0DC' textAnchor='middle' fontFamily='Microsoft YaHei'&gt;Web / 数据&lt;/text&gt;&#13;&#10;            &lt;text x='1061' y='106' fontSize='12' fill='#FDF0DC' textAnchor='middle' fontFamily='Microsoft YaHei'&gt;爬虫 / 工程化&lt;/text&gt;&#13;&#10;&#13;&#10;            &lt;text x='0' y='156' fontSize='13.5' fill='#5A6B7A' fontFamily='Microsoft YaHei'&gt;补法：不是单独开一门课，而是把每条能力嵌进阶段 2 的项目里练——部署时学 venv，改错时学分支，拆文件时学重构。&lt;/text&gt;&#13;&#10;            &lt;text x='0' y='182' fontSize='13.5' fontWeight='bold' fill='#0E9B78' fontFamily='Microsoft YaHei'&gt;四个方向都要「先有项目、再学框架」，不要反过来先啃框架。&lt;/text&gt;&#13;&#10;        &lt;/svg&gt;&#13;&#10;    &lt;/Box&gt;&#13;&#10;&#13;&#10;    &lt;Box style={{ position: 'absolute', left: 64, top: 380, width: '1152px', height: 228, flexDirection: 'row', gap: 16 }}&gt;&#13;&#10;        &lt;Box style={{ flex: 1, background: '#FFFFFF', border: '1px solid #D8E3EE', borderRadius: 12, padding: 20, flexDirection: 'column', gap: 10 }}&gt;&#13;&#10;            &lt;Text style={{ fontSize: 17, fontWeight: 'bold', color: '#1F5FA8' }}&gt;阶段 3 想解决什么问题&lt;/Text&gt;&#13;&#10;            &lt;Text style={{ fontSize: 14.5, color: '#3A4A58', lineHeight: 1.8 }}&gt;&#13;&#10;                阶段 1 解决「写不出来」，阶段 2 解决「做不完整」，阶段 3 解决「交付不可靠」。&lt;br /&gt;&#13;&#10;                具体表现是：改一个功能不小心弄坏了别处（没测试）、线上出问题不知道怎么回滚（没版本管理）、&#13;&#10;                换台电脑就跑不起来（没锁依赖）。&#13;&#10;            &lt;/Text&gt;&#13;&#10;        &lt;/Box&gt;&#13;&#10;        &lt;Box style={{ flex: 1, background: '#EEF5FB', borderRadius: 12, padding: 20, flexDirection: 'column', gap: 10 }}&gt;&#13;&#10;            &lt;Text style={{ fontSize: 17, fontWeight: 'bold', color: '#1F5FA8' }}&gt;四条方向，先学什么&lt;/Text&gt;&#13;&#10;            &lt;Text style={{ fontSize: 14.5, color: '#3A4A58', lineHeight: 1.75 }}&gt;&#13;&#10;                &lt;b&gt;Web&lt;/b&gt; → Django REST Framework，把学习笔记做成接口&lt;br /&gt;&#13;&#10;                &lt;b&gt;数据&lt;/b&gt; → pandas / numpy，处理十万行以上的表&lt;br /&gt;&#13;&#10;                &lt;b&gt;自动化&lt;/b&gt; → requests + 定时任务，把重复劳动脚本化&lt;br /&gt;&#13;&#10;                &lt;b&gt;工程化&lt;/b&gt; → pytest 进阶、CI、类型检查&#13;&#10;            &lt;/Text&gt;&#13;&#10;        &lt;/Box&gt;&#13;&#10;    &lt;/Box&gt;&#13;&#10;&#13;&#10;    &lt;Box style={{ position: 'absolute', left: 64, bottom: 22, width: '1152px', flexDirection: 'row', justifyContent: 'space-between' }}&gt;&#13;&#10;        &lt;Text style={{ fontSize: 14, color: '#8A9AAA' }}&gt;Python 阶段 0–2 课程大纲&lt;/Text&gt;&#13;&#10;        &lt;Text style={{ fontSize: 14, color: '#8A9AAA' }}&gt;22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609600" y="476250"/>
            <a:ext cx="1190625" cy="238125"/>
          </a:xfrm>
          <a:prstGeom prst="roundRect">
            <a:avLst>
              <a:gd name="adj" fmla="val 20000"/>
            </a:avLst>
          </a:prstGeom>
          <a:solidFill>
            <a:srgbClr val="16232E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23900" y="514350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通过关卡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之后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933575" y="381000"/>
            <a:ext cx="51339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阶段</a:t>
            </a:r>
            <a:r>
              <a:rPr lang="en-US" sz="270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 · </a:t>
            </a:r>
            <a:r>
              <a:rPr lang="zh-CN" sz="2700" b="1">
                <a:solidFill>
                  <a:srgbClr val="16232E"/>
                </a:solidFill>
                <a:latin typeface="Microsoft YaHei"/>
                <a:ea typeface="Microsoft YaHei"/>
              </a:rPr>
              <a:t>从会写代码到会交付软件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609600" y="857250"/>
            <a:ext cx="1097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这部分教材刻意不讲，但它决定你是「会写代码的人」还是「能交付软件的人」。与阶段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350">
                <a:solidFill>
                  <a:srgbClr val="5A6B7A"/>
                </a:solidFill>
                <a:latin typeface="Microsoft YaHei"/>
                <a:ea typeface="Microsoft YaHei"/>
              </a:rPr>
              <a:t>并行穿插，占比约</a:t>
            </a:r>
            <a:r>
              <a:rPr lang="en-US" sz="1350">
                <a:solidFill>
                  <a:srgbClr val="5A6B7A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371600"/>
            <a:ext cx="10972800" cy="205740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096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8001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阶段</a:t>
            </a:r>
            <a:r>
              <a:rPr lang="en-US" sz="1275" b="1">
                <a:solidFill>
                  <a:srgbClr val="1F5FA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想解决什么问题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800100" y="4105275"/>
            <a:ext cx="5029200" cy="1200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解决「写不出来」，阶段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解决「做不完整」，阶段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解决「交付不可靠」。</a:t>
            </a:r>
            <a:endParaRPr/>
          </a:p>
          <a:p>
            <a:pPr>
              <a:lnSpc>
                <a:spcPct val="180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具体表现是：改一个功能不小心弄坏了别处（没测试）、线上出问题不知道怎么回滚（没版本管理）、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换台电脑就跑不起来（没锁依赖）。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6172200" y="3619500"/>
            <a:ext cx="5410200" cy="2171700"/>
          </a:xfrm>
          <a:prstGeom prst="roundRect">
            <a:avLst>
              <a:gd name="adj" fmla="val 5263"/>
            </a:avLst>
          </a:prstGeom>
          <a:solidFill>
            <a:srgbClr val="EEF5FB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362700" y="3810000"/>
            <a:ext cx="5029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5FA8"/>
                </a:solidFill>
                <a:latin typeface="Microsoft YaHei"/>
                <a:ea typeface="Microsoft YaHei"/>
              </a:rPr>
              <a:t>四条方向，先学什么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6362700" y="4105275"/>
            <a:ext cx="5029200" cy="1162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Web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Django REST Framework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，把学习笔记做成接口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数据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pandas / numpy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，处理十万行以上的表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自动化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requests +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定时任务，把重复劳动脚本化</a:t>
            </a:r>
            <a:endParaRPr/>
          </a:p>
          <a:p>
            <a:pPr>
              <a:lnSpc>
                <a:spcPct val="175000"/>
              </a:lnSpc>
            </a:pP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工程化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 xml:space="preserve"> → pytest 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进阶、</a:t>
            </a:r>
            <a:r>
              <a:rPr lang="en-US" sz="1088">
                <a:solidFill>
                  <a:srgbClr val="3A4A58"/>
                </a:solidFill>
                <a:latin typeface="Microsoft YaHei"/>
                <a:ea typeface="Microsoft YaHei"/>
              </a:rPr>
              <a:t>CI</a:t>
            </a:r>
            <a:r>
              <a:rPr lang="zh-CN" sz="1088">
                <a:solidFill>
                  <a:srgbClr val="3A4A58"/>
                </a:solidFill>
                <a:latin typeface="Microsoft YaHei"/>
                <a:ea typeface="Microsoft YaHei"/>
              </a:rPr>
              <a:t>、类型检查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09600" y="64865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8A9AAA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1252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AAA"/>
                </a:solidFill>
                <a:latin typeface="Microsoft YaHei"/>
                <a:ea typeface="Microsoft YaHei"/>
              </a:rPr>
              <a:t>22 / 23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379" name="" descr="&lt;Slide style={{&#13;&#10;    width: '1280px', height: '720px', backgroundColor: '#FAFCFE',&#13;&#10;    padding: 0, position: 'relative', overflow: 'hidden',&#13;&#10;}}&gt;&#13;&#10;    &lt;Box style={{ position: 'absolute', left: 0, top: 0, width: '1280px', height: '720px',&#13;&#10;        background: 'linear-gradient(135deg, #16232E 0%, #1F5FA8 100%)' }} /&gt;&#13;&#10;&#13;&#10;    &lt;Box style={{ position: 'absolute', left: 96, top: 104, width: '1090px', flexDirection: 'column' }}&gt;&#13;&#10;        &lt;Text style={{ fontSize: 30, color: '#8FB8E0', letterSpacing: 4 }}&gt;阶段 0–2 完整路径&lt;/Text&gt;&#13;&#10;        &lt;Text style={{ fontSize: 64, fontWeight: 'bold', color: '#FFFFFF', lineHeight: 1.25, marginTop: 18 }}&gt;&#13;&#10;            今天就把环境装好&#13;&#10;        &lt;/Text&gt;&#13;&#10;        &lt;Text style={{ fontSize: 64, fontWeight: 'bold', color: '#E08A15', lineHeight: 1.25 }}&gt;&#13;&#10;            把第一行 print 敲出来&#13;&#10;        &lt;/Text&gt;&#13;&#10;&#13;&#10;        &lt;Box style={{ width: 160, height: 5, background: '#E08A15', marginTop: 30, marginBottom: 30 }} /&gt;&#13;&#10;&#13;&#10;        &lt;Text style={{ fontSize: 22, color: '#C9DEEE', lineHeight: 1.8, width: '1000px' }}&gt;&#13;&#10;            22 个单元 · 111 节课 · 29 周，看起来很长。但每节课只有 90 分钟，&#13;&#10;            每个单元的产出物都写得清清楚楚。&lt;br /&gt;&#13;&#10;            真正决定结果的不是速度，是「每节课都动手、每个单元都交东西」。&#13;&#10;        &lt;/Text&gt;&#13;&#10;    &lt;/Box&gt;&#13;&#10;&#13;&#10;    &lt;Box style={{ position: 'absolute', left: 96, top: 500, width: '1090px', height: 118, flexDirection: 'row', gap: 16 }}&gt;&#13;&#10;        &lt;Box style={{ flex: 1, background: 'rgba(255,255,255,0.10)', borderRadius: 12, padding: 18, flexDirection: 'column', gap: 6 }}&gt;&#13;&#10;            &lt;Text style={{ fontSize: 15, fontWeight: 'bold', color: '#8FB8E0' }}&gt;资料都在哪&lt;/Text&gt;&#13;&#10;            &lt;Text style={{ fontSize: 15, color: '#FFFFFF', lineHeight: 1.6 }}&gt;&#13;&#10;                22 份单元讲义 + 111 节课节页&lt;br /&gt;&#13;&#10;                + 52 道分阶题库，本地双击就能读&#13;&#10;            &lt;/Text&gt;&#13;&#10;        &lt;/Box&gt;&#13;&#10;        &lt;Box style={{ flex: 1, background: 'rgba(255,255,255,0.10)', borderRadius: 12, padding: 18, flexDirection: 'column', gap: 6 }}&gt;&#13;&#10;            &lt;Text style={{ fontSize: 15, fontWeight: 'bold', color: '#8FB8E0' }}&gt;进度怎么记&lt;/Text&gt;&#13;&#10;            &lt;Text style={{ fontSize: 15, color: '#FFFFFF', lineHeight: 1.6 }}&gt;&#13;&#10;                每节课和每个单元都有勾选框&lt;br /&gt;&#13;&#10;                勾选状态保存在本机浏览器&#13;&#10;            &lt;/Text&gt;&#13;&#10;        &lt;/Box&gt;&#13;&#10;        &lt;Box style={{ flex: 1, background: 'rgba(224,138,21,0.22)', borderRadius: 12, padding: 18, flexDirection: 'column', gap: 6 }}&gt;&#13;&#10;            &lt;Text style={{ fontSize: 15, fontWeight: 'bold', color: '#E08A15' }}&gt;第一个动作&lt;/Text&gt;&#13;&#10;            &lt;Text style={{ fontSize: 15, color: '#FFFFFF', lineHeight: 1.6 }}&gt;&#13;&#10;                装 Python 3.12+（勾选 Add to PATH）&lt;br /&gt;&#13;&#10;                装 VS Code + Python 扩展，跑通 hello.py&#13;&#10;            &lt;/Text&gt;&#13;&#10;        &lt;/Box&gt;&#13;&#10;    &lt;/Box&gt;&#13;&#10;&#13;&#10;    &lt;Box style={{ position: 'absolute', left: 96, bottom: 34, width: '1090px', flexDirection: 'row', justifyContent: 'space-between' }}&gt;&#13;&#10;        &lt;Text style={{ fontSize: 14, color: '#7E9AB8' }}&gt;Python 阶段 0–2 课程大纲&lt;/Text&gt;&#13;&#10;        &lt;Text style={{ fontSize: 14, color: '#7E9AB8' }}&gt;23 / 23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6232E"/>
              </a:gs>
              <a:gs pos="100000">
                <a:srgbClr val="1F5FA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914400" y="990600"/>
            <a:ext cx="10382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阶段</a:t>
            </a:r>
            <a:r>
              <a:rPr lang="en-US" sz="2250" spc="300">
                <a:solidFill>
                  <a:srgbClr val="8FB8E0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2250" spc="300">
                <a:solidFill>
                  <a:srgbClr val="8FB8E0"/>
                </a:solidFill>
                <a:latin typeface="Microsoft YaHei"/>
                <a:ea typeface="Microsoft YaHei"/>
              </a:rPr>
              <a:t>完整路径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914400" y="15049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今天就把环境装好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14400" y="2419350"/>
            <a:ext cx="1038225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把第一行</a:t>
            </a:r>
            <a:r>
              <a:rPr lang="en-US" sz="4800" b="1">
                <a:solidFill>
                  <a:srgbClr val="E08A15"/>
                </a:solidFill>
                <a:latin typeface="Microsoft YaHei"/>
                <a:ea typeface="Microsoft YaHei"/>
              </a:rPr>
              <a:t xml:space="preserve"> print </a:t>
            </a:r>
            <a:r>
              <a:rPr lang="zh-CN" sz="4800" b="1">
                <a:solidFill>
                  <a:srgbClr val="E08A15"/>
                </a:solidFill>
                <a:latin typeface="Microsoft YaHei"/>
                <a:ea typeface="Microsoft YaHei"/>
              </a:rPr>
              <a:t>敲出来</a:t>
            </a:r>
            <a:endParaRPr/>
          </a:p>
        </p:txBody>
      </p:sp>
      <p:sp>
        <p:nvSpPr>
          <p:cNvPr id="385" name=""/>
          <p:cNvSpPr/>
          <p:nvPr/>
        </p:nvSpPr>
        <p:spPr>
          <a:xfrm rot="0" flipH="0" flipV="0">
            <a:off x="914400" y="3619500"/>
            <a:ext cx="1524000" cy="47625"/>
          </a:xfrm>
          <a:prstGeom prst="rect">
            <a:avLst/>
          </a:prstGeom>
          <a:solidFill>
            <a:srgbClr val="E08A15"/>
          </a:solidFill>
          <a:ln/>
        </p:spPr>
        <p:txBody>
          <a:bodyPr/>
          <a:p/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914400" y="3952875"/>
            <a:ext cx="95250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个单元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111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节课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· 29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周，看起来很长。但每节课只有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分钟，</a:t>
            </a:r>
            <a:r>
              <a:rPr lang="en-US" sz="1650">
                <a:solidFill>
                  <a:srgbClr val="C9DEE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每个单元的产出物都写得清清楚楚。</a:t>
            </a:r>
            <a:endParaRPr/>
          </a:p>
          <a:p>
            <a:pPr>
              <a:lnSpc>
                <a:spcPct val="180000"/>
              </a:lnSpc>
            </a:pPr>
            <a:r>
              <a:rPr lang="zh-CN" sz="1650">
                <a:solidFill>
                  <a:srgbClr val="C9DEEE"/>
                </a:solidFill>
                <a:latin typeface="Microsoft YaHei"/>
                <a:ea typeface="Microsoft YaHei"/>
              </a:rPr>
              <a:t>真正决定结果的不是速度，是「每节课都动手、每个单元都交东西」。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914400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1085850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资料都在哪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085850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份单元讲义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+ 111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节课节页</a:t>
            </a:r>
            <a:endParaRPr/>
          </a:p>
          <a:p>
            <a:pPr>
              <a:lnSpc>
                <a:spcPct val="16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+ 52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道分阶题库，本地双击就能读</a:t>
            </a:r>
            <a:endParaRPr/>
          </a:p>
        </p:txBody>
      </p:sp>
      <p:sp>
        <p:nvSpPr>
          <p:cNvPr id="390" name=""/>
          <p:cNvSpPr/>
          <p:nvPr/>
        </p:nvSpPr>
        <p:spPr>
          <a:xfrm rot="0" flipH="0" flipV="0">
            <a:off x="4429125" y="4762500"/>
            <a:ext cx="3352800" cy="1123950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600575" y="4933950"/>
            <a:ext cx="3009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8E0"/>
                </a:solidFill>
                <a:latin typeface="Microsoft YaHei"/>
                <a:ea typeface="Microsoft YaHei"/>
              </a:rPr>
              <a:t>进度怎么记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4600575" y="5162550"/>
            <a:ext cx="3009900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每节课和每个单元都有勾选框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勾选状态保存在本机浏览器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7934325" y="4762500"/>
            <a:ext cx="3362325" cy="1123950"/>
          </a:xfrm>
          <a:prstGeom prst="roundRect">
            <a:avLst>
              <a:gd name="adj" fmla="val 10169"/>
            </a:avLst>
          </a:prstGeom>
          <a:solidFill>
            <a:srgbClr val="E08A15">
              <a:alpha val="22000"/>
            </a:srgbClr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8105775" y="4933950"/>
            <a:ext cx="3019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E08A15"/>
                </a:solidFill>
                <a:latin typeface="Microsoft YaHei"/>
                <a:ea typeface="Microsoft YaHei"/>
              </a:rPr>
              <a:t>第一个动作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8105775" y="5162550"/>
            <a:ext cx="3019425" cy="5524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Python 3.12+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（勾选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Add to PATH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60000"/>
              </a:lnSpc>
            </a:pP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装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VS Code + Python </a:t>
            </a:r>
            <a:r>
              <a:rPr lang="zh-CN" sz="1125">
                <a:solidFill>
                  <a:srgbClr val="FFFFFF"/>
                </a:solidFill>
                <a:latin typeface="Microsoft YaHei"/>
                <a:ea typeface="Microsoft YaHei"/>
              </a:rPr>
              <a:t>扩展，跑通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 xml:space="preserve"> hello.py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914400" y="6372225"/>
            <a:ext cx="1600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阶段</a:t>
            </a: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 xml:space="preserve"> 0–2 </a:t>
            </a:r>
            <a:r>
              <a:rPr lang="zh-CN" sz="1050">
                <a:solidFill>
                  <a:srgbClr val="7E9AB8"/>
                </a:solidFill>
                <a:latin typeface="Microsoft YaHei"/>
                <a:ea typeface="Microsoft YaHei"/>
              </a:rPr>
              <a:t>课程大纲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10839450" y="63722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9AB8"/>
                </a:solidFill>
                <a:latin typeface="Microsoft YaHei"/>
                <a:ea typeface="Microsoft YaHei"/>
              </a:rPr>
              <a:t>23 / 23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2026-10-29T00:45:00Z</dcterms:created>
  <dcterms:modified xsi:type="dcterms:W3CDTF">2026-10-29T00:45:00Z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