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media/image1.svg" ContentType="image/svg+xml"/>
  <Override PartName="/ppt/slides/media/image10.svg" ContentType="image/svg+xml"/>
  <Override PartName="/ppt/slides/media/image11.svg" ContentType="image/svg+xml"/>
  <Override PartName="/ppt/slides/media/image12.svg" ContentType="image/svg+xml"/>
  <Override PartName="/ppt/slides/media/image2.svg" ContentType="image/svg+xml"/>
  <Override PartName="/ppt/slides/media/image3.svg" ContentType="image/svg+xml"/>
  <Override PartName="/ppt/slides/media/image4.svg" ContentType="image/svg+xml"/>
  <Override PartName="/ppt/slides/media/image5.svg" ContentType="image/svg+xml"/>
  <Override PartName="/ppt/slides/media/image6.svg" ContentType="image/svg+xml"/>
  <Override PartName="/ppt/slides/media/image7.svg" ContentType="image/svg+xml"/>
  <Override PartName="/ppt/slides/media/image8.svg" ContentType="image/svg+xml"/>
  <Override PartName="/ppt/slides/media/image9.svg" ContentType="image/svg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0" Type="http://schemas.openxmlformats.org/officeDocument/2006/relationships/officeDocument" Target="ppt/presentation.xml"/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firstSlideNum="1">
  <p:sldMasterIdLst>
    <p:sldMasterId id="2147483648" r:id="rId0"/>
  </p:sldMasterIdLst>
  <p:notesMasterIdLst>
    <p:notesMasterId r:id="rId13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a="http://schemas.openxmlformats.org/drawing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0" Type="http://schemas.openxmlformats.org/officeDocument/2006/relationships/slideMaster" Target="slideMasters/slideMaster1.xml"/><Relationship Id="rId1" Type="http://schemas.openxmlformats.org/officeDocument/2006/relationships/slide" Target="slides/slide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tableStyles" Target="tableStyles.xml"/><Relationship Id="rId16" Type="http://schemas.openxmlformats.org/officeDocument/2006/relationships/viewProps" Target="viewProps.xml"/></Relationships>
</file>

<file path=ppt/notesMasters/_rels/notesMaster1.xml.rels><?xml version='1.0' encoding='UTF-8' standalone='yes'?>
<Relationships xmlns="http://schemas.openxmlformats.org/package/2006/relationships"><Relationship Id="rId0" Type="http://schemas.openxmlformats.org/officeDocument/2006/relationships/theme" Target="../theme/theme2.xml"/></Relationships>
</file>

<file path=ppt/notesMasters/notesMaster1.xml><?xml version="1.0" encoding="utf-8"?>
<p:notesMaster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单元 20 · 单元 20 · 样式与部署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本单元包含以下课节：</a:t>
            </a:r>
          </a:p>
          <a:p>
            <a:r>
              <a:rPr lang="zh-CN" dirty="0"/>
              <a:t>· 第 103 节 django-bootstrap5 与页面改造</a:t>
            </a:r>
          </a:p>
          <a:p>
            <a:r>
              <a:rPr lang="zh-CN" dirty="0"/>
              <a:t>· 第 104 节 部署是什么与 requirements.txt</a:t>
            </a:r>
          </a:p>
          <a:p>
            <a:r>
              <a:rPr lang="zh-CN" dirty="0"/>
              <a:t>· 第 105 节 ★ platformshconfig 与本地线上双环境</a:t>
            </a:r>
          </a:p>
          <a:p>
            <a:r>
              <a:rPr lang="zh-CN" dirty="0"/>
              <a:t>· 第 106 节 ★ 三大部署坑</a:t>
            </a:r>
          </a:p>
          <a:p>
            <a:r>
              <a:rPr lang="zh-CN" dirty="0"/>
              <a:t>· 第 107 节 部署上线、错误页与实战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开场用 3 分钟讲清：这个单元学完能做出什么，最后会被关卡怎么验。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103 节 · django-bootstrap5 与页面改造</a:t>
            </a:r>
          </a:p>
          <a:p>
            <a:r>
              <a:rPr lang="zh-CN" dirty="0"/>
              <a:t>单元 20 · 样式与部署 · W26–W27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学习目标：会用 `{% bootstrap_form %}` 自动渲染表单；会改 base.html 与各页面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装上 django-bootstrap5 并渲染表单</a:t>
            </a:r>
          </a:p>
          <a:p>
            <a:r>
              <a:rPr lang="zh-CN" dirty="0"/>
              <a:t>· 故意把 jumbotron 类去掉看效果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完成教材 20.1 全部动手练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103 节 · 核心知识点：django-bootstrap5 与页面改造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本节目标：会用 `{% bootstrap_form %}` 自动渲染表单；会改 base.html 与各页面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104 节 · 部署是什么与 requirements.txt</a:t>
            </a:r>
          </a:p>
          <a:p>
            <a:r>
              <a:rPr lang="zh-CN" dirty="0"/>
              <a:t>单元 20 · 样式与部署 · W27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学习目标：理解部署的目标；知道云环境靠 requirements.txt 重建依赖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用 pip freeze 生成 requirements.txt</a:t>
            </a:r>
          </a:p>
          <a:p>
            <a:r>
              <a:rPr lang="zh-CN" dirty="0"/>
              <a:t>· 在一台「干净环境」里装一遍验证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产出：requirements.txt 与 .platform 配置文件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104 节 · 核心知识点：部署是什么与 requirements.txt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本节目标：理解部署的目标；知道云环境靠 requirements.txt 重建依赖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105 节 · ★ platformshconfig 与本地线上双环境</a:t>
            </a:r>
          </a:p>
          <a:p>
            <a:r>
              <a:rPr lang="zh-CN" dirty="0"/>
              <a:t>单元 20 · 样式与部署 · W27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学习目标：理解同一份代码怎么知道自己在本地还是在云上；会改 settings.py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写 `if os.getenv('PLATFORM_APPLICATION')` 判断分支</a:t>
            </a:r>
          </a:p>
          <a:p>
            <a:r>
              <a:rPr lang="zh-CN" dirty="0"/>
              <a:t>· 本地和「假装线上」各跑一次看差异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完成教材 20.2 的配置部分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105 节 · 核心知识点：★ platformshconfig 与本地线上双环境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本节目标：理解同一份代码怎么知道自己在本地还是在云上；会改 settings.py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106 节 · ★ 三大部署坑</a:t>
            </a:r>
          </a:p>
          <a:p>
            <a:r>
              <a:rPr lang="zh-CN" dirty="0"/>
              <a:t>单元 20 · 样式与部署 · W27–W28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学习目标：记住 ALLOWED_HOSTS / collectstatic / DEBUG 三个坑；能逐条排查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故意不改 ALLOWED_HOSTS 看 400</a:t>
            </a:r>
          </a:p>
          <a:p>
            <a:r>
              <a:rPr lang="zh-CN" dirty="0"/>
              <a:t>· 故意不改 DEBUG 看报错页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按上线检查清单逐条过一遍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106 节 · 核心知识点：★ 三大部署坑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本节目标：记住 ALLOWED_HOSTS / collectstatic / DEBUG 三个坑；能逐条排查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107 节 · 部署上线、错误页与实战</a:t>
            </a:r>
          </a:p>
          <a:p>
            <a:r>
              <a:rPr lang="zh-CN" dirty="0"/>
              <a:t>单元 20 · 样式与部署 · W28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学习目标：真正把网站推到公网；会定制 404/500 错误页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走完 Platform.sh 全流程</a:t>
            </a:r>
          </a:p>
          <a:p>
            <a:r>
              <a:rPr lang="zh-CN" dirty="0"/>
              <a:t>· 故意访问不存在的 URL 看定制错误页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★ 产出：公网可访问的学习笔记 + 定制错误页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107 节 · 核心知识点：部署上线、错误页与实战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本节目标：真正把网站推到公网；会定制 404/500 错误页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单元 20 小结 · 单元 20 · 小结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收尾动作：让学生合上讲义，口述本单元三个最重要的结论；说不出来的，回对应课节。</a:t>
            </a:r>
          </a:p>
          <a:p>
            <a:r>
              <a:rPr lang="zh-CN" dirty="0"/>
              <a:t>然后当场勾一遍本单元课节的「已完成」，没打勾的进下一单元前补掉。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0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xmlns:a="http://schemas.openxmlformats.org/drawing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theme" Target="../theme/theme1.xml"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.sv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5.sv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6.sv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7.sv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8.sv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9.sv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0.sv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1.sv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2.sv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2.sv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3.sv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4.svg"/><Relationship Id="rId3" Type="http://schemas.openxmlformats.org/officeDocument/2006/relationships/notesSlide" Target="../notesSlides/notesSlide12.xml"/></Relationships>
</file>

<file path=ppt/slides/slide1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" name="" descr="&lt;Slide style={{ width: '1280px', height: '720px', backgroundColor: '#FAFCFE', padding: 0, position: 'relative', overflow: 'hidden' }}&gt;&#13;&#10;    &lt;Box style={{ position: 'absolute', left: 0, top: 0, width: '1280px', height: '150px', background: '#1F5FA8' }} /&gt;&#13;&#10;    &lt;Box style={{ position: 'absolute', left: 64, top: 34, width: '1152px', flexDirection: 'column' }}&gt;&#13;&#10;        &lt;Text style={{ fontSize: 15, fontWeight: 'bold', color: '#BFD9F2', letterSpacing: 2 }}&gt;阶段 2 · 单元 20&lt;/Text&gt;&#13;&#10;        &lt;Text style={{ fontSize: 38, fontWeight: 'bold', color: '#FFFFFF', marginTop: 6 }}&gt;样式与部署&lt;/Text&gt;&#13;&#10;    &lt;/Box&gt;&#13;&#10;    &lt;Box style={{ position: 'absolute', left: 64, top: 168, width: '1152px', height: 470 }}&gt;&#13;&#10;        &lt;svg width='1152' height='470' viewBox='0 0 1152 470'&gt;&#13;&#10;            &lt;text x='0' y='18' fontSize='15' fontWeight='bold' fill='#16232E' fontFamily='Microsoft YaHei'&gt;本单元共 5 节课&lt;/text&gt;&#13;&#10;            &lt;rect x='0' y='56.0' width='1152' height='48.0' rx='7' fill='#FFFFFF' /&gt;&lt;text x='16' y='85.0' fontSize='15' fontWeight='bold' fill='#1F5FA8' fontFamily='Microsoft YaHei'&gt;第 103 节&lt;/text&gt;&lt;text x='96' y='85.0' fontSize='15' fill='#16232E' fontFamily='Microsoft YaHei'&gt;django-bootstrap5 与页面改造&lt;/text&gt;&lt;text x='1080' y='85.0' fontSize='13' fill='#5A6B7A' textAnchor='end' fontFamily='Microsoft YaHei'&gt;W26–W27&lt;/text&gt;&lt;rect x='0' y='135.2' width='1152' height='48.0' rx='7' fill='#F2F7FD' /&gt;&lt;text x='16' y='164.2' fontSize='15' fontWeight='bold' fill='#1F5FA8' fontFamily='Microsoft YaHei'&gt;第 104 节&lt;/text&gt;&lt;text x='96' y='164.2' fontSize='15' fill='#16232E' fontFamily='Microsoft YaHei'&gt;部署是什么与 requirements.txt&lt;/text&gt;&lt;text x='1080' y='164.2' fontSize='13' fill='#5A6B7A' textAnchor='end' fontFamily='Microsoft YaHei'&gt;W26–W27&lt;/text&gt;&lt;rect x='0' y='214.4' width='1152' height='48.0' rx='7' fill='#FFFFFF' /&gt;&lt;text x='16' y='243.4' fontSize='15' fontWeight='bold' fill='#1F5FA8' fontFamily='Microsoft YaHei'&gt;第 105 节&lt;/text&gt;&lt;text x='96' y='243.4' fontSize='15' fill='#16232E' fontFamily='Microsoft YaHei'&gt;★ platformshconfig 与本地线上双环境&lt;/text&gt;&lt;text x='1080' y='243.4' fontSize='13' fill='#5A6B7A' textAnchor='end' fontFamily='Microsoft YaHei'&gt;W26–W27&lt;/text&gt;&lt;rect x='0' y='293.6' width='1152' height='48.0' rx='7' fill='#F2F7FD' /&gt;&lt;text x='16' y='322.6' fontSize='15' fontWeight='bold' fill='#1F5FA8' fontFamily='Microsoft YaHei'&gt;第 106 节&lt;/text&gt;&lt;text x='96' y='322.6' fontSize='15' fill='#16232E' fontFamily='Microsoft YaHei'&gt;★ 三大部署坑&lt;/text&gt;&lt;text x='1080' y='322.6' fontSize='13' fill='#5A6B7A' textAnchor='end' fontFamily='Microsoft YaHei'&gt;W26–W27&lt;/text&gt;&lt;rect x='0' y='372.8' width='1152' height='48.0' rx='7' fill='#FFFFFF' /&gt;&lt;text x='16' y='401.8' fontSize='15' fontWeight='bold' fill='#1F5FA8' fontFamily='Microsoft YaHei'&gt;第 107 节&lt;/text&gt;&lt;text x='96' y='401.8' fontSize='15' fill='#16232E' fontFamily='Microsoft YaHei'&gt;部署上线、错误页与实战&lt;/text&gt;&lt;text x='1080' y='401.8' fontSize='13' fill='#5A6B7A' textAnchor='end' fontFamily='Microsoft YaHei'&gt;W26–W27&lt;/text&gt;&#13;&#10;        &lt;/svg&gt;&#13;&#10;    &lt;/Box&gt;&#13;&#10;    &lt;Box style={{ position: 'absolute', left: 64, bottom: 22, width: '1152px', flexDirection: 'row', justifyContent: 'space-between' }}&gt;&#13;&#10;        &lt;Text style={{ fontSize: 13, color: '#8A9AAA' }}&gt;Python 讲授课件 · 逐节版&lt;/Text&gt;&#13;&#10;        &lt;Text style={{ fontSize: 13, color: '#8A9AAA' }}&gt;单元 20 · 封面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3" name=""/>
          <p:cNvSpPr/>
          <p:nvPr/>
        </p:nvSpPr>
        <p:spPr>
          <a:xfrm rot="0" flipH="0" flipV="0">
            <a:off x="0" y="0"/>
            <a:ext cx="12192000" cy="1428750"/>
          </a:xfrm>
          <a:prstGeom prst="rect">
            <a:avLst/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4" name="" descr="{&quot;isTemplate&quot;:true,&quot;type&quot;:&quot;text&quot;}"/>
          <p:cNvSpPr txBox="1"/>
          <p:nvPr/>
        </p:nvSpPr>
        <p:spPr>
          <a:xfrm rot="0" flipH="0" flipV="0">
            <a:off x="609600" y="323850"/>
            <a:ext cx="109728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>阶段</a:t>
            </a:r>
            <a:r>
              <a:rPr lang="en-US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 xml:space="preserve"> 2 · </a:t>
            </a:r>
            <a:r>
              <a:rPr lang="zh-CN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>单元</a:t>
            </a:r>
            <a:r>
              <a:rPr lang="en-US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 xml:space="preserve"> 20</a:t>
            </a:r>
            <a:endParaRPr/>
          </a:p>
        </p:txBody>
      </p:sp>
      <p:sp>
        <p:nvSpPr>
          <p:cNvPr id="5" name="" descr="{&quot;isTemplate&quot;:true,&quot;type&quot;:&quot;text&quot;}"/>
          <p:cNvSpPr txBox="1"/>
          <p:nvPr/>
        </p:nvSpPr>
        <p:spPr>
          <a:xfrm rot="0" flipH="0" flipV="0">
            <a:off x="609600" y="552450"/>
            <a:ext cx="10972800" cy="4381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850" b="1">
                <a:solidFill>
                  <a:srgbClr val="FFFFFF"/>
                </a:solidFill>
                <a:latin typeface="Microsoft YaHei"/>
                <a:ea typeface="Microsoft YaHei"/>
              </a:rPr>
              <a:t>样式与部署</a:t>
            </a:r>
            <a:endParaRPr/>
          </a:p>
        </p:txBody>
      </p:sp>
      <p:pic>
        <p:nvPicPr>
          <p:cNvPr id="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09600" y="1600200"/>
            <a:ext cx="10972800" cy="4476750"/>
          </a:xfrm>
          <a:prstGeom prst="rect">
            <a:avLst/>
          </a:prstGeom>
          <a:ln/>
        </p:spPr>
      </p:pic>
      <p:sp>
        <p:nvSpPr>
          <p:cNvPr id="7" name="" descr="{&quot;isTemplate&quot;:true,&quot;type&quot;:&quot;text&quot;}"/>
          <p:cNvSpPr txBox="1"/>
          <p:nvPr/>
        </p:nvSpPr>
        <p:spPr>
          <a:xfrm rot="0" flipH="0" flipV="0">
            <a:off x="609600" y="6496050"/>
            <a:ext cx="1428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讲授课件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逐节版</a:t>
            </a:r>
            <a:endParaRPr/>
          </a:p>
        </p:txBody>
      </p:sp>
      <p:sp>
        <p:nvSpPr>
          <p:cNvPr id="8" name="" descr="{&quot;isTemplate&quot;:true,&quot;type&quot;:&quot;text&quot;}"/>
          <p:cNvSpPr txBox="1"/>
          <p:nvPr/>
        </p:nvSpPr>
        <p:spPr>
          <a:xfrm rot="0" flipH="0" flipV="0">
            <a:off x="10801350" y="6496050"/>
            <a:ext cx="7810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单元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20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封面</a:t>
            </a:r>
            <a:endParaRPr/>
          </a:p>
        </p:txBody>
      </p:sp>
    </p:spTree>
  </p:cSld>
</p:sld>
</file>

<file path=ppt/slides/slide2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36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103 / 111 节&lt;/Text&gt;&#13;&#10;        &lt;/Box&gt;&#13;&#10;        &lt;Text style={{ fontSize: 30, fontWeight: 'bold', color: '#16232E' }}&gt;django-bootstrap5 与页面改造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会用 ｛% bootstrap_form %｝ 自动渲染表单；会改 base.html 与各页面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装上 django-bootstrap5 并渲染表单&lt;/text&gt;&lt;text x='84' y='338.75' fontSize='14.5' fill='#3A4A58' textAnchor='start' fontFamily='Microsoft YaHei'&gt;· 故意把 jumbotron 类去掉看效果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教材 20.1 全部动手练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20 · 第 103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38" name=""/>
          <p:cNvSpPr/>
          <p:nvPr/>
        </p:nvSpPr>
        <p:spPr>
          <a:xfrm rot="0" flipH="0" flipV="0">
            <a:off x="609600" y="409575"/>
            <a:ext cx="1200150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39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906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103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40" name="" descr="{&quot;isTemplate&quot;:true,&quot;type&quot;:&quot;text&quot;}"/>
          <p:cNvSpPr txBox="1"/>
          <p:nvPr/>
        </p:nvSpPr>
        <p:spPr>
          <a:xfrm rot="0" flipH="0" flipV="0">
            <a:off x="1924050" y="342900"/>
            <a:ext cx="42481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django-bootstrap5 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与页面改造</a:t>
            </a:r>
            <a:endParaRPr/>
          </a:p>
        </p:txBody>
      </p:sp>
      <p:pic>
        <p:nvPicPr>
          <p:cNvPr id="4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3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42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103 节&lt;/Text&gt;&#13;&#10;        &lt;/Box&gt;&#13;&#10;        &lt;Text style={{ fontSize: 30, fontWeight: 'bold', color: '#16232E' }}&gt;核心知识点&lt;/Text&gt;&#13;&#10;        &lt;Text style={{ fontSize: 15, color: '#5A6B7A', marginTop: 10 }}&gt;· django-bootstrap5 与页面…&lt;/Text&gt;&#13;&#10;    &lt;/Box&gt;&#13;&#10;    &lt;Box style={{ position: 'absolute', left: 0, top: 0, width: '1280px', height: '720px' }}&gt;&#13;&#10;        &lt;svg width='1280' height='720' viewBox='0 0 1280 720'&gt;&#13;&#10;            &lt;rect x='64' y='96' width='548' height='330' rx='12' fill='#FFFFFF' stroke='#D8E3EE' /&gt;&lt;rect x='64' y='96' width='548' height='4' rx='2' fill='#1F5FA8' /&gt;&lt;text x='82' y='130' fontSize='15.5' fontWeight='bold' fill='#1F5FA8' textAnchor='start' fontFamily='Microsoft YaHei'&gt;2.1 django-bootstrap5…&lt;/text&gt;&lt;text x='82' y='169.0' fontSize='13' fill='#3A4A58' textAnchor='start' fontFamily='Microsoft YaHei'&gt;· ｛% load django_bootstrap5 %｝：把工具包拿到这个模板里…&lt;/text&gt;&lt;text x='82' y='197.5' fontSize='13' fill='#3A4A58' textAnchor='start' fontFamily='Microsoft YaHei'&gt;· ｛% bootstrap_form form %｝：一键美颜。它内部遍历表单的每个字段…&lt;/text&gt;&lt;rect x='668' y='96' width='548' height='330' rx='12' fill='#FFFFFF' stroke='#D8E3EE' /&gt;&lt;rect x='668' y='96' width='548' height='4' rx='2' fill='#1F5FA8' /&gt;&lt;text x='686' y='130' fontSize='15.5' fontWeight='bold' fill='#1F5FA8' textAnchor='start' fontFamily='Microsoft YaHei'&gt;2.2 改造「学习笔记」的界面（对应教材 20.1 各小节）&lt;/text&gt;&lt;text x='686' y='169.0' fontSize='13' fill='#3A4A58' textAnchor='start' fontFamily='Microsoft YaHei'&gt;· base.html 是「继承树」的根&lt;/text&gt;&lt;text x='686' y='197.5' fontSize='13' fill='#3A4A58' textAnchor='start' fontFamily='Microsoft YaHei'&gt;· jumbotron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20 · 第 103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44" name=""/>
          <p:cNvSpPr/>
          <p:nvPr/>
        </p:nvSpPr>
        <p:spPr>
          <a:xfrm rot="0" flipH="0" flipV="0">
            <a:off x="609600" y="409575"/>
            <a:ext cx="809625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45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6000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103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46" name="" descr="{&quot;isTemplate&quot;:true,&quot;type&quot;:&quot;text&quot;}"/>
          <p:cNvSpPr txBox="1"/>
          <p:nvPr/>
        </p:nvSpPr>
        <p:spPr>
          <a:xfrm rot="0" flipH="0" flipV="0">
            <a:off x="1533525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47" name="" descr="{&quot;isTemplate&quot;:true,&quot;type&quot;:&quot;text&quot;}"/>
          <p:cNvSpPr txBox="1"/>
          <p:nvPr/>
        </p:nvSpPr>
        <p:spPr>
          <a:xfrm rot="0" flipH="0" flipV="0">
            <a:off x="3076575" y="476250"/>
            <a:ext cx="19621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django-bootstrap5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与页面…</a:t>
            </a:r>
            <a:endParaRPr/>
          </a:p>
        </p:txBody>
      </p:sp>
      <p:pic>
        <p:nvPicPr>
          <p:cNvPr id="4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4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49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104 / 111 节&lt;/Text&gt;&#13;&#10;        &lt;/Box&gt;&#13;&#10;        &lt;Text style={{ fontSize: 30, fontWeight: 'bold', color: '#16232E' }}&gt;部署是什么与 requirements.txt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理解部署的目标；知道云环境靠 requirements.txt 重建依赖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用 pip freeze 生成 requirements.txt&lt;/text&gt;&lt;text x='84' y='338.75' fontSize='14.5' fill='#3A4A58' textAnchor='start' fontFamily='Microsoft YaHei'&gt;· 在一台「干净环境」里装一遍验证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产出：requirements.txt 与 .platform 配置文件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20 · 第 104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51" name=""/>
          <p:cNvSpPr/>
          <p:nvPr/>
        </p:nvSpPr>
        <p:spPr>
          <a:xfrm rot="0" flipH="0" flipV="0">
            <a:off x="609600" y="409575"/>
            <a:ext cx="1200150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52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906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104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53" name="" descr="{&quot;isTemplate&quot;:true,&quot;type&quot;:&quot;text&quot;}"/>
          <p:cNvSpPr txBox="1"/>
          <p:nvPr/>
        </p:nvSpPr>
        <p:spPr>
          <a:xfrm rot="0" flipH="0" flipV="0">
            <a:off x="1924050" y="342900"/>
            <a:ext cx="421957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部署是什么与</a:t>
            </a: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requirements.txt</a:t>
            </a:r>
            <a:endParaRPr/>
          </a:p>
        </p:txBody>
      </p:sp>
      <p:pic>
        <p:nvPicPr>
          <p:cNvPr id="5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5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55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104 节&lt;/Text&gt;&#13;&#10;        &lt;/Box&gt;&#13;&#10;        &lt;Text style={{ fontSize: 30, fontWeight: 'bold', color: '#16232E' }}&gt;核心知识点&lt;/Text&gt;&#13;&#10;        &lt;Text style={{ fontSize: 15, color: '#5A6B7A', marginTop: 10 }}&gt;· 部署是什么与 requirements.t…&lt;/Text&gt;&#13;&#10;    &lt;/Box&gt;&#13;&#10;    &lt;Box style={{ position: 'absolute', left: 0, top: 0, width: '1280px', height: '720px' }}&gt;&#13;&#10;        &lt;svg width='1280' height='720' viewBox='0 0 1280 720'&gt;&#13;&#10;            &lt;rect x='64' y='96' width='548' height='330' rx='12' fill='#FFFFFF' stroke='#D8E3EE' /&gt;&lt;rect x='64' y='96' width='548' height='4' rx='2' fill='#1F5FA8' /&gt;&lt;text x='82' y='130' fontSize='15.5' fontWeight='bold' fill='#1F5FA8' textAnchor='start' fontFamily='Microsoft YaHei'&gt;2.3 部署是什么：从「只有你能跑」到「谁都能访问」（对应…&lt;/text&gt;&lt;text x='82' y='169.0' fontSize='13' fill='#3A4A58' textAnchor='start' fontFamily='Microsoft YaHei'&gt;· 到目前为止，「学习笔记」只活在你这台电脑上。&lt;/text&gt;&lt;text x='82' y='197.5' fontSize='13' fill='#3A4A58' textAnchor='start' fontFamily='Microsoft YaHei'&gt;· 本地开发像在自家厨房练手，油盐酱醋随手就有；部署像去美食广场开店，&lt;/text&gt;&lt;text x='82' y='217.0' fontSize='13' fill='#3A4A58' textAnchor='start' fontFamily='Microsoft YaHei'&gt;一切都是陌生的、干净的…&lt;/text&gt;&lt;text x='82' y='245.5' fontSize='13' fill='#3A4A58' textAnchor='start' fontFamily='Microsoft YaHei'&gt;· Platform.sh 是一个「平台即服务」（PaaS）：你不用自己买服务器、装系统，&lt;/text&gt;&lt;text x='82' y='265.0' fontSize='13' fill='#3A4A58' textAnchor='start' fontFamily='Microsoft YaHei'&gt;把代码推给它…&lt;/text&gt;&lt;rect x='668' y='96' width='548' height='330' rx='12' fill='#FFFFFF' stroke='#D8E3EE' /&gt;&lt;rect x='668' y='96' width='548' height='4' rx='2' fill='#1F5FA8' /&gt;&lt;text x='686' y='130' fontSize='15.5' fontWeight='bold' fill='#1F5FA8' textAnchor='start' fontFamily='Microsoft YaHei'&gt;2.4 requirements.txt…&lt;/text&gt;&lt;text x='686' y='169.0' fontSize='13' fill='#3A4A58' textAnchor='start' fontFamily='Microsoft YaHei'&gt;· 1. == 是版本锁。&lt;/text&gt;&lt;text x='686' y='197.5' fontSize='13' fill='#3A4A58' textAnchor='start' fontFamily='Microsoft YaHei'&gt;· 2. 清单里也会有间接依赖（如 asgiref、sqlparse 是 Django 带进来的）。&lt;/text&gt;&lt;text x='686' y='226.0' fontSize='13' fill='#3A4A58' textAnchor='start' fontFamily='Microsoft YaHei'&gt;· -e git+https://... 这类行必须删掉：它表示「从 git 直接装」…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20 · 第 104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57" name=""/>
          <p:cNvSpPr/>
          <p:nvPr/>
        </p:nvSpPr>
        <p:spPr>
          <a:xfrm rot="0" flipH="0" flipV="0">
            <a:off x="609600" y="409575"/>
            <a:ext cx="809625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58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6000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104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59" name="" descr="{&quot;isTemplate&quot;:true,&quot;type&quot;:&quot;text&quot;}"/>
          <p:cNvSpPr txBox="1"/>
          <p:nvPr/>
        </p:nvSpPr>
        <p:spPr>
          <a:xfrm rot="0" flipH="0" flipV="0">
            <a:off x="1533525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60" name="" descr="{&quot;isTemplate&quot;:true,&quot;type&quot;:&quot;text&quot;}"/>
          <p:cNvSpPr txBox="1"/>
          <p:nvPr/>
        </p:nvSpPr>
        <p:spPr>
          <a:xfrm rot="0" flipH="0" flipV="0">
            <a:off x="3076575" y="476250"/>
            <a:ext cx="20955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部署是什么与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requirements.t…</a:t>
            </a:r>
            <a:endParaRPr/>
          </a:p>
        </p:txBody>
      </p:sp>
      <p:pic>
        <p:nvPicPr>
          <p:cNvPr id="6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6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62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105 / 111 节&lt;/Text&gt;&#13;&#10;        &lt;/Box&gt;&#13;&#10;        &lt;Text style={{ fontSize: 30, fontWeight: 'bold', color: '#16232E' }}&gt;★ platformshconfig 与本地线上双环境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理解同一份代码怎么知道自己在本地还是在云上；会改 settings.py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写 if os.getenv('PLATFORM_APPLICATION') 判断分支&lt;/text&gt;&lt;text x='84' y='338.75' fontSize='14.5' fill='#3A4A58' textAnchor='start' fontFamily='Microsoft YaHei'&gt;· 本地和「假装线上」各跑一次看差异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教材 20.2 的配置部分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20 · 第 105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64" name=""/>
          <p:cNvSpPr/>
          <p:nvPr/>
        </p:nvSpPr>
        <p:spPr>
          <a:xfrm rot="0" flipH="0" flipV="0">
            <a:off x="609600" y="409575"/>
            <a:ext cx="1200150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65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906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105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66" name="" descr="{&quot;isTemplate&quot;:true,&quot;type&quot;:&quot;text&quot;}"/>
          <p:cNvSpPr txBox="1"/>
          <p:nvPr/>
        </p:nvSpPr>
        <p:spPr>
          <a:xfrm rot="0" flipH="0" flipV="0">
            <a:off x="1924050" y="342900"/>
            <a:ext cx="519112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★ platformshconfig 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与本地线上双环境</a:t>
            </a:r>
            <a:endParaRPr/>
          </a:p>
        </p:txBody>
      </p:sp>
      <p:pic>
        <p:nvPicPr>
          <p:cNvPr id="6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7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68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105 节&lt;/Text&gt;&#13;&#10;        &lt;/Box&gt;&#13;&#10;        &lt;Text style={{ fontSize: 30, fontWeight: 'bold', color: '#16232E' }}&gt;核心知识点&lt;/Text&gt;&#13;&#10;        &lt;Text style={{ fontSize: 15, color: '#5A6B7A', marginTop: 10 }}&gt;· ★ platformshconfig 与本…&lt;/Text&gt;&#13;&#10;    &lt;/Box&gt;&#13;&#10;    &lt;Box style={{ position: 'absolute', left: 0, top: 0, width: '1280px', height: '720px' }}&gt;&#13;&#10;        &lt;svg width='1280' height='720' viewBox='0 0 1280 720'&gt;&#13;&#10;            &lt;rect x='64' y='96' width='548' height='330' rx='12' fill='#FFFFFF' stroke='#D8E3EE' /&gt;&lt;rect x='64' y='96' width='548' height='4' rx='2' fill='#1F5FA8' /&gt;&lt;text x='82' y='130' fontSize='15.5' fontWeight='bold' fill='#1F5FA8' textAnchor='start' fontFamily='Microsoft YaHei'&gt;2.5 三个配置文件：一个描述应用…&lt;/text&gt;&lt;text x='82' y='169.0' fontSize='13' fill='#3A4A58' textAnchor='start' fontFamily='Microsoft YaHei'&gt;· .platform.app.yaml（和 manage.py 同级，注意别漏开头的点）&lt;/text&gt;&lt;text x='82' y='197.5' fontSize='13' fill='#3A4A58' textAnchor='start' fontFamily='Microsoft YaHei'&gt;· .platform/routes.yaml&lt;/text&gt;&lt;text x='82' y='226.0' fontSize='13' fill='#3A4A58' textAnchor='start' fontFamily='Microsoft YaHei'&gt;· .platform/services.yaml&lt;/text&gt;&lt;rect x='668' y='96' width='548' height='330' rx='12' fill='#FFFFFF' stroke='#D8E3EE' /&gt;&lt;rect x='668' y='96' width='548' height='4' rx='2' fill='#1F5FA8' /&gt;&lt;text x='686' y='130' fontSize='15.5' fontWeight='bold' fill='#1F5FA8' textAnchor='start' fontFamily='Microsoft YaHei'&gt;2.6 platformshconfig…&lt;/text&gt;&lt;text x='686' y='169.0' fontSize='13' fill='#3A4A58' textAnchor='start' fontFamily='Microsoft YaHei'&gt;· 现在到本单元最烧脑的地方。&lt;/text&gt;&lt;text x='686' y='197.5' fontSize='13' fill='#3A4A58' textAnchor='start' fontFamily='Microsoft YaHei'&gt;· Django 的感觉器官就是环境变量。&lt;/text&gt;&lt;text x='686' y='226.0' fontSize='13' fill='#3A4A58' textAnchor='start' fontFamily='Microsoft YaHei'&gt;· ★ 为什么难：你要同时记住「两份配置」和「一个开关」。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20 · 第 105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70" name=""/>
          <p:cNvSpPr/>
          <p:nvPr/>
        </p:nvSpPr>
        <p:spPr>
          <a:xfrm rot="0" flipH="0" flipV="0">
            <a:off x="609600" y="409575"/>
            <a:ext cx="809625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71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6000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105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72" name="" descr="{&quot;isTemplate&quot;:true,&quot;type&quot;:&quot;text&quot;}"/>
          <p:cNvSpPr txBox="1"/>
          <p:nvPr/>
        </p:nvSpPr>
        <p:spPr>
          <a:xfrm rot="0" flipH="0" flipV="0">
            <a:off x="1533525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73" name="" descr="{&quot;isTemplate&quot;:true,&quot;type&quot;:&quot;text&quot;}"/>
          <p:cNvSpPr txBox="1"/>
          <p:nvPr/>
        </p:nvSpPr>
        <p:spPr>
          <a:xfrm rot="0" flipH="0" flipV="0">
            <a:off x="3076575" y="476250"/>
            <a:ext cx="18573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★ platformshconfig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与本…</a:t>
            </a:r>
            <a:endParaRPr/>
          </a:p>
        </p:txBody>
      </p:sp>
      <p:pic>
        <p:nvPicPr>
          <p:cNvPr id="7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8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75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106 / 111 节&lt;/Text&gt;&#13;&#10;        &lt;/Box&gt;&#13;&#10;        &lt;Text style={{ fontSize: 30, fontWeight: 'bold', color: '#16232E' }}&gt;★ 三大部署坑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记住 ALLOWED_HOSTS / collectstatic / DEBUG 三个坑；能逐条排查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故意不改 ALLOWED_HOSTS 看 400&lt;/text&gt;&lt;text x='84' y='338.75' fontSize='14.5' fill='#3A4A58' textAnchor='start' fontFamily='Microsoft YaHei'&gt;· 故意不改 DEBUG 看报错页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按上线检查清单逐条过一遍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20 · 第 106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77" name=""/>
          <p:cNvSpPr/>
          <p:nvPr/>
        </p:nvSpPr>
        <p:spPr>
          <a:xfrm rot="0" flipH="0" flipV="0">
            <a:off x="609600" y="409575"/>
            <a:ext cx="1200150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78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906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106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79" name="" descr="{&quot;isTemplate&quot;:true,&quot;type&quot;:&quot;text&quot;}"/>
          <p:cNvSpPr txBox="1"/>
          <p:nvPr/>
        </p:nvSpPr>
        <p:spPr>
          <a:xfrm rot="0" flipH="0" flipV="0">
            <a:off x="1924050" y="342900"/>
            <a:ext cx="17526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★ 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三大部署坑</a:t>
            </a:r>
            <a:endParaRPr/>
          </a:p>
        </p:txBody>
      </p:sp>
      <p:pic>
        <p:nvPicPr>
          <p:cNvPr id="8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9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81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106 节&lt;/Text&gt;&#13;&#10;        &lt;/Box&gt;&#13;&#10;        &lt;Text style={{ fontSize: 30, fontWeight: 'bold', color: '#16232E' }}&gt;核心知识点&lt;/Text&gt;&#13;&#10;        &lt;Text style={{ fontSize: 15, color: '#5A6B7A', marginTop: 10 }}&gt;· ★ 三大部署坑&lt;/Text&gt;&#13;&#10;    &lt;/Box&gt;&#13;&#10;    &lt;Box style={{ position: 'absolute', left: 0, top: 0, width: '1280px', height: '720px' }}&gt;&#13;&#10;        &lt;svg width='1280' height='720' viewBox='0 0 1280 720'&gt;&#13;&#10;            &lt;rect x='64' y='96' width='548' height='330' rx='12' fill='#FFFFFF' stroke='#D8E3EE' /&gt;&lt;rect x='64' y='96' width='548' height='4' rx='2' fill='#1F5FA8' /&gt;&lt;text x='82' y='130' fontSize='15.5' fontWeight='bold' fill='#1F5FA8' textAnchor='start' fontFamily='Microsoft YaHei'&gt;2.7 三大部署坑：ALLOWED_HOSTS…&lt;/text&gt;&lt;text x='82' y='169.0' fontSize='13' fill='#3A4A58' textAnchor='start' fontFamily='Microsoft YaHei'&gt;· 坑一：ALLOWED_HOSTS 不改，线上直接 400。&lt;/text&gt;&lt;text x='82' y='197.5' fontSize='13' fill='#3A4A58' textAnchor='start' fontFamily='Microsoft YaHei'&gt;· 坑二：DEBUG = False 之后，不 collectstatic 就是一个白脸页面。&lt;/text&gt;&lt;text x='82' y='226.0' fontSize='13' fill='#3A4A58' textAnchor='start' fontFamily='Microsoft YaHei'&gt;· 坑三：把本地数据库和虚拟环境传上云。&lt;/text&gt;&lt;rect x='668' y='96' width='548' height='330' rx='12' fill='#FFFFFF' stroke='#D8E3EE' /&gt;&lt;rect x='668' y='96' width='548' height='4' rx='2' fill='#1F5FA8' /&gt;&lt;text x='686' y='130' fontSize='15.5' fontWeight='bold' fill='#1F5FA8' textAnchor='start' fontFamily='Microsoft YaHei'&gt;2.8 定制错误页面与「继续开发」（对应教材 20.2）&lt;/text&gt;&lt;text x='686' y='169.0' fontSize='13' fill='#3A4A58' textAnchor='start' fontFamily='Microsoft YaHei'&gt;· 如果想更精细地控制错误行为&lt;/text&gt;&lt;text x='686' y='197.5' fontSize='13' fill='#3A4A58' textAnchor='start' fontFamily='Microsoft YaHei'&gt;· 「继续开发」的流程&lt;/text&gt;&lt;text x='686' y='226.0' fontSize='13' fill='#3A4A58' textAnchor='start' fontFamily='Microsoft YaHei'&gt;· 你的代码库里同时住着两个环境，git 提交是本地唯一的真相来源…&lt;/text&gt;&lt;text x='64' y='470' fontSize='14.5' fontWeight='bold' fill='#0E9B78' textAnchor='start' fontFamily='Microsoft YaHei'&gt;本节的代码示例&lt;/text&gt;&lt;text x='64' y='500' fontSize='13' fill='#3A4A58' textAnchor='start' fontFamily='Microsoft YaHei'&gt;· 同一份代码，两个环境（config_switcher.py）&lt;/text&gt;&lt;text x='468' y='500' fontSize='13' fill='#3A4A58' textAnchor='start' fontFamily='Microsoft YaHei'&gt;· 给 requirements.txt 做入职体检（requirem…&lt;/text&gt;&lt;text x='872' y='500' fontSize='13' fill='#3A4A58' textAnchor='start' fontFamily='Microsoft YaHei'&gt;· 400 Bad Request 是怎么来的（host_check.…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20 · 第 106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83" name=""/>
          <p:cNvSpPr/>
          <p:nvPr/>
        </p:nvSpPr>
        <p:spPr>
          <a:xfrm rot="0" flipH="0" flipV="0">
            <a:off x="609600" y="409575"/>
            <a:ext cx="809625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84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6000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106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85" name="" descr="{&quot;isTemplate&quot;:true,&quot;type&quot;:&quot;text&quot;}"/>
          <p:cNvSpPr txBox="1"/>
          <p:nvPr/>
        </p:nvSpPr>
        <p:spPr>
          <a:xfrm rot="0" flipH="0" flipV="0">
            <a:off x="1533525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86" name="" descr="{&quot;isTemplate&quot;:true,&quot;type&quot;:&quot;text&quot;}"/>
          <p:cNvSpPr txBox="1"/>
          <p:nvPr/>
        </p:nvSpPr>
        <p:spPr>
          <a:xfrm rot="0" flipH="0" flipV="0">
            <a:off x="3076575" y="476250"/>
            <a:ext cx="9525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★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三大部署坑</a:t>
            </a:r>
            <a:endParaRPr/>
          </a:p>
        </p:txBody>
      </p:sp>
      <p:pic>
        <p:nvPicPr>
          <p:cNvPr id="8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0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9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107 / 111 节&lt;/Text&gt;&#13;&#10;        &lt;/Box&gt;&#13;&#10;        &lt;Text style={{ fontSize: 30, fontWeight: 'bold', color: '#16232E' }}&gt;部署上线、错误页与实战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真正把网站推到公网；会定制 404/500 错误页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走完 Platform.sh 全流程&lt;/text&gt;&lt;text x='84' y='338.75' fontSize='14.5' fill='#3A4A58' textAnchor='start' fontFamily='Microsoft YaHei'&gt;· 故意访问不存在的 URL 看定制错误页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★ 产出：公网可访问的学习笔记 + 定制错误页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20 · 第 107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11" name=""/>
          <p:cNvSpPr/>
          <p:nvPr/>
        </p:nvSpPr>
        <p:spPr>
          <a:xfrm rot="0" flipH="0" flipV="0">
            <a:off x="609600" y="409575"/>
            <a:ext cx="1200150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12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906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107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13" name="" descr="{&quot;isTemplate&quot;:true,&quot;type&quot;:&quot;text&quot;}"/>
          <p:cNvSpPr txBox="1"/>
          <p:nvPr/>
        </p:nvSpPr>
        <p:spPr>
          <a:xfrm rot="0" flipH="0" flipV="0">
            <a:off x="1924050" y="342900"/>
            <a:ext cx="31432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部署上线、错误页与实战</a:t>
            </a:r>
            <a:endParaRPr/>
          </a:p>
        </p:txBody>
      </p:sp>
      <p:pic>
        <p:nvPicPr>
          <p:cNvPr id="1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1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5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107 节&lt;/Text&gt;&#13;&#10;        &lt;/Box&gt;&#13;&#10;        &lt;Text style={{ fontSize: 30, fontWeight: 'bold', color: '#16232E' }}&gt;核心知识点&lt;/Text&gt;&#13;&#10;        &lt;Text style={{ fontSize: 15, color: '#5A6B7A', marginTop: 10 }}&gt;· 部署上线、错误页与实战&lt;/Text&gt;&#13;&#10;    &lt;/Box&gt;&#13;&#10;    &lt;Box style={{ position: 'absolute', left: 0, top: 0, width: '1280px', height: '720px' }}&gt;&#13;&#10;        &lt;svg width='1280' height='720' viewBox='0 0 1280 720'&gt;&#13;&#10;            &lt;rect x='64' y='96' width='368' height='330' rx='12' fill='#FFFFFF' stroke='#D8E3EE' /&gt;&lt;rect x='64' y='96' width='368' height='4' rx='2' fill='#1F5FA8' /&gt;&lt;text x='82' y='130' fontSize='15.5' fontWeight='bold' fill='#1F5FA8' textAnchor='start' fontFamily='Microsoft YaHei'&gt;基础档&lt;/text&gt;&lt;text x='82' y='169.0' fontSize='13' fill='#3A4A58' textAnchor='start' fontFamily='Microsoft YaHei'&gt;· 练习 20-1【给「学习笔记」换装】&lt;/text&gt;&lt;text x='82' y='197.5' fontSize='13' fill='#3A4A58' textAnchor='start' fontFamily='Microsoft YaHei'&gt;· 练习 20-2【写部署三件套】&lt;/text&gt;&lt;text x='82' y='226.0' fontSize='13' fill='#3A4A58' textAnchor='start' fontFamily='Microsoft YaHei'&gt;· 练习 20-3【诊断三个线上故障】&lt;/text&gt;&lt;rect x='468' y='96' width='368' height='330' rx='12' fill='#FFFFFF' stroke='#D8E3EE' /&gt;&lt;rect x='468' y='96' width='368' height='4' rx='2' fill='#1F5FA8' /&gt;&lt;text x='486' y='130' fontSize='15.5' fontWeight='bold' fill='#1F5FA8' textAnchor='start' fontFamily='Microsoft YaHei'&gt;进阶档&lt;/text&gt;&lt;text x='486' y='169.0' fontSize='13' fill='#3A4A58' textAnchor='start' fontFamily='Microsoft YaHei'&gt;· 练习 20-4【本地模拟双环境】&lt;/text&gt;&lt;text x='486' y='197.5' fontSize='13' fill='#3A4A58' textAnchor='start' fontFamily='Microsoft YaHei'&gt;· 练习 20-5【本地验证定制错误页面】&lt;/text&gt;&lt;text x='486' y='226.0' fontSize='13' fill='#3A4A58' textAnchor='start' fontFamily='Microsoft YaHei'&gt;· 练习 20-6【扩展部署检查清单】&lt;/text&gt;&lt;rect x='872' y='96' width='368' height='330' rx='12' fill='#FFFFFF' stroke='#D8E3EE' /&gt;&lt;rect x='872' y='96' width='368' height='4' rx='2' fill='#1F5FA8' /&gt;&lt;text x='890' y='130' fontSize='15.5' fontWeight='bold' fill='#1F5FA8' textAnchor='start' fontFamily='Microsoft YaHei'&gt;参考答案 20-1（换装后的关键模板）&lt;/text&gt;&lt;text x='890' y='169.0' fontSize='13' fill='#3A4A58' textAnchor='start' fontFamily='Microsoft YaHei'&gt;· 主题列表页 templates/learning_logs/topics.html&lt;/text&gt;&lt;text x='890' y='188.5' fontSize='13' fill='#3A4A58' textAnchor='start' fontFamily='Microsoft YaHei'&gt; 在 ｛% bloc…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20 · 第 107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17" name=""/>
          <p:cNvSpPr/>
          <p:nvPr/>
        </p:nvSpPr>
        <p:spPr>
          <a:xfrm rot="0" flipH="0" flipV="0">
            <a:off x="609600" y="409575"/>
            <a:ext cx="809625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18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6000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107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19" name="" descr="{&quot;isTemplate&quot;:true,&quot;type&quot;:&quot;text&quot;}"/>
          <p:cNvSpPr txBox="1"/>
          <p:nvPr/>
        </p:nvSpPr>
        <p:spPr>
          <a:xfrm rot="0" flipH="0" flipV="0">
            <a:off x="1533525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20" name="" descr="{&quot;isTemplate&quot;:true,&quot;type&quot;:&quot;text&quot;}"/>
          <p:cNvSpPr txBox="1"/>
          <p:nvPr/>
        </p:nvSpPr>
        <p:spPr>
          <a:xfrm rot="0" flipH="0" flipV="0">
            <a:off x="3076575" y="476250"/>
            <a:ext cx="16573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部署上线、错误页与实战</a:t>
            </a:r>
            <a:endParaRPr/>
          </a:p>
        </p:txBody>
      </p:sp>
      <p:pic>
        <p:nvPicPr>
          <p:cNvPr id="2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2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22" name="" descr="&lt;Slide style={{ width: '1280px', height: '720px', backgroundColor: '#FAFCFE', padding: 0, position: 'relative', overflow: 'hidden' }}&gt;&#13;&#10;    &lt;Box style={{ position: 'absolute', left: 0, top: 0, width: '12px', height: '720px', background: '#0E9B78' }} /&gt;&#13;&#10;    &lt;Box style={{ position: 'absolute', left: 72, top: 44, width: '1144px', flexDirection: 'column' }}&gt;&#13;&#10;        &lt;Text style={{ fontSize: 34, fontWeight: 'bold', color: '#16232E' }}&gt;单元 20 · 小结与验收&lt;/Text&gt;&#13;&#10;        &lt;Text style={{ fontSize: 16, color: '#5A6B7A', marginTop: 6 }}&gt;样式与部署&lt;/Text&gt;&#13;&#10;    &lt;/Box&gt;&#13;&#10;    &lt;Box style={{ position: 'absolute', left: 72, top: 148, width: '552px', height: 400, background: '#FFFFFF', border: '1px solid #D8E3EE', borderRadius: 12, padding: 18, flexDirection: 'column' }}&gt;&#13;&#10;        &lt;Text style={{ fontSize: 16, fontWeight: 'bold', color: '#1F5FA8' }}&gt;本单元课节回顾&lt;/Text&gt;&#13;&#10;        &lt;Box style={{ marginTop: 10, position: 'relative', height: 330 }}&gt;&#13;&#10;            &lt;svg width='516' height='330' viewBox='0 0 516 330'&gt;&lt;text x='0' y='34' fontSize='14.5' fill='#3A4A58' fontFamily='Microsoft YaHei'&gt;· 第 103 节 · django-bootstrap5 与页面改造&lt;/text&gt;&lt;text x='0' y='64' fontSize='14.5' fill='#3A4A58' fontFamily='Microsoft YaHei'&gt;· 第 104 节 · 部署是什么与 requirements.txt&lt;/text&gt;&lt;text x='0' y='94' fontSize='14.5' fill='#3A4A58' fontFamily='Microsoft YaHei'&gt;· 第 105 节 · ★ platformshconfig 与本地线上双环境&lt;/text&gt;&lt;text x='0' y='124' fontSize='14.5' fill='#3A4A58' fontFamily='Microsoft YaHei'&gt;· 第 106 节 · ★ 三大部署坑&lt;/text&gt;&lt;text x='0' y='154' fontSize='14.5' fill='#3A4A58' fontFamily='Microsoft YaHei'&gt;· 第 107 节 · 部署上线、错误页与实战&lt;/text&gt;&lt;/svg&gt;&#13;&#10;        &lt;/Box&gt;&#13;&#10;    &lt;/Box&gt;&#13;&#10;    &lt;Box style={{ position: 'absolute', left: 656, top: 148, width: '560px', height: 400, background: '#FDF3E2', borderRadius: 12, padding: 20, flexDirection: 'column' }}&gt;&#13;&#10;        &lt;Text style={{ fontSize: 16, fontWeight: 'bold', color: '#E08A15' }}&gt;过关标准&lt;/Text&gt;&#13;&#10;        &lt;Text style={{ fontSize: 15, color: '#3A4A58', marginTop: 12, lineHeight: 1.9 }}&gt;&#13;&#10;            1. 本单元每一节的课后作业都做完并自己验收过&#13;&#10;&#13;&#10;            2. 不看讲义能独立重写一遍本单元的示例代码&#13;&#10;&#13;&#10;            3. 讲义最后「本单元验收自测」全部答对&#13;&#10;&#13;&#10;            4. 产出物已经写进笔记或提交到 Git&#13;&#10;        &lt;/Text&gt;&#13;&#10;        &lt;Text style={{ fontSize: 14, color: '#8A6A2A', marginTop: 16, lineHeight: 1.7 }}&gt;&#13;&#10;            没过关的项回到对应那一节重做，不要整体重学。&#13;&#10;        &lt;/Text&gt;&#13;&#10;    &lt;/Box&gt;&#13;&#10;    &lt;Box style={{ position: 'absolute', left: 72, bottom: 26, width: '1144px', flexDirection: 'row', justifyContent: 'space-between' }}&gt;&#13;&#10;        &lt;Text style={{ fontSize: 13, color: '#8A9AAA' }}&gt;Python 讲授课件 · 逐节版&lt;/Text&gt;&#13;&#10;        &lt;Text style={{ fontSize: 13, color: '#8A9AAA' }}&gt;单元 20 · 小结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24" name=""/>
          <p:cNvSpPr/>
          <p:nvPr/>
        </p:nvSpPr>
        <p:spPr>
          <a:xfrm rot="0" flipH="0" flipV="0">
            <a:off x="0" y="0"/>
            <a:ext cx="114300" cy="6858000"/>
          </a:xfrm>
          <a:prstGeom prst="rect">
            <a:avLst/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25" name="" descr="{&quot;isTemplate&quot;:true,&quot;type&quot;:&quot;text&quot;}"/>
          <p:cNvSpPr txBox="1"/>
          <p:nvPr/>
        </p:nvSpPr>
        <p:spPr>
          <a:xfrm rot="0" flipH="0" flipV="0">
            <a:off x="685800" y="419100"/>
            <a:ext cx="108966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16232E"/>
                </a:solidFill>
                <a:latin typeface="Microsoft YaHei"/>
                <a:ea typeface="Microsoft YaHei"/>
              </a:rPr>
              <a:t>单元</a:t>
            </a:r>
            <a:r>
              <a:rPr lang="en-US" sz="25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20 · </a:t>
            </a:r>
            <a:r>
              <a:rPr lang="zh-CN" sz="2550" b="1">
                <a:solidFill>
                  <a:srgbClr val="16232E"/>
                </a:solidFill>
                <a:latin typeface="Microsoft YaHei"/>
                <a:ea typeface="Microsoft YaHei"/>
              </a:rPr>
              <a:t>小结与验收</a:t>
            </a:r>
            <a:endParaRPr/>
          </a:p>
        </p:txBody>
      </p:sp>
      <p:sp>
        <p:nvSpPr>
          <p:cNvPr id="26" name="" descr="{&quot;isTemplate&quot;:true,&quot;type&quot;:&quot;text&quot;}"/>
          <p:cNvSpPr txBox="1"/>
          <p:nvPr/>
        </p:nvSpPr>
        <p:spPr>
          <a:xfrm rot="0" flipH="0" flipV="0">
            <a:off x="685800" y="866775"/>
            <a:ext cx="10896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5A6B7A"/>
                </a:solidFill>
                <a:latin typeface="Microsoft YaHei"/>
                <a:ea typeface="Microsoft YaHei"/>
              </a:rPr>
              <a:t>样式与部署</a:t>
            </a:r>
            <a:endParaRPr/>
          </a:p>
        </p:txBody>
      </p:sp>
      <p:sp>
        <p:nvSpPr>
          <p:cNvPr id="27" name=""/>
          <p:cNvSpPr/>
          <p:nvPr/>
        </p:nvSpPr>
        <p:spPr>
          <a:xfrm rot="0" flipH="0" flipV="0">
            <a:off x="685800" y="1409700"/>
            <a:ext cx="5257800" cy="381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8E3EE"/>
            </a:solidFill>
            <a:prstDash val="solid"/>
          </a:ln>
        </p:spPr>
        <p:txBody>
          <a:bodyPr/>
          <a:p/>
        </p:txBody>
      </p:sp>
      <p:sp>
        <p:nvSpPr>
          <p:cNvPr id="28" name="" descr="{&quot;isTemplate&quot;:true,&quot;type&quot;:&quot;text&quot;}"/>
          <p:cNvSpPr txBox="1"/>
          <p:nvPr/>
        </p:nvSpPr>
        <p:spPr>
          <a:xfrm rot="0" flipH="0" flipV="0">
            <a:off x="857250" y="1581150"/>
            <a:ext cx="49149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F5FA8"/>
                </a:solidFill>
                <a:latin typeface="Microsoft YaHei"/>
                <a:ea typeface="Microsoft YaHei"/>
              </a:rPr>
              <a:t>本单元课节回顾</a:t>
            </a:r>
            <a:endParaRPr/>
          </a:p>
        </p:txBody>
      </p:sp>
      <p:pic>
        <p:nvPicPr>
          <p:cNvPr id="2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57250" y="1866900"/>
            <a:ext cx="4914900" cy="3143250"/>
          </a:xfrm>
          <a:prstGeom prst="rect">
            <a:avLst/>
          </a:prstGeom>
          <a:ln/>
        </p:spPr>
      </p:pic>
      <p:sp>
        <p:nvSpPr>
          <p:cNvPr id="30" name=""/>
          <p:cNvSpPr/>
          <p:nvPr/>
        </p:nvSpPr>
        <p:spPr>
          <a:xfrm rot="0" flipH="0" flipV="0">
            <a:off x="6248400" y="1409700"/>
            <a:ext cx="5334000" cy="3810000"/>
          </a:xfrm>
          <a:prstGeom prst="roundRect">
            <a:avLst>
              <a:gd name="adj" fmla="val 3000"/>
            </a:avLst>
          </a:prstGeom>
          <a:solidFill>
            <a:srgbClr val="FDF3E2"/>
          </a:solidFill>
          <a:ln/>
        </p:spPr>
        <p:txBody>
          <a:bodyPr/>
          <a:p/>
        </p:txBody>
      </p:sp>
      <p:sp>
        <p:nvSpPr>
          <p:cNvPr id="31" name="" descr="{&quot;isTemplate&quot;:true,&quot;type&quot;:&quot;text&quot;}"/>
          <p:cNvSpPr txBox="1"/>
          <p:nvPr/>
        </p:nvSpPr>
        <p:spPr>
          <a:xfrm rot="0" flipH="0" flipV="0">
            <a:off x="6438900" y="1600200"/>
            <a:ext cx="4953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E08A15"/>
                </a:solidFill>
                <a:latin typeface="Microsoft YaHei"/>
                <a:ea typeface="Microsoft YaHei"/>
              </a:rPr>
              <a:t>过关标准</a:t>
            </a:r>
            <a:endParaRPr/>
          </a:p>
        </p:txBody>
      </p:sp>
      <p:sp>
        <p:nvSpPr>
          <p:cNvPr id="32" name="" descr="{&quot;isTemplate&quot;:true,&quot;type&quot;:&quot;text&quot;}"/>
          <p:cNvSpPr txBox="1"/>
          <p:nvPr/>
        </p:nvSpPr>
        <p:spPr>
          <a:xfrm rot="0" flipH="0" flipV="0">
            <a:off x="6438900" y="1905000"/>
            <a:ext cx="4953000" cy="9810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90000"/>
              </a:lnSpc>
            </a:pP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1.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本单元每一节的课后作业都做完并自己验收过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2.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不看讲义能独立重写一遍本单元的示例代码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3.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讲义最后「本单元验收自测」全部答对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4.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产出物已经写进笔记或提交到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Git</a:t>
            </a:r>
            <a:endParaRPr/>
          </a:p>
        </p:txBody>
      </p:sp>
      <p:sp>
        <p:nvSpPr>
          <p:cNvPr id="33" name="" descr="{&quot;isTemplate&quot;:true,&quot;type&quot;:&quot;text&quot;}"/>
          <p:cNvSpPr txBox="1"/>
          <p:nvPr/>
        </p:nvSpPr>
        <p:spPr>
          <a:xfrm rot="0" flipH="0" flipV="0">
            <a:off x="6438900" y="3038475"/>
            <a:ext cx="4953000" cy="27622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050">
                <a:solidFill>
                  <a:srgbClr val="8A6A2A"/>
                </a:solidFill>
                <a:latin typeface="Microsoft YaHei"/>
                <a:ea typeface="Microsoft YaHei"/>
              </a:rPr>
              <a:t>没过关的项回到对应那一节重做，不要整体重学。</a:t>
            </a:r>
            <a:endParaRPr/>
          </a:p>
        </p:txBody>
      </p:sp>
      <p:sp>
        <p:nvSpPr>
          <p:cNvPr id="34" name="" descr="{&quot;isTemplate&quot;:true,&quot;type&quot;:&quot;text&quot;}"/>
          <p:cNvSpPr txBox="1"/>
          <p:nvPr/>
        </p:nvSpPr>
        <p:spPr>
          <a:xfrm rot="0" flipH="0" flipV="0">
            <a:off x="685800" y="6457950"/>
            <a:ext cx="1428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讲授课件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逐节版</a:t>
            </a:r>
            <a:endParaRPr/>
          </a:p>
        </p:txBody>
      </p:sp>
      <p:sp>
        <p:nvSpPr>
          <p:cNvPr id="35" name="" descr="{&quot;isTemplate&quot;:true,&quot;type&quot;:&quot;text&quot;}"/>
          <p:cNvSpPr txBox="1"/>
          <p:nvPr/>
        </p:nvSpPr>
        <p:spPr>
          <a:xfrm rot="0" flipH="0" flipV="0">
            <a:off x="10801350" y="6457950"/>
            <a:ext cx="7810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单元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20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小结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Tencent office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2026-10-29T00:42:46Z</dcterms:created>
  <dcterms:modified xsi:type="dcterms:W3CDTF">2026-10-29T00:42:46Z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{"AIGC":{"Label":"1","ContentProducer":"00119111010856365494821B355","ProduceID":"01a183579b68743e9c290638234d6294","ReservedCode1":"","ContentPropagator":"00119111010856365494821B355","PropagateID":"01a183579b68743e9c290638234d6294","ReservedCode2":""}}</vt:lpwstr>
  </property>
</Properties>
</file>