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10.svg" ContentType="image/svg+xml"/>
  <Override PartName="/ppt/slides/media/image11.svg" ContentType="image/svg+xml"/>
  <Override PartName="/ppt/slides/media/image12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tableStyles" Target="tableStyles.xml"/><Relationship Id="rId1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20 · 单元 20 · 样式与部署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本单元包含以下课节：</a:t>
            </a:r>
          </a:p>
          <a:p>
            <a:r>
              <a:rPr lang="zh-CN" dirty="0"/>
              <a:t>· 第 103 节 django-bootstrap5 与页面改造</a:t>
            </a:r>
          </a:p>
          <a:p>
            <a:r>
              <a:rPr lang="zh-CN" dirty="0"/>
              <a:t>· 第 104 节 部署是什么与 requirements.txt</a:t>
            </a:r>
          </a:p>
          <a:p>
            <a:r>
              <a:rPr lang="zh-CN" dirty="0"/>
              <a:t>· 第 105 节 ★ platformshconfig 与本地线上双环境</a:t>
            </a:r>
          </a:p>
          <a:p>
            <a:r>
              <a:rPr lang="zh-CN" dirty="0"/>
              <a:t>· 第 106 节 ★ 三大部署坑</a:t>
            </a:r>
          </a:p>
          <a:p>
            <a:r>
              <a:rPr lang="zh-CN" dirty="0"/>
              <a:t>· 第 107 节 部署上线、错误页与实战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开场用 3 分钟讲清：这个单元学完能做出什么，最后会被关卡怎么验。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103 节 · django-bootstrap5 与页面改造</a:t>
            </a:r>
          </a:p>
          <a:p>
            <a:r>
              <a:rPr lang="zh-CN" dirty="0"/>
              <a:t>单元 20 · 样式与部署 · W26–W27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学习目标：会用 `{% bootstrap_form %}` 自动渲染表单；会改 base.html 与各页面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装上 django-bootstrap5 并渲染表单</a:t>
            </a:r>
          </a:p>
          <a:p>
            <a:r>
              <a:rPr lang="zh-CN" dirty="0"/>
              <a:t>· 故意把 jumbotron 类去掉看效果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完成教材 20.1 全部动手练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103 节 · 核心知识点：django-bootstrap5 与页面改造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本节目标：会用 `{% bootstrap_form %}` 自动渲染表单；会改 base.html 与各页面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104 节 · 部署是什么与 requirements.txt</a:t>
            </a:r>
          </a:p>
          <a:p>
            <a:r>
              <a:rPr lang="zh-CN" dirty="0"/>
              <a:t>单元 20 · 样式与部署 · W27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学习目标：理解部署的目标；知道云环境靠 requirements.txt 重建依赖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用 pip freeze 生成 requirements.txt</a:t>
            </a:r>
          </a:p>
          <a:p>
            <a:r>
              <a:rPr lang="zh-CN" dirty="0"/>
              <a:t>· 在一台「干净环境」里装一遍验证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产出：requirements.txt 与 .platform 配置文件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104 节 · 核心知识点：部署是什么与 requirements.txt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本节目标：理解部署的目标；知道云环境靠 requirements.txt 重建依赖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105 节 · ★ platformshconfig 与本地线上双环境</a:t>
            </a:r>
          </a:p>
          <a:p>
            <a:r>
              <a:rPr lang="zh-CN" dirty="0"/>
              <a:t>单元 20 · 样式与部署 · W27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学习目标：理解同一份代码怎么知道自己在本地还是在云上；会改 settings.py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写 `if os.getenv('PLATFORM_APPLICATION')` 判断分支</a:t>
            </a:r>
          </a:p>
          <a:p>
            <a:r>
              <a:rPr lang="zh-CN" dirty="0"/>
              <a:t>· 本地和「假装线上」各跑一次看差异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完成教材 20.2 的配置部分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105 节 · 核心知识点：★ platformshconfig 与本地线上双环境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本节目标：理解同一份代码怎么知道自己在本地还是在云上；会改 settings.py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106 节 · ★ 三大部署坑</a:t>
            </a:r>
          </a:p>
          <a:p>
            <a:r>
              <a:rPr lang="zh-CN" dirty="0"/>
              <a:t>单元 20 · 样式与部署 · W27–W28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学习目标：记住 ALLOWED_HOSTS / collectstatic / DEBUG 三个坑；能逐条排查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故意不改 ALLOWED_HOSTS 看 400</a:t>
            </a:r>
          </a:p>
          <a:p>
            <a:r>
              <a:rPr lang="zh-CN" dirty="0"/>
              <a:t>· 故意不改 DEBUG 看报错页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按上线检查清单逐条过一遍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106 节 · 核心知识点：★ 三大部署坑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本节目标：记住 ALLOWED_HOSTS / collectstatic / DEBUG 三个坑；能逐条排查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107 节 · 部署上线、错误页与实战</a:t>
            </a:r>
          </a:p>
          <a:p>
            <a:r>
              <a:rPr lang="zh-CN" dirty="0"/>
              <a:t>单元 20 · 样式与部署 · W28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学习目标：真正把网站推到公网；会定制 404/500 错误页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走完 Platform.sh 全流程</a:t>
            </a:r>
          </a:p>
          <a:p>
            <a:r>
              <a:rPr lang="zh-CN" dirty="0"/>
              <a:t>· 故意访问不存在的 URL 看定制错误页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产出：公网可访问的学习笔记 + 定制错误页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107 节 · 核心知识点：部署上线、错误页与实战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本节目标：真正把网站推到公网；会定制 404/500 错误页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20 小结 · 单元 20 · 小结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收尾动作：让学生合上讲义，口述本单元三个最重要的结论；说不出来的，回对应课节。</a:t>
            </a:r>
          </a:p>
          <a:p>
            <a:r>
              <a:rPr lang="zh-CN" dirty="0"/>
              <a:t>然后当场勾一遍本单元课节的「已完成」，没打勾的进下一单元前补掉。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7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8.sv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0.sv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1.sv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2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Color: '#FAFCFE', padding: 0, position: 'relative', overflow: 'hidden' }}&gt;&#13;&#10;    &lt;Box style={{ position: 'absolute', left: 0, top: 0, width: '1280px', height: '150px', background: '#1F5FA8' }} /&gt;&#13;&#10;    &lt;Box style={{ position: 'absolute', left: 64, top: 34, width: '1152px', flexDirection: 'column' }}&gt;&#13;&#10;        &lt;Text style={{ fontSize: 15, fontWeight: 'bold', color: '#BFD9F2', letterSpacing: 2 }}&gt;阶段 2 · 单元 20&lt;/Text&gt;&#13;&#10;        &lt;Text style={{ fontSize: 38, fontWeight: 'bold', color: '#FFFFFF', marginTop: 6 }}&gt;样式与部署&lt;/Text&gt;&#13;&#10;    &lt;/Box&gt;&#13;&#10;    &lt;Box style={{ position: 'absolute', left: 64, top: 168, width: '1152px', height: 470 }}&gt;&#13;&#10;        &lt;svg width='1152' height='470' viewBox='0 0 1152 470'&gt;&#13;&#10;            &lt;text x='0' y='18' fontSize='15' fontWeight='bold' fill='#16232E' fontFamily='Microsoft YaHei'&gt;本单元共 5 节课&lt;/text&gt;&#13;&#10;            &lt;rect x='0' y='196' width='1152' height='38' rx='7' fill='#FFFFFF' /&gt;&lt;text x='16' y='221' fontSize='15' fontWeight='bold' fill='#1F5FA8' fontFamily='Microsoft YaHei'&gt;第 103 节&lt;/text&gt;&lt;text x='96' y='221' fontSize='15' fill='#16232E' fontFamily='Microsoft YaHei'&gt;django-bootstrap5 与页面改造&lt;/text&gt;&lt;text x='1080' y='221' fontSize='13' fill='#5A6B7A' textAnchor='end' fontFamily='Microsoft YaHei'&gt;W26–W27&lt;/text&gt;&lt;rect x='0' y='238' width='1152' height='38' rx='7' fill='#F2F7FD' /&gt;&lt;text x='16' y='263' fontSize='15' fontWeight='bold' fill='#1F5FA8' fontFamily='Microsoft YaHei'&gt;第 104 节&lt;/text&gt;&lt;text x='96' y='263' fontSize='15' fill='#16232E' fontFamily='Microsoft YaHei'&gt;部署是什么与 requirements.txt&lt;/text&gt;&lt;text x='1080' y='263' fontSize='13' fill='#5A6B7A' textAnchor='end' fontFamily='Microsoft YaHei'&gt;W26–W27&lt;/text&gt;&lt;rect x='0' y='280' width='1152' height='38' rx='7' fill='#FFFFFF' /&gt;&lt;text x='16' y='305' fontSize='15' fontWeight='bold' fill='#1F5FA8' fontFamily='Microsoft YaHei'&gt;第 105 节&lt;/text&gt;&lt;text x='96' y='305' fontSize='15' fill='#16232E' fontFamily='Microsoft YaHei'&gt;★ platformshconfig 与本地线上双环境&lt;/text&gt;&lt;text x='1080' y='305' fontSize='13' fill='#5A6B7A' textAnchor='end' fontFamily='Microsoft YaHei'&gt;W26–W27&lt;/text&gt;&lt;rect x='0' y='322' width='1152' height='38' rx='7' fill='#F2F7FD' /&gt;&lt;text x='16' y='347' fontSize='15' fontWeight='bold' fill='#1F5FA8' fontFamily='Microsoft YaHei'&gt;第 106 节&lt;/text&gt;&lt;text x='96' y='347' fontSize='15' fill='#16232E' fontFamily='Microsoft YaHei'&gt;★ 三大部署坑&lt;/text&gt;&lt;text x='1080' y='347' fontSize='13' fill='#5A6B7A' textAnchor='end' fontFamily='Microsoft YaHei'&gt;W26–W27&lt;/text&gt;&lt;rect x='0' y='364' width='1152' height='38' rx='7' fill='#FFFFFF' /&gt;&lt;text x='16' y='389' fontSize='15' fontWeight='bold' fill='#1F5FA8' fontFamily='Microsoft YaHei'&gt;第 107 节&lt;/text&gt;&lt;text x='96' y='389' fontSize='15' fill='#16232E' fontFamily='Microsoft YaHei'&gt;部署上线、错误页与实战&lt;/text&gt;&lt;text x='1080' y='389' fontSize='13' fill='#5A6B7A' textAnchor='end' fontFamily='Microsoft YaHei'&gt;W26–W27&lt;/text&gt;&#13;&#10;        &lt;/svg&gt;&#13;&#10;    &lt;/Box&gt;&#13;&#10;    &lt;Box style={{ position: 'absolute', left: 64, bottom: 22, width: '1152px', flexDirection: 'row', justifyContent: 'space-between' }}&gt;&#13;&#10;        &lt;Text style={{ fontSize: 13, color: '#8A9AAA' }}&gt;Python 讲授课件 · 逐节版&lt;/Text&gt;&#13;&#10;        &lt;Text style={{ fontSize: 13, color: '#8A9AAA' }}&gt;单元 20 · 封面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42875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阶段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2 · </a:t>
            </a: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单元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20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5524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样式与部署</a:t>
            </a:r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10972800" cy="447675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801350" y="64960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20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封面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103 / 111 节&lt;/Text&gt;&#13;&#10;        &lt;/Box&gt;&#13;&#10;        &lt;Text style={{ fontSize: 30, fontWeight: 'bold', color: '#16232E' }}&gt;django-bootstrap5 与页面改造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会用 ｛% bootstrap_form %｝ 自动渲染表单；会改 base.html 与各页面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装上 django-bootstrap5 并渲染表单&lt;/text&gt;&lt;text x='84' y='338.75' fontSize='14.5' fill='#3A4A58' textAnchor='start' fontFamily='Microsoft YaHei'&gt;· 故意把 jumbotron 类去掉看效果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教材 20.1 全部动手练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0 · 第 103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09600" y="409575"/>
            <a:ext cx="1200150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103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924050" y="342900"/>
            <a:ext cx="424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django-bootstrap5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与页面改造</a:t>
            </a:r>
            <a:endParaRPr/>
          </a:p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103 节&lt;/Text&gt;&#13;&#10;        &lt;/Box&gt;&#13;&#10;        &lt;Text style={{ fontSize: 30, fontWeight: 'bold', color: '#16232E' }}&gt;核心知识点&lt;/Text&gt;&#13;&#10;        &lt;Text style={{ fontSize: 15, color: '#5A6B7A', marginTop: 10 }}&gt;· django-bootstrap5 与页面…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1 django-bootstrap5：一行代码让表单…&lt;/text&gt;&lt;text x='82' y='169.0' fontSize='13' fill='#3A4A58' textAnchor='start' fontFamily='Microsoft YaHei'&gt;· ｛% load django_bootstrap5 %｝：把工具包拿到这个模板里。不 load 就用…&lt;/text&gt;&lt;text x='82' y='197.5' fontSize='13' fill='#3A4A58' textAnchor='start' fontFamily='Microsoft YaHei'&gt;· ｛% bootstrap_form form %｝：一键美颜。它内部遍历表单的每个字段，给它们包上&lt;/text&gt;&lt;text x='82' y='217.0' fontSize='13' fill='#3A4A58' textAnchor='start' fontFamily='Microsoft YaHei'&gt; B…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2 改造「学习笔记」的界面（对应教材 20.1 各小节）&lt;/text&gt;&lt;text x='686' y='169.0' fontSize='13' fill='#3A4A58' textAnchor='start' fontFamily='Microsoft YaHei'&gt;· base.html 是「继承树」的根：其他模板都 ｛% extends %｝ 它，所以 Bootstr…&lt;/text&gt;&lt;text x='686' y='197.5' fontSize='13' fill='#3A4A58' textAnchor='start' fontFamily='Microsoft YaHei'&gt;· jumbotron：教材给主页用了一个居中的大卡片当「门面」。这里有个版本细节——jum&lt;/text&gt;&lt;text x='686' y='217.0' fontSize='13' fill='#3A4A58' textAnchor='start' fontFamily='Microsoft YaHei'&gt;botron…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0 · 第 103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09600" y="409575"/>
            <a:ext cx="809625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600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103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533525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3076575" y="476250"/>
            <a:ext cx="1962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django-bootstrap5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与页面…</a:t>
            </a:r>
            <a:endParaRPr/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104 / 111 节&lt;/Text&gt;&#13;&#10;        &lt;/Box&gt;&#13;&#10;        &lt;Text style={{ fontSize: 30, fontWeight: 'bold', color: '#16232E' }}&gt;部署是什么与 requirements.txt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理解部署的目标；知道云环境靠 requirements.txt 重建依赖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用 pip freeze 生成 requirements.txt&lt;/text&gt;&lt;text x='84' y='338.75' fontSize='14.5' fill='#3A4A58' textAnchor='start' fontFamily='Microsoft YaHei'&gt;· 在一台「干净环境」里装一遍验证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产出：requirements.txt 与 .platform 配置文件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0 · 第 104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09600" y="409575"/>
            <a:ext cx="1200150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104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924050" y="342900"/>
            <a:ext cx="42195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部署是什么与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requirements.txt</a:t>
            </a:r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104 节&lt;/Text&gt;&#13;&#10;        &lt;/Box&gt;&#13;&#10;        &lt;Text style={{ fontSize: 30, fontWeight: 'bold', color: '#16232E' }}&gt;核心知识点&lt;/Text&gt;&#13;&#10;        &lt;Text style={{ fontSize: 15, color: '#5A6B7A', marginTop: 10 }}&gt;· 部署是什么与 requirements.t…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3 部署是什么：从「只有你能跑」到「谁都能访问」（对应…&lt;/text&gt;&lt;text x='82' y='169.0' fontSize='13' fill='#3A4A58' textAnchor='start' fontFamily='Microsoft YaHei'&gt;· 到目前为止，「学习笔记」只活在你这台电脑上。部署（deploy）就是把它搬到一个 7&lt;/text&gt;&lt;text x='82' y='188.5' fontSize='13' fill='#3A4A58' textAnchor='start' fontFamily='Microsoft YaHei'&gt;×24 小时开机的…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4 requirements.txt：云环境的采购清单…&lt;/text&gt;&lt;text x='686' y='169.0' fontSize='13' fill='#3A4A58' textAnchor='start' fontFamily='Microsoft YaHei'&gt;· 为什么它是部署必需品？因为云环境是一台全新的、干净的机器，它不知道你的项目用过&lt;/text&gt;&lt;text x='686' y='188.5' fontSize='13' fill='#3A4A58' textAnchor='start' fontFamily='Microsoft YaHei'&gt; Django，更不会知…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0 · 第 104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09600" y="409575"/>
            <a:ext cx="809625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600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104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533525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3076575" y="476250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部署是什么与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requirements.t…</a:t>
            </a:r>
            <a:endParaRPr/>
          </a:p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105 / 111 节&lt;/Text&gt;&#13;&#10;        &lt;/Box&gt;&#13;&#10;        &lt;Text style={{ fontSize: 30, fontWeight: 'bold', color: '#16232E' }}&gt;★ platformshconfig 与本地线上双环境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理解同一份代码怎么知道自己在本地还是在云上；会改 settings.py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写 if os.getenv('PLATFORM_APPLICATION') 判断分支&lt;/text&gt;&lt;text x='84' y='338.75' fontSize='14.5' fill='#3A4A58' textAnchor='start' fontFamily='Microsoft YaHei'&gt;· 本地和「假装线上」各跑一次看差异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教材 20.2 的配置部分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0 · 第 105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09575"/>
            <a:ext cx="1200150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105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924050" y="342900"/>
            <a:ext cx="51911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★ platformshconfig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与本地线上双环境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105 节&lt;/Text&gt;&#13;&#10;        &lt;/Box&gt;&#13;&#10;        &lt;Text style={{ fontSize: 30, fontWeight: 'bold', color: '#16232E' }}&gt;核心知识点&lt;/Text&gt;&#13;&#10;        &lt;Text style={{ fontSize: 15, color: '#5A6B7A', marginTop: 10 }}&gt;· ★ platformshconfig 与本…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5 三个配置文件：一个描述应用，一个描述路由（对应教材…&lt;/text&gt;&lt;text x='82' y='169.0' fontSize='13' fill='#3A4A58' textAnchor='start' fontFamily='Microsoft YaHei'&gt;· .platform.app.yaml（和 manage.py 同级，注意别漏开头的点）：&lt;/text&gt;&lt;text x='82' y='197.5' fontSize='13' fill='#3A4A58' textAnchor='start' fontFamily='Microsoft YaHei'&gt;· .platform/routes.yaml：路由只干一件事——把域名指到应用。&lt;/text&gt;&lt;text x='82' y='226.0' fontSize='13' fill='#3A4A58' textAnchor='start' fontFamily='Microsoft YaHei'&gt;· .platform/services.yaml：服务清单，每个服务以独立容器部署。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6 platformshconfig：一份代码怎么知道…&lt;/text&gt;&lt;text x='686' y='169.0' fontSize='13' fill='#3A4A58' textAnchor='start' fontFamily='Microsoft YaHei'&gt;· 现在到本单元最烧脑的地方。难点先说在前面：settings.py 只有一份，但它要在两个&lt;/text&gt;&lt;text x='686' y='188.5' fontSize='13' fill='#3A4A58' textAnchor='start' fontFamily='Microsoft YaHei'&gt;完全不同的环境…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0 · 第 105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409575"/>
            <a:ext cx="809625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600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105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533525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3076575" y="476250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★ platformshconfig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与本…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106 / 111 节&lt;/Text&gt;&#13;&#10;        &lt;/Box&gt;&#13;&#10;        &lt;Text style={{ fontSize: 30, fontWeight: 'bold', color: '#16232E' }}&gt;★ 三大部署坑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记住 ALLOWED_HOSTS / collectstatic / DEBUG 三个坑；能逐条排查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故意不改 ALLOWED_HOSTS 看 400&lt;/text&gt;&lt;text x='84' y='338.75' fontSize='14.5' fill='#3A4A58' textAnchor='start' fontFamily='Microsoft YaHei'&gt;· 故意不改 DEBUG 看报错页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按上线检查清单逐条过一遍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0 · 第 106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609600" y="409575"/>
            <a:ext cx="1200150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106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924050" y="342900"/>
            <a:ext cx="17526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三大部署坑</a:t>
            </a:r>
            <a:endParaRPr/>
          </a:p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1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106 节&lt;/Text&gt;&#13;&#10;        &lt;/Box&gt;&#13;&#10;        &lt;Text style={{ fontSize: 30, fontWeight: 'bold', color: '#16232E' }}&gt;核心知识点&lt;/Text&gt;&#13;&#10;        &lt;Text style={{ fontSize: 15, color: '#5A6B7A', marginTop: 10 }}&gt;· ★ 三大部署坑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7 三大部署坑：ALLOWED_HOSTS、colle…&lt;/text&gt;&lt;text x='82' y='169.0' fontSize='13' fill='#3A4A58' textAnchor='start' fontFamily='Microsoft YaHei'&gt;· 坑一：ALLOWED_HOSTS 不改，线上直接 400。 Django 会检查每个请求的 Host…&lt;/text&gt;&lt;text x='82' y='197.5' fontSize='13' fill='#3A4A58' textAnchor='start' fontFamily='Microsoft YaHei'&gt;· 坑二：DEBUG = False 之后，不 collectstatic 就是一个白脸页面。 DEBUG…&lt;/text&gt;&lt;text x='82' y='226.0' fontSize='13' fill='#3A4A58' textAnchor='start' fontFamily='Microsoft YaHei'&gt;· 坑三：把本地数据库和虚拟环境传上云。 必须写 .gitignore：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8 定制错误页面与「继续开发」（对应教材 20.2）&lt;/text&gt;&lt;text x='686' y='169.0' fontSize='13' fill='#3A4A58' textAnchor='start' fontFamily='Microsoft YaHei'&gt;· 如果想更精细地控制错误行为（比如 404 时也要查数据库、按不同错误码返回不同页面&lt;/text&gt;&lt;text x='686' y='188.5' fontSize='13' fill='#3A4A58' textAnchor='start' fontFamily='Microsoft YaHei'&gt;），可以在 urls…&lt;/text&gt;&lt;text x='686' y='217.0' fontSize='13' fill='#3A4A58' textAnchor='start' fontFamily='Microsoft YaHei'&gt;· 「继续开发」的流程是部署之后最重要的工作流。首次上线只是开始，之后每次改 bug&lt;/text&gt;&lt;text x='686' y='236.5' fontSize='13' fill='#3A4A58' textAnchor='start' fontFamily='Microsoft YaHei'&gt;、加功能，都是这一个循…&lt;/text&gt;&lt;text x='686' y='265.0' fontSize='13' fill='#3A4A58' textAnchor='start' fontFamily='Microsoft YaHei'&gt;· 你的代码库里同时住着两个环境，git 提交是本地唯一的真相来源，platform push 是&lt;/text&gt;&lt;text x='686' y='284.5' fontSize='13' fill='#3A4A58' textAnchor='start' fontFamily='Microsoft YaHei'&gt;把真相同…&lt;/text&gt;&lt;text x='64' y='470' fontSize='14.5' fontWeight='bold' fill='#0E9B78' textAnchor='start' fontFamily='Microsoft YaHei'&gt;本节的代码示例&lt;/text&gt;&lt;text x='64' y='500' fontSize='13' fill='#3A4A58' textAnchor='start' fontFamily='Microsoft YaHei'&gt;· 同一份代码，两个环境（config_switcher.py）&lt;/text&gt;&lt;text x='468' y='500' fontSize='13' fill='#3A4A58' textAnchor='start' fontFamily='Microsoft YaHei'&gt;· 给 requirements.txt 做入职体检（requirem…&lt;/text&gt;&lt;text x='872' y='500' fontSize='13' fill='#3A4A58' textAnchor='start' fontFamily='Microsoft YaHei'&gt;· 400 Bad Request 是怎么来的（host_check.…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0 · 第 106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609600" y="409575"/>
            <a:ext cx="809625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600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106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533525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3076575" y="476250"/>
            <a:ext cx="952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★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三大部署坑</a:t>
            </a:r>
            <a:endParaRPr/>
          </a:p>
        </p:txBody>
      </p:sp>
      <p:pic>
        <p:nvPicPr>
          <p:cNvPr id="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107 / 111 节&lt;/Text&gt;&#13;&#10;        &lt;/Box&gt;&#13;&#10;        &lt;Text style={{ fontSize: 30, fontWeight: 'bold', color: '#16232E' }}&gt;部署上线、错误页与实战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真正把网站推到公网；会定制 404/500 错误页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走完 Platform.sh 全流程&lt;/text&gt;&lt;text x='84' y='338.75' fontSize='14.5' fill='#3A4A58' textAnchor='start' fontFamily='Microsoft YaHei'&gt;· 故意访问不存在的 URL 看定制错误页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★ 产出：公网可访问的学习笔记 + 定制错误页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0 · 第 107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609600" y="409575"/>
            <a:ext cx="1200150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107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924050" y="342900"/>
            <a:ext cx="3143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部署上线、错误页与实战</a:t>
            </a:r>
            <a:endParaRPr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107 节&lt;/Text&gt;&#13;&#10;        &lt;/Box&gt;&#13;&#10;        &lt;Text style={{ fontSize: 30, fontWeight: 'bold', color: '#16232E' }}&gt;核心知识点&lt;/Text&gt;&#13;&#10;        &lt;Text style={{ fontSize: 15, color: '#5A6B7A', marginTop: 10 }}&gt;· 部署上线、错误页与实战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基础档&lt;/text&gt;&lt;text x='82' y='169.0' fontSize='13' fill='#3A4A58' textAnchor='start' fontFamily='Microsoft YaHei'&gt;· 练习 20-1【给「学习笔记」换装】&lt;/text&gt;&lt;text x='82' y='197.5' fontSize='13' fill='#3A4A58' textAnchor='start' fontFamily='Microsoft YaHei'&gt;· 练习 20-2【写部署三件套】&lt;/text&gt;&lt;text x='82' y='226.0' fontSize='13' fill='#3A4A58' textAnchor='start' fontFamily='Microsoft YaHei'&gt;· 练习 20-3【诊断三个线上故障】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进阶档&lt;/text&gt;&lt;text x='486' y='169.0' fontSize='13' fill='#3A4A58' textAnchor='start' fontFamily='Microsoft YaHei'&gt;· 练习 20-4【本地模拟双环境】&lt;/text&gt;&lt;text x='486' y='197.5' fontSize='13' fill='#3A4A58' textAnchor='start' fontFamily='Microsoft YaHei'&gt;· 练习 20-5【本地验证定制错误页面】&lt;/text&gt;&lt;text x='486' y='226.0' fontSize='13' fill='#3A4A58' textAnchor='start' fontFamily='Microsoft YaHei'&gt;· 练习 20-6【扩展部署检查清单】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参考答案 20-1（换装后的关键模板）&lt;/text&gt;&lt;text x='890' y='169.0' fontSize='13' fill='#3A4A58' textAnchor='start' fontFamily='Microsoft YaHei'&gt;· settings.py 注册后，登录页 templates/registrat&lt;/text&gt;&lt;text x='890' y='188.5' fontSize='13' fill='#3A4A58' textAnchor='start' fontFamily='Microsoft YaHei'&gt;ion/login.ht…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20 · 第 107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09600" y="409575"/>
            <a:ext cx="809625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600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107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533525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076575" y="476250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部署上线、错误页与实战</a:t>
            </a:r>
            <a:endParaRPr/>
          </a:p>
        </p:txBody>
      </p:sp>
      <p:pic>
        <p:nvPicPr>
          <p:cNvPr id="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" name="" descr="&lt;Slide style={{ width: '1280px', height: '720px', backgroundColor: '#FAFCFE', padding: 0, position: 'relative', overflow: 'hidden' }}&gt;&#13;&#10;    &lt;Box style={{ position: 'absolute', left: 0, top: 0, width: '12px', height: '720px', background: '#0E9B78' }} /&gt;&#13;&#10;    &lt;Box style={{ position: 'absolute', left: 72, top: 44, width: '1144px', flexDirection: 'column' }}&gt;&#13;&#10;        &lt;Text style={{ fontSize: 34, fontWeight: 'bold', color: '#16232E' }}&gt;单元 20 · 小结与验收&lt;/Text&gt;&#13;&#10;        &lt;Text style={{ fontSize: 16, color: '#5A6B7A', marginTop: 6 }}&gt;样式与部署&lt;/Text&gt;&#13;&#10;    &lt;/Box&gt;&#13;&#10;    &lt;Box style={{ position: 'absolute', left: 72, top: 148, width: '552px', height: 400, background: '#FFFFFF', border: '1px solid #D8E3EE', borderRadius: 12, padding: 18, flexDirection: 'column' }}&gt;&#13;&#10;        &lt;Text style={{ fontSize: 16, fontWeight: 'bold', color: '#1F5FA8' }}&gt;本单元课节回顾&lt;/Text&gt;&#13;&#10;        &lt;Box style={{ marginTop: 10, position: 'relative', height: 330 }}&gt;&#13;&#10;            &lt;svg width='516' height='330' viewBox='0 0 516 330'&gt;&lt;text x='0' y='34' fontSize='14.5' fill='#3A4A58' fontFamily='Microsoft YaHei'&gt;· 第 103 节 · django-bootstrap5 与页面改造&lt;/text&gt;&lt;text x='0' y='64' fontSize='14.5' fill='#3A4A58' fontFamily='Microsoft YaHei'&gt;· 第 104 节 · 部署是什么与 requirements.txt&lt;/text&gt;&lt;text x='0' y='94' fontSize='14.5' fill='#3A4A58' fontFamily='Microsoft YaHei'&gt;· 第 105 节 · ★ platformshconfig 与本地线上双环境&lt;/text&gt;&lt;text x='0' y='124' fontSize='14.5' fill='#3A4A58' fontFamily='Microsoft YaHei'&gt;· 第 106 节 · ★ 三大部署坑&lt;/text&gt;&lt;text x='0' y='154' fontSize='14.5' fill='#3A4A58' fontFamily='Microsoft YaHei'&gt;· 第 107 节 · 部署上线、错误页与实战&lt;/text&gt;&lt;/svg&gt;&#13;&#10;        &lt;/Box&gt;&#13;&#10;    &lt;/Box&gt;&#13;&#10;    &lt;Box style={{ position: 'absolute', left: 656, top: 148, width: '560px', height: 400, background: '#FDF3E2', borderRadius: 12, padding: 20, flexDirection: 'column' }}&gt;&#13;&#10;        &lt;Text style={{ fontSize: 16, fontWeight: 'bold', color: '#E08A15' }}&gt;过关标准&lt;/Text&gt;&#13;&#10;        &lt;Text style={{ fontSize: 15, color: '#3A4A58', marginTop: 12, lineHeight: 1.9 }}&gt;&#13;&#10;            1. 本单元每一节的课后作业都做完并自己验收过&#13;&#10;&#13;&#10;            2. 不看讲义能独立重写一遍本单元的示例代码&#13;&#10;&#13;&#10;            3. 讲义最后「本单元验收自测」全部答对&#13;&#10;&#13;&#10;            4. 产出物已经写进笔记或提交到 Git&#13;&#10;        &lt;/Text&gt;&#13;&#10;        &lt;Text style={{ fontSize: 14, color: '#8A6A2A', marginTop: 16, lineHeight: 1.7 }}&gt;&#13;&#10;            没过关的项回到对应那一节重做，不要整体重学。&#13;&#10;        &lt;/Text&gt;&#13;&#10;    &lt;/Box&gt;&#13;&#10;    &lt;Box style={{ position: 'absolute', left: 72, bottom: 26, width: '1144px', flexDirection: 'row', justifyContent: 'space-between' }}&gt;&#13;&#10;        &lt;Text style={{ fontSize: 13, color: '#8A9AAA' }}&gt;Python 讲授课件 · 逐节版&lt;/Text&gt;&#13;&#10;        &lt;Text style={{ fontSize: 13, color: '#8A9AAA' }}&gt;单元 20 · 小结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96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20 ·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小结与验收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9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样式与部署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85800" y="1409700"/>
            <a:ext cx="52578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57250" y="158115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本单元课节回顾</a:t>
            </a:r>
            <a:endParaRPr/>
          </a:p>
        </p:txBody>
      </p:sp>
      <p:pic>
        <p:nvPicPr>
          <p:cNvPr id="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866900"/>
            <a:ext cx="4914900" cy="3143250"/>
          </a:xfrm>
          <a:prstGeom prst="rect">
            <a:avLst/>
          </a:prstGeom>
          <a:ln/>
        </p:spPr>
      </p:pic>
      <p:sp>
        <p:nvSpPr>
          <p:cNvPr id="30" name=""/>
          <p:cNvSpPr/>
          <p:nvPr/>
        </p:nvSpPr>
        <p:spPr>
          <a:xfrm rot="0" flipH="0" flipV="0">
            <a:off x="6248400" y="14097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438900" y="160020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8A15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438900" y="1905000"/>
            <a:ext cx="4953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本单元每一节的课后作业都做完并自己验收过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2.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不看讲义能独立重写一遍本单元的示例代码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讲义最后「本单元验收自测」全部答对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4.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产出物已经写进笔记或提交到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Git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438900" y="30384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8A6A2A"/>
                </a:solidFill>
                <a:latin typeface="Microsoft YaHei"/>
                <a:ea typeface="Microsoft YaHei"/>
              </a:rPr>
              <a:t>没过关的项回到对应那一节重做，不要整体重学。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0801350" y="64579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20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2026-10-16T01:10:59Z</dcterms:created>
  <dcterms:modified xsi:type="dcterms:W3CDTF">2026-10-16T01:10:59Z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{"AIGC":{"Label":"1","ContentProducer":"00119111010856365494821B355","ProduceID":"01a140606b8e78a9a7f16f4a35ab0244","ReservedCode1":"","ContentPropagator":"00119111010856365494821B355","PropagateID":"01a140606b8e78a9a7f16f4a35ab0244","ReservedCode2":""}}</vt:lpwstr>
  </property>
</Properties>
</file>