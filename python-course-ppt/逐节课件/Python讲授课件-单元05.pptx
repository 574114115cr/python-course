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tableStyles" Target="tableStyles.xml"/><Relationship Id="rId1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5 · 单元 5 · 字典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23 节 字典：按名字找数据</a:t>
            </a:r>
          </a:p>
          <a:p>
            <a:r>
              <a:rPr lang="zh-CN" dirty="0"/>
              <a:t>· 第 24 节 三种遍历与 get() 安全取值</a:t>
            </a:r>
          </a:p>
          <a:p>
            <a:r>
              <a:rPr lang="zh-CN" dirty="0"/>
              <a:t>· 第 25 节 遍历时修改与嵌套结构</a:t>
            </a:r>
          </a:p>
          <a:p>
            <a:r>
              <a:rPr lang="zh-CN" dirty="0"/>
              <a:t>· 第 26 节 动手实战与答案讲评</a:t>
            </a:r>
          </a:p>
          <a:p>
            <a:r>
              <a:rPr lang="zh-CN" dirty="0"/>
              <a:t>· 第 27 节 单元 5 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23 节 · 字典：按名字找数据</a:t>
            </a:r>
          </a:p>
          <a:p>
            <a:r>
              <a:rPr lang="zh-CN" dirty="0"/>
              <a:t>单元 5 · 字典 · W5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学习目标：理解「列表按位置找、字典按名字找」，掌握键值对增删改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现场把一个列表版数据改成字典版</a:t>
            </a:r>
          </a:p>
          <a:p>
            <a:r>
              <a:rPr lang="zh-CN" dirty="0"/>
              <a:t>· 演示赋值的新增 vs 修改两种含义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5-1 ~ 5-3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23 节 · 核心知识点：字典：按名字找数据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本节目标：理解「列表按位置找、字典按名字找」，掌握键值对增删改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24 节 · 三种遍历与 get() 安全取值</a:t>
            </a:r>
          </a:p>
          <a:p>
            <a:r>
              <a:rPr lang="zh-CN" dirty="0"/>
              <a:t>单元 5 · 字典 · W5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学习目标：掌握 items / keys / values 三种遍历，知道 get() 为什么不崩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对同一字典用三种方式遍历并比较输出</a:t>
            </a:r>
          </a:p>
          <a:p>
            <a:r>
              <a:rPr lang="zh-CN" dirty="0"/>
              <a:t>· 故意用 [] 取不存在的键看 KeyError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5-4 ~ 5-6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24 节 · 核心知识点：三种遍历与 get() 安全取值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本节目标：掌握 items / keys / values 三种遍历，知道 get() 为什么不崩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25 节 · 遍历时修改与嵌套结构</a:t>
            </a:r>
          </a:p>
          <a:p>
            <a:r>
              <a:rPr lang="zh-CN" dirty="0"/>
              <a:t>单元 5 · 字典 · W5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学习目标：能处理嵌套结构，为后面学 JSON 打基础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现场把三层嵌套数据一层层打印出来</a:t>
            </a:r>
          </a:p>
          <a:p>
            <a:r>
              <a:rPr lang="zh-CN" dirty="0"/>
              <a:t>· 讨论：为什么 JSON 能被 Python 直接读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动手项目 6.1–6.3 生日调查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25 节 · 核心知识点：遍历时修改与嵌套结构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本节目标：能处理嵌套结构，为后面学 JSON 打基础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26 节 · 动手实战与答案讲评</a:t>
            </a:r>
          </a:p>
          <a:p>
            <a:r>
              <a:rPr lang="zh-CN" dirty="0"/>
              <a:t>单元 5 · 字典 · W5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5 练习，能熟练遍历嵌套数据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限时 30 分钟独立完成基础档</a:t>
            </a:r>
          </a:p>
          <a:p>
            <a:r>
              <a:rPr lang="zh-CN" dirty="0"/>
              <a:t>· 逐题对照答案讲评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产出：三种嵌套结构各一组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26 节 · 核心知识点：动手实战与答案讲评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5 练习，能熟练遍历嵌套数据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27 节 · 单元 5 验收复盘</a:t>
            </a:r>
          </a:p>
          <a:p>
            <a:r>
              <a:rPr lang="zh-CN" dirty="0"/>
              <a:t>单元 5 · 字典 · W5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学习目标：确认字典增删改查、三种遍历、嵌套都过关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逐条打勾验收自测</a:t>
            </a:r>
          </a:p>
          <a:p>
            <a:r>
              <a:rPr lang="zh-CN" dirty="0"/>
              <a:t>· 现场演示嵌套数据的提取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完成本单元小结与产出检查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27 节 · 核心知识点：单元 5 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本节目标：确认字典增删改查、三种遍历、嵌套都过关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5 小结 · 单元 5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5&lt;/Text&gt;&#13;&#10;        &lt;Text style={{ fontSize: 38, fontWeight: 'bold', color: '#FFFFFF', marginTop: 6 }}&gt;字典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5 节课&lt;/text&gt;&#13;&#10;            &lt;rect x='0' y='56.0' width='1152' height='48.0' rx='7' fill='#FFFFFF' /&gt;&lt;text x='16' y='85.0' fontSize='15' fontWeight='bold' fill='#1F5FA8' fontFamily='Microsoft YaHei'&gt;第 23 节&lt;/text&gt;&lt;text x='96' y='85.0' fontSize='15' fill='#16232E' fontFamily='Microsoft YaHei'&gt;字典：按名字找数据&lt;/text&gt;&lt;text x='1080' y='85.0' fontSize='13' fill='#5A6B7A' textAnchor='end' fontFamily='Microsoft YaHei'&gt;W5&lt;/text&gt;&lt;rect x='0' y='135.2' width='1152' height='48.0' rx='7' fill='#F2F7FD' /&gt;&lt;text x='16' y='164.2' fontSize='15' fontWeight='bold' fill='#1F5FA8' fontFamily='Microsoft YaHei'&gt;第 24 节&lt;/text&gt;&lt;text x='96' y='164.2' fontSize='15' fill='#16232E' fontFamily='Microsoft YaHei'&gt;三种遍历与 get() 安全取值&lt;/text&gt;&lt;text x='1080' y='164.2' fontSize='13' fill='#5A6B7A' textAnchor='end' fontFamily='Microsoft YaHei'&gt;W5&lt;/text&gt;&lt;rect x='0' y='214.4' width='1152' height='48.0' rx='7' fill='#FFFFFF' /&gt;&lt;text x='16' y='243.4' fontSize='15' fontWeight='bold' fill='#1F5FA8' fontFamily='Microsoft YaHei'&gt;第 25 节&lt;/text&gt;&lt;text x='96' y='243.4' fontSize='15' fill='#16232E' fontFamily='Microsoft YaHei'&gt;遍历时修改与嵌套结构&lt;/text&gt;&lt;text x='1080' y='243.4' fontSize='13' fill='#5A6B7A' textAnchor='end' fontFamily='Microsoft YaHei'&gt;W5&lt;/text&gt;&lt;rect x='0' y='293.6' width='1152' height='48.0' rx='7' fill='#F2F7FD' /&gt;&lt;text x='16' y='322.6' fontSize='15' fontWeight='bold' fill='#1F5FA8' fontFamily='Microsoft YaHei'&gt;第 26 节&lt;/text&gt;&lt;text x='96' y='322.6' fontSize='15' fill='#16232E' fontFamily='Microsoft YaHei'&gt;动手实战与答案讲评&lt;/text&gt;&lt;text x='1080' y='322.6' fontSize='13' fill='#5A6B7A' textAnchor='end' fontFamily='Microsoft YaHei'&gt;W5&lt;/text&gt;&lt;rect x='0' y='372.8' width='1152' height='48.0' rx='7' fill='#FFFFFF' /&gt;&lt;text x='16' y='401.8' fontSize='15' fontWeight='bold' fill='#1F5FA8' fontFamily='Microsoft YaHei'&gt;第 27 节&lt;/text&gt;&lt;text x='96' y='401.8' fontSize='15' fill='#16232E' fontFamily='Microsoft YaHei'&gt;单元 5 验收复盘&lt;/text&gt;&lt;text x='1080' y='401.8' fontSize='13' fill='#5A6B7A' textAnchor='end' fontFamily='Microsoft YaHei'&gt;W5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5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5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字典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5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23 / 111 节&lt;/Text&gt;&#13;&#10;        &lt;/Box&gt;&#13;&#10;        &lt;Text style={{ fontSize: 30, fontWeight: 'bold', color: '#16232E' }}&gt;字典：按名字找数据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「列表按位置找、字典按名字找」，掌握键值对增删改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把一个列表版数据改成字典版&lt;/text&gt;&lt;text x='84' y='338.75' fontSize='14.5' fill='#3A4A58' textAnchor='start' fontFamily='Microsoft YaHei'&gt;· 演示赋值的新增 vs 修改两种含义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5-1 ~ 5-3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5 · 第 2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23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字典：按名字找数据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23 节&lt;/Text&gt;&#13;&#10;        &lt;/Box&gt;&#13;&#10;        &lt;Text style={{ fontSize: 30, fontWeight: 'bold', color: '#16232E' }}&gt;核心知识点&lt;/Text&gt;&#13;&#10;        &lt;Text style={{ fontSize: 15, color: '#5A6B7A', marginTop: 10 }}&gt;· 字典：按名字找数据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1 列表按位置找，字典按名字找&lt;/text&gt;&lt;text x='82' y='169.0' fontSize='13' fill='#3A4A58' textAnchor='start' fontFamily='Microsoft YaHei'&gt;· 列表 = 一排有编号的抽屉。找东西靠数编号（第 3&lt;/text&gt;&lt;text x='82' y='188.5' fontSize='13' fill='#3A4A58' textAnchor='start' fontFamily='Microsoft YaHei'&gt;个、第 7 个）。&lt;/text&gt;&lt;text x='82' y='217.0' fontSize='13' fill='#3A4A58' textAnchor='start' fontFamily='Microsoft YaHei'&gt;· 字典 = 一个巨大的储物柜，每个柜门上都贴着标签。&lt;/text&gt;&lt;text x='82' y='236.5' fontSize='13' fill='#3A4A58' textAnchor='start' fontFamily='Microsoft YaHei'&gt;找东西靠读标签（&quot;小明&quot; → 拿到他的号码）。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2 键值对：key → value&lt;/text&gt;&lt;text x='486' y='169.0' fontSize='13' fill='#3A4A58' textAnchor='start' fontFamily='Microsoft YaHei'&gt;· 键（key）：唯一的标签，充当索引&lt;/text&gt;&lt;text x='486' y='197.5' fontSize='13' fill='#3A4A58' textAnchor='start' fontFamily='Microsoft YaHei'&gt;· 值（value）：这个标签下存的东西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3 新增 vs 修改：同一行代码，两种含义&lt;/text&gt;&lt;text x='890' y='169.0' fontSize='13' fill='#3A4A58' textAnchor='start' fontFamily='Microsoft YaHei'&gt;· Python 用最优雅的方式处理了这个问题：&lt;/text&gt;&lt;text x='890' y='188.5' fontSize='13' fill='#3A4A58' textAnchor='start' fontFamily='Microsoft YaHei'&gt;赋值语句不关心是新增还是修改，它只看这个键在不在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5 · 第 2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字典：按名字找数据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24 / 111 节&lt;/Text&gt;&#13;&#10;        &lt;/Box&gt;&#13;&#10;        &lt;Text style={{ fontSize: 30, fontWeight: 'bold', color: '#16232E' }}&gt;三种遍历与 get() 安全取值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 items / keys / values 三种遍历，知道 get() 为什么不崩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对同一字典用三种方式遍历并比较输出&lt;/text&gt;&lt;text x='84' y='338.75' fontSize='14.5' fill='#3A4A58' textAnchor='start' fontFamily='Microsoft YaHei'&gt;· 故意用 [] 取不存在的键看 KeyError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5-4 ~ 5-6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5 · 第 2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24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4480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三种遍历与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get()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安全取值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24 节&lt;/Text&gt;&#13;&#10;        &lt;/Box&gt;&#13;&#10;        &lt;Text style={{ fontSize: 30, fontWeight: 'bold', color: '#16232E' }}&gt;核心知识点&lt;/Text&gt;&#13;&#10;        &lt;Text style={{ fontSize: 15, color: '#5A6B7A', marginTop: 10 }}&gt;· 三种遍历与 get() 安全取值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4 三种遍历方式&lt;/text&gt;&lt;text x='82' y='169.0' fontSize='13' fill='#3A4A58' textAnchor='start' fontFamily='Microsoft YaHei'&gt;· for key in dict 实际等于 for key in dict.keys()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5 .get()：不 crash 的取值方式&lt;/text&gt;&lt;text x='686' y='169.0' fontSize='13' fill='#3A4A58' textAnchor='start' fontFamily='Microsoft YaHei'&gt;· scores[&quot;英语&quot;] 像直接拉开一个可能不存在的抽屉（柜子会&quot;咔哒&quot;响一声表示没有）&lt;/text&gt;&lt;text x='686' y='188.5' fontSize='13' fill='#3A4A58' textAnchor='start' fontFamily='Microsoft YaHei'&gt;…&lt;/text&gt;&lt;text x='686' y='217.0' fontSize='13' fill='#3A4A58' textAnchor='start' fontFamily='Microsoft YaHei'&gt;· .get() 还有一个更妙的地方：链式访问&lt;/text&gt;&lt;text x='686' y='245.5' fontSize='13' fill='#3A4A58' textAnchor='start' fontFamily='Microsoft YaHei'&gt;· 最后那个空字典 ｛｝ 是这个技巧的灵魂——它保证链条不会因为某层缺失而断掉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5 · 第 2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三种遍历与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get()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安全取值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25 / 111 节&lt;/Text&gt;&#13;&#10;        &lt;/Box&gt;&#13;&#10;        &lt;Text style={{ fontSize: 30, fontWeight: 'bold', color: '#16232E' }}&gt;遍历时修改与嵌套结构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处理嵌套结构，为后面学 JSON 打基础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把三层嵌套数据一层层打印出来&lt;/text&gt;&lt;text x='84' y='338.75' fontSize='14.5' fill='#3A4A58' textAnchor='start' fontFamily='Microsoft YaHei'&gt;· 讨论：为什么 JSON 能被 Python 直接读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动手项目 6.1–6.3 生日调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5 · 第 2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25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遍历时修改与嵌套结构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25 节&lt;/Text&gt;&#13;&#10;        &lt;/Box&gt;&#13;&#10;        &lt;Text style={{ fontSize: 30, fontWeight: 'bold', color: '#16232E' }}&gt;核心知识点&lt;/Text&gt;&#13;&#10;        &lt;Text style={{ fontSize: 15, color: '#5A6B7A', marginTop: 10 }}&gt;· 遍历时修改与嵌套结构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6 遍历时能修改字典吗&lt;/text&gt;&lt;text x='82' y='169.0' fontSize='13' fill='#3A4A58' textAnchor='start' fontFamily='Microsoft YaHei'&gt;· 你在点名册上边点名边划掉名字——划掉之后册子的页数变了，念到后面就会跳行出错。&lt;/text&gt;&lt;text x='82' y='197.5' fontSize='13' fill='#3A4A58' textAnchor='start' fontFamily='Microsoft YaHei'&gt;· list(d.keys()) 是浅拷贝键列表，够用了，因为键本身是不可变的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7 嵌套结构：字典的真正威力&lt;/text&gt;&lt;text x='686' y='169.0' fontSize='13' fill='#3A4A58' textAnchor='start' fontFamily='Microsoft YaHei'&gt;· 这一段代码就是单元 11 那个&quot;投票分析器&quot;的核心结构。&lt;/text&gt;&lt;text x='64' y='470' fontSize='14.5' fontWeight='bold' fill='#0E9B78' textAnchor='start' fontFamily='Microsoft YaHei'&gt;本节的代码示例&lt;/text&gt;&lt;text x='64' y='500' fontSize='13' fill='#3A4A58' textAnchor='start' fontFamily='Microsoft YaHei'&gt;· 创建与基本访问&lt;/text&gt;&lt;text x='468' y='500' fontSize='13' fill='#3A4A58' textAnchor='start' fontFamily='Microsoft YaHei'&gt;· 新增、修改、删除&lt;/text&gt;&lt;text x='872' y='500' fontSize='13' fill='#3A4A58' textAnchor='start' fontFamily='Microsoft YaHei'&gt;· 三种遍历方式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5 · 第 2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25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遍历时修改与嵌套结构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26 / 111 节&lt;/Text&gt;&#13;&#10;        &lt;/Box&gt;&#13;&#10;        &lt;Text style={{ fontSize: 30, fontWeight: 'bold', color: '#16232E' }}&gt;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5 练习，能熟练遍历嵌套数据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30 分钟独立完成基础档&lt;/text&gt;&lt;text x='84' y='338.75' fontSize='14.5' fill='#3A4A58' textAnchor='start' fontFamily='Microsoft YaHei'&gt;· 逐题对照答案讲评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三种嵌套结构各一组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5 · 第 2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26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26 节&lt;/Text&gt;&#13;&#10;        &lt;/Box&gt;&#13;&#10;        &lt;Text style={{ fontSize: 30, fontWeight: 'bold', color: '#16232E' }}&gt;核心知识点&lt;/Text&gt;&#13;&#10;        &lt;Text style={{ fontSize: 15, color: '#5A6B7A', marginTop: 10 }}&gt;· 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5-1【个人信息字典】&lt;/text&gt;&lt;text x='82' y='197.5' fontSize='13' fill='#3A4A58' textAnchor='start' fontFamily='Microsoft YaHei'&gt;· 练习 5-2【通讯录】&lt;/text&gt;&lt;text x='82' y='226.0' fontSize='13' fill='#3A4A58' textAnchor='start' fontFamily='Microsoft YaHei'&gt;· 练习 5-3【成绩单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5-4【词频统计器】&lt;/text&gt;&lt;text x='486' y='197.5' fontSize='13' fill='#3A4A58' textAnchor='start' fontFamily='Microsoft YaHei'&gt;· 文本先转小写（.lower()）&lt;/text&gt;&lt;text x='486' y='226.0' fontSize='13' fill='#3A4A58' textAnchor='start' fontFamily='Microsoft YaHei'&gt;· 按空格 split 成单词列表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5-9&lt;/text&gt;&lt;text x='890' y='169.0' fontSize='13' fill='#3A4A58' textAnchor='start' fontFamily='Microsoft YaHei'&gt;· inventory.items() 同时给出键和值，&lt;/text&gt;&lt;text x='890' y='188.5' fontSize='13' fill='#3A4A58' textAnchor='start' fontFamily='Microsoft YaHei'&gt;是遍历字典最好用的方式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5 · 第 2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26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27 / 111 节&lt;/Text&gt;&#13;&#10;        &lt;/Box&gt;&#13;&#10;        &lt;Text style={{ fontSize: 30, fontWeight: 'bold', color: '#16232E' }}&gt;单元 5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确认字典增删改查、三种遍历、嵌套都过关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逐条打勾验收自测&lt;/text&gt;&lt;text x='84' y='338.75' fontSize='14.5' fill='#3A4A58' textAnchor='start' fontFamily='Microsoft YaHei'&gt;· 现场演示嵌套数据的提取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本单元小结与产出检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5 · 第 2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27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066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27 节&lt;/Text&gt;&#13;&#10;        &lt;/Box&gt;&#13;&#10;        &lt;Text style={{ fontSize: 30, fontWeight: 'bold', color: '#16232E' }}&gt;核心知识点&lt;/Text&gt;&#13;&#10;        &lt;Text style={{ fontSize: 15, color: '#5A6B7A', marginTop: 10 }}&gt;· 单元 5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5 · 第 2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5 · 小结与验收&lt;/Text&gt;&#13;&#10;        &lt;Text style={{ fontSize: 16, color: '#5A6B7A', marginTop: 6 }}&gt;字典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23 节 · 字典：按名字找数据&lt;/text&gt;&lt;text x='0' y='64' fontSize='14.5' fill='#3A4A58' fontFamily='Microsoft YaHei'&gt;· 第 24 节 · 三种遍历与 get() 安全取值&lt;/text&gt;&lt;text x='0' y='94' fontSize='14.5' fill='#3A4A58' fontFamily='Microsoft YaHei'&gt;· 第 25 节 · 遍历时修改与嵌套结构&lt;/text&gt;&lt;text x='0' y='124' fontSize='14.5' fill='#3A4A58' fontFamily='Microsoft YaHei'&gt;· 第 26 节 · 动手实战与答案讲评&lt;/text&gt;&lt;text x='0' y='154' fontSize='14.5' fill='#3A4A58' fontFamily='Microsoft YaHei'&gt;· 第 27 节 · 单元 5 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5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5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字典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68025" y="64579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5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2026-10-29T00:32:19Z</dcterms:created>
  <dcterms:modified xsi:type="dcterms:W3CDTF">2026-10-29T00:32:19Z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{"AIGC":{"Label":"1","ContentProducer":"00119111010856365494821B355","ProduceID":"01a183579b68743e9c290638234d6294","ReservedCode1":"","ContentPropagator":"00119111010856365494821B355","PropagateID":"01a183579b68743e9c290638234d6294","ReservedCode2":""}}</vt:lpwstr>
  </property>
</Properties>
</file>