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media/image1.svg" ContentType="image/svg+xml"/>
  <Override PartName="/ppt/slides/media/image10.svg" ContentType="image/svg+xml"/>
  <Override PartName="/ppt/slides/media/image11.svg" ContentType="image/svg+xml"/>
  <Override PartName="/ppt/slides/media/image12.svg" ContentType="image/svg+xml"/>
  <Override PartName="/ppt/slides/media/image2.svg" ContentType="image/svg+xml"/>
  <Override PartName="/ppt/slides/media/image3.svg" ContentType="image/svg+xml"/>
  <Override PartName="/ppt/slides/media/image4.svg" ContentType="image/svg+xml"/>
  <Override PartName="/ppt/slides/media/image5.svg" ContentType="image/svg+xml"/>
  <Override PartName="/ppt/slides/media/image6.svg" ContentType="image/svg+xml"/>
  <Override PartName="/ppt/slides/media/image7.svg" ContentType="image/svg+xml"/>
  <Override PartName="/ppt/slides/media/image8.svg" ContentType="image/svg+xml"/>
  <Override PartName="/ppt/slides/media/image9.svg" ContentType="image/svg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0" Type="http://schemas.openxmlformats.org/officeDocument/2006/relationships/officeDocument" Target="ppt/presentation.xml"/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custom-properties" Target="docProps/custom.xml"/></Relationships>
</file>

<file path=ppt/presentation.xml><?xml version="1.0" encoding="utf-8"?>
<p:presentation xmlns:p="http://schemas.openxmlformats.org/presentationml/2006/main" xmlns:a="http://schemas.openxmlformats.org/drawingml/2006/main" xmlns:r="http://schemas.openxmlformats.org/officeDocument/2006/relationships" firstSlideNum="1">
  <p:sldMasterIdLst>
    <p:sldMasterId id="2147483648" r:id="rId0"/>
  </p:sldMasterIdLst>
  <p:notesMasterIdLst>
    <p:notesMasterId r:id="rId13"/>
  </p:notesMasterIdLst>
  <p:sldIdLst>
    <p:sldId id="256" r:id="rId1"/>
    <p:sldId id="257" r:id="rId2"/>
    <p:sldId id="258" r:id="rId3"/>
    <p:sldId id="259" r:id="rId4"/>
    <p:sldId id="260" r:id="rId5"/>
    <p:sldId id="261" r:id="rId6"/>
    <p:sldId id="262" r:id="rId7"/>
    <p:sldId id="263" r:id="rId8"/>
    <p:sldId id="264" r:id="rId9"/>
    <p:sldId id="265" r:id="rId10"/>
    <p:sldId id="266" r:id="rId11"/>
    <p:sldId id="267" r:id="rId12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p="http://schemas.openxmlformats.org/presentationml/2006/main">
  <p:extLst>
    <p:ext uri="{E76CE94A-603C-4142-B9EB-6D1370010A27}"/>
    <p:ext uri="{D31A062A-798A-4329-ABDD-BBA856620510}"/>
    <p:ext uri="{FD5EFAAD-0ECE-453E-9831-46B23BE46B34}"/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p="http://schemas.openxmlformats.org/presentationml/2006/main" xmlns:a="http://schemas.openxmlformats.org/drawingml/2006/main" lastView="sldThumbnailView">
  <p:normalViewPr horzBarState="maximized">
    <p:restoredLeft sz="15611"/>
    <p:restoredTop sz="94610"/>
  </p:normalViewPr>
  <p:slideViewPr>
    <p:cSldViewPr snapToGrid="0" snapToObjects="1">
      <p:cViewPr varScale="1">
        <p:scale>
          <a:sx n="127" d="100"/>
          <a:sy n="127" d="100"/>
        </p:scale>
        <p:origin x="536" y="19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0" Type="http://schemas.openxmlformats.org/officeDocument/2006/relationships/slideMaster" Target="slideMasters/slideMaster1.xml"/><Relationship Id="rId1" Type="http://schemas.openxmlformats.org/officeDocument/2006/relationships/slide" Target="slides/slide1.xml"/><Relationship Id="rId2" Type="http://schemas.openxmlformats.org/officeDocument/2006/relationships/slide" Target="slides/slide2.xml"/><Relationship Id="rId3" Type="http://schemas.openxmlformats.org/officeDocument/2006/relationships/slide" Target="slides/slide3.xml"/><Relationship Id="rId4" Type="http://schemas.openxmlformats.org/officeDocument/2006/relationships/slide" Target="slides/slide4.xml"/><Relationship Id="rId5" Type="http://schemas.openxmlformats.org/officeDocument/2006/relationships/slide" Target="slides/slide5.xml"/><Relationship Id="rId6" Type="http://schemas.openxmlformats.org/officeDocument/2006/relationships/slide" Target="slides/slide6.xml"/><Relationship Id="rId7" Type="http://schemas.openxmlformats.org/officeDocument/2006/relationships/slide" Target="slides/slide7.xml"/><Relationship Id="rId8" Type="http://schemas.openxmlformats.org/officeDocument/2006/relationships/slide" Target="slides/slide8.xml"/><Relationship Id="rId9" Type="http://schemas.openxmlformats.org/officeDocument/2006/relationships/slide" Target="slides/slide9.xml"/><Relationship Id="rId10" Type="http://schemas.openxmlformats.org/officeDocument/2006/relationships/slide" Target="slides/slide10.xml"/><Relationship Id="rId11" Type="http://schemas.openxmlformats.org/officeDocument/2006/relationships/slide" Target="slides/slide11.xml"/><Relationship Id="rId12" Type="http://schemas.openxmlformats.org/officeDocument/2006/relationships/slide" Target="slides/slide12.xml"/><Relationship Id="rId13" Type="http://schemas.openxmlformats.org/officeDocument/2006/relationships/notesMaster" Target="notesMasters/notesMaster1.xml"/><Relationship Id="rId14" Type="http://schemas.openxmlformats.org/officeDocument/2006/relationships/presProps" Target="presProps.xml"/><Relationship Id="rId15" Type="http://schemas.openxmlformats.org/officeDocument/2006/relationships/tableStyles" Target="tableStyles.xml"/><Relationship Id="rId16" Type="http://schemas.openxmlformats.org/officeDocument/2006/relationships/viewProps" Target="viewProps.xml"/></Relationships>
</file>

<file path=ppt/notesMasters/_rels/notesMaster1.xml.rels><?xml version='1.0' encoding='UTF-8' standalone='yes'?>
<Relationships xmlns="http://schemas.openxmlformats.org/package/2006/relationships"><Relationship Id="rId0" Type="http://schemas.openxmlformats.org/officeDocument/2006/relationships/theme" Target="../theme/theme2.xml"/></Relationships>
</file>

<file path=ppt/notesMasters/notesMaster1.xml><?xml version="1.0" encoding="utf-8"?>
<p:notesMaster xmlns:p="http://schemas.openxmlformats.org/presentationml/2006/main" xmlns:a="http://schemas.openxmlformats.org/drawing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讲课提示"/>
          <p:cNvSpPr txBox="1"/>
          <p:nvPr/>
        </p:nvSpPr>
        <p:spPr>
          <a:xfrm>
            <a:off x="457200" y="457200"/>
            <a:ext cx="6858000" cy="4800600"/>
          </a:xfrm>
          <a:prstGeom prst="rect">
            <a:avLst/>
          </a:prstGeom>
        </p:spPr>
        <p:txBody>
          <a:bodyPr wrap="square"/>
          <a:lstStyle/>
          <a:p>
            <a:r>
              <a:rPr lang="zh-CN" dirty="0"/>
              <a:t>单元 5 · 单元 5 · 字典</a:t>
            </a:r>
          </a:p>
          <a:p>
            <a:r>
              <a:rPr lang="zh-CN" dirty="0"/>
              <a:t/>
            </a:r>
          </a:p>
          <a:p>
            <a:r>
              <a:rPr lang="zh-CN" dirty="0"/>
              <a:t>本单元包含以下课节：</a:t>
            </a:r>
          </a:p>
          <a:p>
            <a:r>
              <a:rPr lang="zh-CN" dirty="0"/>
              <a:t>· 第 23 节 字典：按名字找数据</a:t>
            </a:r>
          </a:p>
          <a:p>
            <a:r>
              <a:rPr lang="zh-CN" dirty="0"/>
              <a:t>· 第 24 节 三种遍历与 get() 安全取值</a:t>
            </a:r>
          </a:p>
          <a:p>
            <a:r>
              <a:rPr lang="zh-CN" dirty="0"/>
              <a:t>· 第 25 节 遍历时修改与嵌套结构</a:t>
            </a:r>
          </a:p>
          <a:p>
            <a:r>
              <a:rPr lang="zh-CN" dirty="0"/>
              <a:t>· 第 26 节 动手实战与答案讲评</a:t>
            </a:r>
          </a:p>
          <a:p>
            <a:r>
              <a:rPr lang="zh-CN" dirty="0"/>
              <a:t>· 第 27 节 单元 5 验收复盘</a:t>
            </a:r>
          </a:p>
          <a:p>
            <a:r>
              <a:rPr lang="zh-CN" dirty="0"/>
              <a:t/>
            </a:r>
          </a:p>
          <a:p>
            <a:r>
              <a:rPr lang="zh-CN" dirty="0"/>
              <a:t>开场用 3 分钟讲清：这个单元学完能做出什么，最后会被关卡怎么验。</a:t>
            </a:r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讲课提示"/>
          <p:cNvSpPr txBox="1"/>
          <p:nvPr/>
        </p:nvSpPr>
        <p:spPr>
          <a:xfrm>
            <a:off x="457200" y="457200"/>
            <a:ext cx="6858000" cy="4800600"/>
          </a:xfrm>
          <a:prstGeom prst="rect">
            <a:avLst/>
          </a:prstGeom>
        </p:spPr>
        <p:txBody>
          <a:bodyPr wrap="square"/>
          <a:lstStyle/>
          <a:p>
            <a:r>
              <a:rPr lang="zh-CN" dirty="0"/>
              <a:t>第 23 节 · 字典：按名字找数据</a:t>
            </a:r>
          </a:p>
          <a:p>
            <a:r>
              <a:rPr lang="zh-CN" dirty="0"/>
              <a:t>单元 5 · 字典 · W5</a:t>
            </a:r>
          </a:p>
          <a:p>
            <a:r>
              <a:rPr lang="zh-CN" dirty="0"/>
              <a:t/>
            </a:r>
          </a:p>
          <a:p>
            <a:r>
              <a:rPr lang="zh-CN" dirty="0"/>
              <a:t>学习目标：理解「列表按位置找、字典按名字找」，掌握键值对增删改</a:t>
            </a:r>
          </a:p>
          <a:p>
            <a:r>
              <a:rPr lang="zh-CN" dirty="0"/>
              <a:t/>
            </a:r>
          </a:p>
          <a:p>
            <a:r>
              <a:rPr lang="zh-CN" dirty="0"/>
              <a:t>课堂实操（40 分钟，不看答案）：</a:t>
            </a:r>
          </a:p>
          <a:p>
            <a:r>
              <a:rPr lang="zh-CN" dirty="0"/>
              <a:t>· 现场把一个列表版数据改成字典版</a:t>
            </a:r>
          </a:p>
          <a:p>
            <a:r>
              <a:rPr lang="zh-CN" dirty="0"/>
              <a:t>· 演示赋值的新增 vs 修改两种含义</a:t>
            </a:r>
          </a:p>
          <a:p>
            <a:r>
              <a:rPr lang="zh-CN" dirty="0"/>
              <a:t/>
            </a:r>
          </a:p>
          <a:p>
            <a:r>
              <a:rPr lang="zh-CN" dirty="0"/>
              <a:t>课后作业：</a:t>
            </a:r>
          </a:p>
          <a:p>
            <a:r>
              <a:rPr lang="zh-CN" dirty="0"/>
              <a:t>· 完成动手练习 5-1 ~ 5-3</a:t>
            </a:r>
          </a:p>
          <a:p>
            <a:r>
              <a:rPr lang="zh-CN" dirty="0"/>
              <a:t/>
            </a:r>
          </a:p>
          <a:p>
            <a:r>
              <a:rPr lang="zh-CN" dirty="0"/>
              <a:t>节奏：讲 20 分钟 → 学员自己敲 40 分钟（不看答案）→ 对讲评自查 20 分钟 → 写作业 10 分钟。</a:t>
            </a:r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讲课提示"/>
          <p:cNvSpPr txBox="1"/>
          <p:nvPr/>
        </p:nvSpPr>
        <p:spPr>
          <a:xfrm>
            <a:off x="457200" y="457200"/>
            <a:ext cx="6858000" cy="4800600"/>
          </a:xfrm>
          <a:prstGeom prst="rect">
            <a:avLst/>
          </a:prstGeom>
        </p:spPr>
        <p:txBody>
          <a:bodyPr wrap="square"/>
          <a:lstStyle/>
          <a:p>
            <a:r>
              <a:rPr lang="zh-CN" dirty="0"/>
              <a:t>第 23 节 · 核心知识点：字典：按名字找数据</a:t>
            </a:r>
          </a:p>
          <a:p>
            <a:r>
              <a:rPr lang="zh-CN" dirty="0"/>
              <a:t/>
            </a:r>
          </a:p>
          <a:p>
            <a:r>
              <a:rPr lang="zh-CN" dirty="0"/>
              <a:t>讲这一页时：先让学生说出上节课的结论，再逐块讲要点。</a:t>
            </a:r>
          </a:p>
          <a:p>
            <a:r>
              <a:rPr lang="zh-CN" dirty="0"/>
              <a:t>每讲完一块，问一句「这一步如果写错了，报错会长什么样？」——把错误提前讲。</a:t>
            </a:r>
          </a:p>
          <a:p>
            <a:r>
              <a:rPr lang="zh-CN" dirty="0"/>
              <a:t/>
            </a:r>
          </a:p>
          <a:p>
            <a:r>
              <a:rPr lang="zh-CN" dirty="0"/>
              <a:t>本节目标：理解「列表按位置找、字典按名字找」，掌握键值对增删改</a:t>
            </a:r>
          </a:p>
          <a:p>
            <a:r>
              <a:rPr lang="zh-CN" dirty="0"/>
              <a:t/>
            </a:r>
          </a:p>
          <a:p>
            <a:r>
              <a:rPr lang="zh-CN" dirty="0"/>
              <a:t>看不到懂的地方，回讲义对应小节读一遍，再回来对着这页复述一次——能讲出来才算真懂。</a:t>
            </a:r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讲课提示"/>
          <p:cNvSpPr txBox="1"/>
          <p:nvPr/>
        </p:nvSpPr>
        <p:spPr>
          <a:xfrm>
            <a:off x="457200" y="457200"/>
            <a:ext cx="6858000" cy="4800600"/>
          </a:xfrm>
          <a:prstGeom prst="rect">
            <a:avLst/>
          </a:prstGeom>
        </p:spPr>
        <p:txBody>
          <a:bodyPr wrap="square"/>
          <a:lstStyle/>
          <a:p>
            <a:r>
              <a:rPr lang="zh-CN" dirty="0"/>
              <a:t>第 24 节 · 三种遍历与 get() 安全取值</a:t>
            </a:r>
          </a:p>
          <a:p>
            <a:r>
              <a:rPr lang="zh-CN" dirty="0"/>
              <a:t>单元 5 · 字典 · W5</a:t>
            </a:r>
          </a:p>
          <a:p>
            <a:r>
              <a:rPr lang="zh-CN" dirty="0"/>
              <a:t/>
            </a:r>
          </a:p>
          <a:p>
            <a:r>
              <a:rPr lang="zh-CN" dirty="0"/>
              <a:t>学习目标：掌握 items / keys / values 三种遍历，知道 get() 为什么不崩</a:t>
            </a:r>
          </a:p>
          <a:p>
            <a:r>
              <a:rPr lang="zh-CN" dirty="0"/>
              <a:t/>
            </a:r>
          </a:p>
          <a:p>
            <a:r>
              <a:rPr lang="zh-CN" dirty="0"/>
              <a:t>课堂实操（40 分钟，不看答案）：</a:t>
            </a:r>
          </a:p>
          <a:p>
            <a:r>
              <a:rPr lang="zh-CN" dirty="0"/>
              <a:t>· 对同一字典用三种方式遍历并比较输出</a:t>
            </a:r>
          </a:p>
          <a:p>
            <a:r>
              <a:rPr lang="zh-CN" dirty="0"/>
              <a:t>· 故意用 [] 取不存在的键看 KeyError</a:t>
            </a:r>
          </a:p>
          <a:p>
            <a:r>
              <a:rPr lang="zh-CN" dirty="0"/>
              <a:t/>
            </a:r>
          </a:p>
          <a:p>
            <a:r>
              <a:rPr lang="zh-CN" dirty="0"/>
              <a:t>课后作业：</a:t>
            </a:r>
          </a:p>
          <a:p>
            <a:r>
              <a:rPr lang="zh-CN" dirty="0"/>
              <a:t>· 完成动手练习 5-4 ~ 5-6</a:t>
            </a:r>
          </a:p>
          <a:p>
            <a:r>
              <a:rPr lang="zh-CN" dirty="0"/>
              <a:t/>
            </a:r>
          </a:p>
          <a:p>
            <a:r>
              <a:rPr lang="zh-CN" dirty="0"/>
              <a:t>节奏：讲 20 分钟 → 学员自己敲 40 分钟（不看答案）→ 对讲评自查 20 分钟 → 写作业 10 分钟。</a:t>
            </a:r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讲课提示"/>
          <p:cNvSpPr txBox="1"/>
          <p:nvPr/>
        </p:nvSpPr>
        <p:spPr>
          <a:xfrm>
            <a:off x="457200" y="457200"/>
            <a:ext cx="6858000" cy="4800600"/>
          </a:xfrm>
          <a:prstGeom prst="rect">
            <a:avLst/>
          </a:prstGeom>
        </p:spPr>
        <p:txBody>
          <a:bodyPr wrap="square"/>
          <a:lstStyle/>
          <a:p>
            <a:r>
              <a:rPr lang="zh-CN" dirty="0"/>
              <a:t>第 24 节 · 核心知识点：三种遍历与 get() 安全取值</a:t>
            </a:r>
          </a:p>
          <a:p>
            <a:r>
              <a:rPr lang="zh-CN" dirty="0"/>
              <a:t/>
            </a:r>
          </a:p>
          <a:p>
            <a:r>
              <a:rPr lang="zh-CN" dirty="0"/>
              <a:t>讲这一页时：先让学生说出上节课的结论，再逐块讲要点。</a:t>
            </a:r>
          </a:p>
          <a:p>
            <a:r>
              <a:rPr lang="zh-CN" dirty="0"/>
              <a:t>每讲完一块，问一句「这一步如果写错了，报错会长什么样？」——把错误提前讲。</a:t>
            </a:r>
          </a:p>
          <a:p>
            <a:r>
              <a:rPr lang="zh-CN" dirty="0"/>
              <a:t/>
            </a:r>
          </a:p>
          <a:p>
            <a:r>
              <a:rPr lang="zh-CN" dirty="0"/>
              <a:t>本节目标：掌握 items / keys / values 三种遍历，知道 get() 为什么不崩</a:t>
            </a:r>
          </a:p>
          <a:p>
            <a:r>
              <a:rPr lang="zh-CN" dirty="0"/>
              <a:t/>
            </a:r>
          </a:p>
          <a:p>
            <a:r>
              <a:rPr lang="zh-CN" dirty="0"/>
              <a:t>看不到懂的地方，回讲义对应小节读一遍，再回来对着这页复述一次——能讲出来才算真懂。</a:t>
            </a:r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讲课提示"/>
          <p:cNvSpPr txBox="1"/>
          <p:nvPr/>
        </p:nvSpPr>
        <p:spPr>
          <a:xfrm>
            <a:off x="457200" y="457200"/>
            <a:ext cx="6858000" cy="4800600"/>
          </a:xfrm>
          <a:prstGeom prst="rect">
            <a:avLst/>
          </a:prstGeom>
        </p:spPr>
        <p:txBody>
          <a:bodyPr wrap="square"/>
          <a:lstStyle/>
          <a:p>
            <a:r>
              <a:rPr lang="zh-CN" dirty="0"/>
              <a:t>第 25 节 · 遍历时修改与嵌套结构</a:t>
            </a:r>
          </a:p>
          <a:p>
            <a:r>
              <a:rPr lang="zh-CN" dirty="0"/>
              <a:t>单元 5 · 字典 · W5</a:t>
            </a:r>
          </a:p>
          <a:p>
            <a:r>
              <a:rPr lang="zh-CN" dirty="0"/>
              <a:t/>
            </a:r>
          </a:p>
          <a:p>
            <a:r>
              <a:rPr lang="zh-CN" dirty="0"/>
              <a:t>学习目标：能处理嵌套结构，为后面学 JSON 打基础</a:t>
            </a:r>
          </a:p>
          <a:p>
            <a:r>
              <a:rPr lang="zh-CN" dirty="0"/>
              <a:t/>
            </a:r>
          </a:p>
          <a:p>
            <a:r>
              <a:rPr lang="zh-CN" dirty="0"/>
              <a:t>课堂实操（40 分钟，不看答案）：</a:t>
            </a:r>
          </a:p>
          <a:p>
            <a:r>
              <a:rPr lang="zh-CN" dirty="0"/>
              <a:t>· 现场把三层嵌套数据一层层打印出来</a:t>
            </a:r>
          </a:p>
          <a:p>
            <a:r>
              <a:rPr lang="zh-CN" dirty="0"/>
              <a:t>· 讨论：为什么 JSON 能被 Python 直接读</a:t>
            </a:r>
          </a:p>
          <a:p>
            <a:r>
              <a:rPr lang="zh-CN" dirty="0"/>
              <a:t/>
            </a:r>
          </a:p>
          <a:p>
            <a:r>
              <a:rPr lang="zh-CN" dirty="0"/>
              <a:t>课后作业：</a:t>
            </a:r>
          </a:p>
          <a:p>
            <a:r>
              <a:rPr lang="zh-CN" dirty="0"/>
              <a:t>· ★ 动手项目 6.1–6.3 生日调查</a:t>
            </a:r>
          </a:p>
          <a:p>
            <a:r>
              <a:rPr lang="zh-CN" dirty="0"/>
              <a:t/>
            </a:r>
          </a:p>
          <a:p>
            <a:r>
              <a:rPr lang="zh-CN" dirty="0"/>
              <a:t>节奏：讲 20 分钟 → 学员自己敲 40 分钟（不看答案）→ 对讲评自查 20 分钟 → 写作业 10 分钟。</a:t>
            </a:r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讲课提示"/>
          <p:cNvSpPr txBox="1"/>
          <p:nvPr/>
        </p:nvSpPr>
        <p:spPr>
          <a:xfrm>
            <a:off x="457200" y="457200"/>
            <a:ext cx="6858000" cy="4800600"/>
          </a:xfrm>
          <a:prstGeom prst="rect">
            <a:avLst/>
          </a:prstGeom>
        </p:spPr>
        <p:txBody>
          <a:bodyPr wrap="square"/>
          <a:lstStyle/>
          <a:p>
            <a:r>
              <a:rPr lang="zh-CN" dirty="0"/>
              <a:t>第 25 节 · 核心知识点：遍历时修改与嵌套结构</a:t>
            </a:r>
          </a:p>
          <a:p>
            <a:r>
              <a:rPr lang="zh-CN" dirty="0"/>
              <a:t/>
            </a:r>
          </a:p>
          <a:p>
            <a:r>
              <a:rPr lang="zh-CN" dirty="0"/>
              <a:t>讲这一页时：先让学生说出上节课的结论，再逐块讲要点。</a:t>
            </a:r>
          </a:p>
          <a:p>
            <a:r>
              <a:rPr lang="zh-CN" dirty="0"/>
              <a:t>每讲完一块，问一句「这一步如果写错了，报错会长什么样？」——把错误提前讲。</a:t>
            </a:r>
          </a:p>
          <a:p>
            <a:r>
              <a:rPr lang="zh-CN" dirty="0"/>
              <a:t/>
            </a:r>
          </a:p>
          <a:p>
            <a:r>
              <a:rPr lang="zh-CN" dirty="0"/>
              <a:t>本节目标：能处理嵌套结构，为后面学 JSON 打基础</a:t>
            </a:r>
          </a:p>
          <a:p>
            <a:r>
              <a:rPr lang="zh-CN" dirty="0"/>
              <a:t/>
            </a:r>
          </a:p>
          <a:p>
            <a:r>
              <a:rPr lang="zh-CN" dirty="0"/>
              <a:t>看不到懂的地方，回讲义对应小节读一遍，再回来对着这页复述一次——能讲出来才算真懂。</a:t>
            </a: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讲课提示"/>
          <p:cNvSpPr txBox="1"/>
          <p:nvPr/>
        </p:nvSpPr>
        <p:spPr>
          <a:xfrm>
            <a:off x="457200" y="457200"/>
            <a:ext cx="6858000" cy="4800600"/>
          </a:xfrm>
          <a:prstGeom prst="rect">
            <a:avLst/>
          </a:prstGeom>
        </p:spPr>
        <p:txBody>
          <a:bodyPr wrap="square"/>
          <a:lstStyle/>
          <a:p>
            <a:r>
              <a:rPr lang="zh-CN" dirty="0"/>
              <a:t>第 26 节 · 动手实战与答案讲评</a:t>
            </a:r>
          </a:p>
          <a:p>
            <a:r>
              <a:rPr lang="zh-CN" dirty="0"/>
              <a:t>单元 5 · 字典 · W5</a:t>
            </a:r>
          </a:p>
          <a:p>
            <a:r>
              <a:rPr lang="zh-CN" dirty="0"/>
              <a:t/>
            </a:r>
          </a:p>
          <a:p>
            <a:r>
              <a:rPr lang="zh-CN" dirty="0"/>
              <a:t>学习目标：独立完成单元 5 练习，能熟练遍历嵌套数据</a:t>
            </a:r>
          </a:p>
          <a:p>
            <a:r>
              <a:rPr lang="zh-CN" dirty="0"/>
              <a:t/>
            </a:r>
          </a:p>
          <a:p>
            <a:r>
              <a:rPr lang="zh-CN" dirty="0"/>
              <a:t>课堂实操（40 分钟，不看答案）：</a:t>
            </a:r>
          </a:p>
          <a:p>
            <a:r>
              <a:rPr lang="zh-CN" dirty="0"/>
              <a:t>· 限时 30 分钟独立完成基础档</a:t>
            </a:r>
          </a:p>
          <a:p>
            <a:r>
              <a:rPr lang="zh-CN" dirty="0"/>
              <a:t>· 逐题对照答案讲评</a:t>
            </a:r>
          </a:p>
          <a:p>
            <a:r>
              <a:rPr lang="zh-CN" dirty="0"/>
              <a:t/>
            </a:r>
          </a:p>
          <a:p>
            <a:r>
              <a:rPr lang="zh-CN" dirty="0"/>
              <a:t>课后作业：</a:t>
            </a:r>
          </a:p>
          <a:p>
            <a:r>
              <a:rPr lang="zh-CN" dirty="0"/>
              <a:t>· 产出：三种嵌套结构各一组</a:t>
            </a:r>
          </a:p>
          <a:p>
            <a:r>
              <a:rPr lang="zh-CN" dirty="0"/>
              <a:t/>
            </a:r>
          </a:p>
          <a:p>
            <a:r>
              <a:rPr lang="zh-CN" dirty="0"/>
              <a:t>节奏：讲 20 分钟 → 学员自己敲 40 分钟（不看答案）→ 对讲评自查 20 分钟 → 写作业 10 分钟。</a:t>
            </a:r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讲课提示"/>
          <p:cNvSpPr txBox="1"/>
          <p:nvPr/>
        </p:nvSpPr>
        <p:spPr>
          <a:xfrm>
            <a:off x="457200" y="457200"/>
            <a:ext cx="6858000" cy="4800600"/>
          </a:xfrm>
          <a:prstGeom prst="rect">
            <a:avLst/>
          </a:prstGeom>
        </p:spPr>
        <p:txBody>
          <a:bodyPr wrap="square"/>
          <a:lstStyle/>
          <a:p>
            <a:r>
              <a:rPr lang="zh-CN" dirty="0"/>
              <a:t>第 26 节 · 核心知识点：动手实战与答案讲评</a:t>
            </a:r>
          </a:p>
          <a:p>
            <a:r>
              <a:rPr lang="zh-CN" dirty="0"/>
              <a:t/>
            </a:r>
          </a:p>
          <a:p>
            <a:r>
              <a:rPr lang="zh-CN" dirty="0"/>
              <a:t>讲这一页时：先让学生说出上节课的结论，再逐块讲要点。</a:t>
            </a:r>
          </a:p>
          <a:p>
            <a:r>
              <a:rPr lang="zh-CN" dirty="0"/>
              <a:t>每讲完一块，问一句「这一步如果写错了，报错会长什么样？」——把错误提前讲。</a:t>
            </a:r>
          </a:p>
          <a:p>
            <a:r>
              <a:rPr lang="zh-CN" dirty="0"/>
              <a:t/>
            </a:r>
          </a:p>
          <a:p>
            <a:r>
              <a:rPr lang="zh-CN" dirty="0"/>
              <a:t>本节目标：独立完成单元 5 练习，能熟练遍历嵌套数据</a:t>
            </a:r>
          </a:p>
          <a:p>
            <a:r>
              <a:rPr lang="zh-CN" dirty="0"/>
              <a:t/>
            </a:r>
          </a:p>
          <a:p>
            <a:r>
              <a:rPr lang="zh-CN" dirty="0"/>
              <a:t>看不到懂的地方，回讲义对应小节读一遍，再回来对着这页复述一次——能讲出来才算真懂。</a:t>
            </a:r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讲课提示"/>
          <p:cNvSpPr txBox="1"/>
          <p:nvPr/>
        </p:nvSpPr>
        <p:spPr>
          <a:xfrm>
            <a:off x="457200" y="457200"/>
            <a:ext cx="6858000" cy="4800600"/>
          </a:xfrm>
          <a:prstGeom prst="rect">
            <a:avLst/>
          </a:prstGeom>
        </p:spPr>
        <p:txBody>
          <a:bodyPr wrap="square"/>
          <a:lstStyle/>
          <a:p>
            <a:r>
              <a:rPr lang="zh-CN" dirty="0"/>
              <a:t>第 27 节 · 单元 5 验收复盘</a:t>
            </a:r>
          </a:p>
          <a:p>
            <a:r>
              <a:rPr lang="zh-CN" dirty="0"/>
              <a:t>单元 5 · 字典 · W5</a:t>
            </a:r>
          </a:p>
          <a:p>
            <a:r>
              <a:rPr lang="zh-CN" dirty="0"/>
              <a:t/>
            </a:r>
          </a:p>
          <a:p>
            <a:r>
              <a:rPr lang="zh-CN" dirty="0"/>
              <a:t>学习目标：确认字典增删改查、三种遍历、嵌套都过关</a:t>
            </a:r>
          </a:p>
          <a:p>
            <a:r>
              <a:rPr lang="zh-CN" dirty="0"/>
              <a:t/>
            </a:r>
          </a:p>
          <a:p>
            <a:r>
              <a:rPr lang="zh-CN" dirty="0"/>
              <a:t>课堂实操（40 分钟，不看答案）：</a:t>
            </a:r>
          </a:p>
          <a:p>
            <a:r>
              <a:rPr lang="zh-CN" dirty="0"/>
              <a:t>· 逐条打勾验收自测</a:t>
            </a:r>
          </a:p>
          <a:p>
            <a:r>
              <a:rPr lang="zh-CN" dirty="0"/>
              <a:t>· 现场演示嵌套数据的提取</a:t>
            </a:r>
          </a:p>
          <a:p>
            <a:r>
              <a:rPr lang="zh-CN" dirty="0"/>
              <a:t/>
            </a:r>
          </a:p>
          <a:p>
            <a:r>
              <a:rPr lang="zh-CN" dirty="0"/>
              <a:t>课后作业：</a:t>
            </a:r>
          </a:p>
          <a:p>
            <a:r>
              <a:rPr lang="zh-CN" dirty="0"/>
              <a:t>· 完成本单元小结与产出检查</a:t>
            </a:r>
          </a:p>
          <a:p>
            <a:r>
              <a:rPr lang="zh-CN" dirty="0"/>
              <a:t/>
            </a:r>
          </a:p>
          <a:p>
            <a:r>
              <a:rPr lang="zh-CN" dirty="0"/>
              <a:t>节奏：讲 20 分钟 → 学员自己敲 40 分钟（不看答案）→ 对讲评自查 20 分钟 → 写作业 10 分钟。</a:t>
            </a:r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讲课提示"/>
          <p:cNvSpPr txBox="1"/>
          <p:nvPr/>
        </p:nvSpPr>
        <p:spPr>
          <a:xfrm>
            <a:off x="457200" y="457200"/>
            <a:ext cx="6858000" cy="4800600"/>
          </a:xfrm>
          <a:prstGeom prst="rect">
            <a:avLst/>
          </a:prstGeom>
        </p:spPr>
        <p:txBody>
          <a:bodyPr wrap="square"/>
          <a:lstStyle/>
          <a:p>
            <a:r>
              <a:rPr lang="zh-CN" dirty="0"/>
              <a:t>第 27 节 · 核心知识点：单元 5 验收复盘</a:t>
            </a:r>
          </a:p>
          <a:p>
            <a:r>
              <a:rPr lang="zh-CN" dirty="0"/>
              <a:t/>
            </a:r>
          </a:p>
          <a:p>
            <a:r>
              <a:rPr lang="zh-CN" dirty="0"/>
              <a:t>讲这一页时：先让学生说出上节课的结论，再逐块讲要点。</a:t>
            </a:r>
          </a:p>
          <a:p>
            <a:r>
              <a:rPr lang="zh-CN" dirty="0"/>
              <a:t>每讲完一块，问一句「这一步如果写错了，报错会长什么样？」——把错误提前讲。</a:t>
            </a:r>
          </a:p>
          <a:p>
            <a:r>
              <a:rPr lang="zh-CN" dirty="0"/>
              <a:t/>
            </a:r>
          </a:p>
          <a:p>
            <a:r>
              <a:rPr lang="zh-CN" dirty="0"/>
              <a:t>本节目标：确认字典增删改查、三种遍历、嵌套都过关</a:t>
            </a:r>
          </a:p>
          <a:p>
            <a:r>
              <a:rPr lang="zh-CN" dirty="0"/>
              <a:t/>
            </a:r>
          </a:p>
          <a:p>
            <a:r>
              <a:rPr lang="zh-CN" dirty="0"/>
              <a:t>看不到懂的地方，回讲义对应小节读一遍，再回来对着这页复述一次——能讲出来才算真懂。</a:t>
            </a:r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讲课提示"/>
          <p:cNvSpPr txBox="1"/>
          <p:nvPr/>
        </p:nvSpPr>
        <p:spPr>
          <a:xfrm>
            <a:off x="457200" y="457200"/>
            <a:ext cx="6858000" cy="4800600"/>
          </a:xfrm>
          <a:prstGeom prst="rect">
            <a:avLst/>
          </a:prstGeom>
        </p:spPr>
        <p:txBody>
          <a:bodyPr wrap="square"/>
          <a:lstStyle/>
          <a:p>
            <a:r>
              <a:rPr lang="zh-CN" dirty="0"/>
              <a:t>单元 5 小结 · 单元 5 · 小结</a:t>
            </a:r>
          </a:p>
          <a:p>
            <a:r>
              <a:rPr lang="zh-CN" dirty="0"/>
              <a:t/>
            </a:r>
          </a:p>
          <a:p>
            <a:r>
              <a:rPr lang="zh-CN" dirty="0"/>
              <a:t>收尾动作：让学生合上讲义，口述本单元三个最重要的结论；说不出来的，回对应课节。</a:t>
            </a:r>
          </a:p>
          <a:p>
            <a:r>
              <a:rPr lang="zh-CN" dirty="0"/>
              <a:t>然后当场勾一遍本单元课节的「已完成」，没打勾的进下一单元前补掉。</a:t>
            </a:r>
          </a:p>
        </p:txBody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0" Type="http://schemas.openxmlformats.org/officeDocument/2006/relationships/slideMaster" Target="../slideMasters/slideMaster1.xml"/></Relationships>
</file>

<file path=ppt/slideLayouts/slideLayout1.xml><?xml version="1.0" encoding="utf-8"?>
<p:sldLayout xmlns:p="http://schemas.openxmlformats.org/presentationml/2006/main" xmlns:a="http://schemas.openxmlformats.org/drawingml/2006/main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0" Type="http://schemas.openxmlformats.org/officeDocument/2006/relationships/slideLayout" Target="../slideLayouts/slideLayout1.xml"/><Relationship Id="rId1" Type="http://schemas.openxmlformats.org/officeDocument/2006/relationships/theme" Target="../theme/theme1.xml"/></Relationships>
</file>

<file path=ppt/slideMasters/slideMaster1.xml><?xml version="1.0" encoding="utf-8"?>
<p:sldMaster xmlns:p="http://schemas.openxmlformats.org/presentationml/2006/main" xmlns:a="http://schemas.openxmlformats.org/drawing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0"/>
  </p:sldLayoutIdLst>
  <p:hf sldNum="0" hdr="0" ftr="0" dt="0"/>
  <p:txStyles>
    <p:titleStyle>
      <a:lvl1pPr algn="ctr" defTabSz="914400" rtl="0" eaLnBrk="1" latinLnBrk="0" hangingPunct="1">
        <a:spcBef>
          <a:spcPct val="1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0" Type="http://schemas.openxmlformats.org/officeDocument/2006/relationships/slideLayout" Target="../slideLayouts/slideLayout1.xml"/><Relationship Id="rId1" Type="http://schemas.openxmlformats.org/officeDocument/2006/relationships/image" Target="media/image1.svg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0" Type="http://schemas.openxmlformats.org/officeDocument/2006/relationships/slideLayout" Target="../slideLayouts/slideLayout1.xml"/><Relationship Id="rId1" Type="http://schemas.openxmlformats.org/officeDocument/2006/relationships/image" Target="media/image5.svg"/><Relationship Id="rId3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0" Type="http://schemas.openxmlformats.org/officeDocument/2006/relationships/slideLayout" Target="../slideLayouts/slideLayout1.xml"/><Relationship Id="rId1" Type="http://schemas.openxmlformats.org/officeDocument/2006/relationships/image" Target="media/image6.svg"/><Relationship Id="rId3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0" Type="http://schemas.openxmlformats.org/officeDocument/2006/relationships/slideLayout" Target="../slideLayouts/slideLayout1.xml"/><Relationship Id="rId1" Type="http://schemas.openxmlformats.org/officeDocument/2006/relationships/image" Target="media/image7.svg"/><Relationship Id="rId3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0" Type="http://schemas.openxmlformats.org/officeDocument/2006/relationships/slideLayout" Target="../slideLayouts/slideLayout1.xml"/><Relationship Id="rId1" Type="http://schemas.openxmlformats.org/officeDocument/2006/relationships/image" Target="media/image8.svg"/><Relationship Id="rId3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0" Type="http://schemas.openxmlformats.org/officeDocument/2006/relationships/slideLayout" Target="../slideLayouts/slideLayout1.xml"/><Relationship Id="rId1" Type="http://schemas.openxmlformats.org/officeDocument/2006/relationships/image" Target="media/image9.svg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0" Type="http://schemas.openxmlformats.org/officeDocument/2006/relationships/slideLayout" Target="../slideLayouts/slideLayout1.xml"/><Relationship Id="rId1" Type="http://schemas.openxmlformats.org/officeDocument/2006/relationships/image" Target="media/image10.svg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0" Type="http://schemas.openxmlformats.org/officeDocument/2006/relationships/slideLayout" Target="../slideLayouts/slideLayout1.xml"/><Relationship Id="rId1" Type="http://schemas.openxmlformats.org/officeDocument/2006/relationships/image" Target="media/image11.svg"/><Relationship Id="rId3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0" Type="http://schemas.openxmlformats.org/officeDocument/2006/relationships/slideLayout" Target="../slideLayouts/slideLayout1.xml"/><Relationship Id="rId1" Type="http://schemas.openxmlformats.org/officeDocument/2006/relationships/image" Target="media/image12.svg"/><Relationship Id="rId3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0" Type="http://schemas.openxmlformats.org/officeDocument/2006/relationships/slideLayout" Target="../slideLayouts/slideLayout1.xml"/><Relationship Id="rId1" Type="http://schemas.openxmlformats.org/officeDocument/2006/relationships/image" Target="media/image2.svg"/><Relationship Id="rId3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0" Type="http://schemas.openxmlformats.org/officeDocument/2006/relationships/slideLayout" Target="../slideLayouts/slideLayout1.xml"/><Relationship Id="rId1" Type="http://schemas.openxmlformats.org/officeDocument/2006/relationships/image" Target="media/image3.svg"/><Relationship Id="rId3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0" Type="http://schemas.openxmlformats.org/officeDocument/2006/relationships/slideLayout" Target="../slideLayouts/slideLayout1.xml"/><Relationship Id="rId1" Type="http://schemas.openxmlformats.org/officeDocument/2006/relationships/image" Target="media/image4.svg"/><Relationship Id="rId3" Type="http://schemas.openxmlformats.org/officeDocument/2006/relationships/notesSlide" Target="../notesSlides/notesSlide12.xml"/></Relationships>
</file>

<file path=ppt/slides/slide1.xml><?xml version="1.0" encoding="utf-8"?>
<p:sld xmlns:p="http://schemas.openxmlformats.org/presentationml/2006/main" xmlns:a="http://schemas.openxmlformats.org/drawingml/2006/main" xmlns:asvg="http://schemas.microsoft.com/office/drawing/2016/SVG/main" xmlns:r="http://schemas.openxmlformats.org/officeDocument/2006/relationships" xmlns:mc="http://schemas.openxmlformats.org/markup-compatibility/2006" mc:Ignorable="asvg">
  <p:cSld>
    <p:spTree>
      <p:nvGrpSpPr>
        <p:cNvPr id="1" name="" descr="&lt;Slide style={{ width: '1280px', height: '720px', backgroundColor: '#FAFCFE', padding: 0, position: 'relative', overflow: 'hidden' }}&gt;&#13;&#10;    &lt;Box style={{ position: 'absolute', left: 0, top: 0, width: '1280px', height: '150px', background: '#1F5FA8' }} /&gt;&#13;&#10;    &lt;Box style={{ position: 'absolute', left: 64, top: 34, width: '1152px', flexDirection: 'column' }}&gt;&#13;&#10;        &lt;Text style={{ fontSize: 15, fontWeight: 'bold', color: '#BFD9F2', letterSpacing: 2 }}&gt;阶段 1 · 单元 5&lt;/Text&gt;&#13;&#10;        &lt;Text style={{ fontSize: 38, fontWeight: 'bold', color: '#FFFFFF', marginTop: 6 }}&gt;字典&lt;/Text&gt;&#13;&#10;    &lt;/Box&gt;&#13;&#10;    &lt;Box style={{ position: 'absolute', left: 64, top: 168, width: '1152px', height: 470 }}&gt;&#13;&#10;        &lt;svg width='1152' height='470' viewBox='0 0 1152 470'&gt;&#13;&#10;            &lt;text x='0' y='18' fontSize='15' fontWeight='bold' fill='#16232E' fontFamily='Microsoft YaHei'&gt;本单元共 5 节课&lt;/text&gt;&#13;&#10;            &lt;rect x='0' y='196' width='1152' height='38' rx='7' fill='#FFFFFF' /&gt;&lt;text x='16' y='221' fontSize='15' fontWeight='bold' fill='#1F5FA8' fontFamily='Microsoft YaHei'&gt;第 23 节&lt;/text&gt;&lt;text x='96' y='221' fontSize='15' fill='#16232E' fontFamily='Microsoft YaHei'&gt;字典：按名字找数据&lt;/text&gt;&lt;text x='1080' y='221' fontSize='13' fill='#5A6B7A' textAnchor='end' fontFamily='Microsoft YaHei'&gt;W5&lt;/text&gt;&lt;rect x='0' y='238' width='1152' height='38' rx='7' fill='#F2F7FD' /&gt;&lt;text x='16' y='263' fontSize='15' fontWeight='bold' fill='#1F5FA8' fontFamily='Microsoft YaHei'&gt;第 24 节&lt;/text&gt;&lt;text x='96' y='263' fontSize='15' fill='#16232E' fontFamily='Microsoft YaHei'&gt;三种遍历与 get() 安全取值&lt;/text&gt;&lt;text x='1080' y='263' fontSize='13' fill='#5A6B7A' textAnchor='end' fontFamily='Microsoft YaHei'&gt;W5&lt;/text&gt;&lt;rect x='0' y='280' width='1152' height='38' rx='7' fill='#FFFFFF' /&gt;&lt;text x='16' y='305' fontSize='15' fontWeight='bold' fill='#1F5FA8' fontFamily='Microsoft YaHei'&gt;第 25 节&lt;/text&gt;&lt;text x='96' y='305' fontSize='15' fill='#16232E' fontFamily='Microsoft YaHei'&gt;遍历时修改与嵌套结构&lt;/text&gt;&lt;text x='1080' y='305' fontSize='13' fill='#5A6B7A' textAnchor='end' fontFamily='Microsoft YaHei'&gt;W5&lt;/text&gt;&lt;rect x='0' y='322' width='1152' height='38' rx='7' fill='#F2F7FD' /&gt;&lt;text x='16' y='347' fontSize='15' fontWeight='bold' fill='#1F5FA8' fontFamily='Microsoft YaHei'&gt;第 26 节&lt;/text&gt;&lt;text x='96' y='347' fontSize='15' fill='#16232E' fontFamily='Microsoft YaHei'&gt;动手实战与答案讲评&lt;/text&gt;&lt;text x='1080' y='347' fontSize='13' fill='#5A6B7A' textAnchor='end' fontFamily='Microsoft YaHei'&gt;W5&lt;/text&gt;&lt;rect x='0' y='364' width='1152' height='38' rx='7' fill='#FFFFFF' /&gt;&lt;text x='16' y='389' fontSize='15' fontWeight='bold' fill='#1F5FA8' fontFamily='Microsoft YaHei'&gt;第 27 节&lt;/text&gt;&lt;text x='96' y='389' fontSize='15' fill='#16232E' fontFamily='Microsoft YaHei'&gt;单元 5 验收复盘&lt;/text&gt;&lt;text x='1080' y='389' fontSize='13' fill='#5A6B7A' textAnchor='end' fontFamily='Microsoft YaHei'&gt;W5&lt;/text&gt;&#13;&#10;        &lt;/svg&gt;&#13;&#10;    &lt;/Box&gt;&#13;&#10;    &lt;Box style={{ position: 'absolute', left: 64, bottom: 22, width: '1152px', flexDirection: 'row', justifyContent: 'space-between' }}&gt;&#13;&#10;        &lt;Text style={{ fontSize: 13, color: '#8A9AAA' }}&gt;Python 讲授课件 · 逐节版&lt;/Text&gt;&#13;&#10;        &lt;Text style={{ fontSize: 13, color: '#8A9AAA' }}&gt;单元 5 · 封面&lt;/Text&gt;&#13;&#10;    &lt;/Box&gt;&#13;&#10;&lt;/Slide&gt;&#13;&#10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AFCFE"/>
          </a:solidFill>
          <a:ln/>
        </p:spPr>
        <p:txBody>
          <a:bodyPr/>
          <a:p/>
        </p:txBody>
      </p:sp>
      <p:sp>
        <p:nvSpPr>
          <p:cNvPr id="3" name=""/>
          <p:cNvSpPr/>
          <p:nvPr/>
        </p:nvSpPr>
        <p:spPr>
          <a:xfrm rot="0" flipH="0" flipV="0">
            <a:off x="0" y="0"/>
            <a:ext cx="12192000" cy="1428750"/>
          </a:xfrm>
          <a:prstGeom prst="rect">
            <a:avLst/>
          </a:prstGeom>
          <a:solidFill>
            <a:srgbClr val="1F5FA8"/>
          </a:solidFill>
          <a:ln/>
        </p:spPr>
        <p:txBody>
          <a:bodyPr/>
          <a:p/>
        </p:txBody>
      </p:sp>
      <p:sp>
        <p:nvSpPr>
          <p:cNvPr id="4" name="" descr="{&quot;isTemplate&quot;:true,&quot;type&quot;:&quot;text&quot;}"/>
          <p:cNvSpPr txBox="1"/>
          <p:nvPr/>
        </p:nvSpPr>
        <p:spPr>
          <a:xfrm rot="0" flipH="0" flipV="0">
            <a:off x="609600" y="323850"/>
            <a:ext cx="1097280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125" b="1" spc="150">
                <a:solidFill>
                  <a:srgbClr val="BFD9F2"/>
                </a:solidFill>
                <a:latin typeface="Microsoft YaHei"/>
                <a:ea typeface="Microsoft YaHei"/>
              </a:rPr>
              <a:t>阶段</a:t>
            </a:r>
            <a:r>
              <a:rPr lang="en-US" sz="1125" b="1" spc="150">
                <a:solidFill>
                  <a:srgbClr val="BFD9F2"/>
                </a:solidFill>
                <a:latin typeface="Microsoft YaHei"/>
                <a:ea typeface="Microsoft YaHei"/>
              </a:rPr>
              <a:t xml:space="preserve"> 1 · </a:t>
            </a:r>
            <a:r>
              <a:rPr lang="zh-CN" sz="1125" b="1" spc="150">
                <a:solidFill>
                  <a:srgbClr val="BFD9F2"/>
                </a:solidFill>
                <a:latin typeface="Microsoft YaHei"/>
                <a:ea typeface="Microsoft YaHei"/>
              </a:rPr>
              <a:t>单元</a:t>
            </a:r>
            <a:r>
              <a:rPr lang="en-US" sz="1125" b="1" spc="150">
                <a:solidFill>
                  <a:srgbClr val="BFD9F2"/>
                </a:solidFill>
                <a:latin typeface="Microsoft YaHei"/>
                <a:ea typeface="Microsoft YaHei"/>
              </a:rPr>
              <a:t xml:space="preserve"> 5</a:t>
            </a:r>
            <a:endParaRPr/>
          </a:p>
        </p:txBody>
      </p:sp>
      <p:sp>
        <p:nvSpPr>
          <p:cNvPr id="5" name="" descr="{&quot;isTemplate&quot;:true,&quot;type&quot;:&quot;text&quot;}"/>
          <p:cNvSpPr txBox="1"/>
          <p:nvPr/>
        </p:nvSpPr>
        <p:spPr>
          <a:xfrm rot="0" flipH="0" flipV="0">
            <a:off x="609600" y="552450"/>
            <a:ext cx="10972800" cy="4381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2850" b="1">
                <a:solidFill>
                  <a:srgbClr val="FFFFFF"/>
                </a:solidFill>
                <a:latin typeface="Microsoft YaHei"/>
                <a:ea typeface="Microsoft YaHei"/>
              </a:rPr>
              <a:t>字典</a:t>
            </a:r>
            <a:endParaRPr/>
          </a:p>
        </p:txBody>
      </p:sp>
      <p:pic>
        <p:nvPicPr>
          <p:cNvPr id="6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1"/>
              </a:ext>
            </a:extLst>
          </a:blip>
          <a:stretch>
            <a:fillRect/>
          </a:stretch>
        </p:blipFill>
        <p:spPr>
          <a:xfrm rot="0" flipH="0" flipV="0">
            <a:off x="609600" y="1600200"/>
            <a:ext cx="10972800" cy="4476750"/>
          </a:xfrm>
          <a:prstGeom prst="rect">
            <a:avLst/>
          </a:prstGeom>
          <a:ln/>
        </p:spPr>
      </p:pic>
      <p:sp>
        <p:nvSpPr>
          <p:cNvPr id="7" name="" descr="{&quot;isTemplate&quot;:true,&quot;type&quot;:&quot;text&quot;}"/>
          <p:cNvSpPr txBox="1"/>
          <p:nvPr/>
        </p:nvSpPr>
        <p:spPr>
          <a:xfrm rot="0" flipH="0" flipV="0">
            <a:off x="609600" y="6496050"/>
            <a:ext cx="1428750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75">
                <a:solidFill>
                  <a:srgbClr val="8A9AAA"/>
                </a:solidFill>
                <a:latin typeface="Microsoft YaHei"/>
                <a:ea typeface="Microsoft YaHei"/>
              </a:rPr>
              <a:t xml:space="preserve">Python </a:t>
            </a:r>
            <a:r>
              <a:rPr lang="zh-CN" sz="975">
                <a:solidFill>
                  <a:srgbClr val="8A9AAA"/>
                </a:solidFill>
                <a:latin typeface="Microsoft YaHei"/>
                <a:ea typeface="Microsoft YaHei"/>
              </a:rPr>
              <a:t>讲授课件</a:t>
            </a:r>
            <a:r>
              <a:rPr lang="en-US" sz="975">
                <a:solidFill>
                  <a:srgbClr val="8A9AAA"/>
                </a:solidFill>
                <a:latin typeface="Microsoft YaHei"/>
                <a:ea typeface="Microsoft YaHei"/>
              </a:rPr>
              <a:t xml:space="preserve"> · </a:t>
            </a:r>
            <a:r>
              <a:rPr lang="zh-CN" sz="975">
                <a:solidFill>
                  <a:srgbClr val="8A9AAA"/>
                </a:solidFill>
                <a:latin typeface="Microsoft YaHei"/>
                <a:ea typeface="Microsoft YaHei"/>
              </a:rPr>
              <a:t>逐节版</a:t>
            </a:r>
            <a:endParaRPr/>
          </a:p>
        </p:txBody>
      </p:sp>
      <p:sp>
        <p:nvSpPr>
          <p:cNvPr id="8" name="" descr="{&quot;isTemplate&quot;:true,&quot;type&quot;:&quot;text&quot;}"/>
          <p:cNvSpPr txBox="1"/>
          <p:nvPr/>
        </p:nvSpPr>
        <p:spPr>
          <a:xfrm rot="0" flipH="0" flipV="0">
            <a:off x="10868025" y="6496050"/>
            <a:ext cx="714375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975">
                <a:solidFill>
                  <a:srgbClr val="8A9AAA"/>
                </a:solidFill>
                <a:latin typeface="Microsoft YaHei"/>
                <a:ea typeface="Microsoft YaHei"/>
              </a:rPr>
              <a:t>单元</a:t>
            </a:r>
            <a:r>
              <a:rPr lang="en-US" sz="975">
                <a:solidFill>
                  <a:srgbClr val="8A9AAA"/>
                </a:solidFill>
                <a:latin typeface="Microsoft YaHei"/>
                <a:ea typeface="Microsoft YaHei"/>
              </a:rPr>
              <a:t xml:space="preserve"> 5 · </a:t>
            </a:r>
            <a:r>
              <a:rPr lang="zh-CN" sz="975">
                <a:solidFill>
                  <a:srgbClr val="8A9AAA"/>
                </a:solidFill>
                <a:latin typeface="Microsoft YaHei"/>
                <a:ea typeface="Microsoft YaHei"/>
              </a:rPr>
              <a:t>封面</a:t>
            </a:r>
            <a:endParaRPr/>
          </a:p>
        </p:txBody>
      </p:sp>
    </p:spTree>
  </p:cSld>
</p:sld>
</file>

<file path=ppt/slides/slide2.xml><?xml version="1.0" encoding="utf-8"?>
<p:sld xmlns:p="http://schemas.openxmlformats.org/presentationml/2006/main" xmlns:a="http://schemas.openxmlformats.org/drawingml/2006/main" xmlns:asvg="http://schemas.microsoft.com/office/drawing/2016/SVG/main" xmlns:r="http://schemas.openxmlformats.org/officeDocument/2006/relationships" xmlns:mc="http://schemas.openxmlformats.org/markup-compatibility/2006" mc:Ignorable="asvg">
  <p:cSld>
    <p:spTree>
      <p:nvGrpSpPr>
        <p:cNvPr id="36" name="" descr="&lt;Slide style={{ width: '1280px', height: '720px', backgroundColor: '#FAFCFE', padding: 0, position: 'relative', overflow: 'hidden' }}&gt;&#13;&#10;    &lt;Box style={{ position: 'absolute', left: 64, top: 36, width: '1152px', flexDirection: 'row', alignItems: 'center', gap: 12 }}&gt;&#13;&#10;        &lt;Box style={{ background: '#1F5FA8', borderRadius: 5, padding: '3px 11px' }}&gt;&#13;&#10;            &lt;Text style={{ fontSize: 14, fontWeight: 'bold', color: '#FFFFFF' }}&gt;第 23 / 111 节&lt;/Text&gt;&#13;&#10;        &lt;/Box&gt;&#13;&#10;        &lt;Text style={{ fontSize: 30, fontWeight: 'bold', color: '#16232E' }}&gt;字典：按名字找数据&lt;/Text&gt;&#13;&#10;    &lt;/Box&gt;&#13;&#10;    &lt;Box style={{ position: 'absolute', left: 0, top: 0, width: '1280px', height: '720px' }}&gt;&#13;&#10;        &lt;svg width='1280' height='720' viewBox='0 0 1280 720'&gt;&#13;&#10;            &lt;rect x='64' y='104' width='1152' height='112' rx='12' fill='#EEF5FB' /&gt;&lt;text x='84' y='134' fontSize='15' fontWeight='bold' fill='#1F5FA8' textAnchor='start' fontFamily='Microsoft YaHei'&gt;学习目标&lt;/text&gt;&lt;text x='84' y='164' fontSize='16' fill='#243444' textAnchor='start' fontFamily='Microsoft YaHei'&gt;理解「列表按位置找、字典按名字找」，掌握键值对增删改&lt;/text&gt;&lt;rect x='64' y='240' width='562' height='248' rx='12' fill='#FFFFFF' stroke='#D8E3EE' /&gt;&lt;text x='84' y='274' fontSize='15' fontWeight='bold' fill='#0E9B78' textAnchor='start' fontFamily='Microsoft YaHei'&gt;课堂实操（40 分钟 · 不看答案）&lt;/text&gt;&lt;text x='84' y='308.0' fontSize='14.5' fill='#3A4A58' textAnchor='start' fontFamily='Microsoft YaHei'&gt;· 现场把一个列表版数据改成字典版&lt;/text&gt;&lt;text x='84' y='338.75' fontSize='14.5' fill='#3A4A58' textAnchor='start' fontFamily='Microsoft YaHei'&gt;· 演示赋值的新增 vs 修改两种含义&lt;/text&gt;&lt;rect x='654' y='240' width='562' height='248' rx='12' fill='#FDF3E2' stroke='none' /&gt;&lt;text x='674' y='274' fontSize='15' fontWeight='bold' fill='#E08A15' textAnchor='start' fontFamily='Microsoft YaHei'&gt;课后作业&lt;/text&gt;&lt;text x='674' y='308.0' fontSize='14.5' fill='#3A4A58' textAnchor='start' fontFamily='Microsoft YaHei'&gt;· 完成动手练习 5-1 ~ 5-3&lt;/text&gt;&lt;rect x='64' y='508' width='1152' height='92' rx='12' fill='#16232E' /&gt;&lt;text x='84' y='540' fontSize='14.5' fontWeight='bold' fill='#FFFFFF' textAnchor='start' fontFamily='Microsoft YaHei'&gt;这节课的节奏&lt;/text&gt;&lt;text x='84' y='570' fontSize='14' fill='#A8C4DE' textAnchor='start' fontFamily='Microsoft YaHei'&gt;先读讲义 20 分钟 → 自己敲 40 分钟（报错先自己读） → 对着讲评自查 20 分钟 → 写作业 10 分钟&lt;/text&gt;&#13;&#10;            &lt;text x='64' y='684' fontSize='13' fill='#8A9AAA' fontFamily='Microsoft YaHei'&gt;Python 讲授课件 · 逐节版&lt;/text&gt;&#13;&#10;            &lt;text x='1216' y='684' fontSize='13' fill='#8A9AAA' textAnchor='end' fontFamily='Microsoft YaHei'&gt;单元 5 · 第 23 节&lt;/text&gt;&#13;&#10;        &lt;/svg&gt;&#13;&#10;    &lt;/Box&gt;&#13;&#10;&lt;/Slide&gt;&#13;&#10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AFCFE"/>
          </a:solidFill>
          <a:ln/>
        </p:spPr>
        <p:txBody>
          <a:bodyPr/>
          <a:p/>
        </p:txBody>
      </p:sp>
      <p:sp>
        <p:nvSpPr>
          <p:cNvPr id="38" name=""/>
          <p:cNvSpPr/>
          <p:nvPr/>
        </p:nvSpPr>
        <p:spPr>
          <a:xfrm rot="0" flipH="0" flipV="0">
            <a:off x="609600" y="409575"/>
            <a:ext cx="1114425" cy="219075"/>
          </a:xfrm>
          <a:prstGeom prst="roundRect">
            <a:avLst>
              <a:gd name="adj" fmla="val 21739"/>
            </a:avLst>
          </a:prstGeom>
          <a:solidFill>
            <a:srgbClr val="1F5FA8"/>
          </a:solidFill>
          <a:ln/>
        </p:spPr>
        <p:txBody>
          <a:bodyPr/>
          <a:p/>
        </p:txBody>
      </p:sp>
      <p:sp>
        <p:nvSpPr>
          <p:cNvPr id="39" name="" descr="{&quot;isTemplate&quot;:true,&quot;type&quot;:&quot;text&quot;}"/>
          <p:cNvSpPr txBox="1"/>
          <p:nvPr/>
        </p:nvSpPr>
        <p:spPr>
          <a:xfrm rot="0" flipH="0" flipV="0">
            <a:off x="714375" y="438150"/>
            <a:ext cx="90487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50" b="1">
                <a:solidFill>
                  <a:srgbClr val="FFFFFF"/>
                </a:solidFill>
                <a:latin typeface="Microsoft YaHei"/>
                <a:ea typeface="Microsoft YaHei"/>
              </a:rPr>
              <a:t>第</a:t>
            </a:r>
            <a:r>
              <a:rPr lang="en-US" sz="1050" b="1">
                <a:solidFill>
                  <a:srgbClr val="FFFFFF"/>
                </a:solidFill>
                <a:latin typeface="Microsoft YaHei"/>
                <a:ea typeface="Microsoft YaHei"/>
              </a:rPr>
              <a:t xml:space="preserve"> 23 / 111 </a:t>
            </a:r>
            <a:r>
              <a:rPr lang="zh-CN" sz="1050" b="1">
                <a:solidFill>
                  <a:srgbClr val="FFFFFF"/>
                </a:solidFill>
                <a:latin typeface="Microsoft YaHei"/>
                <a:ea typeface="Microsoft YaHei"/>
              </a:rPr>
              <a:t>节</a:t>
            </a:r>
            <a:endParaRPr/>
          </a:p>
        </p:txBody>
      </p:sp>
      <p:sp>
        <p:nvSpPr>
          <p:cNvPr id="40" name="" descr="{&quot;isTemplate&quot;:true,&quot;type&quot;:&quot;text&quot;}"/>
          <p:cNvSpPr txBox="1"/>
          <p:nvPr/>
        </p:nvSpPr>
        <p:spPr>
          <a:xfrm rot="0" flipH="0" flipV="0">
            <a:off x="1838325" y="342900"/>
            <a:ext cx="2571750" cy="3429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2250" b="1">
                <a:solidFill>
                  <a:srgbClr val="16232E"/>
                </a:solidFill>
                <a:latin typeface="Microsoft YaHei"/>
                <a:ea typeface="Microsoft YaHei"/>
              </a:rPr>
              <a:t>字典：按名字找数据</a:t>
            </a:r>
            <a:endParaRPr/>
          </a:p>
        </p:txBody>
      </p:sp>
      <p:pic>
        <p:nvPicPr>
          <p:cNvPr id="41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1"/>
              </a:ext>
            </a:extLst>
          </a:blip>
          <a:stretch>
            <a:fillRect/>
          </a:stretch>
        </p:blipFill>
        <p:spPr>
          <a:xfrm rot="0" flipH="0" flipV="0">
            <a:off x="0" y="0"/>
            <a:ext cx="12192000" cy="6858000"/>
          </a:xfrm>
          <a:prstGeom prst="rect">
            <a:avLst/>
          </a:prstGeom>
          <a:ln/>
        </p:spPr>
      </p:pic>
    </p:spTree>
  </p:cSld>
</p:sld>
</file>

<file path=ppt/slides/slide3.xml><?xml version="1.0" encoding="utf-8"?>
<p:sld xmlns:p="http://schemas.openxmlformats.org/presentationml/2006/main" xmlns:a="http://schemas.openxmlformats.org/drawingml/2006/main" xmlns:asvg="http://schemas.microsoft.com/office/drawing/2016/SVG/main" xmlns:r="http://schemas.openxmlformats.org/officeDocument/2006/relationships" xmlns:mc="http://schemas.openxmlformats.org/markup-compatibility/2006" mc:Ignorable="asvg">
  <p:cSld>
    <p:spTree>
      <p:nvGrpSpPr>
        <p:cNvPr id="42" name="" descr="&lt;Slide style={{ width: '1280px', height: '720px', backgroundColor: '#FAFCFE', padding: 0, position: 'relative', overflow: 'hidden' }}&gt;&#13;&#10;    &lt;Box style={{ position: 'absolute', left: 64, top: 36, width: '1152px', flexDirection: 'row', alignItems: 'center', gap: 12 }}&gt;&#13;&#10;        &lt;Box style={{ background: '#0E9B78', borderRadius: 5, padding: '3px 11px' }}&gt;&#13;&#10;            &lt;Text style={{ fontSize: 14, fontWeight: 'bold', color: '#FFFFFF' }}&gt;第 23 节&lt;/Text&gt;&#13;&#10;        &lt;/Box&gt;&#13;&#10;        &lt;Text style={{ fontSize: 30, fontWeight: 'bold', color: '#16232E' }}&gt;核心知识点&lt;/Text&gt;&#13;&#10;        &lt;Text style={{ fontSize: 15, color: '#5A6B7A', marginTop: 10 }}&gt;· 字典：按名字找数据&lt;/Text&gt;&#13;&#10;    &lt;/Box&gt;&#13;&#10;    &lt;Box style={{ position: 'absolute', left: 0, top: 0, width: '1280px', height: '720px' }}&gt;&#13;&#10;        &lt;svg width='1280' height='720' viewBox='0 0 1280 720'&gt;&#13;&#10;            &lt;rect x='64' y='96' width='368' height='330' rx='12' fill='#FFFFFF' stroke='#D8E3EE' /&gt;&lt;rect x='64' y='96' width='368' height='4' rx='2' fill='#1F5FA8' /&gt;&lt;text x='82' y='130' fontSize='15.5' fontWeight='bold' fill='#1F5FA8' textAnchor='start' fontFamily='Microsoft YaHei'&gt;2.1 列表按位置找，字典按名字找&lt;/text&gt;&lt;text x='82' y='169.0' fontSize='13' fill='#3A4A58' textAnchor='start' fontFamily='Microsoft YaHei'&gt;· 列表 = 一排有编号的抽屉。找东西靠数编号（第 3 个&lt;/text&gt;&lt;text x='82' y='188.5' fontSize='13' fill='#3A4A58' textAnchor='start' fontFamily='Microsoft YaHei'&gt;、第 7 个）。&lt;/text&gt;&lt;text x='82' y='217.0' fontSize='13' fill='#3A4A58' textAnchor='start' fontFamily='Microsoft YaHei'&gt;· 字典 = 一个巨大的储物柜，每个柜门上都贴着标签。找&lt;/text&gt;&lt;text x='82' y='236.5' fontSize='13' fill='#3A4A58' textAnchor='start' fontFamily='Microsoft YaHei'&gt;东西靠读标签（&quot;小明&quot; → 拿到他的号码）。&lt;/text&gt;&lt;rect x='468' y='96' width='368' height='330' rx='12' fill='#FFFFFF' stroke='#D8E3EE' /&gt;&lt;rect x='468' y='96' width='368' height='4' rx='2' fill='#1F5FA8' /&gt;&lt;text x='486' y='130' fontSize='15.5' fontWeight='bold' fill='#1F5FA8' textAnchor='start' fontFamily='Microsoft YaHei'&gt;2.2 键值对：key → value&lt;/text&gt;&lt;text x='486' y='169.0' fontSize='13' fill='#3A4A58' textAnchor='start' fontFamily='Microsoft YaHei'&gt;· 键（key）：唯一的标签，充当索引&lt;/text&gt;&lt;text x='486' y='197.5' fontSize='13' fill='#3A4A58' textAnchor='start' fontFamily='Microsoft YaHei'&gt;· 值（value）：这个标签下存的东西&lt;/text&gt;&lt;rect x='872' y='96' width='368' height='330' rx='12' fill='#FFFFFF' stroke='#D8E3EE' /&gt;&lt;rect x='872' y='96' width='368' height='4' rx='2' fill='#1F5FA8' /&gt;&lt;text x='890' y='130' fontSize='15.5' fontWeight='bold' fill='#1F5FA8' textAnchor='start' fontFamily='Microsoft YaHei'&gt;2.3 新增 vs 修改：同一行代码，两种含义&lt;/text&gt;&lt;text x='890' y='169.0' fontSize='13' fill='#3A4A58' textAnchor='start' fontFamily='Microsoft YaHei'&gt;· 这是字典最容易困惑的一点：&lt;/text&gt;&lt;rect x='64' y='574' width='1152' height='66' rx='12' fill='#EEF5FB' /&gt;&lt;text x='84' y='616' fontSize='14' fill='#243444' textAnchor='start' fontFamily='Microsoft YaHei'&gt;看不懂的地方先回讲义对应小节读一遍，再回来对着这页复述一次——能讲出来才算真懂。&lt;/text&gt;&#13;&#10;            &lt;text x='64' y='684' fontSize='13' fill='#8A9AAA' fontFamily='Microsoft YaHei'&gt;Python 讲授课件 · 逐节版&lt;/text&gt;&#13;&#10;            &lt;text x='1216' y='684' fontSize='13' fill='#8A9AAA' textAnchor='end' fontFamily='Microsoft YaHei'&gt;单元 5 · 第 23 节&lt;/text&gt;&#13;&#10;        &lt;/svg&gt;&#13;&#10;    &lt;/Box&gt;&#13;&#10;&lt;/Slide&gt;&#13;&#10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AFCFE"/>
          </a:solidFill>
          <a:ln/>
        </p:spPr>
        <p:txBody>
          <a:bodyPr/>
          <a:p/>
        </p:txBody>
      </p:sp>
      <p:sp>
        <p:nvSpPr>
          <p:cNvPr id="44" name=""/>
          <p:cNvSpPr/>
          <p:nvPr/>
        </p:nvSpPr>
        <p:spPr>
          <a:xfrm rot="0" flipH="0" flipV="0">
            <a:off x="609600" y="409575"/>
            <a:ext cx="723900" cy="219075"/>
          </a:xfrm>
          <a:prstGeom prst="roundRect">
            <a:avLst>
              <a:gd name="adj" fmla="val 21739"/>
            </a:avLst>
          </a:prstGeom>
          <a:solidFill>
            <a:srgbClr val="0E9B78"/>
          </a:solidFill>
          <a:ln/>
        </p:spPr>
        <p:txBody>
          <a:bodyPr/>
          <a:p/>
        </p:txBody>
      </p:sp>
      <p:sp>
        <p:nvSpPr>
          <p:cNvPr id="45" name="" descr="{&quot;isTemplate&quot;:true,&quot;type&quot;:&quot;text&quot;}"/>
          <p:cNvSpPr txBox="1"/>
          <p:nvPr/>
        </p:nvSpPr>
        <p:spPr>
          <a:xfrm rot="0" flipH="0" flipV="0">
            <a:off x="714375" y="438150"/>
            <a:ext cx="51435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50" b="1">
                <a:solidFill>
                  <a:srgbClr val="FFFFFF"/>
                </a:solidFill>
                <a:latin typeface="Microsoft YaHei"/>
                <a:ea typeface="Microsoft YaHei"/>
              </a:rPr>
              <a:t>第</a:t>
            </a:r>
            <a:r>
              <a:rPr lang="en-US" sz="1050" b="1">
                <a:solidFill>
                  <a:srgbClr val="FFFFFF"/>
                </a:solidFill>
                <a:latin typeface="Microsoft YaHei"/>
                <a:ea typeface="Microsoft YaHei"/>
              </a:rPr>
              <a:t xml:space="preserve"> 23 </a:t>
            </a:r>
            <a:r>
              <a:rPr lang="zh-CN" sz="1050" b="1">
                <a:solidFill>
                  <a:srgbClr val="FFFFFF"/>
                </a:solidFill>
                <a:latin typeface="Microsoft YaHei"/>
                <a:ea typeface="Microsoft YaHei"/>
              </a:rPr>
              <a:t>节</a:t>
            </a:r>
            <a:endParaRPr/>
          </a:p>
        </p:txBody>
      </p:sp>
      <p:sp>
        <p:nvSpPr>
          <p:cNvPr id="46" name="" descr="{&quot;isTemplate&quot;:true,&quot;type&quot;:&quot;text&quot;}"/>
          <p:cNvSpPr txBox="1"/>
          <p:nvPr/>
        </p:nvSpPr>
        <p:spPr>
          <a:xfrm rot="0" flipH="0" flipV="0">
            <a:off x="1447800" y="342900"/>
            <a:ext cx="1428750" cy="3429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2250" b="1">
                <a:solidFill>
                  <a:srgbClr val="16232E"/>
                </a:solidFill>
                <a:latin typeface="Microsoft YaHei"/>
                <a:ea typeface="Microsoft YaHei"/>
              </a:rPr>
              <a:t>核心知识点</a:t>
            </a:r>
            <a:endParaRPr/>
          </a:p>
        </p:txBody>
      </p:sp>
      <p:sp>
        <p:nvSpPr>
          <p:cNvPr id="47" name="" descr="{&quot;isTemplate&quot;:true,&quot;type&quot;:&quot;text&quot;}"/>
          <p:cNvSpPr txBox="1"/>
          <p:nvPr/>
        </p:nvSpPr>
        <p:spPr>
          <a:xfrm rot="0" flipH="0" flipV="0">
            <a:off x="2990850" y="476250"/>
            <a:ext cx="137160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>
                <a:solidFill>
                  <a:srgbClr val="5A6B7A"/>
                </a:solidFill>
                <a:latin typeface="Microsoft YaHei"/>
                <a:ea typeface="Microsoft YaHei"/>
              </a:rPr>
              <a:t xml:space="preserve">· </a:t>
            </a:r>
            <a:r>
              <a:rPr lang="zh-CN" sz="1125">
                <a:solidFill>
                  <a:srgbClr val="5A6B7A"/>
                </a:solidFill>
                <a:latin typeface="Microsoft YaHei"/>
                <a:ea typeface="Microsoft YaHei"/>
              </a:rPr>
              <a:t>字典：按名字找数据</a:t>
            </a:r>
            <a:endParaRPr/>
          </a:p>
        </p:txBody>
      </p:sp>
      <p:pic>
        <p:nvPicPr>
          <p:cNvPr id="48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1"/>
              </a:ext>
            </a:extLst>
          </a:blip>
          <a:stretch>
            <a:fillRect/>
          </a:stretch>
        </p:blipFill>
        <p:spPr>
          <a:xfrm rot="0" flipH="0" flipV="0">
            <a:off x="0" y="0"/>
            <a:ext cx="12192000" cy="6858000"/>
          </a:xfrm>
          <a:prstGeom prst="rect">
            <a:avLst/>
          </a:prstGeom>
          <a:ln/>
        </p:spPr>
      </p:pic>
    </p:spTree>
  </p:cSld>
</p:sld>
</file>

<file path=ppt/slides/slide4.xml><?xml version="1.0" encoding="utf-8"?>
<p:sld xmlns:p="http://schemas.openxmlformats.org/presentationml/2006/main" xmlns:a="http://schemas.openxmlformats.org/drawingml/2006/main" xmlns:asvg="http://schemas.microsoft.com/office/drawing/2016/SVG/main" xmlns:r="http://schemas.openxmlformats.org/officeDocument/2006/relationships" xmlns:mc="http://schemas.openxmlformats.org/markup-compatibility/2006" mc:Ignorable="asvg">
  <p:cSld>
    <p:spTree>
      <p:nvGrpSpPr>
        <p:cNvPr id="49" name="" descr="&lt;Slide style={{ width: '1280px', height: '720px', backgroundColor: '#FAFCFE', padding: 0, position: 'relative', overflow: 'hidden' }}&gt;&#13;&#10;    &lt;Box style={{ position: 'absolute', left: 64, top: 36, width: '1152px', flexDirection: 'row', alignItems: 'center', gap: 12 }}&gt;&#13;&#10;        &lt;Box style={{ background: '#1F5FA8', borderRadius: 5, padding: '3px 11px' }}&gt;&#13;&#10;            &lt;Text style={{ fontSize: 14, fontWeight: 'bold', color: '#FFFFFF' }}&gt;第 24 / 111 节&lt;/Text&gt;&#13;&#10;        &lt;/Box&gt;&#13;&#10;        &lt;Text style={{ fontSize: 30, fontWeight: 'bold', color: '#16232E' }}&gt;三种遍历与 get() 安全取值&lt;/Text&gt;&#13;&#10;    &lt;/Box&gt;&#13;&#10;    &lt;Box style={{ position: 'absolute', left: 0, top: 0, width: '1280px', height: '720px' }}&gt;&#13;&#10;        &lt;svg width='1280' height='720' viewBox='0 0 1280 720'&gt;&#13;&#10;            &lt;rect x='64' y='104' width='1152' height='112' rx='12' fill='#EEF5FB' /&gt;&lt;text x='84' y='134' fontSize='15' fontWeight='bold' fill='#1F5FA8' textAnchor='start' fontFamily='Microsoft YaHei'&gt;学习目标&lt;/text&gt;&lt;text x='84' y='164' fontSize='16' fill='#243444' textAnchor='start' fontFamily='Microsoft YaHei'&gt;掌握 items / keys / values 三种遍历，知道 get() 为什么不崩&lt;/text&gt;&lt;rect x='64' y='240' width='562' height='248' rx='12' fill='#FFFFFF' stroke='#D8E3EE' /&gt;&lt;text x='84' y='274' fontSize='15' fontWeight='bold' fill='#0E9B78' textAnchor='start' fontFamily='Microsoft YaHei'&gt;课堂实操（40 分钟 · 不看答案）&lt;/text&gt;&lt;text x='84' y='308.0' fontSize='14.5' fill='#3A4A58' textAnchor='start' fontFamily='Microsoft YaHei'&gt;· 对同一字典用三种方式遍历并比较输出&lt;/text&gt;&lt;text x='84' y='338.75' fontSize='14.5' fill='#3A4A58' textAnchor='start' fontFamily='Microsoft YaHei'&gt;· 故意用 [] 取不存在的键看 KeyError&lt;/text&gt;&lt;rect x='654' y='240' width='562' height='248' rx='12' fill='#FDF3E2' stroke='none' /&gt;&lt;text x='674' y='274' fontSize='15' fontWeight='bold' fill='#E08A15' textAnchor='start' fontFamily='Microsoft YaHei'&gt;课后作业&lt;/text&gt;&lt;text x='674' y='308.0' fontSize='14.5' fill='#3A4A58' textAnchor='start' fontFamily='Microsoft YaHei'&gt;· 完成动手练习 5-4 ~ 5-6&lt;/text&gt;&lt;rect x='64' y='508' width='1152' height='92' rx='12' fill='#16232E' /&gt;&lt;text x='84' y='540' fontSize='14.5' fontWeight='bold' fill='#FFFFFF' textAnchor='start' fontFamily='Microsoft YaHei'&gt;这节课的节奏&lt;/text&gt;&lt;text x='84' y='570' fontSize='14' fill='#A8C4DE' textAnchor='start' fontFamily='Microsoft YaHei'&gt;先读讲义 20 分钟 → 自己敲 40 分钟（报错先自己读） → 对着讲评自查 20 分钟 → 写作业 10 分钟&lt;/text&gt;&#13;&#10;            &lt;text x='64' y='684' fontSize='13' fill='#8A9AAA' fontFamily='Microsoft YaHei'&gt;Python 讲授课件 · 逐节版&lt;/text&gt;&#13;&#10;            &lt;text x='1216' y='684' fontSize='13' fill='#8A9AAA' textAnchor='end' fontFamily='Microsoft YaHei'&gt;单元 5 · 第 24 节&lt;/text&gt;&#13;&#10;        &lt;/svg&gt;&#13;&#10;    &lt;/Box&gt;&#13;&#10;&lt;/Slide&gt;&#13;&#10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AFCFE"/>
          </a:solidFill>
          <a:ln/>
        </p:spPr>
        <p:txBody>
          <a:bodyPr/>
          <a:p/>
        </p:txBody>
      </p:sp>
      <p:sp>
        <p:nvSpPr>
          <p:cNvPr id="51" name=""/>
          <p:cNvSpPr/>
          <p:nvPr/>
        </p:nvSpPr>
        <p:spPr>
          <a:xfrm rot="0" flipH="0" flipV="0">
            <a:off x="609600" y="409575"/>
            <a:ext cx="1114425" cy="219075"/>
          </a:xfrm>
          <a:prstGeom prst="roundRect">
            <a:avLst>
              <a:gd name="adj" fmla="val 21739"/>
            </a:avLst>
          </a:prstGeom>
          <a:solidFill>
            <a:srgbClr val="1F5FA8"/>
          </a:solidFill>
          <a:ln/>
        </p:spPr>
        <p:txBody>
          <a:bodyPr/>
          <a:p/>
        </p:txBody>
      </p:sp>
      <p:sp>
        <p:nvSpPr>
          <p:cNvPr id="52" name="" descr="{&quot;isTemplate&quot;:true,&quot;type&quot;:&quot;text&quot;}"/>
          <p:cNvSpPr txBox="1"/>
          <p:nvPr/>
        </p:nvSpPr>
        <p:spPr>
          <a:xfrm rot="0" flipH="0" flipV="0">
            <a:off x="714375" y="438150"/>
            <a:ext cx="90487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50" b="1">
                <a:solidFill>
                  <a:srgbClr val="FFFFFF"/>
                </a:solidFill>
                <a:latin typeface="Microsoft YaHei"/>
                <a:ea typeface="Microsoft YaHei"/>
              </a:rPr>
              <a:t>第</a:t>
            </a:r>
            <a:r>
              <a:rPr lang="en-US" sz="1050" b="1">
                <a:solidFill>
                  <a:srgbClr val="FFFFFF"/>
                </a:solidFill>
                <a:latin typeface="Microsoft YaHei"/>
                <a:ea typeface="Microsoft YaHei"/>
              </a:rPr>
              <a:t xml:space="preserve"> 24 / 111 </a:t>
            </a:r>
            <a:r>
              <a:rPr lang="zh-CN" sz="1050" b="1">
                <a:solidFill>
                  <a:srgbClr val="FFFFFF"/>
                </a:solidFill>
                <a:latin typeface="Microsoft YaHei"/>
                <a:ea typeface="Microsoft YaHei"/>
              </a:rPr>
              <a:t>节</a:t>
            </a:r>
            <a:endParaRPr/>
          </a:p>
        </p:txBody>
      </p:sp>
      <p:sp>
        <p:nvSpPr>
          <p:cNvPr id="53" name="" descr="{&quot;isTemplate&quot;:true,&quot;type&quot;:&quot;text&quot;}"/>
          <p:cNvSpPr txBox="1"/>
          <p:nvPr/>
        </p:nvSpPr>
        <p:spPr>
          <a:xfrm rot="0" flipH="0" flipV="0">
            <a:off x="1838325" y="342900"/>
            <a:ext cx="3448050" cy="3429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2250" b="1">
                <a:solidFill>
                  <a:srgbClr val="16232E"/>
                </a:solidFill>
                <a:latin typeface="Microsoft YaHei"/>
                <a:ea typeface="Microsoft YaHei"/>
              </a:rPr>
              <a:t>三种遍历与</a:t>
            </a:r>
            <a:r>
              <a:rPr lang="en-US" sz="2250" b="1">
                <a:solidFill>
                  <a:srgbClr val="16232E"/>
                </a:solidFill>
                <a:latin typeface="Microsoft YaHei"/>
                <a:ea typeface="Microsoft YaHei"/>
              </a:rPr>
              <a:t xml:space="preserve"> get() </a:t>
            </a:r>
            <a:r>
              <a:rPr lang="zh-CN" sz="2250" b="1">
                <a:solidFill>
                  <a:srgbClr val="16232E"/>
                </a:solidFill>
                <a:latin typeface="Microsoft YaHei"/>
                <a:ea typeface="Microsoft YaHei"/>
              </a:rPr>
              <a:t>安全取值</a:t>
            </a:r>
            <a:endParaRPr/>
          </a:p>
        </p:txBody>
      </p:sp>
      <p:pic>
        <p:nvPicPr>
          <p:cNvPr id="54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1"/>
              </a:ext>
            </a:extLst>
          </a:blip>
          <a:stretch>
            <a:fillRect/>
          </a:stretch>
        </p:blipFill>
        <p:spPr>
          <a:xfrm rot="0" flipH="0" flipV="0">
            <a:off x="0" y="0"/>
            <a:ext cx="12192000" cy="6858000"/>
          </a:xfrm>
          <a:prstGeom prst="rect">
            <a:avLst/>
          </a:prstGeom>
          <a:ln/>
        </p:spPr>
      </p:pic>
    </p:spTree>
  </p:cSld>
</p:sld>
</file>

<file path=ppt/slides/slide5.xml><?xml version="1.0" encoding="utf-8"?>
<p:sld xmlns:p="http://schemas.openxmlformats.org/presentationml/2006/main" xmlns:a="http://schemas.openxmlformats.org/drawingml/2006/main" xmlns:asvg="http://schemas.microsoft.com/office/drawing/2016/SVG/main" xmlns:r="http://schemas.openxmlformats.org/officeDocument/2006/relationships" xmlns:mc="http://schemas.openxmlformats.org/markup-compatibility/2006" mc:Ignorable="asvg">
  <p:cSld>
    <p:spTree>
      <p:nvGrpSpPr>
        <p:cNvPr id="55" name="" descr="&lt;Slide style={{ width: '1280px', height: '720px', backgroundColor: '#FAFCFE', padding: 0, position: 'relative', overflow: 'hidden' }}&gt;&#13;&#10;    &lt;Box style={{ position: 'absolute', left: 64, top: 36, width: '1152px', flexDirection: 'row', alignItems: 'center', gap: 12 }}&gt;&#13;&#10;        &lt;Box style={{ background: '#0E9B78', borderRadius: 5, padding: '3px 11px' }}&gt;&#13;&#10;            &lt;Text style={{ fontSize: 14, fontWeight: 'bold', color: '#FFFFFF' }}&gt;第 24 节&lt;/Text&gt;&#13;&#10;        &lt;/Box&gt;&#13;&#10;        &lt;Text style={{ fontSize: 30, fontWeight: 'bold', color: '#16232E' }}&gt;核心知识点&lt;/Text&gt;&#13;&#10;        &lt;Text style={{ fontSize: 15, color: '#5A6B7A', marginTop: 10 }}&gt;· 三种遍历与 get() 安全取值&lt;/Text&gt;&#13;&#10;    &lt;/Box&gt;&#13;&#10;    &lt;Box style={{ position: 'absolute', left: 0, top: 0, width: '1280px', height: '720px' }}&gt;&#13;&#10;        &lt;svg width='1280' height='720' viewBox='0 0 1280 720'&gt;&#13;&#10;            &lt;rect x='64' y='96' width='548' height='330' rx='12' fill='#FFFFFF' stroke='#D8E3EE' /&gt;&lt;rect x='64' y='96' width='548' height='4' rx='2' fill='#1F5FA8' /&gt;&lt;text x='82' y='130' fontSize='15.5' fontWeight='bold' fill='#1F5FA8' textAnchor='start' fontFamily='Microsoft YaHei'&gt;2.4 三种遍历方式&lt;/text&gt;&lt;text x='82' y='169.0' fontSize='13' fill='#3A4A58' textAnchor='start' fontFamily='Microsoft YaHei'&gt;· for key in dict 实际等于 for key in dict.keys()，因为 dict…&lt;/text&gt;&lt;rect x='668' y='96' width='548' height='330' rx='12' fill='#FFFFFF' stroke='#D8E3EE' /&gt;&lt;rect x='668' y='96' width='548' height='4' rx='2' fill='#1F5FA8' /&gt;&lt;text x='686' y='130' fontSize='15.5' fontWeight='bold' fill='#1F5FA8' textAnchor='start' fontFamily='Microsoft YaHei'&gt;2.5 .get()：不 crash 的取值方式&lt;/text&gt;&lt;text x='686' y='169.0' fontSize='13' fill='#3A4A58' textAnchor='start' fontFamily='Microsoft YaHei'&gt;· scores = ｛&quot;语文&quot;: 90, &quot;数学&quot;: 85｝&lt;/text&gt;&lt;rect x='64' y='574' width='1152' height='66' rx='12' fill='#EEF5FB' /&gt;&lt;text x='84' y='616' fontSize='14' fill='#243444' textAnchor='start' fontFamily='Microsoft YaHei'&gt;看不懂的地方先回讲义对应小节读一遍，再回来对着这页复述一次——能讲出来才算真懂。&lt;/text&gt;&#13;&#10;            &lt;text x='64' y='684' fontSize='13' fill='#8A9AAA' fontFamily='Microsoft YaHei'&gt;Python 讲授课件 · 逐节版&lt;/text&gt;&#13;&#10;            &lt;text x='1216' y='684' fontSize='13' fill='#8A9AAA' textAnchor='end' fontFamily='Microsoft YaHei'&gt;单元 5 · 第 24 节&lt;/text&gt;&#13;&#10;        &lt;/svg&gt;&#13;&#10;    &lt;/Box&gt;&#13;&#10;&lt;/Slide&gt;&#13;&#10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AFCFE"/>
          </a:solidFill>
          <a:ln/>
        </p:spPr>
        <p:txBody>
          <a:bodyPr/>
          <a:p/>
        </p:txBody>
      </p:sp>
      <p:sp>
        <p:nvSpPr>
          <p:cNvPr id="57" name=""/>
          <p:cNvSpPr/>
          <p:nvPr/>
        </p:nvSpPr>
        <p:spPr>
          <a:xfrm rot="0" flipH="0" flipV="0">
            <a:off x="609600" y="409575"/>
            <a:ext cx="723900" cy="219075"/>
          </a:xfrm>
          <a:prstGeom prst="roundRect">
            <a:avLst>
              <a:gd name="adj" fmla="val 21739"/>
            </a:avLst>
          </a:prstGeom>
          <a:solidFill>
            <a:srgbClr val="0E9B78"/>
          </a:solidFill>
          <a:ln/>
        </p:spPr>
        <p:txBody>
          <a:bodyPr/>
          <a:p/>
        </p:txBody>
      </p:sp>
      <p:sp>
        <p:nvSpPr>
          <p:cNvPr id="58" name="" descr="{&quot;isTemplate&quot;:true,&quot;type&quot;:&quot;text&quot;}"/>
          <p:cNvSpPr txBox="1"/>
          <p:nvPr/>
        </p:nvSpPr>
        <p:spPr>
          <a:xfrm rot="0" flipH="0" flipV="0">
            <a:off x="714375" y="438150"/>
            <a:ext cx="51435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50" b="1">
                <a:solidFill>
                  <a:srgbClr val="FFFFFF"/>
                </a:solidFill>
                <a:latin typeface="Microsoft YaHei"/>
                <a:ea typeface="Microsoft YaHei"/>
              </a:rPr>
              <a:t>第</a:t>
            </a:r>
            <a:r>
              <a:rPr lang="en-US" sz="1050" b="1">
                <a:solidFill>
                  <a:srgbClr val="FFFFFF"/>
                </a:solidFill>
                <a:latin typeface="Microsoft YaHei"/>
                <a:ea typeface="Microsoft YaHei"/>
              </a:rPr>
              <a:t xml:space="preserve"> 24 </a:t>
            </a:r>
            <a:r>
              <a:rPr lang="zh-CN" sz="1050" b="1">
                <a:solidFill>
                  <a:srgbClr val="FFFFFF"/>
                </a:solidFill>
                <a:latin typeface="Microsoft YaHei"/>
                <a:ea typeface="Microsoft YaHei"/>
              </a:rPr>
              <a:t>节</a:t>
            </a:r>
            <a:endParaRPr/>
          </a:p>
        </p:txBody>
      </p:sp>
      <p:sp>
        <p:nvSpPr>
          <p:cNvPr id="59" name="" descr="{&quot;isTemplate&quot;:true,&quot;type&quot;:&quot;text&quot;}"/>
          <p:cNvSpPr txBox="1"/>
          <p:nvPr/>
        </p:nvSpPr>
        <p:spPr>
          <a:xfrm rot="0" flipH="0" flipV="0">
            <a:off x="1447800" y="342900"/>
            <a:ext cx="1428750" cy="3429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2250" b="1">
                <a:solidFill>
                  <a:srgbClr val="16232E"/>
                </a:solidFill>
                <a:latin typeface="Microsoft YaHei"/>
                <a:ea typeface="Microsoft YaHei"/>
              </a:rPr>
              <a:t>核心知识点</a:t>
            </a:r>
            <a:endParaRPr/>
          </a:p>
        </p:txBody>
      </p:sp>
      <p:sp>
        <p:nvSpPr>
          <p:cNvPr id="60" name="" descr="{&quot;isTemplate&quot;:true,&quot;type&quot;:&quot;text&quot;}"/>
          <p:cNvSpPr txBox="1"/>
          <p:nvPr/>
        </p:nvSpPr>
        <p:spPr>
          <a:xfrm rot="0" flipH="0" flipV="0">
            <a:off x="2990850" y="476250"/>
            <a:ext cx="177165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>
                <a:solidFill>
                  <a:srgbClr val="5A6B7A"/>
                </a:solidFill>
                <a:latin typeface="Microsoft YaHei"/>
                <a:ea typeface="Microsoft YaHei"/>
              </a:rPr>
              <a:t xml:space="preserve">· </a:t>
            </a:r>
            <a:r>
              <a:rPr lang="zh-CN" sz="1125">
                <a:solidFill>
                  <a:srgbClr val="5A6B7A"/>
                </a:solidFill>
                <a:latin typeface="Microsoft YaHei"/>
                <a:ea typeface="Microsoft YaHei"/>
              </a:rPr>
              <a:t>三种遍历与</a:t>
            </a:r>
            <a:r>
              <a:rPr lang="en-US" sz="1125">
                <a:solidFill>
                  <a:srgbClr val="5A6B7A"/>
                </a:solidFill>
                <a:latin typeface="Microsoft YaHei"/>
                <a:ea typeface="Microsoft YaHei"/>
              </a:rPr>
              <a:t xml:space="preserve"> get() </a:t>
            </a:r>
            <a:r>
              <a:rPr lang="zh-CN" sz="1125">
                <a:solidFill>
                  <a:srgbClr val="5A6B7A"/>
                </a:solidFill>
                <a:latin typeface="Microsoft YaHei"/>
                <a:ea typeface="Microsoft YaHei"/>
              </a:rPr>
              <a:t>安全取值</a:t>
            </a:r>
            <a:endParaRPr/>
          </a:p>
        </p:txBody>
      </p:sp>
      <p:pic>
        <p:nvPicPr>
          <p:cNvPr id="61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1"/>
              </a:ext>
            </a:extLst>
          </a:blip>
          <a:stretch>
            <a:fillRect/>
          </a:stretch>
        </p:blipFill>
        <p:spPr>
          <a:xfrm rot="0" flipH="0" flipV="0">
            <a:off x="0" y="0"/>
            <a:ext cx="12192000" cy="6858000"/>
          </a:xfrm>
          <a:prstGeom prst="rect">
            <a:avLst/>
          </a:prstGeom>
          <a:ln/>
        </p:spPr>
      </p:pic>
    </p:spTree>
  </p:cSld>
</p:sld>
</file>

<file path=ppt/slides/slide6.xml><?xml version="1.0" encoding="utf-8"?>
<p:sld xmlns:p="http://schemas.openxmlformats.org/presentationml/2006/main" xmlns:a="http://schemas.openxmlformats.org/drawingml/2006/main" xmlns:asvg="http://schemas.microsoft.com/office/drawing/2016/SVG/main" xmlns:r="http://schemas.openxmlformats.org/officeDocument/2006/relationships" xmlns:mc="http://schemas.openxmlformats.org/markup-compatibility/2006" mc:Ignorable="asvg">
  <p:cSld>
    <p:spTree>
      <p:nvGrpSpPr>
        <p:cNvPr id="62" name="" descr="&lt;Slide style={{ width: '1280px', height: '720px', backgroundColor: '#FAFCFE', padding: 0, position: 'relative', overflow: 'hidden' }}&gt;&#13;&#10;    &lt;Box style={{ position: 'absolute', left: 64, top: 36, width: '1152px', flexDirection: 'row', alignItems: 'center', gap: 12 }}&gt;&#13;&#10;        &lt;Box style={{ background: '#1F5FA8', borderRadius: 5, padding: '3px 11px' }}&gt;&#13;&#10;            &lt;Text style={{ fontSize: 14, fontWeight: 'bold', color: '#FFFFFF' }}&gt;第 25 / 111 节&lt;/Text&gt;&#13;&#10;        &lt;/Box&gt;&#13;&#10;        &lt;Text style={{ fontSize: 30, fontWeight: 'bold', color: '#16232E' }}&gt;遍历时修改与嵌套结构&lt;/Text&gt;&#13;&#10;    &lt;/Box&gt;&#13;&#10;    &lt;Box style={{ position: 'absolute', left: 0, top: 0, width: '1280px', height: '720px' }}&gt;&#13;&#10;        &lt;svg width='1280' height='720' viewBox='0 0 1280 720'&gt;&#13;&#10;            &lt;rect x='64' y='104' width='1152' height='112' rx='12' fill='#EEF5FB' /&gt;&lt;text x='84' y='134' fontSize='15' fontWeight='bold' fill='#1F5FA8' textAnchor='start' fontFamily='Microsoft YaHei'&gt;学习目标&lt;/text&gt;&lt;text x='84' y='164' fontSize='16' fill='#243444' textAnchor='start' fontFamily='Microsoft YaHei'&gt;能处理嵌套结构，为后面学 JSON 打基础&lt;/text&gt;&lt;rect x='64' y='240' width='562' height='248' rx='12' fill='#FFFFFF' stroke='#D8E3EE' /&gt;&lt;text x='84' y='274' fontSize='15' fontWeight='bold' fill='#0E9B78' textAnchor='start' fontFamily='Microsoft YaHei'&gt;课堂实操（40 分钟 · 不看答案）&lt;/text&gt;&lt;text x='84' y='308.0' fontSize='14.5' fill='#3A4A58' textAnchor='start' fontFamily='Microsoft YaHei'&gt;· 现场把三层嵌套数据一层层打印出来&lt;/text&gt;&lt;text x='84' y='338.75' fontSize='14.5' fill='#3A4A58' textAnchor='start' fontFamily='Microsoft YaHei'&gt;· 讨论：为什么 JSON 能被 Python 直接读&lt;/text&gt;&lt;rect x='654' y='240' width='562' height='248' rx='12' fill='#FDF3E2' stroke='none' /&gt;&lt;text x='674' y='274' fontSize='15' fontWeight='bold' fill='#E08A15' textAnchor='start' fontFamily='Microsoft YaHei'&gt;课后作业&lt;/text&gt;&lt;text x='674' y='308.0' fontSize='14.5' fill='#3A4A58' textAnchor='start' fontFamily='Microsoft YaHei'&gt;· ★ 动手项目 6.1–6.3 生日调查&lt;/text&gt;&lt;rect x='64' y='508' width='1152' height='92' rx='12' fill='#16232E' /&gt;&lt;text x='84' y='540' fontSize='14.5' fontWeight='bold' fill='#FFFFFF' textAnchor='start' fontFamily='Microsoft YaHei'&gt;这节课的节奏&lt;/text&gt;&lt;text x='84' y='570' fontSize='14' fill='#A8C4DE' textAnchor='start' fontFamily='Microsoft YaHei'&gt;先读讲义 20 分钟 → 自己敲 40 分钟（报错先自己读） → 对着讲评自查 20 分钟 → 写作业 10 分钟&lt;/text&gt;&#13;&#10;            &lt;text x='64' y='684' fontSize='13' fill='#8A9AAA' fontFamily='Microsoft YaHei'&gt;Python 讲授课件 · 逐节版&lt;/text&gt;&#13;&#10;            &lt;text x='1216' y='684' fontSize='13' fill='#8A9AAA' textAnchor='end' fontFamily='Microsoft YaHei'&gt;单元 5 · 第 25 节&lt;/text&gt;&#13;&#10;        &lt;/svg&gt;&#13;&#10;    &lt;/Box&gt;&#13;&#10;&lt;/Slide&gt;&#13;&#10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AFCFE"/>
          </a:solidFill>
          <a:ln/>
        </p:spPr>
        <p:txBody>
          <a:bodyPr/>
          <a:p/>
        </p:txBody>
      </p:sp>
      <p:sp>
        <p:nvSpPr>
          <p:cNvPr id="64" name=""/>
          <p:cNvSpPr/>
          <p:nvPr/>
        </p:nvSpPr>
        <p:spPr>
          <a:xfrm rot="0" flipH="0" flipV="0">
            <a:off x="609600" y="409575"/>
            <a:ext cx="1114425" cy="219075"/>
          </a:xfrm>
          <a:prstGeom prst="roundRect">
            <a:avLst>
              <a:gd name="adj" fmla="val 21739"/>
            </a:avLst>
          </a:prstGeom>
          <a:solidFill>
            <a:srgbClr val="1F5FA8"/>
          </a:solidFill>
          <a:ln/>
        </p:spPr>
        <p:txBody>
          <a:bodyPr/>
          <a:p/>
        </p:txBody>
      </p:sp>
      <p:sp>
        <p:nvSpPr>
          <p:cNvPr id="65" name="" descr="{&quot;isTemplate&quot;:true,&quot;type&quot;:&quot;text&quot;}"/>
          <p:cNvSpPr txBox="1"/>
          <p:nvPr/>
        </p:nvSpPr>
        <p:spPr>
          <a:xfrm rot="0" flipH="0" flipV="0">
            <a:off x="714375" y="438150"/>
            <a:ext cx="90487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50" b="1">
                <a:solidFill>
                  <a:srgbClr val="FFFFFF"/>
                </a:solidFill>
                <a:latin typeface="Microsoft YaHei"/>
                <a:ea typeface="Microsoft YaHei"/>
              </a:rPr>
              <a:t>第</a:t>
            </a:r>
            <a:r>
              <a:rPr lang="en-US" sz="1050" b="1">
                <a:solidFill>
                  <a:srgbClr val="FFFFFF"/>
                </a:solidFill>
                <a:latin typeface="Microsoft YaHei"/>
                <a:ea typeface="Microsoft YaHei"/>
              </a:rPr>
              <a:t xml:space="preserve"> 25 / 111 </a:t>
            </a:r>
            <a:r>
              <a:rPr lang="zh-CN" sz="1050" b="1">
                <a:solidFill>
                  <a:srgbClr val="FFFFFF"/>
                </a:solidFill>
                <a:latin typeface="Microsoft YaHei"/>
                <a:ea typeface="Microsoft YaHei"/>
              </a:rPr>
              <a:t>节</a:t>
            </a:r>
            <a:endParaRPr/>
          </a:p>
        </p:txBody>
      </p:sp>
      <p:sp>
        <p:nvSpPr>
          <p:cNvPr id="66" name="" descr="{&quot;isTemplate&quot;:true,&quot;type&quot;:&quot;text&quot;}"/>
          <p:cNvSpPr txBox="1"/>
          <p:nvPr/>
        </p:nvSpPr>
        <p:spPr>
          <a:xfrm rot="0" flipH="0" flipV="0">
            <a:off x="1838325" y="342900"/>
            <a:ext cx="2857500" cy="3429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2250" b="1">
                <a:solidFill>
                  <a:srgbClr val="16232E"/>
                </a:solidFill>
                <a:latin typeface="Microsoft YaHei"/>
                <a:ea typeface="Microsoft YaHei"/>
              </a:rPr>
              <a:t>遍历时修改与嵌套结构</a:t>
            </a:r>
            <a:endParaRPr/>
          </a:p>
        </p:txBody>
      </p:sp>
      <p:pic>
        <p:nvPicPr>
          <p:cNvPr id="67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1"/>
              </a:ext>
            </a:extLst>
          </a:blip>
          <a:stretch>
            <a:fillRect/>
          </a:stretch>
        </p:blipFill>
        <p:spPr>
          <a:xfrm rot="0" flipH="0" flipV="0">
            <a:off x="0" y="0"/>
            <a:ext cx="12192000" cy="6858000"/>
          </a:xfrm>
          <a:prstGeom prst="rect">
            <a:avLst/>
          </a:prstGeom>
          <a:ln/>
        </p:spPr>
      </p:pic>
    </p:spTree>
  </p:cSld>
</p:sld>
</file>

<file path=ppt/slides/slide7.xml><?xml version="1.0" encoding="utf-8"?>
<p:sld xmlns:p="http://schemas.openxmlformats.org/presentationml/2006/main" xmlns:a="http://schemas.openxmlformats.org/drawingml/2006/main" xmlns:asvg="http://schemas.microsoft.com/office/drawing/2016/SVG/main" xmlns:r="http://schemas.openxmlformats.org/officeDocument/2006/relationships" xmlns:mc="http://schemas.openxmlformats.org/markup-compatibility/2006" mc:Ignorable="asvg">
  <p:cSld>
    <p:spTree>
      <p:nvGrpSpPr>
        <p:cNvPr id="68" name="" descr="&lt;Slide style={{ width: '1280px', height: '720px', backgroundColor: '#FAFCFE', padding: 0, position: 'relative', overflow: 'hidden' }}&gt;&#13;&#10;    &lt;Box style={{ position: 'absolute', left: 64, top: 36, width: '1152px', flexDirection: 'row', alignItems: 'center', gap: 12 }}&gt;&#13;&#10;        &lt;Box style={{ background: '#0E9B78', borderRadius: 5, padding: '3px 11px' }}&gt;&#13;&#10;            &lt;Text style={{ fontSize: 14, fontWeight: 'bold', color: '#FFFFFF' }}&gt;第 25 节&lt;/Text&gt;&#13;&#10;        &lt;/Box&gt;&#13;&#10;        &lt;Text style={{ fontSize: 30, fontWeight: 'bold', color: '#16232E' }}&gt;核心知识点&lt;/Text&gt;&#13;&#10;        &lt;Text style={{ fontSize: 15, color: '#5A6B7A', marginTop: 10 }}&gt;· 遍历时修改与嵌套结构&lt;/Text&gt;&#13;&#10;    &lt;/Box&gt;&#13;&#10;    &lt;Box style={{ position: 'absolute', left: 0, top: 0, width: '1280px', height: '720px' }}&gt;&#13;&#10;        &lt;svg width='1280' height='720' viewBox='0 0 1280 720'&gt;&#13;&#10;            &lt;rect x='64' y='96' width='548' height='330' rx='12' fill='#FFFFFF' stroke='#D8E3EE' /&gt;&lt;rect x='64' y='96' width='548' height='4' rx='2' fill='#1F5FA8' /&gt;&lt;text x='82' y='130' fontSize='15.5' fontWeight='bold' fill='#1F5FA8' textAnchor='start' fontFamily='Microsoft YaHei'&gt;2.6 遍历时能修改字典吗&lt;/text&gt;&lt;text x='82' y='169.0' fontSize='13' fill='#3A4A58' textAnchor='start' fontFamily='Microsoft YaHei'&gt;· 不能。 遍历过程中修改字典会报 RuntimeError: dictionary changed si…&lt;/text&gt;&lt;rect x='668' y='96' width='548' height='330' rx='12' fill='#FFFFFF' stroke='#D8E3EE' /&gt;&lt;rect x='668' y='96' width='548' height='4' rx='2' fill='#1F5FA8' /&gt;&lt;text x='686' y='130' fontSize='15.5' fontWeight='bold' fill='#1F5FA8' textAnchor='start' fontFamily='Microsoft YaHei'&gt;2.7 嵌套结构：字典的真正威力&lt;/text&gt;&lt;text x='686' y='169.0' fontSize='13' fill='#3A4A58' textAnchor='start' fontFamily='Microsoft YaHei'&gt;· 真实数据几乎都是嵌套的：&lt;/text&gt;&lt;text x='64' y='470' fontSize='14.5' fontWeight='bold' fill='#0E9B78' textAnchor='start' fontFamily='Microsoft YaHei'&gt;本节的代码示例&lt;/text&gt;&lt;text x='64' y='500' fontSize='13' fill='#3A4A58' textAnchor='start' fontFamily='Microsoft YaHei'&gt;· 创建与基本访问&lt;/text&gt;&lt;text x='468' y='500' fontSize='13' fill='#3A4A58' textAnchor='start' fontFamily='Microsoft YaHei'&gt;· 新增、修改、删除&lt;/text&gt;&lt;text x='872' y='500' fontSize='13' fill='#3A4A58' textAnchor='start' fontFamily='Microsoft YaHei'&gt;· 三种遍历方式&lt;/text&gt;&lt;rect x='64' y='574' width='1152' height='66' rx='12' fill='#EEF5FB' /&gt;&lt;text x='84' y='616' fontSize='14' fill='#243444' textAnchor='start' fontFamily='Microsoft YaHei'&gt;看不懂的地方先回讲义对应小节读一遍，再回来对着这页复述一次——能讲出来才算真懂。&lt;/text&gt;&#13;&#10;            &lt;text x='64' y='684' fontSize='13' fill='#8A9AAA' fontFamily='Microsoft YaHei'&gt;Python 讲授课件 · 逐节版&lt;/text&gt;&#13;&#10;            &lt;text x='1216' y='684' fontSize='13' fill='#8A9AAA' textAnchor='end' fontFamily='Microsoft YaHei'&gt;单元 5 · 第 25 节&lt;/text&gt;&#13;&#10;        &lt;/svg&gt;&#13;&#10;    &lt;/Box&gt;&#13;&#10;&lt;/Slide&gt;&#13;&#10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AFCFE"/>
          </a:solidFill>
          <a:ln/>
        </p:spPr>
        <p:txBody>
          <a:bodyPr/>
          <a:p/>
        </p:txBody>
      </p:sp>
      <p:sp>
        <p:nvSpPr>
          <p:cNvPr id="70" name=""/>
          <p:cNvSpPr/>
          <p:nvPr/>
        </p:nvSpPr>
        <p:spPr>
          <a:xfrm rot="0" flipH="0" flipV="0">
            <a:off x="609600" y="409575"/>
            <a:ext cx="723900" cy="219075"/>
          </a:xfrm>
          <a:prstGeom prst="roundRect">
            <a:avLst>
              <a:gd name="adj" fmla="val 21739"/>
            </a:avLst>
          </a:prstGeom>
          <a:solidFill>
            <a:srgbClr val="0E9B78"/>
          </a:solidFill>
          <a:ln/>
        </p:spPr>
        <p:txBody>
          <a:bodyPr/>
          <a:p/>
        </p:txBody>
      </p:sp>
      <p:sp>
        <p:nvSpPr>
          <p:cNvPr id="71" name="" descr="{&quot;isTemplate&quot;:true,&quot;type&quot;:&quot;text&quot;}"/>
          <p:cNvSpPr txBox="1"/>
          <p:nvPr/>
        </p:nvSpPr>
        <p:spPr>
          <a:xfrm rot="0" flipH="0" flipV="0">
            <a:off x="714375" y="438150"/>
            <a:ext cx="51435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50" b="1">
                <a:solidFill>
                  <a:srgbClr val="FFFFFF"/>
                </a:solidFill>
                <a:latin typeface="Microsoft YaHei"/>
                <a:ea typeface="Microsoft YaHei"/>
              </a:rPr>
              <a:t>第</a:t>
            </a:r>
            <a:r>
              <a:rPr lang="en-US" sz="1050" b="1">
                <a:solidFill>
                  <a:srgbClr val="FFFFFF"/>
                </a:solidFill>
                <a:latin typeface="Microsoft YaHei"/>
                <a:ea typeface="Microsoft YaHei"/>
              </a:rPr>
              <a:t xml:space="preserve"> 25 </a:t>
            </a:r>
            <a:r>
              <a:rPr lang="zh-CN" sz="1050" b="1">
                <a:solidFill>
                  <a:srgbClr val="FFFFFF"/>
                </a:solidFill>
                <a:latin typeface="Microsoft YaHei"/>
                <a:ea typeface="Microsoft YaHei"/>
              </a:rPr>
              <a:t>节</a:t>
            </a:r>
            <a:endParaRPr/>
          </a:p>
        </p:txBody>
      </p:sp>
      <p:sp>
        <p:nvSpPr>
          <p:cNvPr id="72" name="" descr="{&quot;isTemplate&quot;:true,&quot;type&quot;:&quot;text&quot;}"/>
          <p:cNvSpPr txBox="1"/>
          <p:nvPr/>
        </p:nvSpPr>
        <p:spPr>
          <a:xfrm rot="0" flipH="0" flipV="0">
            <a:off x="1447800" y="342900"/>
            <a:ext cx="1428750" cy="3429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2250" b="1">
                <a:solidFill>
                  <a:srgbClr val="16232E"/>
                </a:solidFill>
                <a:latin typeface="Microsoft YaHei"/>
                <a:ea typeface="Microsoft YaHei"/>
              </a:rPr>
              <a:t>核心知识点</a:t>
            </a:r>
            <a:endParaRPr/>
          </a:p>
        </p:txBody>
      </p:sp>
      <p:sp>
        <p:nvSpPr>
          <p:cNvPr id="73" name="" descr="{&quot;isTemplate&quot;:true,&quot;type&quot;:&quot;text&quot;}"/>
          <p:cNvSpPr txBox="1"/>
          <p:nvPr/>
        </p:nvSpPr>
        <p:spPr>
          <a:xfrm rot="0" flipH="0" flipV="0">
            <a:off x="2990850" y="476250"/>
            <a:ext cx="151447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>
                <a:solidFill>
                  <a:srgbClr val="5A6B7A"/>
                </a:solidFill>
                <a:latin typeface="Microsoft YaHei"/>
                <a:ea typeface="Microsoft YaHei"/>
              </a:rPr>
              <a:t xml:space="preserve">· </a:t>
            </a:r>
            <a:r>
              <a:rPr lang="zh-CN" sz="1125">
                <a:solidFill>
                  <a:srgbClr val="5A6B7A"/>
                </a:solidFill>
                <a:latin typeface="Microsoft YaHei"/>
                <a:ea typeface="Microsoft YaHei"/>
              </a:rPr>
              <a:t>遍历时修改与嵌套结构</a:t>
            </a:r>
            <a:endParaRPr/>
          </a:p>
        </p:txBody>
      </p:sp>
      <p:pic>
        <p:nvPicPr>
          <p:cNvPr id="74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1"/>
              </a:ext>
            </a:extLst>
          </a:blip>
          <a:stretch>
            <a:fillRect/>
          </a:stretch>
        </p:blipFill>
        <p:spPr>
          <a:xfrm rot="0" flipH="0" flipV="0">
            <a:off x="0" y="0"/>
            <a:ext cx="12192000" cy="6858000"/>
          </a:xfrm>
          <a:prstGeom prst="rect">
            <a:avLst/>
          </a:prstGeom>
          <a:ln/>
        </p:spPr>
      </p:pic>
    </p:spTree>
  </p:cSld>
</p:sld>
</file>

<file path=ppt/slides/slide8.xml><?xml version="1.0" encoding="utf-8"?>
<p:sld xmlns:p="http://schemas.openxmlformats.org/presentationml/2006/main" xmlns:a="http://schemas.openxmlformats.org/drawingml/2006/main" xmlns:asvg="http://schemas.microsoft.com/office/drawing/2016/SVG/main" xmlns:r="http://schemas.openxmlformats.org/officeDocument/2006/relationships" xmlns:mc="http://schemas.openxmlformats.org/markup-compatibility/2006" mc:Ignorable="asvg">
  <p:cSld>
    <p:spTree>
      <p:nvGrpSpPr>
        <p:cNvPr id="75" name="" descr="&lt;Slide style={{ width: '1280px', height: '720px', backgroundColor: '#FAFCFE', padding: 0, position: 'relative', overflow: 'hidden' }}&gt;&#13;&#10;    &lt;Box style={{ position: 'absolute', left: 64, top: 36, width: '1152px', flexDirection: 'row', alignItems: 'center', gap: 12 }}&gt;&#13;&#10;        &lt;Box style={{ background: '#1F5FA8', borderRadius: 5, padding: '3px 11px' }}&gt;&#13;&#10;            &lt;Text style={{ fontSize: 14, fontWeight: 'bold', color: '#FFFFFF' }}&gt;第 26 / 111 节&lt;/Text&gt;&#13;&#10;        &lt;/Box&gt;&#13;&#10;        &lt;Text style={{ fontSize: 30, fontWeight: 'bold', color: '#16232E' }}&gt;动手实战与答案讲评&lt;/Text&gt;&#13;&#10;    &lt;/Box&gt;&#13;&#10;    &lt;Box style={{ position: 'absolute', left: 0, top: 0, width: '1280px', height: '720px' }}&gt;&#13;&#10;        &lt;svg width='1280' height='720' viewBox='0 0 1280 720'&gt;&#13;&#10;            &lt;rect x='64' y='104' width='1152' height='112' rx='12' fill='#EEF5FB' /&gt;&lt;text x='84' y='134' fontSize='15' fontWeight='bold' fill='#1F5FA8' textAnchor='start' fontFamily='Microsoft YaHei'&gt;学习目标&lt;/text&gt;&lt;text x='84' y='164' fontSize='16' fill='#243444' textAnchor='start' fontFamily='Microsoft YaHei'&gt;独立完成单元 5 练习，能熟练遍历嵌套数据&lt;/text&gt;&lt;rect x='64' y='240' width='562' height='248' rx='12' fill='#FFFFFF' stroke='#D8E3EE' /&gt;&lt;text x='84' y='274' fontSize='15' fontWeight='bold' fill='#0E9B78' textAnchor='start' fontFamily='Microsoft YaHei'&gt;课堂实操（40 分钟 · 不看答案）&lt;/text&gt;&lt;text x='84' y='308.0' fontSize='14.5' fill='#3A4A58' textAnchor='start' fontFamily='Microsoft YaHei'&gt;· 限时 30 分钟独立完成基础档&lt;/text&gt;&lt;text x='84' y='338.75' fontSize='14.5' fill='#3A4A58' textAnchor='start' fontFamily='Microsoft YaHei'&gt;· 逐题对照答案讲评&lt;/text&gt;&lt;rect x='654' y='240' width='562' height='248' rx='12' fill='#FDF3E2' stroke='none' /&gt;&lt;text x='674' y='274' fontSize='15' fontWeight='bold' fill='#E08A15' textAnchor='start' fontFamily='Microsoft YaHei'&gt;课后作业&lt;/text&gt;&lt;text x='674' y='308.0' fontSize='14.5' fill='#3A4A58' textAnchor='start' fontFamily='Microsoft YaHei'&gt;· 产出：三种嵌套结构各一组&lt;/text&gt;&lt;rect x='64' y='508' width='1152' height='92' rx='12' fill='#16232E' /&gt;&lt;text x='84' y='540' fontSize='14.5' fontWeight='bold' fill='#FFFFFF' textAnchor='start' fontFamily='Microsoft YaHei'&gt;这节课的节奏&lt;/text&gt;&lt;text x='84' y='570' fontSize='14' fill='#A8C4DE' textAnchor='start' fontFamily='Microsoft YaHei'&gt;先读讲义 20 分钟 → 自己敲 40 分钟（报错先自己读） → 对着讲评自查 20 分钟 → 写作业 10 分钟&lt;/text&gt;&#13;&#10;            &lt;text x='64' y='684' fontSize='13' fill='#8A9AAA' fontFamily='Microsoft YaHei'&gt;Python 讲授课件 · 逐节版&lt;/text&gt;&#13;&#10;            &lt;text x='1216' y='684' fontSize='13' fill='#8A9AAA' textAnchor='end' fontFamily='Microsoft YaHei'&gt;单元 5 · 第 26 节&lt;/text&gt;&#13;&#10;        &lt;/svg&gt;&#13;&#10;    &lt;/Box&gt;&#13;&#10;&lt;/Slide&gt;&#13;&#10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AFCFE"/>
          </a:solidFill>
          <a:ln/>
        </p:spPr>
        <p:txBody>
          <a:bodyPr/>
          <a:p/>
        </p:txBody>
      </p:sp>
      <p:sp>
        <p:nvSpPr>
          <p:cNvPr id="77" name=""/>
          <p:cNvSpPr/>
          <p:nvPr/>
        </p:nvSpPr>
        <p:spPr>
          <a:xfrm rot="0" flipH="0" flipV="0">
            <a:off x="609600" y="409575"/>
            <a:ext cx="1114425" cy="219075"/>
          </a:xfrm>
          <a:prstGeom prst="roundRect">
            <a:avLst>
              <a:gd name="adj" fmla="val 21739"/>
            </a:avLst>
          </a:prstGeom>
          <a:solidFill>
            <a:srgbClr val="1F5FA8"/>
          </a:solidFill>
          <a:ln/>
        </p:spPr>
        <p:txBody>
          <a:bodyPr/>
          <a:p/>
        </p:txBody>
      </p:sp>
      <p:sp>
        <p:nvSpPr>
          <p:cNvPr id="78" name="" descr="{&quot;isTemplate&quot;:true,&quot;type&quot;:&quot;text&quot;}"/>
          <p:cNvSpPr txBox="1"/>
          <p:nvPr/>
        </p:nvSpPr>
        <p:spPr>
          <a:xfrm rot="0" flipH="0" flipV="0">
            <a:off x="714375" y="438150"/>
            <a:ext cx="90487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50" b="1">
                <a:solidFill>
                  <a:srgbClr val="FFFFFF"/>
                </a:solidFill>
                <a:latin typeface="Microsoft YaHei"/>
                <a:ea typeface="Microsoft YaHei"/>
              </a:rPr>
              <a:t>第</a:t>
            </a:r>
            <a:r>
              <a:rPr lang="en-US" sz="1050" b="1">
                <a:solidFill>
                  <a:srgbClr val="FFFFFF"/>
                </a:solidFill>
                <a:latin typeface="Microsoft YaHei"/>
                <a:ea typeface="Microsoft YaHei"/>
              </a:rPr>
              <a:t xml:space="preserve"> 26 / 111 </a:t>
            </a:r>
            <a:r>
              <a:rPr lang="zh-CN" sz="1050" b="1">
                <a:solidFill>
                  <a:srgbClr val="FFFFFF"/>
                </a:solidFill>
                <a:latin typeface="Microsoft YaHei"/>
                <a:ea typeface="Microsoft YaHei"/>
              </a:rPr>
              <a:t>节</a:t>
            </a:r>
            <a:endParaRPr/>
          </a:p>
        </p:txBody>
      </p:sp>
      <p:sp>
        <p:nvSpPr>
          <p:cNvPr id="79" name="" descr="{&quot;isTemplate&quot;:true,&quot;type&quot;:&quot;text&quot;}"/>
          <p:cNvSpPr txBox="1"/>
          <p:nvPr/>
        </p:nvSpPr>
        <p:spPr>
          <a:xfrm rot="0" flipH="0" flipV="0">
            <a:off x="1838325" y="342900"/>
            <a:ext cx="2571750" cy="3429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2250" b="1">
                <a:solidFill>
                  <a:srgbClr val="16232E"/>
                </a:solidFill>
                <a:latin typeface="Microsoft YaHei"/>
                <a:ea typeface="Microsoft YaHei"/>
              </a:rPr>
              <a:t>动手实战与答案讲评</a:t>
            </a:r>
            <a:endParaRPr/>
          </a:p>
        </p:txBody>
      </p:sp>
      <p:pic>
        <p:nvPicPr>
          <p:cNvPr id="80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1"/>
              </a:ext>
            </a:extLst>
          </a:blip>
          <a:stretch>
            <a:fillRect/>
          </a:stretch>
        </p:blipFill>
        <p:spPr>
          <a:xfrm rot="0" flipH="0" flipV="0">
            <a:off x="0" y="0"/>
            <a:ext cx="12192000" cy="6858000"/>
          </a:xfrm>
          <a:prstGeom prst="rect">
            <a:avLst/>
          </a:prstGeom>
          <a:ln/>
        </p:spPr>
      </p:pic>
    </p:spTree>
  </p:cSld>
</p:sld>
</file>

<file path=ppt/slides/slide9.xml><?xml version="1.0" encoding="utf-8"?>
<p:sld xmlns:p="http://schemas.openxmlformats.org/presentationml/2006/main" xmlns:a="http://schemas.openxmlformats.org/drawingml/2006/main" xmlns:asvg="http://schemas.microsoft.com/office/drawing/2016/SVG/main" xmlns:r="http://schemas.openxmlformats.org/officeDocument/2006/relationships" xmlns:mc="http://schemas.openxmlformats.org/markup-compatibility/2006" mc:Ignorable="asvg">
  <p:cSld>
    <p:spTree>
      <p:nvGrpSpPr>
        <p:cNvPr id="81" name="" descr="&lt;Slide style={{ width: '1280px', height: '720px', backgroundColor: '#FAFCFE', padding: 0, position: 'relative', overflow: 'hidden' }}&gt;&#13;&#10;    &lt;Box style={{ position: 'absolute', left: 64, top: 36, width: '1152px', flexDirection: 'row', alignItems: 'center', gap: 12 }}&gt;&#13;&#10;        &lt;Box style={{ background: '#0E9B78', borderRadius: 5, padding: '3px 11px' }}&gt;&#13;&#10;            &lt;Text style={{ fontSize: 14, fontWeight: 'bold', color: '#FFFFFF' }}&gt;第 26 节&lt;/Text&gt;&#13;&#10;        &lt;/Box&gt;&#13;&#10;        &lt;Text style={{ fontSize: 30, fontWeight: 'bold', color: '#16232E' }}&gt;核心知识点&lt;/Text&gt;&#13;&#10;        &lt;Text style={{ fontSize: 15, color: '#5A6B7A', marginTop: 10 }}&gt;· 动手实战与答案讲评&lt;/Text&gt;&#13;&#10;    &lt;/Box&gt;&#13;&#10;    &lt;Box style={{ position: 'absolute', left: 0, top: 0, width: '1280px', height: '720px' }}&gt;&#13;&#10;        &lt;svg width='1280' height='720' viewBox='0 0 1280 720'&gt;&#13;&#10;            &lt;rect x='64' y='96' width='368' height='330' rx='12' fill='#FFFFFF' stroke='#D8E3EE' /&gt;&lt;rect x='64' y='96' width='368' height='4' rx='2' fill='#1F5FA8' /&gt;&lt;text x='82' y='130' fontSize='15.5' fontWeight='bold' fill='#1F5FA8' textAnchor='start' fontFamily='Microsoft YaHei'&gt;基础档&lt;/text&gt;&lt;text x='82' y='169.0' fontSize='13' fill='#3A4A58' textAnchor='start' fontFamily='Microsoft YaHei'&gt;· 练习 5-1【个人信息字典】&lt;/text&gt;&lt;text x='82' y='197.5' fontSize='13' fill='#3A4A58' textAnchor='start' fontFamily='Microsoft YaHei'&gt;· 练习 5-2【通讯录】&lt;/text&gt;&lt;text x='82' y='226.0' fontSize='13' fill='#3A4A58' textAnchor='start' fontFamily='Microsoft YaHei'&gt;· 练习 5-3【成绩单】&lt;/text&gt;&lt;rect x='468' y='96' width='368' height='330' rx='12' fill='#FFFFFF' stroke='#D8E3EE' /&gt;&lt;rect x='468' y='96' width='368' height='4' rx='2' fill='#1F5FA8' /&gt;&lt;text x='486' y='130' fontSize='15.5' fontWeight='bold' fill='#1F5FA8' textAnchor='start' fontFamily='Microsoft YaHei'&gt;进阶档&lt;/text&gt;&lt;text x='486' y='169.0' fontSize='13' fill='#3A4A58' textAnchor='start' fontFamily='Microsoft YaHei'&gt;· 练习 5-4【词频统计器】&lt;/text&gt;&lt;text x='486' y='197.5' fontSize='13' fill='#3A4A58' textAnchor='start' fontFamily='Microsoft YaHei'&gt;· 文本先转小写（.lower()）&lt;/text&gt;&lt;text x='486' y='226.0' fontSize='13' fill='#3A4A58' textAnchor='start' fontFamily='Microsoft YaHei'&gt;· 按空格 split 成单词列表&lt;/text&gt;&lt;rect x='872' y='96' width='368' height='330' rx='12' fill='#FFFFFF' stroke='#D8E3EE' /&gt;&lt;rect x='872' y='96' width='368' height='4' rx='2' fill='#1F5FA8' /&gt;&lt;text x='890' y='130' fontSize='15.5' fontWeight='bold' fill='#1F5FA8' textAnchor='start' fontFamily='Microsoft YaHei'&gt;参考答案 5-1&lt;/text&gt;&lt;text x='890' y='169.0' fontSize='13' fill='#3A4A58' textAnchor='start' fontFamily='Microsoft YaHei'&gt;· me = ｛&lt;/text&gt;&lt;rect x='64' y='574' width='1152' height='66' rx='12' fill='#EEF5FB' /&gt;&lt;text x='84' y='616' fontSize='14' fill='#243444' textAnchor='start' fontFamily='Microsoft YaHei'&gt;看不懂的地方先回讲义对应小节读一遍，再回来对着这页复述一次——能讲出来才算真懂。&lt;/text&gt;&#13;&#10;            &lt;text x='64' y='684' fontSize='13' fill='#8A9AAA' fontFamily='Microsoft YaHei'&gt;Python 讲授课件 · 逐节版&lt;/text&gt;&#13;&#10;            &lt;text x='1216' y='684' fontSize='13' fill='#8A9AAA' textAnchor='end' fontFamily='Microsoft YaHei'&gt;单元 5 · 第 26 节&lt;/text&gt;&#13;&#10;        &lt;/svg&gt;&#13;&#10;    &lt;/Box&gt;&#13;&#10;&lt;/Slide&gt;&#13;&#10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AFCFE"/>
          </a:solidFill>
          <a:ln/>
        </p:spPr>
        <p:txBody>
          <a:bodyPr/>
          <a:p/>
        </p:txBody>
      </p:sp>
      <p:sp>
        <p:nvSpPr>
          <p:cNvPr id="83" name=""/>
          <p:cNvSpPr/>
          <p:nvPr/>
        </p:nvSpPr>
        <p:spPr>
          <a:xfrm rot="0" flipH="0" flipV="0">
            <a:off x="609600" y="409575"/>
            <a:ext cx="723900" cy="219075"/>
          </a:xfrm>
          <a:prstGeom prst="roundRect">
            <a:avLst>
              <a:gd name="adj" fmla="val 21739"/>
            </a:avLst>
          </a:prstGeom>
          <a:solidFill>
            <a:srgbClr val="0E9B78"/>
          </a:solidFill>
          <a:ln/>
        </p:spPr>
        <p:txBody>
          <a:bodyPr/>
          <a:p/>
        </p:txBody>
      </p:sp>
      <p:sp>
        <p:nvSpPr>
          <p:cNvPr id="84" name="" descr="{&quot;isTemplate&quot;:true,&quot;type&quot;:&quot;text&quot;}"/>
          <p:cNvSpPr txBox="1"/>
          <p:nvPr/>
        </p:nvSpPr>
        <p:spPr>
          <a:xfrm rot="0" flipH="0" flipV="0">
            <a:off x="714375" y="438150"/>
            <a:ext cx="51435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50" b="1">
                <a:solidFill>
                  <a:srgbClr val="FFFFFF"/>
                </a:solidFill>
                <a:latin typeface="Microsoft YaHei"/>
                <a:ea typeface="Microsoft YaHei"/>
              </a:rPr>
              <a:t>第</a:t>
            </a:r>
            <a:r>
              <a:rPr lang="en-US" sz="1050" b="1">
                <a:solidFill>
                  <a:srgbClr val="FFFFFF"/>
                </a:solidFill>
                <a:latin typeface="Microsoft YaHei"/>
                <a:ea typeface="Microsoft YaHei"/>
              </a:rPr>
              <a:t xml:space="preserve"> 26 </a:t>
            </a:r>
            <a:r>
              <a:rPr lang="zh-CN" sz="1050" b="1">
                <a:solidFill>
                  <a:srgbClr val="FFFFFF"/>
                </a:solidFill>
                <a:latin typeface="Microsoft YaHei"/>
                <a:ea typeface="Microsoft YaHei"/>
              </a:rPr>
              <a:t>节</a:t>
            </a:r>
            <a:endParaRPr/>
          </a:p>
        </p:txBody>
      </p:sp>
      <p:sp>
        <p:nvSpPr>
          <p:cNvPr id="85" name="" descr="{&quot;isTemplate&quot;:true,&quot;type&quot;:&quot;text&quot;}"/>
          <p:cNvSpPr txBox="1"/>
          <p:nvPr/>
        </p:nvSpPr>
        <p:spPr>
          <a:xfrm rot="0" flipH="0" flipV="0">
            <a:off x="1447800" y="342900"/>
            <a:ext cx="1428750" cy="3429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2250" b="1">
                <a:solidFill>
                  <a:srgbClr val="16232E"/>
                </a:solidFill>
                <a:latin typeface="Microsoft YaHei"/>
                <a:ea typeface="Microsoft YaHei"/>
              </a:rPr>
              <a:t>核心知识点</a:t>
            </a:r>
            <a:endParaRPr/>
          </a:p>
        </p:txBody>
      </p:sp>
      <p:sp>
        <p:nvSpPr>
          <p:cNvPr id="86" name="" descr="{&quot;isTemplate&quot;:true,&quot;type&quot;:&quot;text&quot;}"/>
          <p:cNvSpPr txBox="1"/>
          <p:nvPr/>
        </p:nvSpPr>
        <p:spPr>
          <a:xfrm rot="0" flipH="0" flipV="0">
            <a:off x="2990850" y="476250"/>
            <a:ext cx="137160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>
                <a:solidFill>
                  <a:srgbClr val="5A6B7A"/>
                </a:solidFill>
                <a:latin typeface="Microsoft YaHei"/>
                <a:ea typeface="Microsoft YaHei"/>
              </a:rPr>
              <a:t xml:space="preserve">· </a:t>
            </a:r>
            <a:r>
              <a:rPr lang="zh-CN" sz="1125">
                <a:solidFill>
                  <a:srgbClr val="5A6B7A"/>
                </a:solidFill>
                <a:latin typeface="Microsoft YaHei"/>
                <a:ea typeface="Microsoft YaHei"/>
              </a:rPr>
              <a:t>动手实战与答案讲评</a:t>
            </a:r>
            <a:endParaRPr/>
          </a:p>
        </p:txBody>
      </p:sp>
      <p:pic>
        <p:nvPicPr>
          <p:cNvPr id="87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1"/>
              </a:ext>
            </a:extLst>
          </a:blip>
          <a:stretch>
            <a:fillRect/>
          </a:stretch>
        </p:blipFill>
        <p:spPr>
          <a:xfrm rot="0" flipH="0" flipV="0">
            <a:off x="0" y="0"/>
            <a:ext cx="12192000" cy="6858000"/>
          </a:xfrm>
          <a:prstGeom prst="rect">
            <a:avLst/>
          </a:prstGeom>
          <a:ln/>
        </p:spPr>
      </p:pic>
    </p:spTree>
  </p:cSld>
</p:sld>
</file>

<file path=ppt/slides/slide10.xml><?xml version="1.0" encoding="utf-8"?>
<p:sld xmlns:p="http://schemas.openxmlformats.org/presentationml/2006/main" xmlns:a="http://schemas.openxmlformats.org/drawingml/2006/main" xmlns:asvg="http://schemas.microsoft.com/office/drawing/2016/SVG/main" xmlns:r="http://schemas.openxmlformats.org/officeDocument/2006/relationships" xmlns:mc="http://schemas.openxmlformats.org/markup-compatibility/2006" mc:Ignorable="asvg">
  <p:cSld>
    <p:spTree>
      <p:nvGrpSpPr>
        <p:cNvPr id="9" name="" descr="&lt;Slide style={{ width: '1280px', height: '720px', backgroundColor: '#FAFCFE', padding: 0, position: 'relative', overflow: 'hidden' }}&gt;&#13;&#10;    &lt;Box style={{ position: 'absolute', left: 64, top: 36, width: '1152px', flexDirection: 'row', alignItems: 'center', gap: 12 }}&gt;&#13;&#10;        &lt;Box style={{ background: '#1F5FA8', borderRadius: 5, padding: '3px 11px' }}&gt;&#13;&#10;            &lt;Text style={{ fontSize: 14, fontWeight: 'bold', color: '#FFFFFF' }}&gt;第 27 / 111 节&lt;/Text&gt;&#13;&#10;        &lt;/Box&gt;&#13;&#10;        &lt;Text style={{ fontSize: 30, fontWeight: 'bold', color: '#16232E' }}&gt;单元 5 验收复盘&lt;/Text&gt;&#13;&#10;    &lt;/Box&gt;&#13;&#10;    &lt;Box style={{ position: 'absolute', left: 0, top: 0, width: '1280px', height: '720px' }}&gt;&#13;&#10;        &lt;svg width='1280' height='720' viewBox='0 0 1280 720'&gt;&#13;&#10;            &lt;rect x='64' y='104' width='1152' height='112' rx='12' fill='#EEF5FB' /&gt;&lt;text x='84' y='134' fontSize='15' fontWeight='bold' fill='#1F5FA8' textAnchor='start' fontFamily='Microsoft YaHei'&gt;学习目标&lt;/text&gt;&lt;text x='84' y='164' fontSize='16' fill='#243444' textAnchor='start' fontFamily='Microsoft YaHei'&gt;确认字典增删改查、三种遍历、嵌套都过关&lt;/text&gt;&lt;rect x='64' y='240' width='562' height='248' rx='12' fill='#FFFFFF' stroke='#D8E3EE' /&gt;&lt;text x='84' y='274' fontSize='15' fontWeight='bold' fill='#0E9B78' textAnchor='start' fontFamily='Microsoft YaHei'&gt;课堂实操（40 分钟 · 不看答案）&lt;/text&gt;&lt;text x='84' y='308.0' fontSize='14.5' fill='#3A4A58' textAnchor='start' fontFamily='Microsoft YaHei'&gt;· 逐条打勾验收自测&lt;/text&gt;&lt;text x='84' y='338.75' fontSize='14.5' fill='#3A4A58' textAnchor='start' fontFamily='Microsoft YaHei'&gt;· 现场演示嵌套数据的提取&lt;/text&gt;&lt;rect x='654' y='240' width='562' height='248' rx='12' fill='#FDF3E2' stroke='none' /&gt;&lt;text x='674' y='274' fontSize='15' fontWeight='bold' fill='#E08A15' textAnchor='start' fontFamily='Microsoft YaHei'&gt;课后作业&lt;/text&gt;&lt;text x='674' y='308.0' fontSize='14.5' fill='#3A4A58' textAnchor='start' fontFamily='Microsoft YaHei'&gt;· 完成本单元小结与产出检查&lt;/text&gt;&lt;rect x='64' y='508' width='1152' height='92' rx='12' fill='#16232E' /&gt;&lt;text x='84' y='540' fontSize='14.5' fontWeight='bold' fill='#FFFFFF' textAnchor='start' fontFamily='Microsoft YaHei'&gt;这节课的节奏&lt;/text&gt;&lt;text x='84' y='570' fontSize='14' fill='#A8C4DE' textAnchor='start' fontFamily='Microsoft YaHei'&gt;先读讲义 20 分钟 → 自己敲 40 分钟（报错先自己读） → 对着讲评自查 20 分钟 → 写作业 10 分钟&lt;/text&gt;&#13;&#10;            &lt;text x='64' y='684' fontSize='13' fill='#8A9AAA' fontFamily='Microsoft YaHei'&gt;Python 讲授课件 · 逐节版&lt;/text&gt;&#13;&#10;            &lt;text x='1216' y='684' fontSize='13' fill='#8A9AAA' textAnchor='end' fontFamily='Microsoft YaHei'&gt;单元 5 · 第 27 节&lt;/text&gt;&#13;&#10;        &lt;/svg&gt;&#13;&#10;    &lt;/Box&gt;&#13;&#10;&lt;/Slide&gt;&#13;&#10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AFCFE"/>
          </a:solidFill>
          <a:ln/>
        </p:spPr>
        <p:txBody>
          <a:bodyPr/>
          <a:p/>
        </p:txBody>
      </p:sp>
      <p:sp>
        <p:nvSpPr>
          <p:cNvPr id="11" name=""/>
          <p:cNvSpPr/>
          <p:nvPr/>
        </p:nvSpPr>
        <p:spPr>
          <a:xfrm rot="0" flipH="0" flipV="0">
            <a:off x="609600" y="409575"/>
            <a:ext cx="1114425" cy="219075"/>
          </a:xfrm>
          <a:prstGeom prst="roundRect">
            <a:avLst>
              <a:gd name="adj" fmla="val 21739"/>
            </a:avLst>
          </a:prstGeom>
          <a:solidFill>
            <a:srgbClr val="1F5FA8"/>
          </a:solidFill>
          <a:ln/>
        </p:spPr>
        <p:txBody>
          <a:bodyPr/>
          <a:p/>
        </p:txBody>
      </p:sp>
      <p:sp>
        <p:nvSpPr>
          <p:cNvPr id="12" name="" descr="{&quot;isTemplate&quot;:true,&quot;type&quot;:&quot;text&quot;}"/>
          <p:cNvSpPr txBox="1"/>
          <p:nvPr/>
        </p:nvSpPr>
        <p:spPr>
          <a:xfrm rot="0" flipH="0" flipV="0">
            <a:off x="714375" y="438150"/>
            <a:ext cx="90487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50" b="1">
                <a:solidFill>
                  <a:srgbClr val="FFFFFF"/>
                </a:solidFill>
                <a:latin typeface="Microsoft YaHei"/>
                <a:ea typeface="Microsoft YaHei"/>
              </a:rPr>
              <a:t>第</a:t>
            </a:r>
            <a:r>
              <a:rPr lang="en-US" sz="1050" b="1">
                <a:solidFill>
                  <a:srgbClr val="FFFFFF"/>
                </a:solidFill>
                <a:latin typeface="Microsoft YaHei"/>
                <a:ea typeface="Microsoft YaHei"/>
              </a:rPr>
              <a:t xml:space="preserve"> 27 / 111 </a:t>
            </a:r>
            <a:r>
              <a:rPr lang="zh-CN" sz="1050" b="1">
                <a:solidFill>
                  <a:srgbClr val="FFFFFF"/>
                </a:solidFill>
                <a:latin typeface="Microsoft YaHei"/>
                <a:ea typeface="Microsoft YaHei"/>
              </a:rPr>
              <a:t>节</a:t>
            </a:r>
            <a:endParaRPr/>
          </a:p>
        </p:txBody>
      </p:sp>
      <p:sp>
        <p:nvSpPr>
          <p:cNvPr id="13" name="" descr="{&quot;isTemplate&quot;:true,&quot;type&quot;:&quot;text&quot;}"/>
          <p:cNvSpPr txBox="1"/>
          <p:nvPr/>
        </p:nvSpPr>
        <p:spPr>
          <a:xfrm rot="0" flipH="0" flipV="0">
            <a:off x="1838325" y="342900"/>
            <a:ext cx="2066925" cy="3429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2250" b="1">
                <a:solidFill>
                  <a:srgbClr val="16232E"/>
                </a:solidFill>
                <a:latin typeface="Microsoft YaHei"/>
                <a:ea typeface="Microsoft YaHei"/>
              </a:rPr>
              <a:t>单元</a:t>
            </a:r>
            <a:r>
              <a:rPr lang="en-US" sz="2250" b="1">
                <a:solidFill>
                  <a:srgbClr val="16232E"/>
                </a:solidFill>
                <a:latin typeface="Microsoft YaHei"/>
                <a:ea typeface="Microsoft YaHei"/>
              </a:rPr>
              <a:t xml:space="preserve"> 5 </a:t>
            </a:r>
            <a:r>
              <a:rPr lang="zh-CN" sz="2250" b="1">
                <a:solidFill>
                  <a:srgbClr val="16232E"/>
                </a:solidFill>
                <a:latin typeface="Microsoft YaHei"/>
                <a:ea typeface="Microsoft YaHei"/>
              </a:rPr>
              <a:t>验收复盘</a:t>
            </a:r>
            <a:endParaRPr/>
          </a:p>
        </p:txBody>
      </p:sp>
      <p:pic>
        <p:nvPicPr>
          <p:cNvPr id="14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1"/>
              </a:ext>
            </a:extLst>
          </a:blip>
          <a:stretch>
            <a:fillRect/>
          </a:stretch>
        </p:blipFill>
        <p:spPr>
          <a:xfrm rot="0" flipH="0" flipV="0">
            <a:off x="0" y="0"/>
            <a:ext cx="12192000" cy="6858000"/>
          </a:xfrm>
          <a:prstGeom prst="rect">
            <a:avLst/>
          </a:prstGeom>
          <a:ln/>
        </p:spPr>
      </p:pic>
    </p:spTree>
  </p:cSld>
</p:sld>
</file>

<file path=ppt/slides/slide11.xml><?xml version="1.0" encoding="utf-8"?>
<p:sld xmlns:p="http://schemas.openxmlformats.org/presentationml/2006/main" xmlns:a="http://schemas.openxmlformats.org/drawingml/2006/main" xmlns:asvg="http://schemas.microsoft.com/office/drawing/2016/SVG/main" xmlns:r="http://schemas.openxmlformats.org/officeDocument/2006/relationships" xmlns:mc="http://schemas.openxmlformats.org/markup-compatibility/2006" mc:Ignorable="asvg">
  <p:cSld>
    <p:spTree>
      <p:nvGrpSpPr>
        <p:cNvPr id="15" name="" descr="&lt;Slide style={{ width: '1280px', height: '720px', backgroundColor: '#FAFCFE', padding: 0, position: 'relative', overflow: 'hidden' }}&gt;&#13;&#10;    &lt;Box style={{ position: 'absolute', left: 64, top: 36, width: '1152px', flexDirection: 'row', alignItems: 'center', gap: 12 }}&gt;&#13;&#10;        &lt;Box style={{ background: '#0E9B78', borderRadius: 5, padding: '3px 11px' }}&gt;&#13;&#10;            &lt;Text style={{ fontSize: 14, fontWeight: 'bold', color: '#FFFFFF' }}&gt;第 27 节&lt;/Text&gt;&#13;&#10;        &lt;/Box&gt;&#13;&#10;        &lt;Text style={{ fontSize: 30, fontWeight: 'bold', color: '#16232E' }}&gt;核心知识点&lt;/Text&gt;&#13;&#10;        &lt;Text style={{ fontSize: 15, color: '#5A6B7A', marginTop: 10 }}&gt;· 单元 5 验收复盘&lt;/Text&gt;&#13;&#10;    &lt;/Box&gt;&#13;&#10;    &lt;Box style={{ position: 'absolute', left: 0, top: 0, width: '1280px', height: '720px' }}&gt;&#13;&#10;        &lt;svg width='1280' height='720' viewBox='0 0 1280 720'&gt;&#13;&#10;            &lt;rect x='64' y='574' width='1152' height='66' rx='12' fill='#EEF5FB' /&gt;&lt;text x='84' y='616' fontSize='14' fill='#243444' textAnchor='start' fontFamily='Microsoft YaHei'&gt;看不懂的地方先回讲义对应小节读一遍，再回来对着这页复述一次——能讲出来才算真懂。&lt;/text&gt;&#13;&#10;            &lt;text x='64' y='684' fontSize='13' fill='#8A9AAA' fontFamily='Microsoft YaHei'&gt;Python 讲授课件 · 逐节版&lt;/text&gt;&#13;&#10;            &lt;text x='1216' y='684' fontSize='13' fill='#8A9AAA' textAnchor='end' fontFamily='Microsoft YaHei'&gt;单元 5 · 第 27 节&lt;/text&gt;&#13;&#10;        &lt;/svg&gt;&#13;&#10;    &lt;/Box&gt;&#13;&#10;&lt;/Slide&gt;&#13;&#10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AFCFE"/>
          </a:solidFill>
          <a:ln/>
        </p:spPr>
        <p:txBody>
          <a:bodyPr/>
          <a:p/>
        </p:txBody>
      </p:sp>
      <p:sp>
        <p:nvSpPr>
          <p:cNvPr id="17" name=""/>
          <p:cNvSpPr/>
          <p:nvPr/>
        </p:nvSpPr>
        <p:spPr>
          <a:xfrm rot="0" flipH="0" flipV="0">
            <a:off x="609600" y="409575"/>
            <a:ext cx="723900" cy="219075"/>
          </a:xfrm>
          <a:prstGeom prst="roundRect">
            <a:avLst>
              <a:gd name="adj" fmla="val 21739"/>
            </a:avLst>
          </a:prstGeom>
          <a:solidFill>
            <a:srgbClr val="0E9B78"/>
          </a:solidFill>
          <a:ln/>
        </p:spPr>
        <p:txBody>
          <a:bodyPr/>
          <a:p/>
        </p:txBody>
      </p:sp>
      <p:sp>
        <p:nvSpPr>
          <p:cNvPr id="18" name="" descr="{&quot;isTemplate&quot;:true,&quot;type&quot;:&quot;text&quot;}"/>
          <p:cNvSpPr txBox="1"/>
          <p:nvPr/>
        </p:nvSpPr>
        <p:spPr>
          <a:xfrm rot="0" flipH="0" flipV="0">
            <a:off x="714375" y="438150"/>
            <a:ext cx="51435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50" b="1">
                <a:solidFill>
                  <a:srgbClr val="FFFFFF"/>
                </a:solidFill>
                <a:latin typeface="Microsoft YaHei"/>
                <a:ea typeface="Microsoft YaHei"/>
              </a:rPr>
              <a:t>第</a:t>
            </a:r>
            <a:r>
              <a:rPr lang="en-US" sz="1050" b="1">
                <a:solidFill>
                  <a:srgbClr val="FFFFFF"/>
                </a:solidFill>
                <a:latin typeface="Microsoft YaHei"/>
                <a:ea typeface="Microsoft YaHei"/>
              </a:rPr>
              <a:t xml:space="preserve"> 27 </a:t>
            </a:r>
            <a:r>
              <a:rPr lang="zh-CN" sz="1050" b="1">
                <a:solidFill>
                  <a:srgbClr val="FFFFFF"/>
                </a:solidFill>
                <a:latin typeface="Microsoft YaHei"/>
                <a:ea typeface="Microsoft YaHei"/>
              </a:rPr>
              <a:t>节</a:t>
            </a:r>
            <a:endParaRPr/>
          </a:p>
        </p:txBody>
      </p:sp>
      <p:sp>
        <p:nvSpPr>
          <p:cNvPr id="19" name="" descr="{&quot;isTemplate&quot;:true,&quot;type&quot;:&quot;text&quot;}"/>
          <p:cNvSpPr txBox="1"/>
          <p:nvPr/>
        </p:nvSpPr>
        <p:spPr>
          <a:xfrm rot="0" flipH="0" flipV="0">
            <a:off x="1447800" y="342900"/>
            <a:ext cx="1428750" cy="3429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2250" b="1">
                <a:solidFill>
                  <a:srgbClr val="16232E"/>
                </a:solidFill>
                <a:latin typeface="Microsoft YaHei"/>
                <a:ea typeface="Microsoft YaHei"/>
              </a:rPr>
              <a:t>核心知识点</a:t>
            </a:r>
            <a:endParaRPr/>
          </a:p>
        </p:txBody>
      </p:sp>
      <p:sp>
        <p:nvSpPr>
          <p:cNvPr id="20" name="" descr="{&quot;isTemplate&quot;:true,&quot;type&quot;:&quot;text&quot;}"/>
          <p:cNvSpPr txBox="1"/>
          <p:nvPr/>
        </p:nvSpPr>
        <p:spPr>
          <a:xfrm rot="0" flipH="0" flipV="0">
            <a:off x="2990850" y="476250"/>
            <a:ext cx="110490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>
                <a:solidFill>
                  <a:srgbClr val="5A6B7A"/>
                </a:solidFill>
                <a:latin typeface="Microsoft YaHei"/>
                <a:ea typeface="Microsoft YaHei"/>
              </a:rPr>
              <a:t xml:space="preserve">· </a:t>
            </a:r>
            <a:r>
              <a:rPr lang="zh-CN" sz="1125">
                <a:solidFill>
                  <a:srgbClr val="5A6B7A"/>
                </a:solidFill>
                <a:latin typeface="Microsoft YaHei"/>
                <a:ea typeface="Microsoft YaHei"/>
              </a:rPr>
              <a:t>单元</a:t>
            </a:r>
            <a:r>
              <a:rPr lang="en-US" sz="1125">
                <a:solidFill>
                  <a:srgbClr val="5A6B7A"/>
                </a:solidFill>
                <a:latin typeface="Microsoft YaHei"/>
                <a:ea typeface="Microsoft YaHei"/>
              </a:rPr>
              <a:t xml:space="preserve"> 5 </a:t>
            </a:r>
            <a:r>
              <a:rPr lang="zh-CN" sz="1125">
                <a:solidFill>
                  <a:srgbClr val="5A6B7A"/>
                </a:solidFill>
                <a:latin typeface="Microsoft YaHei"/>
                <a:ea typeface="Microsoft YaHei"/>
              </a:rPr>
              <a:t>验收复盘</a:t>
            </a:r>
            <a:endParaRPr/>
          </a:p>
        </p:txBody>
      </p:sp>
      <p:pic>
        <p:nvPicPr>
          <p:cNvPr id="21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1"/>
              </a:ext>
            </a:extLst>
          </a:blip>
          <a:stretch>
            <a:fillRect/>
          </a:stretch>
        </p:blipFill>
        <p:spPr>
          <a:xfrm rot="0" flipH="0" flipV="0">
            <a:off x="0" y="0"/>
            <a:ext cx="12192000" cy="6858000"/>
          </a:xfrm>
          <a:prstGeom prst="rect">
            <a:avLst/>
          </a:prstGeom>
          <a:ln/>
        </p:spPr>
      </p:pic>
    </p:spTree>
  </p:cSld>
</p:sld>
</file>

<file path=ppt/slides/slide12.xml><?xml version="1.0" encoding="utf-8"?>
<p:sld xmlns:p="http://schemas.openxmlformats.org/presentationml/2006/main" xmlns:a="http://schemas.openxmlformats.org/drawingml/2006/main" xmlns:asvg="http://schemas.microsoft.com/office/drawing/2016/SVG/main" xmlns:r="http://schemas.openxmlformats.org/officeDocument/2006/relationships" xmlns:mc="http://schemas.openxmlformats.org/markup-compatibility/2006" mc:Ignorable="asvg">
  <p:cSld>
    <p:spTree>
      <p:nvGrpSpPr>
        <p:cNvPr id="22" name="" descr="&lt;Slide style={{ width: '1280px', height: '720px', backgroundColor: '#FAFCFE', padding: 0, position: 'relative', overflow: 'hidden' }}&gt;&#13;&#10;    &lt;Box style={{ position: 'absolute', left: 0, top: 0, width: '12px', height: '720px', background: '#0E9B78' }} /&gt;&#13;&#10;    &lt;Box style={{ position: 'absolute', left: 72, top: 44, width: '1144px', flexDirection: 'column' }}&gt;&#13;&#10;        &lt;Text style={{ fontSize: 34, fontWeight: 'bold', color: '#16232E' }}&gt;单元 5 · 小结与验收&lt;/Text&gt;&#13;&#10;        &lt;Text style={{ fontSize: 16, color: '#5A6B7A', marginTop: 6 }}&gt;字典&lt;/Text&gt;&#13;&#10;    &lt;/Box&gt;&#13;&#10;    &lt;Box style={{ position: 'absolute', left: 72, top: 148, width: '552px', height: 400, background: '#FFFFFF', border: '1px solid #D8E3EE', borderRadius: 12, padding: 18, flexDirection: 'column' }}&gt;&#13;&#10;        &lt;Text style={{ fontSize: 16, fontWeight: 'bold', color: '#1F5FA8' }}&gt;本单元课节回顾&lt;/Text&gt;&#13;&#10;        &lt;Box style={{ marginTop: 10, position: 'relative', height: 330 }}&gt;&#13;&#10;            &lt;svg width='516' height='330' viewBox='0 0 516 330'&gt;&lt;text x='0' y='34' fontSize='14.5' fill='#3A4A58' fontFamily='Microsoft YaHei'&gt;· 第 23 节 · 字典：按名字找数据&lt;/text&gt;&lt;text x='0' y='64' fontSize='14.5' fill='#3A4A58' fontFamily='Microsoft YaHei'&gt;· 第 24 节 · 三种遍历与 get() 安全取值&lt;/text&gt;&lt;text x='0' y='94' fontSize='14.5' fill='#3A4A58' fontFamily='Microsoft YaHei'&gt;· 第 25 节 · 遍历时修改与嵌套结构&lt;/text&gt;&lt;text x='0' y='124' fontSize='14.5' fill='#3A4A58' fontFamily='Microsoft YaHei'&gt;· 第 26 节 · 动手实战与答案讲评&lt;/text&gt;&lt;text x='0' y='154' fontSize='14.5' fill='#3A4A58' fontFamily='Microsoft YaHei'&gt;· 第 27 节 · 单元 5 验收复盘&lt;/text&gt;&lt;/svg&gt;&#13;&#10;        &lt;/Box&gt;&#13;&#10;    &lt;/Box&gt;&#13;&#10;    &lt;Box style={{ position: 'absolute', left: 656, top: 148, width: '560px', height: 400, background: '#FDF3E2', borderRadius: 12, padding: 20, flexDirection: 'column' }}&gt;&#13;&#10;        &lt;Text style={{ fontSize: 16, fontWeight: 'bold', color: '#E08A15' }}&gt;过关标准&lt;/Text&gt;&#13;&#10;        &lt;Text style={{ fontSize: 15, color: '#3A4A58', marginTop: 12, lineHeight: 1.9 }}&gt;&#13;&#10;            1. 本单元每一节的课后作业都做完并自己验收过&#13;&#10;&#13;&#10;            2. 不看讲义能独立重写一遍本单元的示例代码&#13;&#10;&#13;&#10;            3. 讲义最后「本单元验收自测」全部答对&#13;&#10;&#13;&#10;            4. 产出物已经写进笔记或提交到 Git&#13;&#10;        &lt;/Text&gt;&#13;&#10;        &lt;Text style={{ fontSize: 14, color: '#8A6A2A', marginTop: 16, lineHeight: 1.7 }}&gt;&#13;&#10;            没过关的项回到对应那一节重做，不要整体重学。&#13;&#10;        &lt;/Text&gt;&#13;&#10;    &lt;/Box&gt;&#13;&#10;    &lt;Box style={{ position: 'absolute', left: 72, bottom: 26, width: '1144px', flexDirection: 'row', justifyContent: 'space-between' }}&gt;&#13;&#10;        &lt;Text style={{ fontSize: 13, color: '#8A9AAA' }}&gt;Python 讲授课件 · 逐节版&lt;/Text&gt;&#13;&#10;        &lt;Text style={{ fontSize: 13, color: '#8A9AAA' }}&gt;单元 5 · 小结&lt;/Text&gt;&#13;&#10;    &lt;/Box&gt;&#13;&#10;&lt;/Slide&gt;&#13;&#10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AFCFE"/>
          </a:solidFill>
          <a:ln/>
        </p:spPr>
        <p:txBody>
          <a:bodyPr/>
          <a:p/>
        </p:txBody>
      </p:sp>
      <p:sp>
        <p:nvSpPr>
          <p:cNvPr id="24" name=""/>
          <p:cNvSpPr/>
          <p:nvPr/>
        </p:nvSpPr>
        <p:spPr>
          <a:xfrm rot="0" flipH="0" flipV="0">
            <a:off x="0" y="0"/>
            <a:ext cx="114300" cy="6858000"/>
          </a:xfrm>
          <a:prstGeom prst="rect">
            <a:avLst/>
          </a:prstGeom>
          <a:solidFill>
            <a:srgbClr val="0E9B78"/>
          </a:solidFill>
          <a:ln/>
        </p:spPr>
        <p:txBody>
          <a:bodyPr/>
          <a:p/>
        </p:txBody>
      </p:sp>
      <p:sp>
        <p:nvSpPr>
          <p:cNvPr id="25" name="" descr="{&quot;isTemplate&quot;:true,&quot;type&quot;:&quot;text&quot;}"/>
          <p:cNvSpPr txBox="1"/>
          <p:nvPr/>
        </p:nvSpPr>
        <p:spPr>
          <a:xfrm rot="0" flipH="0" flipV="0">
            <a:off x="685800" y="419100"/>
            <a:ext cx="10896600" cy="3905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2550" b="1">
                <a:solidFill>
                  <a:srgbClr val="16232E"/>
                </a:solidFill>
                <a:latin typeface="Microsoft YaHei"/>
                <a:ea typeface="Microsoft YaHei"/>
              </a:rPr>
              <a:t>单元</a:t>
            </a:r>
            <a:r>
              <a:rPr lang="en-US" sz="2550" b="1">
                <a:solidFill>
                  <a:srgbClr val="16232E"/>
                </a:solidFill>
                <a:latin typeface="Microsoft YaHei"/>
                <a:ea typeface="Microsoft YaHei"/>
              </a:rPr>
              <a:t xml:space="preserve"> 5 · </a:t>
            </a:r>
            <a:r>
              <a:rPr lang="zh-CN" sz="2550" b="1">
                <a:solidFill>
                  <a:srgbClr val="16232E"/>
                </a:solidFill>
                <a:latin typeface="Microsoft YaHei"/>
                <a:ea typeface="Microsoft YaHei"/>
              </a:rPr>
              <a:t>小结与验收</a:t>
            </a:r>
            <a:endParaRPr/>
          </a:p>
        </p:txBody>
      </p:sp>
      <p:sp>
        <p:nvSpPr>
          <p:cNvPr id="26" name="" descr="{&quot;isTemplate&quot;:true,&quot;type&quot;:&quot;text&quot;}"/>
          <p:cNvSpPr txBox="1"/>
          <p:nvPr/>
        </p:nvSpPr>
        <p:spPr>
          <a:xfrm rot="0" flipH="0" flipV="0">
            <a:off x="685800" y="866775"/>
            <a:ext cx="10896600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200">
                <a:solidFill>
                  <a:srgbClr val="5A6B7A"/>
                </a:solidFill>
                <a:latin typeface="Microsoft YaHei"/>
                <a:ea typeface="Microsoft YaHei"/>
              </a:rPr>
              <a:t>字典</a:t>
            </a:r>
            <a:endParaRPr/>
          </a:p>
        </p:txBody>
      </p:sp>
      <p:sp>
        <p:nvSpPr>
          <p:cNvPr id="27" name=""/>
          <p:cNvSpPr/>
          <p:nvPr/>
        </p:nvSpPr>
        <p:spPr>
          <a:xfrm rot="0" flipH="0" flipV="0">
            <a:off x="685800" y="1409700"/>
            <a:ext cx="5257800" cy="381000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12700">
            <a:solidFill>
              <a:srgbClr val="D8E3EE"/>
            </a:solidFill>
            <a:prstDash val="solid"/>
          </a:ln>
        </p:spPr>
        <p:txBody>
          <a:bodyPr/>
          <a:p/>
        </p:txBody>
      </p:sp>
      <p:sp>
        <p:nvSpPr>
          <p:cNvPr id="28" name="" descr="{&quot;isTemplate&quot;:true,&quot;type&quot;:&quot;text&quot;}"/>
          <p:cNvSpPr txBox="1"/>
          <p:nvPr/>
        </p:nvSpPr>
        <p:spPr>
          <a:xfrm rot="0" flipH="0" flipV="0">
            <a:off x="857250" y="1581150"/>
            <a:ext cx="4914900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200" b="1">
                <a:solidFill>
                  <a:srgbClr val="1F5FA8"/>
                </a:solidFill>
                <a:latin typeface="Microsoft YaHei"/>
                <a:ea typeface="Microsoft YaHei"/>
              </a:rPr>
              <a:t>本单元课节回顾</a:t>
            </a:r>
            <a:endParaRPr/>
          </a:p>
        </p:txBody>
      </p:sp>
      <p:pic>
        <p:nvPicPr>
          <p:cNvPr id="29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1"/>
              </a:ext>
            </a:extLst>
          </a:blip>
          <a:stretch>
            <a:fillRect/>
          </a:stretch>
        </p:blipFill>
        <p:spPr>
          <a:xfrm rot="0" flipH="0" flipV="0">
            <a:off x="857250" y="1866900"/>
            <a:ext cx="4914900" cy="3143250"/>
          </a:xfrm>
          <a:prstGeom prst="rect">
            <a:avLst/>
          </a:prstGeom>
          <a:ln/>
        </p:spPr>
      </p:pic>
      <p:sp>
        <p:nvSpPr>
          <p:cNvPr id="30" name=""/>
          <p:cNvSpPr/>
          <p:nvPr/>
        </p:nvSpPr>
        <p:spPr>
          <a:xfrm rot="0" flipH="0" flipV="0">
            <a:off x="6248400" y="1409700"/>
            <a:ext cx="5334000" cy="3810000"/>
          </a:xfrm>
          <a:prstGeom prst="roundRect">
            <a:avLst>
              <a:gd name="adj" fmla="val 3000"/>
            </a:avLst>
          </a:prstGeom>
          <a:solidFill>
            <a:srgbClr val="FDF3E2"/>
          </a:solidFill>
          <a:ln/>
        </p:spPr>
        <p:txBody>
          <a:bodyPr/>
          <a:p/>
        </p:txBody>
      </p:sp>
      <p:sp>
        <p:nvSpPr>
          <p:cNvPr id="31" name="" descr="{&quot;isTemplate&quot;:true,&quot;type&quot;:&quot;text&quot;}"/>
          <p:cNvSpPr txBox="1"/>
          <p:nvPr/>
        </p:nvSpPr>
        <p:spPr>
          <a:xfrm rot="0" flipH="0" flipV="0">
            <a:off x="6438900" y="1600200"/>
            <a:ext cx="4953000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200" b="1">
                <a:solidFill>
                  <a:srgbClr val="E08A15"/>
                </a:solidFill>
                <a:latin typeface="Microsoft YaHei"/>
                <a:ea typeface="Microsoft YaHei"/>
              </a:rPr>
              <a:t>过关标准</a:t>
            </a:r>
            <a:endParaRPr/>
          </a:p>
        </p:txBody>
      </p:sp>
      <p:sp>
        <p:nvSpPr>
          <p:cNvPr id="32" name="" descr="{&quot;isTemplate&quot;:true,&quot;type&quot;:&quot;text&quot;}"/>
          <p:cNvSpPr txBox="1"/>
          <p:nvPr/>
        </p:nvSpPr>
        <p:spPr>
          <a:xfrm rot="0" flipH="0" flipV="0">
            <a:off x="6438900" y="1905000"/>
            <a:ext cx="4953000" cy="981075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90000"/>
              </a:lnSpc>
            </a:pPr>
            <a:r>
              <a:rPr lang="en-US" sz="1125">
                <a:solidFill>
                  <a:srgbClr val="3A4A58"/>
                </a:solidFill>
                <a:latin typeface="Microsoft YaHei"/>
                <a:ea typeface="Microsoft YaHei"/>
              </a:rPr>
              <a:t xml:space="preserve">1. </a:t>
            </a:r>
            <a:r>
              <a:rPr lang="zh-CN" sz="1125">
                <a:solidFill>
                  <a:srgbClr val="3A4A58"/>
                </a:solidFill>
                <a:latin typeface="Microsoft YaHei"/>
                <a:ea typeface="Microsoft YaHei"/>
              </a:rPr>
              <a:t>本单元每一节的课后作业都做完并自己验收过</a:t>
            </a:r>
            <a:r>
              <a:rPr lang="en-US" sz="1125">
                <a:solidFill>
                  <a:srgbClr val="3A4A58"/>
                </a:solidFill>
                <a:latin typeface="Microsoft YaHei"/>
                <a:ea typeface="Microsoft YaHei"/>
              </a:rPr>
              <a:t xml:space="preserve"> 2. </a:t>
            </a:r>
            <a:r>
              <a:rPr lang="zh-CN" sz="1125">
                <a:solidFill>
                  <a:srgbClr val="3A4A58"/>
                </a:solidFill>
                <a:latin typeface="Microsoft YaHei"/>
                <a:ea typeface="Microsoft YaHei"/>
              </a:rPr>
              <a:t>不看讲义能独立重写一遍本单元的示例代码</a:t>
            </a:r>
            <a:r>
              <a:rPr lang="en-US" sz="1125">
                <a:solidFill>
                  <a:srgbClr val="3A4A58"/>
                </a:solidFill>
                <a:latin typeface="Microsoft YaHei"/>
                <a:ea typeface="Microsoft YaHei"/>
              </a:rPr>
              <a:t xml:space="preserve"> 3. </a:t>
            </a:r>
            <a:r>
              <a:rPr lang="zh-CN" sz="1125">
                <a:solidFill>
                  <a:srgbClr val="3A4A58"/>
                </a:solidFill>
                <a:latin typeface="Microsoft YaHei"/>
                <a:ea typeface="Microsoft YaHei"/>
              </a:rPr>
              <a:t>讲义最后「本单元验收自测」全部答对</a:t>
            </a:r>
            <a:r>
              <a:rPr lang="en-US" sz="1125">
                <a:solidFill>
                  <a:srgbClr val="3A4A58"/>
                </a:solidFill>
                <a:latin typeface="Microsoft YaHei"/>
                <a:ea typeface="Microsoft YaHei"/>
              </a:rPr>
              <a:t xml:space="preserve"> 4. </a:t>
            </a:r>
            <a:r>
              <a:rPr lang="zh-CN" sz="1125">
                <a:solidFill>
                  <a:srgbClr val="3A4A58"/>
                </a:solidFill>
                <a:latin typeface="Microsoft YaHei"/>
                <a:ea typeface="Microsoft YaHei"/>
              </a:rPr>
              <a:t>产出物已经写进笔记或提交到</a:t>
            </a:r>
            <a:r>
              <a:rPr lang="en-US" sz="1125">
                <a:solidFill>
                  <a:srgbClr val="3A4A58"/>
                </a:solidFill>
                <a:latin typeface="Microsoft YaHei"/>
                <a:ea typeface="Microsoft YaHei"/>
              </a:rPr>
              <a:t xml:space="preserve"> Git</a:t>
            </a:r>
            <a:endParaRPr/>
          </a:p>
        </p:txBody>
      </p:sp>
      <p:sp>
        <p:nvSpPr>
          <p:cNvPr id="33" name="" descr="{&quot;isTemplate&quot;:true,&quot;type&quot;:&quot;text&quot;}"/>
          <p:cNvSpPr txBox="1"/>
          <p:nvPr/>
        </p:nvSpPr>
        <p:spPr>
          <a:xfrm rot="0" flipH="0" flipV="0">
            <a:off x="6438900" y="3038475"/>
            <a:ext cx="4953000" cy="276225"/>
          </a:xfrm>
          <a:prstGeom prst="rect"/>
        </p:spPr>
        <p:txBody>
          <a:bodyPr wrap="none" lIns="0" tIns="0" rIns="0" bIns="0"/>
          <a:p>
            <a:pPr>
              <a:lnSpc>
                <a:spcPct val="170000"/>
              </a:lnSpc>
            </a:pPr>
            <a:r>
              <a:rPr lang="zh-CN" sz="1050">
                <a:solidFill>
                  <a:srgbClr val="8A6A2A"/>
                </a:solidFill>
                <a:latin typeface="Microsoft YaHei"/>
                <a:ea typeface="Microsoft YaHei"/>
              </a:rPr>
              <a:t>没过关的项回到对应那一节重做，不要整体重学。</a:t>
            </a:r>
            <a:endParaRPr/>
          </a:p>
        </p:txBody>
      </p:sp>
      <p:sp>
        <p:nvSpPr>
          <p:cNvPr id="34" name="" descr="{&quot;isTemplate&quot;:true,&quot;type&quot;:&quot;text&quot;}"/>
          <p:cNvSpPr txBox="1"/>
          <p:nvPr/>
        </p:nvSpPr>
        <p:spPr>
          <a:xfrm rot="0" flipH="0" flipV="0">
            <a:off x="685800" y="6457950"/>
            <a:ext cx="1428750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75">
                <a:solidFill>
                  <a:srgbClr val="8A9AAA"/>
                </a:solidFill>
                <a:latin typeface="Microsoft YaHei"/>
                <a:ea typeface="Microsoft YaHei"/>
              </a:rPr>
              <a:t xml:space="preserve">Python </a:t>
            </a:r>
            <a:r>
              <a:rPr lang="zh-CN" sz="975">
                <a:solidFill>
                  <a:srgbClr val="8A9AAA"/>
                </a:solidFill>
                <a:latin typeface="Microsoft YaHei"/>
                <a:ea typeface="Microsoft YaHei"/>
              </a:rPr>
              <a:t>讲授课件</a:t>
            </a:r>
            <a:r>
              <a:rPr lang="en-US" sz="975">
                <a:solidFill>
                  <a:srgbClr val="8A9AAA"/>
                </a:solidFill>
                <a:latin typeface="Microsoft YaHei"/>
                <a:ea typeface="Microsoft YaHei"/>
              </a:rPr>
              <a:t xml:space="preserve"> · </a:t>
            </a:r>
            <a:r>
              <a:rPr lang="zh-CN" sz="975">
                <a:solidFill>
                  <a:srgbClr val="8A9AAA"/>
                </a:solidFill>
                <a:latin typeface="Microsoft YaHei"/>
                <a:ea typeface="Microsoft YaHei"/>
              </a:rPr>
              <a:t>逐节版</a:t>
            </a:r>
            <a:endParaRPr/>
          </a:p>
        </p:txBody>
      </p:sp>
      <p:sp>
        <p:nvSpPr>
          <p:cNvPr id="35" name="" descr="{&quot;isTemplate&quot;:true,&quot;type&quot;:&quot;text&quot;}"/>
          <p:cNvSpPr txBox="1"/>
          <p:nvPr/>
        </p:nvSpPr>
        <p:spPr>
          <a:xfrm rot="0" flipH="0" flipV="0">
            <a:off x="10868025" y="6457950"/>
            <a:ext cx="714375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975">
                <a:solidFill>
                  <a:srgbClr val="8A9AAA"/>
                </a:solidFill>
                <a:latin typeface="Microsoft YaHei"/>
                <a:ea typeface="Microsoft YaHei"/>
              </a:rPr>
              <a:t>单元</a:t>
            </a:r>
            <a:r>
              <a:rPr lang="en-US" sz="975">
                <a:solidFill>
                  <a:srgbClr val="8A9AAA"/>
                </a:solidFill>
                <a:latin typeface="Microsoft YaHei"/>
                <a:ea typeface="Microsoft YaHei"/>
              </a:rPr>
              <a:t xml:space="preserve"> 5 · </a:t>
            </a:r>
            <a:r>
              <a:rPr lang="zh-CN" sz="975">
                <a:solidFill>
                  <a:srgbClr val="8A9AAA"/>
                </a:solidFill>
                <a:latin typeface="Microsoft YaHei"/>
                <a:ea typeface="Microsoft YaHei"/>
              </a:rPr>
              <a:t>小结</a:t>
            </a:r>
            <a:endParaRPr/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theme/theme2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等线 Light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等线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Application>Tencent office</Applicat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2026-10-16T00:38:48Z</dcterms:created>
  <dcterms:modified xsi:type="dcterms:W3CDTF">2026-10-16T00:38:48Z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IGC">
    <vt:lpwstr>{"AIGC":{"Label":"1","ContentProducer":"00119111010856365494821B355","ProduceID":"01a140606b8e78a9a7f16f4a35ab0244","ReservedCode1":"","ContentPropagator":"00119111010856365494821B355","PropagateID":"01a140606b8e78a9a7f16f4a35ab0244","ReservedCode2":""}}</vt:lpwstr>
  </property>
</Properties>
</file>