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tableStyles" Target="tableStyles.xml"/><Relationship Id="rId1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 · 单元 1 · 变量与简单数据类型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6 节 变量、命名与第一段文字</a:t>
            </a:r>
          </a:p>
          <a:p>
            <a:r>
              <a:rPr lang="zh-CN" dirty="0"/>
              <a:t>· 第 7 节 字符串、数值、布尔与类型转换</a:t>
            </a:r>
          </a:p>
          <a:p>
            <a:r>
              <a:rPr lang="zh-CN" dirty="0"/>
              <a:t>· 第 8 节 动手实战与答案讲评</a:t>
            </a:r>
          </a:p>
          <a:p>
            <a:r>
              <a:rPr lang="zh-CN" dirty="0"/>
              <a:t>· 第 9 节 单元 1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 节 · 变量、命名与第一段文字</a:t>
            </a:r>
          </a:p>
          <a:p>
            <a:r>
              <a:rPr lang="zh-CN" dirty="0"/>
              <a:t>单元 1 · 变量与简单数据类型 · W1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学习目标：能写出符合 PEP 8 的变量名，理解「变量是贴了标签的盒子」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现场判断 10 个变量名哪些合法</a:t>
            </a:r>
          </a:p>
          <a:p>
            <a:r>
              <a:rPr lang="zh-CN" dirty="0"/>
              <a:t>· 把标签换三次，观察变量重新赋值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1-1 ~ 1-2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 节 · 核心知识点：变量、命名与第一段文字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本节目标：能写出符合 PEP 8 的变量名，理解「变量是贴了标签的盒子」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 节 · 字符串、数值、布尔与类型转换</a:t>
            </a:r>
          </a:p>
          <a:p>
            <a:r>
              <a:rPr lang="zh-CN" dirty="0"/>
              <a:t>单元 1 · 变量与简单数据类型 · W1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学习目标：熟练使用 str 方法与四则运算，掌握 int / float / bool 转换规则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对同一字符串连续调用三种方法并打印每步结果</a:t>
            </a:r>
          </a:p>
          <a:p>
            <a:r>
              <a:rPr lang="zh-CN" dirty="0"/>
              <a:t>· 现场预测 5 个类型转换结果再验证</a:t>
            </a:r>
          </a:p>
          <a:p>
            <a:r>
              <a:rPr lang="zh-CN" dirty="0"/>
              <a:t>· 解释 int("3.9") 为什么会报错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1-3 ~ 1-4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 节 · 核心知识点：字符串、数值、布尔与类型转换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本节目标：熟练使用 str 方法与四则运算，掌握 int / float / bool 转换规则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 节 · 动手实战与答案讲评</a:t>
            </a:r>
          </a:p>
          <a:p>
            <a:r>
              <a:rPr lang="zh-CN" dirty="0"/>
              <a:t>单元 1 · 变量与简单数据类型 · W1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 练习，能解释类型转换的报错原因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25 分钟独立完成基础档</a:t>
            </a:r>
          </a:p>
          <a:p>
            <a:r>
              <a:rPr lang="zh-CN" dirty="0"/>
              <a:t>· 写一个 BMI 计算器并格式化输出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完成进阶档 1-5 ~ 1-8</a:t>
            </a:r>
          </a:p>
          <a:p>
            <a:r>
              <a:rPr lang="zh-CN" dirty="0"/>
              <a:t>· 产出：个人偏好调查问卷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 节 · 核心知识点：动手实战与答案讲评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 练习，能解释类型转换的报错原因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 节 · 单元 1 验收复盘</a:t>
            </a:r>
          </a:p>
          <a:p>
            <a:r>
              <a:rPr lang="zh-CN" dirty="0"/>
              <a:t>单元 1 · 变量与简单数据类型 · W1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学习目标：确认四种类型、命名规范、类型转换都过关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逐条打勾验收自测</a:t>
            </a:r>
          </a:p>
          <a:p>
            <a:r>
              <a:rPr lang="zh-CN" dirty="0"/>
              <a:t>· 互相考 5 个最易错的类型题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 节 · 核心知识点：单元 1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本节目标：确认四种类型、命名规范、类型转换都过关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 小结 · 单元 1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1&lt;/Text&gt;&#13;&#10;        &lt;Text style={{ fontSize: 38, fontWeight: 'bold', color: '#FFFFFF', marginTop: 6 }}&gt;变量与简单数据类型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196' width='1152' height='38' rx='7' fill='#FFFFFF' /&gt;&lt;text x='16' y='221' fontSize='15' fontWeight='bold' fill='#1F5FA8' fontFamily='Microsoft YaHei'&gt;第 6 节&lt;/text&gt;&lt;text x='96' y='221' fontSize='15' fill='#16232E' fontFamily='Microsoft YaHei'&gt;变量、命名与第一段文字&lt;/text&gt;&lt;text x='1080' y='221' fontSize='13' fill='#5A6B7A' textAnchor='end' fontFamily='Microsoft YaHei'&gt;W1&lt;/text&gt;&lt;rect x='0' y='238' width='1152' height='38' rx='7' fill='#F2F7FD' /&gt;&lt;text x='16' y='263' fontSize='15' fontWeight='bold' fill='#1F5FA8' fontFamily='Microsoft YaHei'&gt;第 7 节&lt;/text&gt;&lt;text x='96' y='263' fontSize='15' fill='#16232E' fontFamily='Microsoft YaHei'&gt;字符串、数值、布尔与类型转换&lt;/text&gt;&lt;text x='1080' y='263' fontSize='13' fill='#5A6B7A' textAnchor='end' fontFamily='Microsoft YaHei'&gt;W1&lt;/text&gt;&lt;rect x='0' y='280' width='1152' height='38' rx='7' fill='#FFFFFF' /&gt;&lt;text x='16' y='305' fontSize='15' fontWeight='bold' fill='#1F5FA8' fontFamily='Microsoft YaHei'&gt;第 8 节&lt;/text&gt;&lt;text x='96' y='305' fontSize='15' fill='#16232E' fontFamily='Microsoft YaHei'&gt;动手实战与答案讲评&lt;/text&gt;&lt;text x='1080' y='305' fontSize='13' fill='#5A6B7A' textAnchor='end' fontFamily='Microsoft YaHei'&gt;W1&lt;/text&gt;&lt;rect x='0' y='322' width='1152' height='38' rx='7' fill='#F2F7FD' /&gt;&lt;text x='16' y='347' fontSize='15' fontWeight='bold' fill='#1F5FA8' fontFamily='Microsoft YaHei'&gt;第 9 节&lt;/text&gt;&lt;text x='96' y='347' fontSize='15' fill='#16232E' fontFamily='Microsoft YaHei'&gt;单元 1 验收复盘&lt;/text&gt;&lt;text x='1080' y='347' fontSize='13' fill='#5A6B7A' textAnchor='end' fontFamily='Microsoft YaHei'&gt;W1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变量与简单数据类型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 / 111 节&lt;/Text&gt;&#13;&#10;        &lt;/Box&gt;&#13;&#10;        &lt;Text style={{ fontSize: 30, fontWeight: 'bold', color: '#16232E' }}&gt;变量、命名与第一段文字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写出符合 PEP 8 的变量名，理解「变量是贴了标签的盒子」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判断 10 个变量名哪些合法&lt;/text&gt;&lt;text x='84' y='338.75' fontSize='14.5' fill='#3A4A58' textAnchor='start' fontFamily='Microsoft YaHei'&gt;· 把标签换三次，观察变量重新赋值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-1 ~ 1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变量、命名与第一段文字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 节&lt;/Text&gt;&#13;&#10;        &lt;/Box&gt;&#13;&#10;        &lt;Text style={{ fontSize: 30, fontWeight: 'bold', color: '#16232E' }}&gt;核心知识点&lt;/Text&gt;&#13;&#10;        &lt;Text style={{ fontSize: 15, color: '#5A6B7A', marginTop: 10 }}&gt;· 变量、命名与第一段文字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变量：一个贴了标签的盒子&lt;/text&gt;&lt;text x='82' y='169.0' fontSize='13' fill='#3A4A58' textAnchor='start' fontFamily='Microsoft YaHei'&gt;· 变量不是&quot;存储数据的空间&quot;，更准确的说法是：一个指&lt;/text&gt;&lt;text x='82' y='188.5' fontSize='13' fill='#3A4A58' textAnchor='start' fontFamily='Microsoft YaHei'&gt;向某个数据的名字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命名规则：为什么 my-var 和 2var 不行&lt;/text&gt;&lt;text x='486' y='169.0' fontSize='13' fill='#3A4A58' textAnchor='start' fontFamily='Microsoft YaHei'&gt;· 好：user_name、total_price、item2&lt;/text&gt;&lt;text x='486' y='197.5' fontSize='13' fill='#3A4A58' textAnchor='start' fontFamily='Microsoft YaHei'&gt;· 差：UserName、userName、用户名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字符串 str：带引号的文字&lt;/text&gt;&lt;text x='890' y='169.0' fontSize='13' fill='#3A4A58' textAnchor='start' fontFamily='Microsoft YaHei'&gt;· 不可变性是字符串最重要的性质：字符串一旦创建就不能&lt;/text&gt;&lt;text x='890' y='188.5' fontSize='13' fill='#3A4A58' textAnchor='start' fontFamily='Microsoft YaHei'&gt;原地修改。所有&quot;看起来在改&quot;的方法，实际上都是返回&lt;/text&gt;&lt;text x='890' y='208.0' fontSize='13' fill='#3A4A58' textAnchor='start' fontFamily='Microsoft YaHei'&gt;了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变量、命名与第一段文字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 / 111 节&lt;/Text&gt;&#13;&#10;        &lt;/Box&gt;&#13;&#10;        &lt;Text style={{ fontSize: 30, fontWeight: 'bold', color: '#16232E' }}&gt;字符串、数值、布尔与类型转换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熟练使用 str 方法与四则运算，掌握 int / float / bool 转换规则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同一字符串连续调用三种方法并打印每步结果&lt;/text&gt;&lt;text x='84' y='338.75' fontSize='14.5' fill='#3A4A58' textAnchor='start' fontFamily='Microsoft YaHei'&gt;· 现场预测 5 个类型转换结果再验证&lt;/text&gt;&lt;text x='84' y='369.5' fontSize='14.5' fill='#3A4A58' textAnchor='start' fontFamily='Microsoft YaHei'&gt;· 解释 int(&quot;3.9&quot;) 为什么会报错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-3 ~ 1-4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4000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字符串、数值、布尔与类型转换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 节&lt;/Text&gt;&#13;&#10;        &lt;/Box&gt;&#13;&#10;        &lt;Text style={{ fontSize: 30, fontWeight: 'bold', color: '#16232E' }}&gt;核心知识点&lt;/Text&gt;&#13;&#10;        &lt;Text style={{ fontSize: 15, color: '#5A6B7A', marginTop: 10 }}&gt;· 字符串、数值、布尔与类型转换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4 整数 int 与浮点数 float&lt;/text&gt;&lt;text x='82' y='169.0' fontSize='13' fill='#3A4A58' textAnchor='start' fontFamily='Microsoft YaHei'&gt;· int 是整数（-3、0、42），float 是小数（3.14、-0&lt;/text&gt;&lt;text x='82' y='188.5' fontSize='13' fill='#3A4A58' textAnchor='start' fontFamily='Microsoft YaHei'&gt;.5）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5 布尔值 bool：只有两个取值&lt;/text&gt;&lt;text x='486' y='169.0' fontSize='13' fill='#3A4A58' textAnchor='start' fontFamily='Microsoft YaHei'&gt;· 布尔值只有 True 和 False，首字母必须大写，这是初&lt;/text&gt;&lt;text x='486' y='188.5' fontSize='13' fill='#3A4A58' textAnchor='start' fontFamily='Microsoft YaHei'&gt;学者的高频语法错误（写 true 会报 N…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6 类型转换：把一种类型的标签换成另一种&lt;/text&gt;&lt;text x='890' y='169.0' fontSize='13' fill='#3A4A58' textAnchor='start' fontFamily='Microsoft YaHei'&gt;· 转换可能失败，失败会报 ValueError：&lt;/text&gt;&lt;text x='890' y='197.5' fontSize='13' fill='#3A4A58' textAnchor='start' fontFamily='Microsoft YaHei'&gt;· int(&quot;abc&quot;) → ValueError: invalid literal for&lt;/text&gt;&lt;text x='890' y='217.0' fontSize='13' fill='#3A4A58' textAnchor='start' fontFamily='Microsoft YaHei'&gt; int()（…&lt;/text&gt;&lt;text x='890' y='245.5' fontSize='13' fill='#3A4A58' textAnchor='start' fontFamily='Microsoft YaHei'&gt;· int(&quot;3.9&quot;) → ValueError（带小数点的字符串不能&lt;/text&gt;&lt;text x='890' y='265.0' fontSize='13' fill='#3A4A58' textAnchor='start' fontFamily='Microsoft YaHei'&gt;直接转整数，必须先 float 或…&lt;/text&gt;&lt;text x='64' y='470' fontSize='14.5' fontWeight='bold' fill='#0E9B78' textAnchor='start' fontFamily='Microsoft YaHei'&gt;本节的代码示例&lt;/text&gt;&lt;text x='64' y='500' fontSize='13' fill='#3A4A58' textAnchor='start' fontFamily='Microsoft YaHei'&gt;· 四种类型与 type()&lt;/text&gt;&lt;text x='468' y='500' fontSize='13' fill='#3A4A58' textAnchor='start' fontFamily='Microsoft YaHei'&gt;· 变量重新赋值与命名规范&lt;/text&gt;&lt;text x='872' y='500' fontSize='13' fill='#3A4A58' textAnchor='start' fontFamily='Microsoft YaHei'&gt;· 字符串常用方法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2085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字符串、数值、布尔与类型转换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 练习，能解释类型转换的报错原因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25 分钟独立完成基础档&lt;/text&gt;&lt;text x='84' y='338.75' fontSize='14.5' fill='#3A4A58' textAnchor='start' fontFamily='Microsoft YaHei'&gt;· 写一个 BMI 计算器并格式化输出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进阶档 1-5 ~ 1-8&lt;/text&gt;&lt;text x='674' y='338.75' fontSize='14.5' fill='#3A4A58' textAnchor='start' fontFamily='Microsoft YaHei'&gt;· 产出：个人偏好调查问卷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-1【你的个人信息卡】&lt;/text&gt;&lt;text x='82' y='197.5' fontSize='13' fill='#3A4A58' textAnchor='start' fontFamily='Microsoft YaHei'&gt;· 练习 1-2【BMI 计算】&lt;/text&gt;&lt;text x='82' y='226.0' fontSize='13' fill='#3A4A58' textAnchor='start' fontFamily='Microsoft YaHei'&gt;· 练习 1-3【字符串方法接力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-5🌐【收银小票】&lt;/text&gt;&lt;text x='486' y='197.5' fontSize='13' fill='#3A4A58' textAnchor='start' fontFamily='Microsoft YaHei'&gt;· 练习 1-6【格式化对齐报表】&lt;/text&gt;&lt;text x='486' y='226.0' fontSize='13' fill='#3A4A58' textAnchor='start' fontFamily='Microsoft YaHei'&gt;· 练习 1-7【字符串拆解分析器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-1&lt;/text&gt;&lt;text x='890' y='169.0' fontSize='13' fill='#3A4A58' textAnchor='start' fontFamily='Microsoft YaHei'&gt;· name = &quot;小明&quot; # str 类型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 / 111 节&lt;/Text&gt;&#13;&#10;        &lt;/Box&gt;&#13;&#10;        &lt;Text style={{ fontSize: 30, fontWeight: 'bold', color: '#16232E' }}&gt;单元 1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四种类型、命名规范、类型转换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互相考 5 个最易错的类型题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 节&lt;/Text&gt;&#13;&#10;        &lt;/Box&gt;&#13;&#10;        &lt;Text style={{ fontSize: 30, fontWeight: 'bold', color: '#16232E' }}&gt;核心知识点&lt;/Text&gt;&#13;&#10;        &lt;Text style={{ fontSize: 15, color: '#5A6B7A', marginTop: 10 }}&gt;· 单元 1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 · 小结与验收&lt;/Text&gt;&#13;&#10;        &lt;Text style={{ fontSize: 16, color: '#5A6B7A', marginTop: 6 }}&gt;变量与简单数据类型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6 节 · 变量、命名与第一段文字&lt;/text&gt;&lt;text x='0' y='64' fontSize='14.5' fill='#3A4A58' fontFamily='Microsoft YaHei'&gt;· 第 7 节 · 字符串、数值、布尔与类型转换&lt;/text&gt;&lt;text x='0' y='94' fontSize='14.5' fill='#3A4A58' fontFamily='Microsoft YaHei'&gt;· 第 8 节 · 动手实战与答案讲评&lt;/text&gt;&lt;text x='0' y='124' fontSize='14.5' fill='#3A4A58' fontFamily='Microsoft YaHei'&gt;· 第 9 节 · 单元 1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变量与简单数据类型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2026-10-16T00:36:10Z</dcterms:created>
  <dcterms:modified xsi:type="dcterms:W3CDTF">2026-10-16T00:36:10Z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