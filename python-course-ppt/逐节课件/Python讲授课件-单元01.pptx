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svg" ContentType="image/svg+xml"/>
  <Override PartName="/ppt/presProps.xml" ContentType="application/vnd.openxmlformats-officedocument.presentationml.presProps+xml"/>
  <Override PartName="/ppt/slideMasters/slideMaster1.xml" ContentType="application/vnd.openxmlformats-officedocument.presentationml.slideMaster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slides/slide7.xml" ContentType="application/vnd.openxmlformats-officedocument.presentationml.slide+xml"/>
  <Override PartName="/ppt/viewProps.xml" ContentType="application/vnd.openxmlformats-officedocument.presentationml.viewProps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8.xml" ContentType="application/vnd.openxmlformats-officedocument.presentationml.slide+xml"/>
  <Override PartName="/ppt/presentation.xml" ContentType="application/vnd.openxmlformats-officedocument.presentationml.presentation.main+xml"/>
  <Override PartName="/docProps/core.xml" ContentType="application/vnd.openxmlformats-package.core-properties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"1.0" encoding="UTF-8" standalone="yes"?><Relationships xmlns="http://schemas.openxmlformats.org/package/2006/relationships"><Relationship Id="rId0" Type="http://schemas.openxmlformats.org/officeDocument/2006/relationships/officeDocument" Target="ppt/presentation.xml" /><Relationship Id="rId1" Type="http://schemas.openxmlformats.org/package/2006/relationships/metadata/core-properties" Target="docProps/core.xml" /><Relationship Id="rId2" Type="http://schemas.openxmlformats.org/officeDocument/2006/relationships/extended-properties" Target="docProps/app.xml" /><Relationship Id="rId3" Type="http://schemas.openxmlformats.org/officeDocument/2006/relationships/custom-properties" Target="docProps/custom.xml" 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 firstSlideNum="1">
  <p:sldMasterIdLst>
    <p:sldMasterId id="2147483648" r:id="rId0"/>
  </p:sldMasterIdLst>
  <p:notesMasterIdLst>
    <p:notesMasterId r:id="rId11"/>
  </p:notes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  <p:ext uri="{FD5EFAAD-0ECE-453E-9831-46B23BE46B34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a="http://schemas.openxmlformats.org/drawing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2" Type="http://schemas.openxmlformats.org/officeDocument/2006/relationships/presProps" Target="presProps.xml" /><Relationship Id="rId10" Type="http://schemas.openxmlformats.org/officeDocument/2006/relationships/slide" Target="slides/slide10.xml" /><Relationship Id="rId0" Type="http://schemas.openxmlformats.org/officeDocument/2006/relationships/slideMaster" Target="slideMasters/slideMaster1.xml" /><Relationship Id="rId2" Type="http://schemas.openxmlformats.org/officeDocument/2006/relationships/slide" Target="slides/slide2.xml" /><Relationship Id="rId9" Type="http://schemas.openxmlformats.org/officeDocument/2006/relationships/slide" Target="slides/slide9.xml" /><Relationship Id="rId1" Type="http://schemas.openxmlformats.org/officeDocument/2006/relationships/slide" Target="slides/slide1.xml" /><Relationship Id="rId11" Type="http://schemas.openxmlformats.org/officeDocument/2006/relationships/notesMaster" Target="notesMasters/notesMaster1.xml" /><Relationship Id="rId13" Type="http://schemas.openxmlformats.org/officeDocument/2006/relationships/tableStyles" Target="tableStyles.xml" /><Relationship Id="rId14" Type="http://schemas.openxmlformats.org/officeDocument/2006/relationships/viewProps" Target="viewProps.xml" /><Relationship Id="rId3" Type="http://schemas.openxmlformats.org/officeDocument/2006/relationships/slide" Target="slides/slide3.xml" /><Relationship Id="rId4" Type="http://schemas.openxmlformats.org/officeDocument/2006/relationships/slide" Target="slides/slide4.xml" /><Relationship Id="rId5" Type="http://schemas.openxmlformats.org/officeDocument/2006/relationships/slide" Target="slides/slide5.xml" /><Relationship Id="rId6" Type="http://schemas.openxmlformats.org/officeDocument/2006/relationships/slide" Target="slides/slide6.xml" /><Relationship Id="rId7" Type="http://schemas.openxmlformats.org/officeDocument/2006/relationships/slide" Target="slides/slide7.xml" /><Relationship Id="rId8" Type="http://schemas.openxmlformats.org/officeDocument/2006/relationships/slide" Target="slides/slide8.xml" /></Relationships>
</file>

<file path=ppt/notesMasters/_rels/notesMaster1.xml.rels><?xml version="1.0" encoding="UTF-8" standalone="yes"?><Relationships xmlns="http://schemas.openxmlformats.org/package/2006/relationships"><Relationship Id="rId0" Type="http://schemas.openxmlformats.org/officeDocument/2006/relationships/theme" Target="../theme/theme2.xml" /></Relationships>
</file>

<file path=ppt/notesMasters/notesMaster1.xml><?xml version="1.0" encoding="utf-8"?>
<p:notesMaster xmlns:p="http://schemas.openxmlformats.org/presentationml/2006/main" xmlns:a="http://schemas.openxmlformats.org/draw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slideLayout1.xml><?xml version="1.0" encoding="utf-8"?>
<p:sldLayout xmlns:p="http://schemas.openxmlformats.org/presentationml/2006/main" xmlns:a="http://schemas.openxmlformats.org/drawing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theme" Target="../theme/theme1.xml" />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</p:sldLayoutIdLst>
  <p:hf sldNum="0" hdr="0" ftr="0" dt="0"/>
  <p:txStyles>
    <p:titleStyle>
      <a:lvl1pPr algn="ctr" defTabSz="914400" rtl="0" eaLnBrk="1" latinLnBrk="0" hangingPunct="1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1.svg" /></Relationships>
</file>

<file path=ppt/slides/_rels/slide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3.svg" /></Relationships>
</file>

<file path=ppt/slides/_rels/slide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4.svg" /></Relationships>
</file>

<file path=ppt/slides/_rels/slide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5.svg" /></Relationships>
</file>

<file path=ppt/slides/_rels/slide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6.svg" /></Relationships>
</file>

<file path=ppt/slides/_rels/slide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7.svg" /></Relationships>
</file>

<file path=ppt/slides/_rels/slide7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8.svg" /></Relationships>
</file>

<file path=ppt/slides/_rels/slide8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9.svg" /></Relationships>
</file>

<file path=ppt/slides/_rels/slide9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10.svg" 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image" Target="media/image2.svg" /><Relationship Id="rId0" Type="http://schemas.openxmlformats.org/officeDocument/2006/relationships/slideLayout" Target="../slideLayouts/slideLayout1.xml" /></Relationships>
</file>

<file path=ppt/slides/slide1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1" name="" descr="&lt;Slide style={{ width: '1280px', height: '720px', backgroundColor: '#FAFCFE', padding: 0, position: 'relative', overflow: 'hidden' }}&gt;&#13;&#10;    &lt;Box style={{ position: 'absolute', left: 0, top: 0, width: '1280px', height: '150px', background: '#1F5FA8' }} /&gt;&#13;&#10;    &lt;Box style={{ position: 'absolute', left: 64, top: 34, width: '1152px', flexDirection: 'column' }}&gt;&#13;&#10;        &lt;Text style={{ fontSize: 15, fontWeight: 'bold', color: '#BFD9F2', letterSpacing: 2 }}&gt;阶段 1 · 单元 1&lt;/Text&gt;&#13;&#10;        &lt;Text style={{ fontSize: 38, fontWeight: 'bold', color: '#FFFFFF', marginTop: 6 }}&gt;变量与简单数据类型&lt;/Text&gt;&#13;&#10;    &lt;/Box&gt;&#13;&#10;    &lt;Box style={{ position: 'absolute', left: 64, top: 168, width: '1152px', height: 470 }}&gt;&#13;&#10;        &lt;svg width='1152' height='470' viewBox='0 0 1152 470'&gt;&#13;&#10;            &lt;text x='0' y='18' fontSize='15' fontWeight='bold' fill='#16232E' fontFamily='Microsoft YaHei'&gt;本单元共 4 节课&lt;/text&gt;&#13;&#10;            &lt;rect x='0' y='196' width='1152' height='38' rx='7' fill='#FFFFFF' /&gt;&lt;text x='16' y='221' fontSize='15' fontWeight='bold' fill='#1F5FA8' fontFamily='Microsoft YaHei'&gt;第 6 节&lt;/text&gt;&lt;text x='96' y='221' fontSize='15' fill='#16232E' fontFamily='Microsoft YaHei'&gt;变量、命名与第一段文字&lt;/text&gt;&lt;text x='1080' y='221' fontSize='13' fill='#5A6B7A' textAnchor='end' fontFamily='Microsoft YaHei'&gt;W1&lt;/text&gt;&lt;rect x='0' y='238' width='1152' height='38' rx='7' fill='#F2F7FD' /&gt;&lt;text x='16' y='263' fontSize='15' fontWeight='bold' fill='#1F5FA8' fontFamily='Microsoft YaHei'&gt;第 7 节&lt;/text&gt;&lt;text x='96' y='263' fontSize='15' fill='#16232E' fontFamily='Microsoft YaHei'&gt;字符串、数值、布尔与类型转换&lt;/text&gt;&lt;text x='1080' y='263' fontSize='13' fill='#5A6B7A' textAnchor='end' fontFamily='Microsoft YaHei'&gt;W1&lt;/text&gt;&lt;rect x='0' y='280' width='1152' height='38' rx='7' fill='#FFFFFF' /&gt;&lt;text x='16' y='305' fontSize='15' fontWeight='bold' fill='#1F5FA8' fontFamily='Microsoft YaHei'&gt;第 8 节&lt;/text&gt;&lt;text x='96' y='305' fontSize='15' fill='#16232E' fontFamily='Microsoft YaHei'&gt;动手实战与答案讲评&lt;/text&gt;&lt;text x='1080' y='305' fontSize='13' fill='#5A6B7A' textAnchor='end' fontFamily='Microsoft YaHei'&gt;W1&lt;/text&gt;&lt;rect x='0' y='322' width='1152' height='38' rx='7' fill='#F2F7FD' /&gt;&lt;text x='16' y='347' fontSize='15' fontWeight='bold' fill='#1F5FA8' fontFamily='Microsoft YaHei'&gt;第 9 节&lt;/text&gt;&lt;text x='96' y='347' fontSize='15' fill='#16232E' fontFamily='Microsoft YaHei'&gt;单元 1 验收复盘&lt;/text&gt;&lt;text x='1080' y='347' fontSize='13' fill='#5A6B7A' textAnchor='end' fontFamily='Microsoft YaHei'&gt;W1&lt;/text&gt;&#13;&#10;        &lt;/svg&gt;&#13;&#10;    &lt;/Box&gt;&#13;&#10;    &lt;Box style={{ position: 'absolute', left: 64, bottom: 22, width: '1152px', flexDirection: 'row', justifyContent: 'space-between' }}&gt;&#13;&#10;        &lt;Text style={{ fontSize: 13, color: '#8A9AAA' }}&gt;Python 讲授课件 · 逐节版&lt;/Text&gt;&#13;&#10;        &lt;Text style={{ fontSize: 13, color: '#8A9AAA' }}&gt;单元 1 · 封面&lt;/Text&gt;&#13;&#10;  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AFCFE"/>
          </a:solidFill>
          <a:ln/>
        </p:spPr>
        <p:txBody>
          <a:bodyPr/>
          <a:p/>
        </p:txBody>
      </p:sp>
      <p:sp>
        <p:nvSpPr>
          <p:cNvPr id="3" name=""/>
          <p:cNvSpPr/>
          <p:nvPr/>
        </p:nvSpPr>
        <p:spPr>
          <a:xfrm rot="0" flipH="0" flipV="0">
            <a:off x="0" y="0"/>
            <a:ext cx="12192000" cy="1428750"/>
          </a:xfrm>
          <a:prstGeom prst="rect">
            <a:avLst/>
          </a:prstGeom>
          <a:solidFill>
            <a:srgbClr val="1F5FA8"/>
          </a:solidFill>
          <a:ln/>
        </p:spPr>
        <p:txBody>
          <a:bodyPr/>
          <a:p/>
        </p:txBody>
      </p:sp>
      <p:sp>
        <p:nvSpPr>
          <p:cNvPr id="4" name="" descr="{&quot;isTemplate&quot;:true,&quot;type&quot;:&quot;text&quot;}"/>
          <p:cNvSpPr txBox="1"/>
          <p:nvPr/>
        </p:nvSpPr>
        <p:spPr>
          <a:xfrm rot="0" flipH="0" flipV="0">
            <a:off x="609600" y="323850"/>
            <a:ext cx="109728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 spc="150">
                <a:solidFill>
                  <a:srgbClr val="BFD9F2"/>
                </a:solidFill>
                <a:latin typeface="Microsoft YaHei"/>
                <a:ea typeface="Microsoft YaHei"/>
              </a:rPr>
              <a:t>阶段</a:t>
            </a:r>
            <a:r>
              <a:rPr lang="en-US" sz="1125" b="1" spc="150">
                <a:solidFill>
                  <a:srgbClr val="BFD9F2"/>
                </a:solidFill>
                <a:latin typeface="Microsoft YaHei"/>
                <a:ea typeface="Microsoft YaHei"/>
              </a:rPr>
              <a:t xml:space="preserve"> 1 · </a:t>
            </a:r>
            <a:r>
              <a:rPr lang="zh-CN" sz="1125" b="1" spc="150">
                <a:solidFill>
                  <a:srgbClr val="BFD9F2"/>
                </a:solidFill>
                <a:latin typeface="Microsoft YaHei"/>
                <a:ea typeface="Microsoft YaHei"/>
              </a:rPr>
              <a:t>单元</a:t>
            </a:r>
            <a:r>
              <a:rPr lang="en-US" sz="1125" b="1" spc="150">
                <a:solidFill>
                  <a:srgbClr val="BFD9F2"/>
                </a:solidFill>
                <a:latin typeface="Microsoft YaHei"/>
                <a:ea typeface="Microsoft YaHei"/>
              </a:rPr>
              <a:t xml:space="preserve"> 1</a:t>
            </a:r>
            <a:endParaRPr/>
          </a:p>
        </p:txBody>
      </p:sp>
      <p:sp>
        <p:nvSpPr>
          <p:cNvPr id="5" name="" descr="{&quot;isTemplate&quot;:true,&quot;type&quot;:&quot;text&quot;}"/>
          <p:cNvSpPr txBox="1"/>
          <p:nvPr/>
        </p:nvSpPr>
        <p:spPr>
          <a:xfrm rot="0" flipH="0" flipV="0">
            <a:off x="609600" y="552450"/>
            <a:ext cx="10972800" cy="4381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850" b="1">
                <a:solidFill>
                  <a:srgbClr val="FFFFFF"/>
                </a:solidFill>
                <a:latin typeface="Microsoft YaHei"/>
                <a:ea typeface="Microsoft YaHei"/>
              </a:rPr>
              <a:t>变量与简单数据类型</a:t>
            </a:r>
            <a:endParaRPr/>
          </a:p>
        </p:txBody>
      </p:sp>
      <p:pic>
        <p:nvPicPr>
          <p:cNvPr id="6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609600" y="1600200"/>
            <a:ext cx="10972800" cy="4476750"/>
          </a:xfrm>
          <a:prstGeom prst="rect">
            <a:avLst/>
          </a:prstGeom>
          <a:ln/>
        </p:spPr>
      </p:pic>
      <p:sp>
        <p:nvSpPr>
          <p:cNvPr id="7" name="" descr="{&quot;isTemplate&quot;:true,&quot;type&quot;:&quot;text&quot;}"/>
          <p:cNvSpPr txBox="1"/>
          <p:nvPr/>
        </p:nvSpPr>
        <p:spPr>
          <a:xfrm rot="0" flipH="0" flipV="0">
            <a:off x="609600" y="6496050"/>
            <a:ext cx="14287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8A9AAA"/>
                </a:solidFill>
                <a:latin typeface="Microsoft YaHei"/>
                <a:ea typeface="Microsoft YaHei"/>
              </a:rPr>
              <a:t xml:space="preserve">Python </a:t>
            </a:r>
            <a:r>
              <a:rPr lang="zh-CN" sz="975">
                <a:solidFill>
                  <a:srgbClr val="8A9AAA"/>
                </a:solidFill>
                <a:latin typeface="Microsoft YaHei"/>
                <a:ea typeface="Microsoft YaHei"/>
              </a:rPr>
              <a:t>讲授课件</a:t>
            </a:r>
            <a:r>
              <a:rPr lang="en-US" sz="975">
                <a:solidFill>
                  <a:srgbClr val="8A9AAA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75">
                <a:solidFill>
                  <a:srgbClr val="8A9AAA"/>
                </a:solidFill>
                <a:latin typeface="Microsoft YaHei"/>
                <a:ea typeface="Microsoft YaHei"/>
              </a:rPr>
              <a:t>逐节版</a:t>
            </a:r>
            <a:endParaRPr/>
          </a:p>
        </p:txBody>
      </p:sp>
      <p:sp>
        <p:nvSpPr>
          <p:cNvPr id="8" name="" descr="{&quot;isTemplate&quot;:true,&quot;type&quot;:&quot;text&quot;}"/>
          <p:cNvSpPr txBox="1"/>
          <p:nvPr/>
        </p:nvSpPr>
        <p:spPr>
          <a:xfrm rot="0" flipH="0" flipV="0">
            <a:off x="10868025" y="6496050"/>
            <a:ext cx="7143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8A9AAA"/>
                </a:solidFill>
                <a:latin typeface="Microsoft YaHei"/>
                <a:ea typeface="Microsoft YaHei"/>
              </a:rPr>
              <a:t>单元</a:t>
            </a:r>
            <a:r>
              <a:rPr lang="en-US" sz="975">
                <a:solidFill>
                  <a:srgbClr val="8A9AAA"/>
                </a:solidFill>
                <a:latin typeface="Microsoft YaHei"/>
                <a:ea typeface="Microsoft YaHei"/>
              </a:rPr>
              <a:t xml:space="preserve"> 1 · </a:t>
            </a:r>
            <a:r>
              <a:rPr lang="zh-CN" sz="975">
                <a:solidFill>
                  <a:srgbClr val="8A9AAA"/>
                </a:solidFill>
                <a:latin typeface="Microsoft YaHei"/>
                <a:ea typeface="Microsoft YaHei"/>
              </a:rPr>
              <a:t>封面</a:t>
            </a:r>
            <a:endParaRPr/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23" name="" descr="&lt;Slide style={{ width: '1280px', height: '720px', backgroundColor: '#FAFCFE', padding: 0, position: 'relative', overflow: 'hidden' }}&gt;&#13;&#10;    &lt;Box style={{ position: 'absolute', left: 64, top: 36, width: '1152px', flexDirection: 'row', alignItems: 'center', gap: 12 }}&gt;&#13;&#10;        &lt;Box style={{ background: '#1F5FA8', borderRadius: 5, padding: '3px 11px' }}&gt;&#13;&#10;            &lt;Text style={{ fontSize: 14, fontWeight: 'bold', color: '#FFFFFF' }}&gt;第 6 / 111 节&lt;/Text&gt;&#13;&#10;        &lt;/Box&gt;&#13;&#10;        &lt;Text style={{ fontSize: 30, fontWeight: 'bold', color: '#16232E' }}&gt;变量、命名与第一段文字&lt;/Text&gt;&#13;&#10;    &lt;/Box&gt;&#13;&#10;    &lt;Box style={{ position: 'absolute', left: 0, top: 0, width: '1280px', height: '720px' }}&gt;&#13;&#10;        &lt;svg width='1280' height='720' viewBox='0 0 1280 720'&gt;&#13;&#10;            &lt;rect x='64' y='104' width='1152' height='112' rx='12' fill='#EEF5FB' /&gt;&lt;text x='84' y='134' fontSize='15' fontWeight='bold' fill='#1F5FA8' textAnchor='start' fontFamily='Microsoft YaHei'&gt;学习目标&lt;/text&gt;&lt;text x='84' y='164' fontSize='16' fill='#243444' textAnchor='start' fontFamily='Microsoft YaHei'&gt;能写出符合 PEP 8 的变量名，理解「变量是贴了标签的盒子」&lt;/text&gt;&lt;rect x='64' y='240' width='562' height='248' rx='12' fill='#FFFFFF' stroke='#D8E3EE' /&gt;&lt;text x='84' y='274' fontSize='15' fontWeight='bold' fill='#0E9B78' textAnchor='start' fontFamily='Microsoft YaHei'&gt;课堂实操（40 分钟 · 不看答案）&lt;/text&gt;&lt;text x='84' y='308.0' fontSize='14.5' fill='#3A4A58' textAnchor='start' fontFamily='Microsoft YaHei'&gt;· 现场判断 10 个变量名哪些合法&lt;/text&gt;&lt;text x='84' y='338.75' fontSize='14.5' fill='#3A4A58' textAnchor='start' fontFamily='Microsoft YaHei'&gt;· 把标签换三次，观察变量重新赋值&lt;/text&gt;&lt;rect x='654' y='240' width='562' height='248' rx='12' fill='#FDF3E2' stroke='none' /&gt;&lt;text x='674' y='274' fontSize='15' fontWeight='bold' fill='#E08A15' textAnchor='start' fontFamily='Microsoft YaHei'&gt;课后作业&lt;/text&gt;&lt;text x='674' y='308.0' fontSize='14.5' fill='#3A4A58' textAnchor='start' fontFamily='Microsoft YaHei'&gt;· 完成动手练习 1-1 ~ 1-2&lt;/text&gt;&lt;rect x='64' y='508' width='1152' height='92' rx='12' fill='#16232E' /&gt;&lt;text x='84' y='540' fontSize='14.5' fontWeight='bold' fill='#FFFFFF' textAnchor='start' fontFamily='Microsoft YaHei'&gt;这节课的节奏&lt;/text&gt;&lt;text x='84' y='570' fontSize='14' fill='#A8C4DE' textAnchor='start' fontFamily='Microsoft YaHei'&gt;先读讲义 20 分钟 → 自己敲 40 分钟（报错先自己读） → 对着讲评自查 20 分钟 → 写作业 10 分钟&lt;/text&gt;&#13;&#10;            &lt;text x='64' y='684' fontSize='13' fill='#8A9AAA' fontFamily='Microsoft YaHei'&gt;Python 讲授课件 · 逐节版&lt;/text&gt;&#13;&#10;            &lt;text x='1216' y='684' fontSize='13' fill='#8A9AAA' textAnchor='end' fontFamily='Microsoft YaHei'&gt;单元 1 · 第 6 节&lt;/text&gt;&#13;&#10;        &lt;/svg&gt;&#13;&#10;  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AFCFE"/>
          </a:solidFill>
          <a:ln/>
        </p:spPr>
        <p:txBody>
          <a:bodyPr/>
          <a:p/>
        </p:txBody>
      </p:sp>
      <p:sp>
        <p:nvSpPr>
          <p:cNvPr id="25" name=""/>
          <p:cNvSpPr/>
          <p:nvPr/>
        </p:nvSpPr>
        <p:spPr>
          <a:xfrm rot="0" flipH="0" flipV="0">
            <a:off x="609600" y="409575"/>
            <a:ext cx="1028700" cy="219075"/>
          </a:xfrm>
          <a:prstGeom prst="roundRect">
            <a:avLst>
              <a:gd name="adj" fmla="val 21739"/>
            </a:avLst>
          </a:prstGeom>
          <a:solidFill>
            <a:srgbClr val="1F5FA8"/>
          </a:solidFill>
          <a:ln/>
        </p:spPr>
        <p:txBody>
          <a:bodyPr/>
          <a:p/>
        </p:txBody>
      </p:sp>
      <p:sp>
        <p:nvSpPr>
          <p:cNvPr id="26" name="" descr="{&quot;isTemplate&quot;:true,&quot;type&quot;:&quot;text&quot;}"/>
          <p:cNvSpPr txBox="1"/>
          <p:nvPr/>
        </p:nvSpPr>
        <p:spPr>
          <a:xfrm rot="0" flipH="0" flipV="0">
            <a:off x="714375" y="438150"/>
            <a:ext cx="8191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FFFFFF"/>
                </a:solidFill>
                <a:latin typeface="Microsoft YaHei"/>
                <a:ea typeface="Microsoft YaHei"/>
              </a:rPr>
              <a:t>第</a:t>
            </a:r>
            <a:r>
              <a:rPr lang="en-US" sz="1050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 6 / 111 </a:t>
            </a:r>
            <a:r>
              <a:rPr lang="zh-CN" sz="1050" b="1">
                <a:solidFill>
                  <a:srgbClr val="FFFFFF"/>
                </a:solidFill>
                <a:latin typeface="Microsoft YaHei"/>
                <a:ea typeface="Microsoft YaHei"/>
              </a:rPr>
              <a:t>节</a:t>
            </a:r>
            <a:endParaRPr/>
          </a:p>
        </p:txBody>
      </p:sp>
      <p:sp>
        <p:nvSpPr>
          <p:cNvPr id="27" name="" descr="{&quot;isTemplate&quot;:true,&quot;type&quot;:&quot;text&quot;}"/>
          <p:cNvSpPr txBox="1"/>
          <p:nvPr/>
        </p:nvSpPr>
        <p:spPr>
          <a:xfrm rot="0" flipH="0" flipV="0">
            <a:off x="1752600" y="342900"/>
            <a:ext cx="314325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250" b="1">
                <a:solidFill>
                  <a:srgbClr val="16232E"/>
                </a:solidFill>
                <a:latin typeface="Microsoft YaHei"/>
                <a:ea typeface="Microsoft YaHei"/>
              </a:rPr>
              <a:t>变量、命名与第一段文字</a:t>
            </a:r>
            <a:endParaRPr/>
          </a:p>
        </p:txBody>
      </p:sp>
      <p:pic>
        <p:nvPicPr>
          <p:cNvPr id="28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</p:spTree>
  </p:cSld>
</p:sld>
</file>

<file path=ppt/slides/slide3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29" name="" descr="&lt;Slide style={{ width: '1280px', height: '720px', backgroundColor: '#FAFCFE', padding: 0, position: 'relative', overflow: 'hidden' }}&gt;&#13;&#10;    &lt;Box style={{ position: 'absolute', left: 64, top: 36, width: '1152px', flexDirection: 'row', alignItems: 'center', gap: 12 }}&gt;&#13;&#10;        &lt;Box style={{ background: '#0E9B78', borderRadius: 5, padding: '3px 11px' }}&gt;&#13;&#10;            &lt;Text style={{ fontSize: 14, fontWeight: 'bold', color: '#FFFFFF' }}&gt;第 6 节&lt;/Text&gt;&#13;&#10;        &lt;/Box&gt;&#13;&#10;        &lt;Text style={{ fontSize: 30, fontWeight: 'bold', color: '#16232E' }}&gt;核心知识点&lt;/Text&gt;&#13;&#10;        &lt;Text style={{ fontSize: 15, color: '#5A6B7A', marginTop: 10 }}&gt;· 变量、命名与第一段文字&lt;/Text&gt;&#13;&#10;    &lt;/Box&gt;&#13;&#10;    &lt;Box style={{ position: 'absolute', left: 0, top: 0, width: '1280px', height: '720px' }}&gt;&#13;&#10;        &lt;svg width='1280' height='720' viewBox='0 0 1280 720'&gt;&#13;&#10;            &lt;rect x='64' y='96' width='368' height='330' rx='12' fill='#FFFFFF' stroke='#D8E3EE' /&gt;&lt;rect x='64' y='96' width='368' height='4' rx='2' fill='#1F5FA8' /&gt;&lt;text x='82' y='130' fontSize='15.5' fontWeight='bold' fill='#1F5FA8' textAnchor='start' fontFamily='Microsoft YaHei'&gt;2.1 变量：一个贴了标签的盒子&lt;/text&gt;&lt;text x='82' y='169.0' fontSize='13' fill='#3A4A58' textAnchor='start' fontFamily='Microsoft YaHei'&gt;· 变量不是&quot;存储数据的空间&quot;，更准确的说法是：一个指&lt;/text&gt;&lt;text x='82' y='188.5' fontSize='13' fill='#3A4A58' textAnchor='start' fontFamily='Microsoft YaHei'&gt;向某个数据的名字。&lt;/text&gt;&lt;rect x='468' y='96' width='368' height='330' rx='12' fill='#FFFFFF' stroke='#D8E3EE' /&gt;&lt;rect x='468' y='96' width='368' height='4' rx='2' fill='#1F5FA8' /&gt;&lt;text x='486' y='130' fontSize='15.5' fontWeight='bold' fill='#1F5FA8' textAnchor='start' fontFamily='Microsoft YaHei'&gt;2.2 命名规则：为什么 my-var 和 2var 不行&lt;/text&gt;&lt;text x='486' y='169.0' fontSize='13' fill='#3A4A58' textAnchor='start' fontFamily='Microsoft YaHei'&gt;· 好：user_name、total_price、item2&lt;/text&gt;&lt;text x='486' y='197.5' fontSize='13' fill='#3A4A58' textAnchor='start' fontFamily='Microsoft YaHei'&gt;· 差：UserName、userName、用户名&lt;/text&gt;&lt;rect x='872' y='96' width='368' height='330' rx='12' fill='#FFFFFF' stroke='#D8E3EE' /&gt;&lt;rect x='872' y='96' width='368' height='4' rx='2' fill='#1F5FA8' /&gt;&lt;text x='890' y='130' fontSize='15.5' fontWeight='bold' fill='#1F5FA8' textAnchor='start' fontFamily='Microsoft YaHei'&gt;2.3 字符串 str：带引号的文字&lt;/text&gt;&lt;text x='890' y='169.0' fontSize='13' fill='#3A4A58' textAnchor='start' fontFamily='Microsoft YaHei'&gt;· 不可变性是字符串最重要的性质：字符串一旦创建就不能&lt;/text&gt;&lt;text x='890' y='188.5' fontSize='13' fill='#3A4A58' textAnchor='start' fontFamily='Microsoft YaHei'&gt;原地修改。所有&quot;看起来在改&quot;的方法，实际上都是返回&lt;/text&gt;&lt;text x='890' y='208.0' fontSize='13' fill='#3A4A58' textAnchor='start' fontFamily='Microsoft YaHei'&gt;了…&lt;/text&gt;&lt;rect x='64' y='574' width='1152' height='66' rx='12' fill='#EEF5FB' /&gt;&lt;text x='84' y='616' fontSize='14' fill='#243444' textAnchor='start' fontFamily='Microsoft YaHei'&gt;看不懂的地方先回讲义对应小节读一遍，再回来对着这页复述一次——能讲出来才算真懂。&lt;/text&gt;&#13;&#10;            &lt;text x='64' y='684' fontSize='13' fill='#8A9AAA' fontFamily='Microsoft YaHei'&gt;Python 讲授课件 · 逐节版&lt;/text&gt;&#13;&#10;            &lt;text x='1216' y='684' fontSize='13' fill='#8A9AAA' textAnchor='end' fontFamily='Microsoft YaHei'&gt;单元 1 · 第 6 节&lt;/text&gt;&#13;&#10;        &lt;/svg&gt;&#13;&#10;  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AFCFE"/>
          </a:solidFill>
          <a:ln/>
        </p:spPr>
        <p:txBody>
          <a:bodyPr/>
          <a:p/>
        </p:txBody>
      </p:sp>
      <p:sp>
        <p:nvSpPr>
          <p:cNvPr id="31" name=""/>
          <p:cNvSpPr/>
          <p:nvPr/>
        </p:nvSpPr>
        <p:spPr>
          <a:xfrm rot="0" flipH="0" flipV="0">
            <a:off x="609600" y="409575"/>
            <a:ext cx="638175" cy="219075"/>
          </a:xfrm>
          <a:prstGeom prst="roundRect">
            <a:avLst>
              <a:gd name="adj" fmla="val 21739"/>
            </a:avLst>
          </a:prstGeom>
          <a:solidFill>
            <a:srgbClr val="0E9B78"/>
          </a:solidFill>
          <a:ln/>
        </p:spPr>
        <p:txBody>
          <a:bodyPr/>
          <a:p/>
        </p:txBody>
      </p:sp>
      <p:sp>
        <p:nvSpPr>
          <p:cNvPr id="32" name="" descr="{&quot;isTemplate&quot;:true,&quot;type&quot;:&quot;text&quot;}"/>
          <p:cNvSpPr txBox="1"/>
          <p:nvPr/>
        </p:nvSpPr>
        <p:spPr>
          <a:xfrm rot="0" flipH="0" flipV="0">
            <a:off x="714375" y="438150"/>
            <a:ext cx="4286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FFFFFF"/>
                </a:solidFill>
                <a:latin typeface="Microsoft YaHei"/>
                <a:ea typeface="Microsoft YaHei"/>
              </a:rPr>
              <a:t>第</a:t>
            </a:r>
            <a:r>
              <a:rPr lang="en-US" sz="1050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 6 </a:t>
            </a:r>
            <a:r>
              <a:rPr lang="zh-CN" sz="1050" b="1">
                <a:solidFill>
                  <a:srgbClr val="FFFFFF"/>
                </a:solidFill>
                <a:latin typeface="Microsoft YaHei"/>
                <a:ea typeface="Microsoft YaHei"/>
              </a:rPr>
              <a:t>节</a:t>
            </a:r>
            <a:endParaRPr/>
          </a:p>
        </p:txBody>
      </p:sp>
      <p:sp>
        <p:nvSpPr>
          <p:cNvPr id="33" name="" descr="{&quot;isTemplate&quot;:true,&quot;type&quot;:&quot;text&quot;}"/>
          <p:cNvSpPr txBox="1"/>
          <p:nvPr/>
        </p:nvSpPr>
        <p:spPr>
          <a:xfrm rot="0" flipH="0" flipV="0">
            <a:off x="1362075" y="342900"/>
            <a:ext cx="142875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250" b="1">
                <a:solidFill>
                  <a:srgbClr val="16232E"/>
                </a:solidFill>
                <a:latin typeface="Microsoft YaHei"/>
                <a:ea typeface="Microsoft YaHei"/>
              </a:rPr>
              <a:t>核心知识点</a:t>
            </a:r>
            <a:endParaRPr/>
          </a:p>
        </p:txBody>
      </p:sp>
      <p:sp>
        <p:nvSpPr>
          <p:cNvPr id="34" name="" descr="{&quot;isTemplate&quot;:true,&quot;type&quot;:&quot;text&quot;}"/>
          <p:cNvSpPr txBox="1"/>
          <p:nvPr/>
        </p:nvSpPr>
        <p:spPr>
          <a:xfrm rot="0" flipH="0" flipV="0">
            <a:off x="2905125" y="476250"/>
            <a:ext cx="16573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5A6B7A"/>
                </a:solidFill>
                <a:latin typeface="Microsoft YaHei"/>
                <a:ea typeface="Microsoft YaHei"/>
              </a:rPr>
              <a:t xml:space="preserve">· </a:t>
            </a:r>
            <a:r>
              <a:rPr lang="zh-CN" sz="1125">
                <a:solidFill>
                  <a:srgbClr val="5A6B7A"/>
                </a:solidFill>
                <a:latin typeface="Microsoft YaHei"/>
                <a:ea typeface="Microsoft YaHei"/>
              </a:rPr>
              <a:t>变量、命名与第一段文字</a:t>
            </a:r>
            <a:endParaRPr/>
          </a:p>
        </p:txBody>
      </p:sp>
      <p:pic>
        <p:nvPicPr>
          <p:cNvPr id="35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</p:spTree>
  </p:cSld>
</p:sld>
</file>

<file path=ppt/slides/slide4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36" name="" descr="&lt;Slide style={{ width: '1280px', height: '720px', backgroundColor: '#FAFCFE', padding: 0, position: 'relative', overflow: 'hidden' }}&gt;&#13;&#10;    &lt;Box style={{ position: 'absolute', left: 64, top: 36, width: '1152px', flexDirection: 'row', alignItems: 'center', gap: 12 }}&gt;&#13;&#10;        &lt;Box style={{ background: '#1F5FA8', borderRadius: 5, padding: '3px 11px' }}&gt;&#13;&#10;            &lt;Text style={{ fontSize: 14, fontWeight: 'bold', color: '#FFFFFF' }}&gt;第 7 / 111 节&lt;/Text&gt;&#13;&#10;        &lt;/Box&gt;&#13;&#10;        &lt;Text style={{ fontSize: 30, fontWeight: 'bold', color: '#16232E' }}&gt;字符串、数值、布尔与类型转换&lt;/Text&gt;&#13;&#10;    &lt;/Box&gt;&#13;&#10;    &lt;Box style={{ position: 'absolute', left: 0, top: 0, width: '1280px', height: '720px' }}&gt;&#13;&#10;        &lt;svg width='1280' height='720' viewBox='0 0 1280 720'&gt;&#13;&#10;            &lt;rect x='64' y='104' width='1152' height='112' rx='12' fill='#EEF5FB' /&gt;&lt;text x='84' y='134' fontSize='15' fontWeight='bold' fill='#1F5FA8' textAnchor='start' fontFamily='Microsoft YaHei'&gt;学习目标&lt;/text&gt;&lt;text x='84' y='164' fontSize='16' fill='#243444' textAnchor='start' fontFamily='Microsoft YaHei'&gt;熟练使用 str 方法与四则运算，掌握 int / float / bool 转换规则&lt;/text&gt;&lt;rect x='64' y='240' width='562' height='248' rx='12' fill='#FFFFFF' stroke='#D8E3EE' /&gt;&lt;text x='84' y='274' fontSize='15' fontWeight='bold' fill='#0E9B78' textAnchor='start' fontFamily='Microsoft YaHei'&gt;课堂实操（40 分钟 · 不看答案）&lt;/text&gt;&lt;text x='84' y='308.0' fontSize='14.5' fill='#3A4A58' textAnchor='start' fontFamily='Microsoft YaHei'&gt;· 对同一字符串连续调用三种方法并打印每步结果&lt;/text&gt;&lt;text x='84' y='338.75' fontSize='14.5' fill='#3A4A58' textAnchor='start' fontFamily='Microsoft YaHei'&gt;· 现场预测 5 个类型转换结果再验证&lt;/text&gt;&lt;text x='84' y='369.5' fontSize='14.5' fill='#3A4A58' textAnchor='start' fontFamily='Microsoft YaHei'&gt;· 解释 int(&quot;3.9&quot;) 为什么会报错&lt;/text&gt;&lt;rect x='654' y='240' width='562' height='248' rx='12' fill='#FDF3E2' stroke='none' /&gt;&lt;text x='674' y='274' fontSize='15' fontWeight='bold' fill='#E08A15' textAnchor='start' fontFamily='Microsoft YaHei'&gt;课后作业&lt;/text&gt;&lt;text x='674' y='308.0' fontSize='14.5' fill='#3A4A58' textAnchor='start' fontFamily='Microsoft YaHei'&gt;· 完成动手练习 1-3 ~ 1-4&lt;/text&gt;&lt;rect x='64' y='508' width='1152' height='92' rx='12' fill='#16232E' /&gt;&lt;text x='84' y='540' fontSize='14.5' fontWeight='bold' fill='#FFFFFF' textAnchor='start' fontFamily='Microsoft YaHei'&gt;这节课的节奏&lt;/text&gt;&lt;text x='84' y='570' fontSize='14' fill='#A8C4DE' textAnchor='start' fontFamily='Microsoft YaHei'&gt;先读讲义 20 分钟 → 自己敲 40 分钟（报错先自己读） → 对着讲评自查 20 分钟 → 写作业 10 分钟&lt;/text&gt;&#13;&#10;            &lt;text x='64' y='684' fontSize='13' fill='#8A9AAA' fontFamily='Microsoft YaHei'&gt;Python 讲授课件 · 逐节版&lt;/text&gt;&#13;&#10;            &lt;text x='1216' y='684' fontSize='13' fill='#8A9AAA' textAnchor='end' fontFamily='Microsoft YaHei'&gt;单元 1 · 第 7 节&lt;/text&gt;&#13;&#10;        &lt;/svg&gt;&#13;&#10;  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AFCFE"/>
          </a:solidFill>
          <a:ln/>
        </p:spPr>
        <p:txBody>
          <a:bodyPr/>
          <a:p/>
        </p:txBody>
      </p:sp>
      <p:sp>
        <p:nvSpPr>
          <p:cNvPr id="38" name=""/>
          <p:cNvSpPr/>
          <p:nvPr/>
        </p:nvSpPr>
        <p:spPr>
          <a:xfrm rot="0" flipH="0" flipV="0">
            <a:off x="609600" y="409575"/>
            <a:ext cx="1028700" cy="219075"/>
          </a:xfrm>
          <a:prstGeom prst="roundRect">
            <a:avLst>
              <a:gd name="adj" fmla="val 21739"/>
            </a:avLst>
          </a:prstGeom>
          <a:solidFill>
            <a:srgbClr val="1F5FA8"/>
          </a:solidFill>
          <a:ln/>
        </p:spPr>
        <p:txBody>
          <a:bodyPr/>
          <a:p/>
        </p:txBody>
      </p:sp>
      <p:sp>
        <p:nvSpPr>
          <p:cNvPr id="39" name="" descr="{&quot;isTemplate&quot;:true,&quot;type&quot;:&quot;text&quot;}"/>
          <p:cNvSpPr txBox="1"/>
          <p:nvPr/>
        </p:nvSpPr>
        <p:spPr>
          <a:xfrm rot="0" flipH="0" flipV="0">
            <a:off x="714375" y="438150"/>
            <a:ext cx="8191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FFFFFF"/>
                </a:solidFill>
                <a:latin typeface="Microsoft YaHei"/>
                <a:ea typeface="Microsoft YaHei"/>
              </a:rPr>
              <a:t>第</a:t>
            </a:r>
            <a:r>
              <a:rPr lang="en-US" sz="1050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 7 / 111 </a:t>
            </a:r>
            <a:r>
              <a:rPr lang="zh-CN" sz="1050" b="1">
                <a:solidFill>
                  <a:srgbClr val="FFFFFF"/>
                </a:solidFill>
                <a:latin typeface="Microsoft YaHei"/>
                <a:ea typeface="Microsoft YaHei"/>
              </a:rPr>
              <a:t>节</a:t>
            </a:r>
            <a:endParaRPr/>
          </a:p>
        </p:txBody>
      </p:sp>
      <p:sp>
        <p:nvSpPr>
          <p:cNvPr id="40" name="" descr="{&quot;isTemplate&quot;:true,&quot;type&quot;:&quot;text&quot;}"/>
          <p:cNvSpPr txBox="1"/>
          <p:nvPr/>
        </p:nvSpPr>
        <p:spPr>
          <a:xfrm rot="0" flipH="0" flipV="0">
            <a:off x="1752600" y="342900"/>
            <a:ext cx="400050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250" b="1">
                <a:solidFill>
                  <a:srgbClr val="16232E"/>
                </a:solidFill>
                <a:latin typeface="Microsoft YaHei"/>
                <a:ea typeface="Microsoft YaHei"/>
              </a:rPr>
              <a:t>字符串、数值、布尔与类型转换</a:t>
            </a:r>
            <a:endParaRPr/>
          </a:p>
        </p:txBody>
      </p:sp>
      <p:pic>
        <p:nvPicPr>
          <p:cNvPr id="41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</p:spTree>
  </p:cSld>
</p:sld>
</file>

<file path=ppt/slides/slide5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42" name="" descr="&lt;Slide style={{ width: '1280px', height: '720px', backgroundColor: '#FAFCFE', padding: 0, position: 'relative', overflow: 'hidden' }}&gt;&#13;&#10;    &lt;Box style={{ position: 'absolute', left: 64, top: 36, width: '1152px', flexDirection: 'row', alignItems: 'center', gap: 12 }}&gt;&#13;&#10;        &lt;Box style={{ background: '#0E9B78', borderRadius: 5, padding: '3px 11px' }}&gt;&#13;&#10;            &lt;Text style={{ fontSize: 14, fontWeight: 'bold', color: '#FFFFFF' }}&gt;第 7 节&lt;/Text&gt;&#13;&#10;        &lt;/Box&gt;&#13;&#10;        &lt;Text style={{ fontSize: 30, fontWeight: 'bold', color: '#16232E' }}&gt;核心知识点&lt;/Text&gt;&#13;&#10;        &lt;Text style={{ fontSize: 15, color: '#5A6B7A', marginTop: 10 }}&gt;· 字符串、数值、布尔与类型转换&lt;/Text&gt;&#13;&#10;    &lt;/Box&gt;&#13;&#10;    &lt;Box style={{ position: 'absolute', left: 0, top: 0, width: '1280px', height: '720px' }}&gt;&#13;&#10;        &lt;svg width='1280' height='720' viewBox='0 0 1280 720'&gt;&#13;&#10;            &lt;rect x='64' y='96' width='368' height='330' rx='12' fill='#FFFFFF' stroke='#D8E3EE' /&gt;&lt;rect x='64' y='96' width='368' height='4' rx='2' fill='#1F5FA8' /&gt;&lt;text x='82' y='130' fontSize='15.5' fontWeight='bold' fill='#1F5FA8' textAnchor='start' fontFamily='Microsoft YaHei'&gt;2.4 整数 int 与浮点数 float&lt;/text&gt;&lt;text x='82' y='169.0' fontSize='13' fill='#3A4A58' textAnchor='start' fontFamily='Microsoft YaHei'&gt;· int 是整数（-3、0、42），float 是小数（3.14、-0&lt;/text&gt;&lt;text x='82' y='188.5' fontSize='13' fill='#3A4A58' textAnchor='start' fontFamily='Microsoft YaHei'&gt;.5）。&lt;/text&gt;&lt;rect x='468' y='96' width='368' height='330' rx='12' fill='#FFFFFF' stroke='#D8E3EE' /&gt;&lt;rect x='468' y='96' width='368' height='4' rx='2' fill='#1F5FA8' /&gt;&lt;text x='486' y='130' fontSize='15.5' fontWeight='bold' fill='#1F5FA8' textAnchor='start' fontFamily='Microsoft YaHei'&gt;2.5 布尔值 bool：只有两个取值&lt;/text&gt;&lt;text x='486' y='169.0' fontSize='13' fill='#3A4A58' textAnchor='start' fontFamily='Microsoft YaHei'&gt;· 布尔值只有 True 和 False，首字母必须大写，这是初&lt;/text&gt;&lt;text x='486' y='188.5' fontSize='13' fill='#3A4A58' textAnchor='start' fontFamily='Microsoft YaHei'&gt;学者的高频语法错误（写 true 会报 N…&lt;/text&gt;&lt;rect x='872' y='96' width='368' height='330' rx='12' fill='#FFFFFF' stroke='#D8E3EE' /&gt;&lt;rect x='872' y='96' width='368' height='4' rx='2' fill='#1F5FA8' /&gt;&lt;text x='890' y='130' fontSize='15.5' fontWeight='bold' fill='#1F5FA8' textAnchor='start' fontFamily='Microsoft YaHei'&gt;2.6 类型转换：把一种类型的标签换成另一种&lt;/text&gt;&lt;text x='890' y='169.0' fontSize='13' fill='#3A4A58' textAnchor='start' fontFamily='Microsoft YaHei'&gt;· 转换可能失败，失败会报 ValueError：&lt;/text&gt;&lt;text x='890' y='197.5' fontSize='13' fill='#3A4A58' textAnchor='start' fontFamily='Microsoft YaHei'&gt;· int(&quot;abc&quot;) → ValueError: invalid literal for&lt;/text&gt;&lt;text x='890' y='217.0' fontSize='13' fill='#3A4A58' textAnchor='start' fontFamily='Microsoft YaHei'&gt; int()（…&lt;/text&gt;&lt;text x='890' y='245.5' fontSize='13' fill='#3A4A58' textAnchor='start' fontFamily='Microsoft YaHei'&gt;· int(&quot;3.9&quot;) → ValueError（带小数点的字符串不能&lt;/text&gt;&lt;text x='890' y='265.0' fontSize='13' fill='#3A4A58' textAnchor='start' fontFamily='Microsoft YaHei'&gt;直接转整数，必须先 float 或…&lt;/text&gt;&lt;text x='64' y='470' fontSize='14.5' fontWeight='bold' fill='#0E9B78' textAnchor='start' fontFamily='Microsoft YaHei'&gt;本节的代码示例&lt;/text&gt;&lt;text x='64' y='500' fontSize='13' fill='#3A4A58' textAnchor='start' fontFamily='Microsoft YaHei'&gt;· 四种类型与 type()&lt;/text&gt;&lt;text x='468' y='500' fontSize='13' fill='#3A4A58' textAnchor='start' fontFamily='Microsoft YaHei'&gt;· 变量重新赋值与命名规范&lt;/text&gt;&lt;text x='872' y='500' fontSize='13' fill='#3A4A58' textAnchor='start' fontFamily='Microsoft YaHei'&gt;· 字符串常用方法&lt;/text&gt;&lt;rect x='64' y='574' width='1152' height='66' rx='12' fill='#EEF5FB' /&gt;&lt;text x='84' y='616' fontSize='14' fill='#243444' textAnchor='start' fontFamily='Microsoft YaHei'&gt;看不懂的地方先回讲义对应小节读一遍，再回来对着这页复述一次——能讲出来才算真懂。&lt;/text&gt;&#13;&#10;            &lt;text x='64' y='684' fontSize='13' fill='#8A9AAA' fontFamily='Microsoft YaHei'&gt;Python 讲授课件 · 逐节版&lt;/text&gt;&#13;&#10;            &lt;text x='1216' y='684' fontSize='13' fill='#8A9AAA' textAnchor='end' fontFamily='Microsoft YaHei'&gt;单元 1 · 第 7 节&lt;/text&gt;&#13;&#10;        &lt;/svg&gt;&#13;&#10;  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AFCFE"/>
          </a:solidFill>
          <a:ln/>
        </p:spPr>
        <p:txBody>
          <a:bodyPr/>
          <a:p/>
        </p:txBody>
      </p:sp>
      <p:sp>
        <p:nvSpPr>
          <p:cNvPr id="44" name=""/>
          <p:cNvSpPr/>
          <p:nvPr/>
        </p:nvSpPr>
        <p:spPr>
          <a:xfrm rot="0" flipH="0" flipV="0">
            <a:off x="609600" y="409575"/>
            <a:ext cx="638175" cy="219075"/>
          </a:xfrm>
          <a:prstGeom prst="roundRect">
            <a:avLst>
              <a:gd name="adj" fmla="val 21739"/>
            </a:avLst>
          </a:prstGeom>
          <a:solidFill>
            <a:srgbClr val="0E9B78"/>
          </a:solidFill>
          <a:ln/>
        </p:spPr>
        <p:txBody>
          <a:bodyPr/>
          <a:p/>
        </p:txBody>
      </p:sp>
      <p:sp>
        <p:nvSpPr>
          <p:cNvPr id="45" name="" descr="{&quot;isTemplate&quot;:true,&quot;type&quot;:&quot;text&quot;}"/>
          <p:cNvSpPr txBox="1"/>
          <p:nvPr/>
        </p:nvSpPr>
        <p:spPr>
          <a:xfrm rot="0" flipH="0" flipV="0">
            <a:off x="714375" y="438150"/>
            <a:ext cx="4286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FFFFFF"/>
                </a:solidFill>
                <a:latin typeface="Microsoft YaHei"/>
                <a:ea typeface="Microsoft YaHei"/>
              </a:rPr>
              <a:t>第</a:t>
            </a:r>
            <a:r>
              <a:rPr lang="en-US" sz="1050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 7 </a:t>
            </a:r>
            <a:r>
              <a:rPr lang="zh-CN" sz="1050" b="1">
                <a:solidFill>
                  <a:srgbClr val="FFFFFF"/>
                </a:solidFill>
                <a:latin typeface="Microsoft YaHei"/>
                <a:ea typeface="Microsoft YaHei"/>
              </a:rPr>
              <a:t>节</a:t>
            </a:r>
            <a:endParaRPr/>
          </a:p>
        </p:txBody>
      </p:sp>
      <p:sp>
        <p:nvSpPr>
          <p:cNvPr id="46" name="" descr="{&quot;isTemplate&quot;:true,&quot;type&quot;:&quot;text&quot;}"/>
          <p:cNvSpPr txBox="1"/>
          <p:nvPr/>
        </p:nvSpPr>
        <p:spPr>
          <a:xfrm rot="0" flipH="0" flipV="0">
            <a:off x="1362075" y="342900"/>
            <a:ext cx="142875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250" b="1">
                <a:solidFill>
                  <a:srgbClr val="16232E"/>
                </a:solidFill>
                <a:latin typeface="Microsoft YaHei"/>
                <a:ea typeface="Microsoft YaHei"/>
              </a:rPr>
              <a:t>核心知识点</a:t>
            </a:r>
            <a:endParaRPr/>
          </a:p>
        </p:txBody>
      </p:sp>
      <p:sp>
        <p:nvSpPr>
          <p:cNvPr id="47" name="" descr="{&quot;isTemplate&quot;:true,&quot;type&quot;:&quot;text&quot;}"/>
          <p:cNvSpPr txBox="1"/>
          <p:nvPr/>
        </p:nvSpPr>
        <p:spPr>
          <a:xfrm rot="0" flipH="0" flipV="0">
            <a:off x="2905125" y="476250"/>
            <a:ext cx="20859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5A6B7A"/>
                </a:solidFill>
                <a:latin typeface="Microsoft YaHei"/>
                <a:ea typeface="Microsoft YaHei"/>
              </a:rPr>
              <a:t xml:space="preserve">· </a:t>
            </a:r>
            <a:r>
              <a:rPr lang="zh-CN" sz="1125">
                <a:solidFill>
                  <a:srgbClr val="5A6B7A"/>
                </a:solidFill>
                <a:latin typeface="Microsoft YaHei"/>
                <a:ea typeface="Microsoft YaHei"/>
              </a:rPr>
              <a:t>字符串、数值、布尔与类型转换</a:t>
            </a:r>
            <a:endParaRPr/>
          </a:p>
        </p:txBody>
      </p:sp>
      <p:pic>
        <p:nvPicPr>
          <p:cNvPr id="48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</p:spTree>
  </p:cSld>
</p:sld>
</file>

<file path=ppt/slides/slide6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49" name="" descr="&lt;Slide style={{ width: '1280px', height: '720px', backgroundColor: '#FAFCFE', padding: 0, position: 'relative', overflow: 'hidden' }}&gt;&#13;&#10;    &lt;Box style={{ position: 'absolute', left: 64, top: 36, width: '1152px', flexDirection: 'row', alignItems: 'center', gap: 12 }}&gt;&#13;&#10;        &lt;Box style={{ background: '#1F5FA8', borderRadius: 5, padding: '3px 11px' }}&gt;&#13;&#10;            &lt;Text style={{ fontSize: 14, fontWeight: 'bold', color: '#FFFFFF' }}&gt;第 8 / 111 节&lt;/Text&gt;&#13;&#10;        &lt;/Box&gt;&#13;&#10;        &lt;Text style={{ fontSize: 30, fontWeight: 'bold', color: '#16232E' }}&gt;动手实战与答案讲评&lt;/Text&gt;&#13;&#10;    &lt;/Box&gt;&#13;&#10;    &lt;Box style={{ position: 'absolute', left: 0, top: 0, width: '1280px', height: '720px' }}&gt;&#13;&#10;        &lt;svg width='1280' height='720' viewBox='0 0 1280 720'&gt;&#13;&#10;            &lt;rect x='64' y='104' width='1152' height='112' rx='12' fill='#EEF5FB' /&gt;&lt;text x='84' y='134' fontSize='15' fontWeight='bold' fill='#1F5FA8' textAnchor='start' fontFamily='Microsoft YaHei'&gt;学习目标&lt;/text&gt;&lt;text x='84' y='164' fontSize='16' fill='#243444' textAnchor='start' fontFamily='Microsoft YaHei'&gt;独立完成单元 1 练习，能解释类型转换的报错原因&lt;/text&gt;&lt;rect x='64' y='240' width='562' height='248' rx='12' fill='#FFFFFF' stroke='#D8E3EE' /&gt;&lt;text x='84' y='274' fontSize='15' fontWeight='bold' fill='#0E9B78' textAnchor='start' fontFamily='Microsoft YaHei'&gt;课堂实操（40 分钟 · 不看答案）&lt;/text&gt;&lt;text x='84' y='308.0' fontSize='14.5' fill='#3A4A58' textAnchor='start' fontFamily='Microsoft YaHei'&gt;· 限时 25 分钟独立完成基础档&lt;/text&gt;&lt;text x='84' y='338.75' fontSize='14.5' fill='#3A4A58' textAnchor='start' fontFamily='Microsoft YaHei'&gt;· 写一个 BMI 计算器并格式化输出&lt;/text&gt;&lt;rect x='654' y='240' width='562' height='248' rx='12' fill='#FDF3E2' stroke='none' /&gt;&lt;text x='674' y='274' fontSize='15' fontWeight='bold' fill='#E08A15' textAnchor='start' fontFamily='Microsoft YaHei'&gt;课后作业&lt;/text&gt;&lt;text x='674' y='308.0' fontSize='14.5' fill='#3A4A58' textAnchor='start' fontFamily='Microsoft YaHei'&gt;· 完成进阶档 1-5 ~ 1-8&lt;/text&gt;&lt;text x='674' y='338.75' fontSize='14.5' fill='#3A4A58' textAnchor='start' fontFamily='Microsoft YaHei'&gt;· 产出：个人偏好调查问卷&lt;/text&gt;&lt;rect x='64' y='508' width='1152' height='92' rx='12' fill='#16232E' /&gt;&lt;text x='84' y='540' fontSize='14.5' fontWeight='bold' fill='#FFFFFF' textAnchor='start' fontFamily='Microsoft YaHei'&gt;这节课的节奏&lt;/text&gt;&lt;text x='84' y='570' fontSize='14' fill='#A8C4DE' textAnchor='start' fontFamily='Microsoft YaHei'&gt;先读讲义 20 分钟 → 自己敲 40 分钟（报错先自己读） → 对着讲评自查 20 分钟 → 写作业 10 分钟&lt;/text&gt;&#13;&#10;            &lt;text x='64' y='684' fontSize='13' fill='#8A9AAA' fontFamily='Microsoft YaHei'&gt;Python 讲授课件 · 逐节版&lt;/text&gt;&#13;&#10;            &lt;text x='1216' y='684' fontSize='13' fill='#8A9AAA' textAnchor='end' fontFamily='Microsoft YaHei'&gt;单元 1 · 第 8 节&lt;/text&gt;&#13;&#10;        &lt;/svg&gt;&#13;&#10;  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AFCFE"/>
          </a:solidFill>
          <a:ln/>
        </p:spPr>
        <p:txBody>
          <a:bodyPr/>
          <a:p/>
        </p:txBody>
      </p:sp>
      <p:sp>
        <p:nvSpPr>
          <p:cNvPr id="51" name=""/>
          <p:cNvSpPr/>
          <p:nvPr/>
        </p:nvSpPr>
        <p:spPr>
          <a:xfrm rot="0" flipH="0" flipV="0">
            <a:off x="609600" y="409575"/>
            <a:ext cx="1028700" cy="219075"/>
          </a:xfrm>
          <a:prstGeom prst="roundRect">
            <a:avLst>
              <a:gd name="adj" fmla="val 21739"/>
            </a:avLst>
          </a:prstGeom>
          <a:solidFill>
            <a:srgbClr val="1F5FA8"/>
          </a:solidFill>
          <a:ln/>
        </p:spPr>
        <p:txBody>
          <a:bodyPr/>
          <a:p/>
        </p:txBody>
      </p:sp>
      <p:sp>
        <p:nvSpPr>
          <p:cNvPr id="52" name="" descr="{&quot;isTemplate&quot;:true,&quot;type&quot;:&quot;text&quot;}"/>
          <p:cNvSpPr txBox="1"/>
          <p:nvPr/>
        </p:nvSpPr>
        <p:spPr>
          <a:xfrm rot="0" flipH="0" flipV="0">
            <a:off x="714375" y="438150"/>
            <a:ext cx="8191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FFFFFF"/>
                </a:solidFill>
                <a:latin typeface="Microsoft YaHei"/>
                <a:ea typeface="Microsoft YaHei"/>
              </a:rPr>
              <a:t>第</a:t>
            </a:r>
            <a:r>
              <a:rPr lang="en-US" sz="1050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 8 / 111 </a:t>
            </a:r>
            <a:r>
              <a:rPr lang="zh-CN" sz="1050" b="1">
                <a:solidFill>
                  <a:srgbClr val="FFFFFF"/>
                </a:solidFill>
                <a:latin typeface="Microsoft YaHei"/>
                <a:ea typeface="Microsoft YaHei"/>
              </a:rPr>
              <a:t>节</a:t>
            </a:r>
            <a:endParaRPr/>
          </a:p>
        </p:txBody>
      </p:sp>
      <p:sp>
        <p:nvSpPr>
          <p:cNvPr id="53" name="" descr="{&quot;isTemplate&quot;:true,&quot;type&quot;:&quot;text&quot;}"/>
          <p:cNvSpPr txBox="1"/>
          <p:nvPr/>
        </p:nvSpPr>
        <p:spPr>
          <a:xfrm rot="0" flipH="0" flipV="0">
            <a:off x="1752600" y="342900"/>
            <a:ext cx="257175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250" b="1">
                <a:solidFill>
                  <a:srgbClr val="16232E"/>
                </a:solidFill>
                <a:latin typeface="Microsoft YaHei"/>
                <a:ea typeface="Microsoft YaHei"/>
              </a:rPr>
              <a:t>动手实战与答案讲评</a:t>
            </a:r>
            <a:endParaRPr/>
          </a:p>
        </p:txBody>
      </p:sp>
      <p:pic>
        <p:nvPicPr>
          <p:cNvPr id="54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</p:spTree>
  </p:cSld>
</p:sld>
</file>

<file path=ppt/slides/slide7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55" name="" descr="&lt;Slide style={{ width: '1280px', height: '720px', backgroundColor: '#FAFCFE', padding: 0, position: 'relative', overflow: 'hidden' }}&gt;&#13;&#10;    &lt;Box style={{ position: 'absolute', left: 64, top: 36, width: '1152px', flexDirection: 'row', alignItems: 'center', gap: 12 }}&gt;&#13;&#10;        &lt;Box style={{ background: '#0E9B78', borderRadius: 5, padding: '3px 11px' }}&gt;&#13;&#10;            &lt;Text style={{ fontSize: 14, fontWeight: 'bold', color: '#FFFFFF' }}&gt;第 8 节&lt;/Text&gt;&#13;&#10;        &lt;/Box&gt;&#13;&#10;        &lt;Text style={{ fontSize: 30, fontWeight: 'bold', color: '#16232E' }}&gt;核心知识点&lt;/Text&gt;&#13;&#10;        &lt;Text style={{ fontSize: 15, color: '#5A6B7A', marginTop: 10 }}&gt;· 动手实战与答案讲评&lt;/Text&gt;&#13;&#10;    &lt;/Box&gt;&#13;&#10;    &lt;Box style={{ position: 'absolute', left: 0, top: 0, width: '1280px', height: '720px' }}&gt;&#13;&#10;        &lt;svg width='1280' height='720' viewBox='0 0 1280 720'&gt;&#13;&#10;            &lt;rect x='64' y='96' width='368' height='330' rx='12' fill='#FFFFFF' stroke='#D8E3EE' /&gt;&lt;rect x='64' y='96' width='368' height='4' rx='2' fill='#1F5FA8' /&gt;&lt;text x='82' y='130' fontSize='15.5' fontWeight='bold' fill='#1F5FA8' textAnchor='start' fontFamily='Microsoft YaHei'&gt;基础档&lt;/text&gt;&lt;text x='82' y='169.0' fontSize='13' fill='#3A4A58' textAnchor='start' fontFamily='Microsoft YaHei'&gt;· 练习 1-1【你的个人信息卡】&lt;/text&gt;&lt;text x='82' y='197.5' fontSize='13' fill='#3A4A58' textAnchor='start' fontFamily='Microsoft YaHei'&gt;· 练习 1-2【BMI 计算】&lt;/text&gt;&lt;text x='82' y='226.0' fontSize='13' fill='#3A4A58' textAnchor='start' fontFamily='Microsoft YaHei'&gt;· 练习 1-3【字符串方法接力】&lt;/text&gt;&lt;rect x='468' y='96' width='368' height='330' rx='12' fill='#FFFFFF' stroke='#D8E3EE' /&gt;&lt;rect x='468' y='96' width='368' height='4' rx='2' fill='#1F5FA8' /&gt;&lt;text x='486' y='130' fontSize='15.5' fontWeight='bold' fill='#1F5FA8' textAnchor='start' fontFamily='Microsoft YaHei'&gt;进阶档&lt;/text&gt;&lt;text x='486' y='169.0' fontSize='13' fill='#3A4A58' textAnchor='start' fontFamily='Microsoft YaHei'&gt;· 练习 1-5🌐【收银小票】&lt;/text&gt;&lt;text x='486' y='197.5' fontSize='13' fill='#3A4A58' textAnchor='start' fontFamily='Microsoft YaHei'&gt;· 练习 1-6【格式化对齐报表】&lt;/text&gt;&lt;text x='486' y='226.0' fontSize='13' fill='#3A4A58' textAnchor='start' fontFamily='Microsoft YaHei'&gt;· 练习 1-7【字符串拆解分析器】&lt;/text&gt;&lt;rect x='872' y='96' width='368' height='330' rx='12' fill='#FFFFFF' stroke='#D8E3EE' /&gt;&lt;rect x='872' y='96' width='368' height='4' rx='2' fill='#1F5FA8' /&gt;&lt;text x='890' y='130' fontSize='15.5' fontWeight='bold' fill='#1F5FA8' textAnchor='start' fontFamily='Microsoft YaHei'&gt;参考答案 1-1&lt;/text&gt;&lt;text x='890' y='169.0' fontSize='13' fill='#3A4A58' textAnchor='start' fontFamily='Microsoft YaHei'&gt;· name = &quot;小明&quot; # str 类型&lt;/text&gt;&lt;rect x='64' y='574' width='1152' height='66' rx='12' fill='#EEF5FB' /&gt;&lt;text x='84' y='616' fontSize='14' fill='#243444' textAnchor='start' fontFamily='Microsoft YaHei'&gt;看不懂的地方先回讲义对应小节读一遍，再回来对着这页复述一次——能讲出来才算真懂。&lt;/text&gt;&#13;&#10;            &lt;text x='64' y='684' fontSize='13' fill='#8A9AAA' fontFamily='Microsoft YaHei'&gt;Python 讲授课件 · 逐节版&lt;/text&gt;&#13;&#10;            &lt;text x='1216' y='684' fontSize='13' fill='#8A9AAA' textAnchor='end' fontFamily='Microsoft YaHei'&gt;单元 1 · 第 8 节&lt;/text&gt;&#13;&#10;        &lt;/svg&gt;&#13;&#10;  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AFCFE"/>
          </a:solidFill>
          <a:ln/>
        </p:spPr>
        <p:txBody>
          <a:bodyPr/>
          <a:p/>
        </p:txBody>
      </p:sp>
      <p:sp>
        <p:nvSpPr>
          <p:cNvPr id="57" name=""/>
          <p:cNvSpPr/>
          <p:nvPr/>
        </p:nvSpPr>
        <p:spPr>
          <a:xfrm rot="0" flipH="0" flipV="0">
            <a:off x="609600" y="409575"/>
            <a:ext cx="638175" cy="219075"/>
          </a:xfrm>
          <a:prstGeom prst="roundRect">
            <a:avLst>
              <a:gd name="adj" fmla="val 21739"/>
            </a:avLst>
          </a:prstGeom>
          <a:solidFill>
            <a:srgbClr val="0E9B78"/>
          </a:solidFill>
          <a:ln/>
        </p:spPr>
        <p:txBody>
          <a:bodyPr/>
          <a:p/>
        </p:txBody>
      </p:sp>
      <p:sp>
        <p:nvSpPr>
          <p:cNvPr id="58" name="" descr="{&quot;isTemplate&quot;:true,&quot;type&quot;:&quot;text&quot;}"/>
          <p:cNvSpPr txBox="1"/>
          <p:nvPr/>
        </p:nvSpPr>
        <p:spPr>
          <a:xfrm rot="0" flipH="0" flipV="0">
            <a:off x="714375" y="438150"/>
            <a:ext cx="4286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FFFFFF"/>
                </a:solidFill>
                <a:latin typeface="Microsoft YaHei"/>
                <a:ea typeface="Microsoft YaHei"/>
              </a:rPr>
              <a:t>第</a:t>
            </a:r>
            <a:r>
              <a:rPr lang="en-US" sz="1050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 8 </a:t>
            </a:r>
            <a:r>
              <a:rPr lang="zh-CN" sz="1050" b="1">
                <a:solidFill>
                  <a:srgbClr val="FFFFFF"/>
                </a:solidFill>
                <a:latin typeface="Microsoft YaHei"/>
                <a:ea typeface="Microsoft YaHei"/>
              </a:rPr>
              <a:t>节</a:t>
            </a:r>
            <a:endParaRPr/>
          </a:p>
        </p:txBody>
      </p:sp>
      <p:sp>
        <p:nvSpPr>
          <p:cNvPr id="59" name="" descr="{&quot;isTemplate&quot;:true,&quot;type&quot;:&quot;text&quot;}"/>
          <p:cNvSpPr txBox="1"/>
          <p:nvPr/>
        </p:nvSpPr>
        <p:spPr>
          <a:xfrm rot="0" flipH="0" flipV="0">
            <a:off x="1362075" y="342900"/>
            <a:ext cx="142875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250" b="1">
                <a:solidFill>
                  <a:srgbClr val="16232E"/>
                </a:solidFill>
                <a:latin typeface="Microsoft YaHei"/>
                <a:ea typeface="Microsoft YaHei"/>
              </a:rPr>
              <a:t>核心知识点</a:t>
            </a:r>
            <a:endParaRPr/>
          </a:p>
        </p:txBody>
      </p:sp>
      <p:sp>
        <p:nvSpPr>
          <p:cNvPr id="60" name="" descr="{&quot;isTemplate&quot;:true,&quot;type&quot;:&quot;text&quot;}"/>
          <p:cNvSpPr txBox="1"/>
          <p:nvPr/>
        </p:nvSpPr>
        <p:spPr>
          <a:xfrm rot="0" flipH="0" flipV="0">
            <a:off x="2905125" y="476250"/>
            <a:ext cx="13716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5A6B7A"/>
                </a:solidFill>
                <a:latin typeface="Microsoft YaHei"/>
                <a:ea typeface="Microsoft YaHei"/>
              </a:rPr>
              <a:t xml:space="preserve">· </a:t>
            </a:r>
            <a:r>
              <a:rPr lang="zh-CN" sz="1125">
                <a:solidFill>
                  <a:srgbClr val="5A6B7A"/>
                </a:solidFill>
                <a:latin typeface="Microsoft YaHei"/>
                <a:ea typeface="Microsoft YaHei"/>
              </a:rPr>
              <a:t>动手实战与答案讲评</a:t>
            </a:r>
            <a:endParaRPr/>
          </a:p>
        </p:txBody>
      </p:sp>
      <p:pic>
        <p:nvPicPr>
          <p:cNvPr id="61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</p:spTree>
  </p:cSld>
</p:sld>
</file>

<file path=ppt/slides/slide8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62" name="" descr="&lt;Slide style={{ width: '1280px', height: '720px', backgroundColor: '#FAFCFE', padding: 0, position: 'relative', overflow: 'hidden' }}&gt;&#13;&#10;    &lt;Box style={{ position: 'absolute', left: 64, top: 36, width: '1152px', flexDirection: 'row', alignItems: 'center', gap: 12 }}&gt;&#13;&#10;        &lt;Box style={{ background: '#1F5FA8', borderRadius: 5, padding: '3px 11px' }}&gt;&#13;&#10;            &lt;Text style={{ fontSize: 14, fontWeight: 'bold', color: '#FFFFFF' }}&gt;第 9 / 111 节&lt;/Text&gt;&#13;&#10;        &lt;/Box&gt;&#13;&#10;        &lt;Text style={{ fontSize: 30, fontWeight: 'bold', color: '#16232E' }}&gt;单元 1 验收复盘&lt;/Text&gt;&#13;&#10;    &lt;/Box&gt;&#13;&#10;    &lt;Box style={{ position: 'absolute', left: 0, top: 0, width: '1280px', height: '720px' }}&gt;&#13;&#10;        &lt;svg width='1280' height='720' viewBox='0 0 1280 720'&gt;&#13;&#10;            &lt;rect x='64' y='104' width='1152' height='112' rx='12' fill='#EEF5FB' /&gt;&lt;text x='84' y='134' fontSize='15' fontWeight='bold' fill='#1F5FA8' textAnchor='start' fontFamily='Microsoft YaHei'&gt;学习目标&lt;/text&gt;&lt;text x='84' y='164' fontSize='16' fill='#243444' textAnchor='start' fontFamily='Microsoft YaHei'&gt;确认四种类型、命名规范、类型转换都过关&lt;/text&gt;&lt;rect x='64' y='240' width='562' height='248' rx='12' fill='#FFFFFF' stroke='#D8E3EE' /&gt;&lt;text x='84' y='274' fontSize='15' fontWeight='bold' fill='#0E9B78' textAnchor='start' fontFamily='Microsoft YaHei'&gt;课堂实操（40 分钟 · 不看答案）&lt;/text&gt;&lt;text x='84' y='308.0' fontSize='14.5' fill='#3A4A58' textAnchor='start' fontFamily='Microsoft YaHei'&gt;· 逐条打勾验收自测&lt;/text&gt;&lt;text x='84' y='338.75' fontSize='14.5' fill='#3A4A58' textAnchor='start' fontFamily='Microsoft YaHei'&gt;· 互相考 5 个最易错的类型题&lt;/text&gt;&lt;rect x='654' y='240' width='562' height='248' rx='12' fill='#FDF3E2' stroke='none' /&gt;&lt;text x='674' y='274' fontSize='15' fontWeight='bold' fill='#E08A15' textAnchor='start' fontFamily='Microsoft YaHei'&gt;课后作业&lt;/text&gt;&lt;text x='674' y='308.0' fontSize='14.5' fill='#3A4A58' textAnchor='start' fontFamily='Microsoft YaHei'&gt;· 完成本单元小结与产出检查&lt;/text&gt;&lt;rect x='64' y='508' width='1152' height='92' rx='12' fill='#16232E' /&gt;&lt;text x='84' y='540' fontSize='14.5' fontWeight='bold' fill='#FFFFFF' textAnchor='start' fontFamily='Microsoft YaHei'&gt;这节课的节奏&lt;/text&gt;&lt;text x='84' y='570' fontSize='14' fill='#A8C4DE' textAnchor='start' fontFamily='Microsoft YaHei'&gt;先读讲义 20 分钟 → 自己敲 40 分钟（报错先自己读） → 对着讲评自查 20 分钟 → 写作业 10 分钟&lt;/text&gt;&#13;&#10;            &lt;text x='64' y='684' fontSize='13' fill='#8A9AAA' fontFamily='Microsoft YaHei'&gt;Python 讲授课件 · 逐节版&lt;/text&gt;&#13;&#10;            &lt;text x='1216' y='684' fontSize='13' fill='#8A9AAA' textAnchor='end' fontFamily='Microsoft YaHei'&gt;单元 1 · 第 9 节&lt;/text&gt;&#13;&#10;        &lt;/svg&gt;&#13;&#10;  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AFCFE"/>
          </a:solidFill>
          <a:ln/>
        </p:spPr>
        <p:txBody>
          <a:bodyPr/>
          <a:p/>
        </p:txBody>
      </p:sp>
      <p:sp>
        <p:nvSpPr>
          <p:cNvPr id="64" name=""/>
          <p:cNvSpPr/>
          <p:nvPr/>
        </p:nvSpPr>
        <p:spPr>
          <a:xfrm rot="0" flipH="0" flipV="0">
            <a:off x="609600" y="409575"/>
            <a:ext cx="1028700" cy="219075"/>
          </a:xfrm>
          <a:prstGeom prst="roundRect">
            <a:avLst>
              <a:gd name="adj" fmla="val 21739"/>
            </a:avLst>
          </a:prstGeom>
          <a:solidFill>
            <a:srgbClr val="1F5FA8"/>
          </a:solidFill>
          <a:ln/>
        </p:spPr>
        <p:txBody>
          <a:bodyPr/>
          <a:p/>
        </p:txBody>
      </p:sp>
      <p:sp>
        <p:nvSpPr>
          <p:cNvPr id="65" name="" descr="{&quot;isTemplate&quot;:true,&quot;type&quot;:&quot;text&quot;}"/>
          <p:cNvSpPr txBox="1"/>
          <p:nvPr/>
        </p:nvSpPr>
        <p:spPr>
          <a:xfrm rot="0" flipH="0" flipV="0">
            <a:off x="714375" y="438150"/>
            <a:ext cx="8191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FFFFFF"/>
                </a:solidFill>
                <a:latin typeface="Microsoft YaHei"/>
                <a:ea typeface="Microsoft YaHei"/>
              </a:rPr>
              <a:t>第</a:t>
            </a:r>
            <a:r>
              <a:rPr lang="en-US" sz="1050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 9 / 111 </a:t>
            </a:r>
            <a:r>
              <a:rPr lang="zh-CN" sz="1050" b="1">
                <a:solidFill>
                  <a:srgbClr val="FFFFFF"/>
                </a:solidFill>
                <a:latin typeface="Microsoft YaHei"/>
                <a:ea typeface="Microsoft YaHei"/>
              </a:rPr>
              <a:t>节</a:t>
            </a:r>
            <a:endParaRPr/>
          </a:p>
        </p:txBody>
      </p:sp>
      <p:sp>
        <p:nvSpPr>
          <p:cNvPr id="66" name="" descr="{&quot;isTemplate&quot;:true,&quot;type&quot;:&quot;text&quot;}"/>
          <p:cNvSpPr txBox="1"/>
          <p:nvPr/>
        </p:nvSpPr>
        <p:spPr>
          <a:xfrm rot="0" flipH="0" flipV="0">
            <a:off x="1752600" y="342900"/>
            <a:ext cx="2066925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250" b="1">
                <a:solidFill>
                  <a:srgbClr val="16232E"/>
                </a:solidFill>
                <a:latin typeface="Microsoft YaHei"/>
                <a:ea typeface="Microsoft YaHei"/>
              </a:rPr>
              <a:t>单元</a:t>
            </a:r>
            <a:r>
              <a:rPr lang="en-US" sz="2250" b="1">
                <a:solidFill>
                  <a:srgbClr val="16232E"/>
                </a:solidFill>
                <a:latin typeface="Microsoft YaHei"/>
                <a:ea typeface="Microsoft YaHei"/>
              </a:rPr>
              <a:t xml:space="preserve"> 1 </a:t>
            </a:r>
            <a:r>
              <a:rPr lang="zh-CN" sz="2250" b="1">
                <a:solidFill>
                  <a:srgbClr val="16232E"/>
                </a:solidFill>
                <a:latin typeface="Microsoft YaHei"/>
                <a:ea typeface="Microsoft YaHei"/>
              </a:rPr>
              <a:t>验收复盘</a:t>
            </a:r>
            <a:endParaRPr/>
          </a:p>
        </p:txBody>
      </p:sp>
      <p:pic>
        <p:nvPicPr>
          <p:cNvPr id="67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</p:spTree>
  </p:cSld>
</p:sld>
</file>

<file path=ppt/slides/slide9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68" name="" descr="&lt;Slide style={{ width: '1280px', height: '720px', backgroundColor: '#FAFCFE', padding: 0, position: 'relative', overflow: 'hidden' }}&gt;&#13;&#10;    &lt;Box style={{ position: 'absolute', left: 64, top: 36, width: '1152px', flexDirection: 'row', alignItems: 'center', gap: 12 }}&gt;&#13;&#10;        &lt;Box style={{ background: '#0E9B78', borderRadius: 5, padding: '3px 11px' }}&gt;&#13;&#10;            &lt;Text style={{ fontSize: 14, fontWeight: 'bold', color: '#FFFFFF' }}&gt;第 9 节&lt;/Text&gt;&#13;&#10;        &lt;/Box&gt;&#13;&#10;        &lt;Text style={{ fontSize: 30, fontWeight: 'bold', color: '#16232E' }}&gt;核心知识点&lt;/Text&gt;&#13;&#10;        &lt;Text style={{ fontSize: 15, color: '#5A6B7A', marginTop: 10 }}&gt;· 单元 1 验收复盘&lt;/Text&gt;&#13;&#10;    &lt;/Box&gt;&#13;&#10;    &lt;Box style={{ position: 'absolute', left: 0, top: 0, width: '1280px', height: '720px' }}&gt;&#13;&#10;        &lt;svg width='1280' height='720' viewBox='0 0 1280 720'&gt;&#13;&#10;            &lt;rect x='64' y='574' width='1152' height='66' rx='12' fill='#EEF5FB' /&gt;&lt;text x='84' y='616' fontSize='14' fill='#243444' textAnchor='start' fontFamily='Microsoft YaHei'&gt;看不懂的地方先回讲义对应小节读一遍，再回来对着这页复述一次——能讲出来才算真懂。&lt;/text&gt;&#13;&#10;            &lt;text x='64' y='684' fontSize='13' fill='#8A9AAA' fontFamily='Microsoft YaHei'&gt;Python 讲授课件 · 逐节版&lt;/text&gt;&#13;&#10;            &lt;text x='1216' y='684' fontSize='13' fill='#8A9AAA' textAnchor='end' fontFamily='Microsoft YaHei'&gt;单元 1 · 第 9 节&lt;/text&gt;&#13;&#10;        &lt;/svg&gt;&#13;&#10;  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AFCFE"/>
          </a:solidFill>
          <a:ln/>
        </p:spPr>
        <p:txBody>
          <a:bodyPr/>
          <a:p/>
        </p:txBody>
      </p:sp>
      <p:sp>
        <p:nvSpPr>
          <p:cNvPr id="70" name=""/>
          <p:cNvSpPr/>
          <p:nvPr/>
        </p:nvSpPr>
        <p:spPr>
          <a:xfrm rot="0" flipH="0" flipV="0">
            <a:off x="609600" y="409575"/>
            <a:ext cx="638175" cy="219075"/>
          </a:xfrm>
          <a:prstGeom prst="roundRect">
            <a:avLst>
              <a:gd name="adj" fmla="val 21739"/>
            </a:avLst>
          </a:prstGeom>
          <a:solidFill>
            <a:srgbClr val="0E9B78"/>
          </a:solidFill>
          <a:ln/>
        </p:spPr>
        <p:txBody>
          <a:bodyPr/>
          <a:p/>
        </p:txBody>
      </p:sp>
      <p:sp>
        <p:nvSpPr>
          <p:cNvPr id="71" name="" descr="{&quot;isTemplate&quot;:true,&quot;type&quot;:&quot;text&quot;}"/>
          <p:cNvSpPr txBox="1"/>
          <p:nvPr/>
        </p:nvSpPr>
        <p:spPr>
          <a:xfrm rot="0" flipH="0" flipV="0">
            <a:off x="714375" y="438150"/>
            <a:ext cx="4286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FFFFFF"/>
                </a:solidFill>
                <a:latin typeface="Microsoft YaHei"/>
                <a:ea typeface="Microsoft YaHei"/>
              </a:rPr>
              <a:t>第</a:t>
            </a:r>
            <a:r>
              <a:rPr lang="en-US" sz="1050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 9 </a:t>
            </a:r>
            <a:r>
              <a:rPr lang="zh-CN" sz="1050" b="1">
                <a:solidFill>
                  <a:srgbClr val="FFFFFF"/>
                </a:solidFill>
                <a:latin typeface="Microsoft YaHei"/>
                <a:ea typeface="Microsoft YaHei"/>
              </a:rPr>
              <a:t>节</a:t>
            </a:r>
            <a:endParaRPr/>
          </a:p>
        </p:txBody>
      </p:sp>
      <p:sp>
        <p:nvSpPr>
          <p:cNvPr id="72" name="" descr="{&quot;isTemplate&quot;:true,&quot;type&quot;:&quot;text&quot;}"/>
          <p:cNvSpPr txBox="1"/>
          <p:nvPr/>
        </p:nvSpPr>
        <p:spPr>
          <a:xfrm rot="0" flipH="0" flipV="0">
            <a:off x="1362075" y="342900"/>
            <a:ext cx="142875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250" b="1">
                <a:solidFill>
                  <a:srgbClr val="16232E"/>
                </a:solidFill>
                <a:latin typeface="Microsoft YaHei"/>
                <a:ea typeface="Microsoft YaHei"/>
              </a:rPr>
              <a:t>核心知识点</a:t>
            </a:r>
            <a:endParaRPr/>
          </a:p>
        </p:txBody>
      </p:sp>
      <p:sp>
        <p:nvSpPr>
          <p:cNvPr id="73" name="" descr="{&quot;isTemplate&quot;:true,&quot;type&quot;:&quot;text&quot;}"/>
          <p:cNvSpPr txBox="1"/>
          <p:nvPr/>
        </p:nvSpPr>
        <p:spPr>
          <a:xfrm rot="0" flipH="0" flipV="0">
            <a:off x="2905125" y="476250"/>
            <a:ext cx="11049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5A6B7A"/>
                </a:solidFill>
                <a:latin typeface="Microsoft YaHei"/>
                <a:ea typeface="Microsoft YaHei"/>
              </a:rPr>
              <a:t xml:space="preserve">· </a:t>
            </a:r>
            <a:r>
              <a:rPr lang="zh-CN" sz="1125">
                <a:solidFill>
                  <a:srgbClr val="5A6B7A"/>
                </a:solidFill>
                <a:latin typeface="Microsoft YaHei"/>
                <a:ea typeface="Microsoft YaHei"/>
              </a:rPr>
              <a:t>单元</a:t>
            </a:r>
            <a:r>
              <a:rPr lang="en-US" sz="1125">
                <a:solidFill>
                  <a:srgbClr val="5A6B7A"/>
                </a:solidFill>
                <a:latin typeface="Microsoft YaHei"/>
                <a:ea typeface="Microsoft YaHei"/>
              </a:rPr>
              <a:t xml:space="preserve"> 1 </a:t>
            </a:r>
            <a:r>
              <a:rPr lang="zh-CN" sz="1125">
                <a:solidFill>
                  <a:srgbClr val="5A6B7A"/>
                </a:solidFill>
                <a:latin typeface="Microsoft YaHei"/>
                <a:ea typeface="Microsoft YaHei"/>
              </a:rPr>
              <a:t>验收复盘</a:t>
            </a:r>
            <a:endParaRPr/>
          </a:p>
        </p:txBody>
      </p:sp>
      <p:pic>
        <p:nvPicPr>
          <p:cNvPr id="74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</p:spTree>
  </p:cSld>
</p:sld>
</file>

<file path=ppt/slides/slide10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9" name="" descr="&lt;Slide style={{ width: '1280px', height: '720px', backgroundColor: '#FAFCFE', padding: 0, position: 'relative', overflow: 'hidden' }}&gt;&#13;&#10;    &lt;Box style={{ position: 'absolute', left: 0, top: 0, width: '12px', height: '720px', background: '#0E9B78' }} /&gt;&#13;&#10;    &lt;Box style={{ position: 'absolute', left: 72, top: 44, width: '1144px', flexDirection: 'column' }}&gt;&#13;&#10;        &lt;Text style={{ fontSize: 34, fontWeight: 'bold', color: '#16232E' }}&gt;单元 1 · 小结与验收&lt;/Text&gt;&#13;&#10;        &lt;Text style={{ fontSize: 16, color: '#5A6B7A', marginTop: 6 }}&gt;变量与简单数据类型&lt;/Text&gt;&#13;&#10;    &lt;/Box&gt;&#13;&#10;    &lt;Box style={{ position: 'absolute', left: 72, top: 148, width: '552px', height: 400, background: '#FFFFFF', border: '1px solid #D8E3EE', borderRadius: 12, padding: 18, flexDirection: 'column' }}&gt;&#13;&#10;        &lt;Text style={{ fontSize: 16, fontWeight: 'bold', color: '#1F5FA8' }}&gt;本单元课节回顾&lt;/Text&gt;&#13;&#10;        &lt;Box style={{ marginTop: 10, position: 'relative', height: 330 }}&gt;&#13;&#10;            &lt;svg width='516' height='330' viewBox='0 0 516 330'&gt;&lt;text x='0' y='34' fontSize='14.5' fill='#3A4A58' fontFamily='Microsoft YaHei'&gt;· 第 6 节 · 变量、命名与第一段文字&lt;/text&gt;&lt;text x='0' y='64' fontSize='14.5' fill='#3A4A58' fontFamily='Microsoft YaHei'&gt;· 第 7 节 · 字符串、数值、布尔与类型转换&lt;/text&gt;&lt;text x='0' y='94' fontSize='14.5' fill='#3A4A58' fontFamily='Microsoft YaHei'&gt;· 第 8 节 · 动手实战与答案讲评&lt;/text&gt;&lt;text x='0' y='124' fontSize='14.5' fill='#3A4A58' fontFamily='Microsoft YaHei'&gt;· 第 9 节 · 单元 1 验收复盘&lt;/text&gt;&lt;/svg&gt;&#13;&#10;        &lt;/Box&gt;&#13;&#10;    &lt;/Box&gt;&#13;&#10;    &lt;Box style={{ position: 'absolute', left: 656, top: 148, width: '560px', height: 400, background: '#FDF3E2', borderRadius: 12, padding: 20, flexDirection: 'column' }}&gt;&#13;&#10;        &lt;Text style={{ fontSize: 16, fontWeight: 'bold', color: '#E08A15' }}&gt;过关标准&lt;/Text&gt;&#13;&#10;        &lt;Text style={{ fontSize: 15, color: '#3A4A58', marginTop: 12, lineHeight: 1.9 }}&gt;&#13;&#10;            1. 本单元每一节的课后作业都做完并自己验收过&#13;&#10;&#13;&#10;            2. 不看讲义能独立重写一遍本单元的示例代码&#13;&#10;&#13;&#10;            3. 讲义最后「本单元验收自测」全部答对&#13;&#10;&#13;&#10;            4. 产出物已经写进笔记或提交到 Git&#13;&#10;        &lt;/Text&gt;&#13;&#10;        &lt;Text style={{ fontSize: 14, color: '#8A6A2A', marginTop: 16, lineHeight: 1.7 }}&gt;&#13;&#10;            没过关的项回到对应那一节重做，不要整体重学。&#13;&#10;        &lt;/Text&gt;&#13;&#10;    &lt;/Box&gt;&#13;&#10;    &lt;Box style={{ position: 'absolute', left: 72, bottom: 26, width: '1144px', flexDirection: 'row', justifyContent: 'space-between' }}&gt;&#13;&#10;        &lt;Text style={{ fontSize: 13, color: '#8A9AAA' }}&gt;Python 讲授课件 · 逐节版&lt;/Text&gt;&#13;&#10;        &lt;Text style={{ fontSize: 13, color: '#8A9AAA' }}&gt;单元 1 · 小结&lt;/Text&gt;&#13;&#10;  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AFCFE"/>
          </a:solidFill>
          <a:ln/>
        </p:spPr>
        <p:txBody>
          <a:bodyPr/>
          <a:p/>
        </p:txBody>
      </p:sp>
      <p:sp>
        <p:nvSpPr>
          <p:cNvPr id="11" name=""/>
          <p:cNvSpPr/>
          <p:nvPr/>
        </p:nvSpPr>
        <p:spPr>
          <a:xfrm rot="0" flipH="0" flipV="0">
            <a:off x="0" y="0"/>
            <a:ext cx="114300" cy="6858000"/>
          </a:xfrm>
          <a:prstGeom prst="rect">
            <a:avLst/>
          </a:prstGeom>
          <a:solidFill>
            <a:srgbClr val="0E9B78"/>
          </a:solidFill>
          <a:ln/>
        </p:spPr>
        <p:txBody>
          <a:bodyPr/>
          <a:p/>
        </p:txBody>
      </p:sp>
      <p:sp>
        <p:nvSpPr>
          <p:cNvPr id="12" name="" descr="{&quot;isTemplate&quot;:true,&quot;type&quot;:&quot;text&quot;}"/>
          <p:cNvSpPr txBox="1"/>
          <p:nvPr/>
        </p:nvSpPr>
        <p:spPr>
          <a:xfrm rot="0" flipH="0" flipV="0">
            <a:off x="685800" y="419100"/>
            <a:ext cx="108966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16232E"/>
                </a:solidFill>
                <a:latin typeface="Microsoft YaHei"/>
                <a:ea typeface="Microsoft YaHei"/>
              </a:rPr>
              <a:t>单元</a:t>
            </a:r>
            <a:r>
              <a:rPr lang="en-US" sz="2550" b="1">
                <a:solidFill>
                  <a:srgbClr val="16232E"/>
                </a:solidFill>
                <a:latin typeface="Microsoft YaHei"/>
                <a:ea typeface="Microsoft YaHei"/>
              </a:rPr>
              <a:t xml:space="preserve"> 1 · </a:t>
            </a:r>
            <a:r>
              <a:rPr lang="zh-CN" sz="2550" b="1">
                <a:solidFill>
                  <a:srgbClr val="16232E"/>
                </a:solidFill>
                <a:latin typeface="Microsoft YaHei"/>
                <a:ea typeface="Microsoft YaHei"/>
              </a:rPr>
              <a:t>小结与验收</a:t>
            </a:r>
            <a:endParaRPr/>
          </a:p>
        </p:txBody>
      </p:sp>
      <p:sp>
        <p:nvSpPr>
          <p:cNvPr id="13" name="" descr="{&quot;isTemplate&quot;:true,&quot;type&quot;:&quot;text&quot;}"/>
          <p:cNvSpPr txBox="1"/>
          <p:nvPr/>
        </p:nvSpPr>
        <p:spPr>
          <a:xfrm rot="0" flipH="0" flipV="0">
            <a:off x="685800" y="866775"/>
            <a:ext cx="108966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5A6B7A"/>
                </a:solidFill>
                <a:latin typeface="Microsoft YaHei"/>
                <a:ea typeface="Microsoft YaHei"/>
              </a:rPr>
              <a:t>变量与简单数据类型</a:t>
            </a:r>
            <a:endParaRPr/>
          </a:p>
        </p:txBody>
      </p:sp>
      <p:sp>
        <p:nvSpPr>
          <p:cNvPr id="14" name=""/>
          <p:cNvSpPr/>
          <p:nvPr/>
        </p:nvSpPr>
        <p:spPr>
          <a:xfrm rot="0" flipH="0" flipV="0">
            <a:off x="685800" y="1409700"/>
            <a:ext cx="5257800" cy="3810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8E3EE"/>
            </a:solidFill>
            <a:prstDash val="solid"/>
          </a:ln>
        </p:spPr>
        <p:txBody>
          <a:bodyPr/>
          <a:p/>
        </p:txBody>
      </p:sp>
      <p:sp>
        <p:nvSpPr>
          <p:cNvPr id="15" name="" descr="{&quot;isTemplate&quot;:true,&quot;type&quot;:&quot;text&quot;}"/>
          <p:cNvSpPr txBox="1"/>
          <p:nvPr/>
        </p:nvSpPr>
        <p:spPr>
          <a:xfrm rot="0" flipH="0" flipV="0">
            <a:off x="857250" y="1581150"/>
            <a:ext cx="49149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1F5FA8"/>
                </a:solidFill>
                <a:latin typeface="Microsoft YaHei"/>
                <a:ea typeface="Microsoft YaHei"/>
              </a:rPr>
              <a:t>本单元课节回顾</a:t>
            </a:r>
            <a:endParaRPr/>
          </a:p>
        </p:txBody>
      </p:sp>
      <p:pic>
        <p:nvPicPr>
          <p:cNvPr id="16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857250" y="1866900"/>
            <a:ext cx="4914900" cy="3143250"/>
          </a:xfrm>
          <a:prstGeom prst="rect">
            <a:avLst/>
          </a:prstGeom>
          <a:ln/>
        </p:spPr>
      </p:pic>
      <p:sp>
        <p:nvSpPr>
          <p:cNvPr id="17" name=""/>
          <p:cNvSpPr/>
          <p:nvPr/>
        </p:nvSpPr>
        <p:spPr>
          <a:xfrm rot="0" flipH="0" flipV="0">
            <a:off x="6248400" y="1409700"/>
            <a:ext cx="5334000" cy="3810000"/>
          </a:xfrm>
          <a:prstGeom prst="roundRect">
            <a:avLst>
              <a:gd name="adj" fmla="val 3000"/>
            </a:avLst>
          </a:prstGeom>
          <a:solidFill>
            <a:srgbClr val="FDF3E2"/>
          </a:solidFill>
          <a:ln/>
        </p:spPr>
        <p:txBody>
          <a:bodyPr/>
          <a:p/>
        </p:txBody>
      </p:sp>
      <p:sp>
        <p:nvSpPr>
          <p:cNvPr id="18" name="" descr="{&quot;isTemplate&quot;:true,&quot;type&quot;:&quot;text&quot;}"/>
          <p:cNvSpPr txBox="1"/>
          <p:nvPr/>
        </p:nvSpPr>
        <p:spPr>
          <a:xfrm rot="0" flipH="0" flipV="0">
            <a:off x="6438900" y="1600200"/>
            <a:ext cx="49530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E08A15"/>
                </a:solidFill>
                <a:latin typeface="Microsoft YaHei"/>
                <a:ea typeface="Microsoft YaHei"/>
              </a:rPr>
              <a:t>过关标准</a:t>
            </a:r>
            <a:endParaRPr/>
          </a:p>
        </p:txBody>
      </p:sp>
      <p:sp>
        <p:nvSpPr>
          <p:cNvPr id="19" name="" descr="{&quot;isTemplate&quot;:true,&quot;type&quot;:&quot;text&quot;}"/>
          <p:cNvSpPr txBox="1"/>
          <p:nvPr/>
        </p:nvSpPr>
        <p:spPr>
          <a:xfrm rot="0" flipH="0" flipV="0">
            <a:off x="6438900" y="1905000"/>
            <a:ext cx="4953000" cy="9810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90000"/>
              </a:lnSpc>
            </a:pPr>
            <a:r>
              <a:rPr lang="en-US" sz="1125">
                <a:solidFill>
                  <a:srgbClr val="3A4A58"/>
                </a:solidFill>
                <a:latin typeface="Microsoft YaHei"/>
                <a:ea typeface="Microsoft YaHei"/>
              </a:rPr>
              <a:t xml:space="preserve">1. </a:t>
            </a:r>
            <a:r>
              <a:rPr lang="zh-CN" sz="1125">
                <a:solidFill>
                  <a:srgbClr val="3A4A58"/>
                </a:solidFill>
                <a:latin typeface="Microsoft YaHei"/>
                <a:ea typeface="Microsoft YaHei"/>
              </a:rPr>
              <a:t>本单元每一节的课后作业都做完并自己验收过</a:t>
            </a:r>
            <a:r>
              <a:rPr lang="en-US" sz="1125">
                <a:solidFill>
                  <a:srgbClr val="3A4A58"/>
                </a:solidFill>
                <a:latin typeface="Microsoft YaHei"/>
                <a:ea typeface="Microsoft YaHei"/>
              </a:rPr>
              <a:t xml:space="preserve"> 2. </a:t>
            </a:r>
            <a:r>
              <a:rPr lang="zh-CN" sz="1125">
                <a:solidFill>
                  <a:srgbClr val="3A4A58"/>
                </a:solidFill>
                <a:latin typeface="Microsoft YaHei"/>
                <a:ea typeface="Microsoft YaHei"/>
              </a:rPr>
              <a:t>不看讲义能独立重写一遍本单元的示例代码</a:t>
            </a:r>
            <a:r>
              <a:rPr lang="en-US" sz="1125">
                <a:solidFill>
                  <a:srgbClr val="3A4A58"/>
                </a:solidFill>
                <a:latin typeface="Microsoft YaHei"/>
                <a:ea typeface="Microsoft YaHei"/>
              </a:rPr>
              <a:t xml:space="preserve"> 3. </a:t>
            </a:r>
            <a:r>
              <a:rPr lang="zh-CN" sz="1125">
                <a:solidFill>
                  <a:srgbClr val="3A4A58"/>
                </a:solidFill>
                <a:latin typeface="Microsoft YaHei"/>
                <a:ea typeface="Microsoft YaHei"/>
              </a:rPr>
              <a:t>讲义最后「本单元验收自测」全部答对</a:t>
            </a:r>
            <a:r>
              <a:rPr lang="en-US" sz="1125">
                <a:solidFill>
                  <a:srgbClr val="3A4A58"/>
                </a:solidFill>
                <a:latin typeface="Microsoft YaHei"/>
                <a:ea typeface="Microsoft YaHei"/>
              </a:rPr>
              <a:t xml:space="preserve"> 4. </a:t>
            </a:r>
            <a:r>
              <a:rPr lang="zh-CN" sz="1125">
                <a:solidFill>
                  <a:srgbClr val="3A4A58"/>
                </a:solidFill>
                <a:latin typeface="Microsoft YaHei"/>
                <a:ea typeface="Microsoft YaHei"/>
              </a:rPr>
              <a:t>产出物已经写进笔记或提交到</a:t>
            </a:r>
            <a:r>
              <a:rPr lang="en-US" sz="1125">
                <a:solidFill>
                  <a:srgbClr val="3A4A58"/>
                </a:solidFill>
                <a:latin typeface="Microsoft YaHei"/>
                <a:ea typeface="Microsoft YaHei"/>
              </a:rPr>
              <a:t xml:space="preserve"> Git</a:t>
            </a:r>
            <a:endParaRPr/>
          </a:p>
        </p:txBody>
      </p:sp>
      <p:sp>
        <p:nvSpPr>
          <p:cNvPr id="20" name="" descr="{&quot;isTemplate&quot;:true,&quot;type&quot;:&quot;text&quot;}"/>
          <p:cNvSpPr txBox="1"/>
          <p:nvPr/>
        </p:nvSpPr>
        <p:spPr>
          <a:xfrm rot="0" flipH="0" flipV="0">
            <a:off x="6438900" y="3038475"/>
            <a:ext cx="4953000" cy="27622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050">
                <a:solidFill>
                  <a:srgbClr val="8A6A2A"/>
                </a:solidFill>
                <a:latin typeface="Microsoft YaHei"/>
                <a:ea typeface="Microsoft YaHei"/>
              </a:rPr>
              <a:t>没过关的项回到对应那一节重做，不要整体重学。</a:t>
            </a:r>
            <a:endParaRPr/>
          </a:p>
        </p:txBody>
      </p:sp>
      <p:sp>
        <p:nvSpPr>
          <p:cNvPr id="21" name="" descr="{&quot;isTemplate&quot;:true,&quot;type&quot;:&quot;text&quot;}"/>
          <p:cNvSpPr txBox="1"/>
          <p:nvPr/>
        </p:nvSpPr>
        <p:spPr>
          <a:xfrm rot="0" flipH="0" flipV="0">
            <a:off x="685800" y="6457950"/>
            <a:ext cx="14287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8A9AAA"/>
                </a:solidFill>
                <a:latin typeface="Microsoft YaHei"/>
                <a:ea typeface="Microsoft YaHei"/>
              </a:rPr>
              <a:t xml:space="preserve">Python </a:t>
            </a:r>
            <a:r>
              <a:rPr lang="zh-CN" sz="975">
                <a:solidFill>
                  <a:srgbClr val="8A9AAA"/>
                </a:solidFill>
                <a:latin typeface="Microsoft YaHei"/>
                <a:ea typeface="Microsoft YaHei"/>
              </a:rPr>
              <a:t>讲授课件</a:t>
            </a:r>
            <a:r>
              <a:rPr lang="en-US" sz="975">
                <a:solidFill>
                  <a:srgbClr val="8A9AAA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75">
                <a:solidFill>
                  <a:srgbClr val="8A9AAA"/>
                </a:solidFill>
                <a:latin typeface="Microsoft YaHei"/>
                <a:ea typeface="Microsoft YaHei"/>
              </a:rPr>
              <a:t>逐节版</a:t>
            </a:r>
            <a:endParaRPr/>
          </a:p>
        </p:txBody>
      </p:sp>
      <p:sp>
        <p:nvSpPr>
          <p:cNvPr id="22" name="" descr="{&quot;isTemplate&quot;:true,&quot;type&quot;:&quot;text&quot;}"/>
          <p:cNvSpPr txBox="1"/>
          <p:nvPr/>
        </p:nvSpPr>
        <p:spPr>
          <a:xfrm rot="0" flipH="0" flipV="0">
            <a:off x="10868025" y="6457950"/>
            <a:ext cx="7143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8A9AAA"/>
                </a:solidFill>
                <a:latin typeface="Microsoft YaHei"/>
                <a:ea typeface="Microsoft YaHei"/>
              </a:rPr>
              <a:t>单元</a:t>
            </a:r>
            <a:r>
              <a:rPr lang="en-US" sz="975">
                <a:solidFill>
                  <a:srgbClr val="8A9AAA"/>
                </a:solidFill>
                <a:latin typeface="Microsoft YaHei"/>
                <a:ea typeface="Microsoft YaHei"/>
              </a:rPr>
              <a:t xml:space="preserve"> 1 · </a:t>
            </a:r>
            <a:r>
              <a:rPr lang="zh-CN" sz="975">
                <a:solidFill>
                  <a:srgbClr val="8A9AAA"/>
                </a:solidFill>
                <a:latin typeface="Microsoft YaHei"/>
                <a:ea typeface="Microsoft YaHei"/>
              </a:rPr>
              <a:t>小结</a:t>
            </a:r>
            <a:endParaRPr/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Tencent office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2026-10-26T18:15:08Z</dcterms:created>
  <dcterms:modified xsi:type="dcterms:W3CDTF">2026-10-26T18:15:08Z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{"AIGC":{"Label":"1","ContentProducer":"00119111010856365494821B355","ProduceID":"01a177a72d987203a2fef1a571f4bd87","ReservedCode1":"","ContentPropagator":"00119111010856365494821B355","PropagateID":"01a177a72d987203a2fef1a571f4bd87","ReservedCode2":""}}</vt:lpwstr>
  </property>
</Properties>
</file>