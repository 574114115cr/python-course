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3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2" Type="http://schemas.openxmlformats.org/officeDocument/2006/relationships/slide" Target="slides/slide12.xml" /><Relationship Id="rId11" Type="http://schemas.openxmlformats.org/officeDocument/2006/relationships/slide" Target="slides/slide11.xml" /><Relationship Id="rId0" Type="http://schemas.openxmlformats.org/officeDocument/2006/relationships/slideMaster" Target="slideMasters/slideMaster1.xml" /><Relationship Id="rId14" Type="http://schemas.openxmlformats.org/officeDocument/2006/relationships/presProps" Target="presProps.xml" /><Relationship Id="rId1" Type="http://schemas.openxmlformats.org/officeDocument/2006/relationships/slide" Target="slides/slide1.xml" /><Relationship Id="rId5" Type="http://schemas.openxmlformats.org/officeDocument/2006/relationships/slide" Target="slides/slide5.xml" /><Relationship Id="rId10" Type="http://schemas.openxmlformats.org/officeDocument/2006/relationships/slide" Target="slides/slide10.xml" /><Relationship Id="rId13" Type="http://schemas.openxmlformats.org/officeDocument/2006/relationships/notesMaster" Target="notesMasters/notesMaster1.xml" /><Relationship Id="rId3" Type="http://schemas.openxmlformats.org/officeDocument/2006/relationships/slide" Target="slides/slide3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Relationship Id="rId2" Type="http://schemas.openxmlformats.org/officeDocument/2006/relationships/slide" Target="slides/slide2.xml" /><Relationship Id="rId4" Type="http://schemas.openxmlformats.org/officeDocument/2006/relationships/slide" Target="slides/slide4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sv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svg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6.sv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7.sv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8.sv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9.sv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0.sv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1.sv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2.svg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svg" /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" name="" descr="&lt;Slide style={{ width: '1280px', height: '720px', backgroundColor: '#FAFCFE', padding: 0, position: 'relative', overflow: 'hidden' }}&gt;&#13;&#10;    &lt;Box style={{ position: 'absolute', left: 0, top: 0, width: '1280px', height: '150px', background: '#1F5FA8' }} /&gt;&#13;&#10;    &lt;Box style={{ position: 'absolute', left: 64, top: 34, width: '1152px', flexDirection: 'column' }}&gt;&#13;&#10;        &lt;Text style={{ fontSize: 15, fontWeight: 'bold', color: '#BFD9F2', letterSpacing: 2 }}&gt;阶段 1 · 单元 6&lt;/Text&gt;&#13;&#10;        &lt;Text style={{ fontSize: 38, fontWeight: 'bold', color: '#FFFFFF', marginTop: 6 }}&gt;用户输入与 while 循环&lt;/Text&gt;&#13;&#10;    &lt;/Box&gt;&#13;&#10;    &lt;Box style={{ position: 'absolute', left: 64, top: 168, width: '1152px', height: 470 }}&gt;&#13;&#10;        &lt;svg width='1152' height='470' viewBox='0 0 1152 470'&gt;&#13;&#10;            &lt;text x='0' y='18' fontSize='15' fontWeight='bold' fill='#16232E' fontFamily='Microsoft YaHei'&gt;本单元共 5 节课&lt;/text&gt;&#13;&#10;            &lt;rect x='0' y='196' width='1152' height='38' rx='7' fill='#FFFFFF' /&gt;&lt;text x='16' y='221' fontSize='15' fontWeight='bold' fill='#1F5FA8' fontFamily='Microsoft YaHei'&gt;第 28 节&lt;/text&gt;&lt;text x='96' y='221' fontSize='15' fill='#16232E' fontFamily='Microsoft YaHei'&gt;input() 的铁律与 for/while 之争&lt;/text&gt;&lt;text x='1080' y='221' fontSize='13' fill='#5A6B7A' textAnchor='end' fontFamily='Microsoft YaHei'&gt;W6&lt;/text&gt;&lt;rect x='0' y='238' width='1152' height='38' rx='7' fill='#F2F7FD' /&gt;&lt;text x='16' y='263' fontSize='15' fontWeight='bold' fill='#1F5FA8' fontFamily='Microsoft YaHei'&gt;第 29 节&lt;/text&gt;&lt;text x='96' y='263' fontSize='15' fill='#16232E' fontFamily='Microsoft YaHei'&gt;break / continue / while-else&lt;/text&gt;&lt;text x='1080' y='263' fontSize='13' fill='#5A6B7A' textAnchor='end' fontFamily='Microsoft YaHei'&gt;W6&lt;/text&gt;&lt;rect x='0' y='280' width='1152' height='38' rx='7' fill='#FFFFFF' /&gt;&lt;text x='16' y='305' fontSize='15' fontWeight='bold' fill='#1F5FA8' fontFamily='Microsoft YaHei'&gt;第 30 节&lt;/text&gt;&lt;text x='96' y='305' fontSize='15' fill='#16232E' fontFamily='Microsoft YaHei'&gt;交互程序的骨架与收尾&lt;/text&gt;&lt;text x='1080' y='305' fontSize='13' fill='#5A6B7A' textAnchor='end' fontFamily='Microsoft YaHei'&gt;W6&lt;/text&gt;&lt;rect x='0' y='322' width='1152' height='38' rx='7' fill='#F2F7FD' /&gt;&lt;text x='16' y='347' fontSize='15' fontWeight='bold' fill='#1F5FA8' fontFamily='Microsoft YaHei'&gt;第 31 节&lt;/text&gt;&lt;text x='96' y='347' fontSize='15' fill='#16232E' fontFamily='Microsoft YaHei'&gt;动手实战与答案讲评&lt;/text&gt;&lt;text x='1080' y='347' fontSize='13' fill='#5A6B7A' textAnchor='end' fontFamily='Microsoft YaHei'&gt;W6&lt;/text&gt;&lt;rect x='0' y='364' width='1152' height='38' rx='7' fill='#FFFFFF' /&gt;&lt;text x='16' y='389' fontSize='15' fontWeight='bold' fill='#1F5FA8' fontFamily='Microsoft YaHei'&gt;第 32 节&lt;/text&gt;&lt;text x='96' y='389' fontSize='15' fill='#16232E' fontFamily='Microsoft YaHei'&gt;单元 6 验收复盘&lt;/text&gt;&lt;text x='1080' y='389' fontSize='13' fill='#5A6B7A' textAnchor='end' fontFamily='Microsoft YaHei'&gt;W6&lt;/text&gt;&#13;&#10;        &lt;/svg&gt;&#13;&#10;    &lt;/Box&gt;&#13;&#10;    &lt;Box style={{ position: 'absolute', left: 64, bottom: 22, width: '1152px', flexDirection: 'row', justifyContent: 'space-between' }}&gt;&#13;&#10;        &lt;Text style={{ fontSize: 13, color: '#8A9AAA' }}&gt;Python 讲授课件 · 逐节版&lt;/Text&gt;&#13;&#10;        &lt;Text style={{ fontSize: 13, color: '#8A9AAA' }}&gt;单元 6 · 封面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12192000" cy="1428750"/>
          </a:xfrm>
          <a:prstGeom prst="rect">
            <a:avLst/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609600" y="32385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>阶段</a:t>
            </a:r>
            <a:r>
              <a:rPr lang="en-US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 xml:space="preserve"> 1 · </a:t>
            </a:r>
            <a:r>
              <a:rPr lang="zh-CN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>单元</a:t>
            </a:r>
            <a:r>
              <a:rPr lang="en-US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 xml:space="preserve"> 6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552450"/>
            <a:ext cx="109728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 b="1">
                <a:solidFill>
                  <a:srgbClr val="FFFFFF"/>
                </a:solidFill>
                <a:latin typeface="Microsoft YaHei"/>
                <a:ea typeface="Microsoft YaHei"/>
              </a:rPr>
              <a:t>用户输入与</a:t>
            </a:r>
            <a:r>
              <a:rPr lang="en-US" sz="28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while </a:t>
            </a:r>
            <a:r>
              <a:rPr lang="zh-CN" sz="2850" b="1">
                <a:solidFill>
                  <a:srgbClr val="FFFFFF"/>
                </a:solidFill>
                <a:latin typeface="Microsoft YaHei"/>
                <a:ea typeface="Microsoft YaHei"/>
              </a:rPr>
              <a:t>循环</a:t>
            </a:r>
            <a:endParaRPr/>
          </a:p>
        </p:txBody>
      </p:sp>
      <p:pic>
        <p:nvPicPr>
          <p:cNvPr id="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1600200"/>
            <a:ext cx="10972800" cy="4476750"/>
          </a:xfrm>
          <a:prstGeom prst="rect">
            <a:avLst/>
          </a:prstGeom>
          <a:ln/>
        </p:spPr>
      </p:pic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讲授课件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逐节版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10868025" y="6496050"/>
            <a:ext cx="714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单元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6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封面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6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28 / 111 节&lt;/Text&gt;&#13;&#10;        &lt;/Box&gt;&#13;&#10;        &lt;Text style={{ fontSize: 30, fontWeight: 'bold', color: '#16232E' }}&gt;input() 的铁律与 for/while 之争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牢记「拿回来的永远是字符串」，知道什么时候该用 while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故意不写 int() 体会类型陷阱&lt;/text&gt;&lt;text x='84' y='338.75' fontSize='14.5' fill='#3A4A58' textAnchor='start' fontFamily='Microsoft YaHei'&gt;· 现场写一个死循环再自救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完成动手练习 6-1 ~ 6-3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6 · 第 28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38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28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42862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input() </a:t>
            </a: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的铁律与</a:t>
            </a:r>
            <a:r>
              <a:rPr lang="en-US" sz="22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for/while </a:t>
            </a: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之争</a:t>
            </a:r>
            <a:endParaRPr/>
          </a:p>
        </p:txBody>
      </p:sp>
      <p:pic>
        <p:nvPicPr>
          <p:cNvPr id="4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2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28 节&lt;/Text&gt;&#13;&#10;        &lt;/Box&gt;&#13;&#10;        &lt;Text style={{ fontSize: 30, fontWeight: 'bold', color: '#16232E' }}&gt;核心知识点&lt;/Text&gt;&#13;&#10;        &lt;Text style={{ fontSize: 15, color: '#5A6B7A', marginTop: 10 }}&gt;· input() 的铁律与 for/whil…&lt;/Text&gt;&#13;&#10;    &lt;/Box&gt;&#13;&#10;    &lt;Box style={{ position: 'absolute', left: 0, top: 0, width: '1280px', height: '720px' }}&gt;&#13;&#10;        &lt;svg width='1280' height='720' viewBox='0 0 1280 720'&gt;&#13;&#10;            &lt;rect x='64' y='96' width='548' height='330' rx='12' fill='#FFFFFF' stroke='#D8E3EE' /&gt;&lt;rect x='64' y='96' width='548' height='4' rx='2' fill='#1F5FA8' /&gt;&lt;text x='82' y='130' fontSize='15.5' fontWeight='bold' fill='#1F5FA8' textAnchor='start' fontFamily='Microsoft YaHei'&gt;2.1 input() 的铁律：拿回来的永远是字符串&lt;/text&gt;&lt;text x='82' y='169.0' fontSize='13' fill='#3A4A58' textAnchor='start' fontFamily='Microsoft YaHei'&gt;· 标准三步模板&lt;/text&gt;&lt;rect x='668' y='96' width='548' height='330' rx='12' fill='#FFFFFF' stroke='#D8E3EE' /&gt;&lt;rect x='668' y='96' width='548' height='4' rx='2' fill='#1F5FA8' /&gt;&lt;text x='686' y='130' fontSize='15.5' fontWeight='bold' fill='#1F5FA8' textAnchor='start' fontFamily='Microsoft YaHei'&gt;2.2 for 还是 while：怎么选&lt;/text&gt;&lt;text x='686' y='169.0' fontSize='13' fill='#3A4A58' textAnchor='start' fontFamily='Microsoft YaHei'&gt;· for 像按清单点名——名单上有 10 个人，念完 10 个就结束。&lt;/text&gt;&lt;text x='686' y='197.5' fontSize='13' fill='#3A4A58' textAnchor='start' fontFamily='Microsoft YaHei'&gt;· while 像守门等人——你说&quot;他来了我就开门&quot;，所以得一直站着等，&lt;/text&gt;&lt;text x='686' y='217.0' fontSize='13' fill='#3A4A58' textAnchor='start' fontFamily='Microsoft YaHei'&gt;来几个人都不确定。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6 · 第 28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44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28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838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input()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的铁律与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for/whil…</a:t>
            </a:r>
            <a:endParaRPr/>
          </a:p>
        </p:txBody>
      </p:sp>
      <p:pic>
        <p:nvPicPr>
          <p:cNvPr id="4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9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29 / 111 节&lt;/Text&gt;&#13;&#10;        &lt;/Box&gt;&#13;&#10;        &lt;Text style={{ fontSize: 30, fontWeight: 'bold', color: '#16232E' }}&gt;break / continue / while-el…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掌握 break、continue 与 while...else 的执行时机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写一个只接受正数的输入循环，故意输入字母看是否崩&lt;/text&gt;&lt;text x='84' y='338.75' fontSize='14.5' fill='#3A4A58' textAnchor='start' fontFamily='Microsoft YaHei'&gt;· 演示 while...else 的执行时机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完成动手练习 6-4 ~ 6-6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6 · 第 29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51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29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41052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6232E"/>
                </a:solidFill>
                <a:latin typeface="Microsoft YaHei"/>
                <a:ea typeface="Microsoft YaHei"/>
              </a:rPr>
              <a:t>break / continue / while-el…</a:t>
            </a:r>
            <a:endParaRPr/>
          </a:p>
        </p:txBody>
      </p:sp>
      <p:pic>
        <p:nvPicPr>
          <p:cNvPr id="5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55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29 节&lt;/Text&gt;&#13;&#10;        &lt;/Box&gt;&#13;&#10;        &lt;Text style={{ fontSize: 30, fontWeight: 'bold', color: '#16232E' }}&gt;核心知识点&lt;/Text&gt;&#13;&#10;        &lt;Text style={{ fontSize: 15, color: '#5A6B7A', marginTop: 10 }}&gt;· break / continue / wh…&lt;/Text&gt;&#13;&#10;    &lt;/Box&gt;&#13;&#10;    &lt;Box style={{ position: 'absolute', left: 0, top: 0, width: '1280px', height: '720px' }}&gt;&#13;&#10;        &lt;svg width='1280' height='720' viewBox='0 0 1280 720'&gt;&#13;&#10;            &lt;rect x='64' y='96' width='548' height='330' rx='12' fill='#FFFFFF' stroke='#D8E3EE' /&gt;&lt;rect x='64' y='96' width='548' height='4' rx='2' fill='#1F5FA8' /&gt;&lt;text x='82' y='130' fontSize='15.5' fontWeight='bold' fill='#1F5FA8' textAnchor='start' fontFamily='Microsoft YaHei'&gt;2.3 while 的核心：条件先行&lt;/text&gt;&lt;text x='82' y='169.0' fontSize='13' fill='#3A4A58' textAnchor='start' fontFamily='Microsoft YaHei'&gt;· 三个必须记住的点：&lt;/text&gt;&lt;rect x='668' y='96' width='548' height='330' rx='12' fill='#FFFFFF' stroke='#D8E3EE' /&gt;&lt;rect x='668' y='96' width='548' height='4' rx='2' fill='#1F5FA8' /&gt;&lt;text x='686' y='130' fontSize='15.5' fontWeight='bold' fill='#1F5FA8' textAnchor='start' fontFamily='Microsoft YaHei'&gt;2.4 break 与 continue&lt;/text&gt;&lt;text x='686' y='169.0' fontSize='13' fill='#3A4A58' textAnchor='start' fontFamily='Microsoft YaHei'&gt;· break 是&quot;提前下课&quot;——举手表说&quot;这节课剩下的不上了&quot;，直接走人。&lt;/text&gt;&lt;text x='686' y='197.5' fontSize='13' fill='#3A4A58' textAnchor='start' fontFamily='Microsoft YaHei'&gt;· continue 是&quot;这题跳过，下一题&quot;——留在教室里，只是跳过当前这一题。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6 · 第 29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57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29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666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>· break / continue / wh…</a:t>
            </a:r>
            <a:endParaRPr/>
          </a:p>
        </p:txBody>
      </p:sp>
      <p:pic>
        <p:nvPicPr>
          <p:cNvPr id="6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62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30 / 111 节&lt;/Text&gt;&#13;&#10;        &lt;/Box&gt;&#13;&#10;        &lt;Text style={{ fontSize: 30, fontWeight: 'bold', color: '#16232E' }}&gt;交互程序的骨架与收尾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能组装出「提示 → 输入 → 校验 → 处理」的完整交互程序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现场把 input + int + if + while 组装成一个完整程序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★ 动手项目 7.5–7.9 投票统计 + 7.10 收银机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6 · 第 30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64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30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28575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交互程序的骨架与收尾</a:t>
            </a:r>
            <a:endParaRPr/>
          </a:p>
        </p:txBody>
      </p:sp>
      <p:pic>
        <p:nvPicPr>
          <p:cNvPr id="6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68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30 节&lt;/Text&gt;&#13;&#10;        &lt;/Box&gt;&#13;&#10;        &lt;Text style={{ fontSize: 30, fontWeight: 'bold', color: '#16232E' }}&gt;核心知识点&lt;/Text&gt;&#13;&#10;        &lt;Text style={{ fontSize: 15, color: '#5A6B7A', marginTop: 10 }}&gt;· 交互程序的骨架与收尾&lt;/Text&gt;&#13;&#10;    &lt;/Box&gt;&#13;&#10;    &lt;Box style={{ position: 'absolute', left: 0, top: 0, width: '1280px', height: '720px' }}&gt;&#13;&#10;        &lt;svg width='1280' height='720' viewBox='0 0 1280 720'&gt;&#13;&#10;            &lt;rect x='64' y='96' width='368' height='330' rx='12' fill='#FFFFFF' stroke='#D8E3EE' /&gt;&lt;rect x='64' y='96' width='368' height='4' rx='2' fill='#1F5FA8' /&gt;&lt;text x='82' y='130' fontSize='15.5' fontWeight='bold' fill='#1F5FA8' textAnchor='start' fontFamily='Microsoft YaHei'&gt;2.5 while ... else：&lt;/text&gt;&lt;text x='82' y='153' fontSize='15.5' fontWeight='bold' fill='#1F5FA8' textAnchor='start' fontFamily='Microsoft YaHei'&gt;循环&quot;没被打断&quot;时执行&lt;/text&gt;&lt;text x='82' y='192.0' fontSize='13' fill='#3A4A58' textAnchor='start' fontFamily='Microsoft YaHei'&gt;· 这是一个非常优雅但很少人用、却极其好用的结构：&lt;/text&gt;&lt;rect x='468' y='96' width='368' height='330' rx='12' fill='#FFFFFF' stroke='#D8E3EE' /&gt;&lt;rect x='468' y='96' width='368' height='4' rx='2' fill='#1F5FA8' /&gt;&lt;text x='486' y='130' fontSize='15.5' fontWeight='bold' fill='#1F5FA8' textAnchor='start' fontFamily='Microsoft YaHei'&gt;2.6 交互程序的骨架&lt;/text&gt;&lt;text x='486' y='169.0' fontSize='13' fill='#3A4A58' textAnchor='start' fontFamily='Microsoft YaHei'&gt;· 注意这个模式的关键点&lt;/text&gt;&lt;text x='486' y='197.5' fontSize='13' fill='#3A4A58' textAnchor='start' fontFamily='Microsoft YaHei'&gt;· while True 本身没有出口，唯一的出口是 break。&lt;/text&gt;&lt;text x='486' y='226.0' fontSize='13' fill='#3A4A58' textAnchor='start' fontFamily='Microsoft YaHei'&gt;· 所以每一条通向&quot;用户想退出&quot;的路径，都必须有&lt;/text&gt;&lt;text x='486' y='245.5' fontSize='13' fill='#3A4A58' textAnchor='start' fontFamily='Microsoft YaHei'&gt;break。&lt;/text&gt;&lt;rect x='872' y='96' width='368' height='330' rx='12' fill='#FFFFFF' stroke='#D8E3EE' /&gt;&lt;rect x='872' y='96' width='368' height='4' rx='2' fill='#1F5FA8' /&gt;&lt;text x='890' y='130' fontSize='15.5' fontWeight='bold' fill='#1F5FA8' textAnchor='start' fontFamily='Microsoft YaHei'&gt;2.7 用 while 处理列表和字典（教材 7.3）&lt;/text&gt;&lt;text x='890' y='169.0' fontSize='13' fill='#3A4A58' textAnchor='start' fontFamily='Microsoft YaHei'&gt;· ① 在列表之间搬元素。&lt;/text&gt;&lt;text x='890' y='197.5' fontSize='13' fill='#3A4A58' textAnchor='start' fontFamily='Microsoft YaHei'&gt;· ② 删除所有等于某值的元素。&lt;/text&gt;&lt;text x='890' y='226.0' fontSize='13' fill='#3A4A58' textAnchor='start' fontFamily='Microsoft YaHei'&gt;· ③ 用用户输入来填充字典。&lt;/text&gt;&lt;text x='64' y='470' fontSize='14.5' fontWeight='bold' fill='#0E9B78' textAnchor='start' fontFamily='Microsoft YaHei'&gt;本节的代码示例&lt;/text&gt;&lt;text x='64' y='500' fontSize='13' fill='#3A4A58' textAnchor='start' fontFamily='Microsoft YaHei'&gt;· input 的类型陷阱与三步模板&lt;/text&gt;&lt;text x='468' y='500' fontSize='13' fill='#3A4A58' textAnchor='start' fontFamily='Microsoft YaHei'&gt;· while 基本循环&lt;/text&gt;&lt;text x='872' y='500' fontSize='13' fill='#3A4A58' textAnchor='start' fontFamily='Microsoft YaHei'&gt;· break 与 continue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6 · 第 30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70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30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514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交互程序的骨架与收尾</a:t>
            </a:r>
            <a:endParaRPr/>
          </a:p>
        </p:txBody>
      </p:sp>
      <p:pic>
        <p:nvPicPr>
          <p:cNvPr id="7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75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31 / 111 节&lt;/Text&gt;&#13;&#10;        &lt;/Box&gt;&#13;&#10;        &lt;Text style={{ fontSize: 30, fontWeight: 'bold', color: '#16232E' }}&gt;动手实战与答案讲评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独立完成单元 6 练习，能写带校验的交互循环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限时 30 分钟独立完成基础档&lt;/text&gt;&lt;text x='84' y='338.75' fontSize='14.5' fill='#3A4A58' textAnchor='start' fontFamily='Microsoft YaHei'&gt;· 逐题对照答案讲评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产出：带输入校验的投票统计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6 · 第 31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77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31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2571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动手实战与答案讲评</a:t>
            </a:r>
            <a:endParaRPr/>
          </a:p>
        </p:txBody>
      </p:sp>
      <p:pic>
        <p:nvPicPr>
          <p:cNvPr id="8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9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81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31 节&lt;/Text&gt;&#13;&#10;        &lt;/Box&gt;&#13;&#10;        &lt;Text style={{ fontSize: 30, fontWeight: 'bold', color: '#16232E' }}&gt;核心知识点&lt;/Text&gt;&#13;&#10;        &lt;Text style={{ fontSize: 15, color: '#5A6B7A', marginTop: 10 }}&gt;· 动手实战与答案讲评&lt;/Text&gt;&#13;&#10;    &lt;/Box&gt;&#13;&#10;    &lt;Box style={{ position: 'absolute', left: 0, top: 0, width: '1280px', height: '720px' }}&gt;&#13;&#10;        &lt;svg width='1280' height='720' viewBox='0 0 1280 720'&gt;&#13;&#10;            &lt;rect x='64' y='96' width='368' height='330' rx='12' fill='#FFFFFF' stroke='#D8E3EE' /&gt;&lt;rect x='64' y='96' width='368' height='4' rx='2' fill='#1F5FA8' /&gt;&lt;text x='82' y='130' fontSize='15.5' fontWeight='bold' fill='#1F5FA8' textAnchor='start' fontFamily='Microsoft YaHei'&gt;基础档&lt;/text&gt;&lt;text x='82' y='169.0' fontSize='13' fill='#3A4A58' textAnchor='start' fontFamily='Microsoft YaHei'&gt;· 练习 6-1【三步模板转换】&lt;/text&gt;&lt;text x='82' y='197.5' fontSize='13' fill='#3A4A58' textAnchor='start' fontFamily='Microsoft YaHei'&gt;· 练习 6-2【数字累加到 N】&lt;/text&gt;&lt;text x='82' y='226.0' fontSize='13' fill='#3A4A58' textAnchor='start' fontFamily='Microsoft YaHei'&gt;· 练习 6-3【倍数输出】&lt;/text&gt;&lt;rect x='468' y='96' width='368' height='330' rx='12' fill='#FFFFFF' stroke='#D8E3EE' /&gt;&lt;rect x='468' y='96' width='368' height='4' rx='2' fill='#1F5FA8' /&gt;&lt;text x='486' y='130' fontSize='15.5' fontWeight='bold' fill='#1F5FA8' textAnchor='start' fontFamily='Microsoft YaHei'&gt;进阶档&lt;/text&gt;&lt;text x='486' y='169.0' fontSize='13' fill='#3A4A58' textAnchor='start' fontFamily='Microsoft YaHei'&gt;· 练习 6-5🌐【猜数字游戏（完整版）】&lt;/text&gt;&lt;text x='486' y='197.5' fontSize='13' fill='#3A4A58' textAnchor='start' fontFamily='Microsoft YaHei'&gt;· 猜的数字太大 → &quot;太大了，再小一点&quot;&lt;/text&gt;&lt;text x='486' y='226.0' fontSize='13' fill='#3A4A58' textAnchor='start' fontFamily='Microsoft YaHei'&gt;· 猜的数字太小 → &quot;太小了，再大一点&quot;&lt;/text&gt;&lt;rect x='872' y='96' width='368' height='330' rx='12' fill='#FFFFFF' stroke='#D8E3EE' /&gt;&lt;rect x='872' y='96' width='368' height='4' rx='2' fill='#1F5FA8' /&gt;&lt;text x='890' y='130' fontSize='15.5' fontWeight='bold' fill='#1F5FA8' textAnchor='start' fontFamily='Microsoft YaHei'&gt;参考答案 6-1&lt;/text&gt;&lt;text x='890' y='169.0' fontSize='13' fill='#3A4A58' textAnchor='start' fontFamily='Microsoft YaHei'&gt;· name = input(&quot;请输入你的姓名：&quot;)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6 · 第 31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83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31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371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动手实战与答案讲评</a:t>
            </a:r>
            <a:endParaRPr/>
          </a:p>
        </p:txBody>
      </p:sp>
      <p:pic>
        <p:nvPicPr>
          <p:cNvPr id="8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10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9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32 / 111 节&lt;/Text&gt;&#13;&#10;        &lt;/Box&gt;&#13;&#10;        &lt;Text style={{ fontSize: 30, fontWeight: 'bold', color: '#16232E' }}&gt;单元 6 验收复盘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确认 input 转换、循环控制、交互骨架都过关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逐条打勾验收自测&lt;/text&gt;&lt;text x='84' y='338.75' fontSize='14.5' fill='#3A4A58' textAnchor='start' fontFamily='Microsoft YaHei'&gt;· 现场演示死循环的自救过程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完成本单元小结与产出检查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6 · 第 32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11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32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20669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单元</a:t>
            </a:r>
            <a:r>
              <a:rPr lang="en-US" sz="22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6 </a:t>
            </a: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验收复盘</a:t>
            </a:r>
            <a:endParaRPr/>
          </a:p>
        </p:txBody>
      </p:sp>
      <p:pic>
        <p:nvPicPr>
          <p:cNvPr id="1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1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5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32 节&lt;/Text&gt;&#13;&#10;        &lt;/Box&gt;&#13;&#10;        &lt;Text style={{ fontSize: 30, fontWeight: 'bold', color: '#16232E' }}&gt;核心知识点&lt;/Text&gt;&#13;&#10;        &lt;Text style={{ fontSize: 15, color: '#5A6B7A', marginTop: 10 }}&gt;· 单元 6 验收复盘&lt;/Text&gt;&#13;&#10;    &lt;/Box&gt;&#13;&#10;    &lt;Box style={{ position: 'absolute', left: 0, top: 0, width: '1280px', height: '720px' }}&gt;&#13;&#10;        &lt;svg width='1280' height='720' viewBox='0 0 1280 720'&gt;&#13;&#10;            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6 · 第 32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17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32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104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单元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6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验收复盘</a:t>
            </a:r>
            <a:endParaRPr/>
          </a:p>
        </p:txBody>
      </p:sp>
      <p:pic>
        <p:nvPicPr>
          <p:cNvPr id="2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1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2" name="" descr="&lt;Slide style={{ width: '1280px', height: '720px', backgroundColor: '#FAFCFE', padding: 0, position: 'relative', overflow: 'hidden' }}&gt;&#13;&#10;    &lt;Box style={{ position: 'absolute', left: 0, top: 0, width: '12px', height: '720px', background: '#0E9B78' }} /&gt;&#13;&#10;    &lt;Box style={{ position: 'absolute', left: 72, top: 44, width: '1144px', flexDirection: 'column' }}&gt;&#13;&#10;        &lt;Text style={{ fontSize: 34, fontWeight: 'bold', color: '#16232E' }}&gt;单元 6 · 小结与验收&lt;/Text&gt;&#13;&#10;        &lt;Text style={{ fontSize: 16, color: '#5A6B7A', marginTop: 6 }}&gt;用户输入与 while 循环&lt;/Text&gt;&#13;&#10;    &lt;/Box&gt;&#13;&#10;    &lt;Box style={{ position: 'absolute', left: 72, top: 148, width: '552px', height: 400, background: '#FFFFFF', border: '1px solid #D8E3EE', borderRadius: 12, padding: 18, flexDirection: 'column' }}&gt;&#13;&#10;        &lt;Text style={{ fontSize: 16, fontWeight: 'bold', color: '#1F5FA8' }}&gt;本单元课节回顾&lt;/Text&gt;&#13;&#10;        &lt;Box style={{ marginTop: 10, position: 'relative', height: 330 }}&gt;&#13;&#10;            &lt;svg width='516' height='330' viewBox='0 0 516 330'&gt;&lt;text x='0' y='34' fontSize='14.5' fill='#3A4A58' fontFamily='Microsoft YaHei'&gt;· 第 28 节 · input() 的铁律与 for/while 之争&lt;/text&gt;&lt;text x='0' y='64' fontSize='14.5' fill='#3A4A58' fontFamily='Microsoft YaHei'&gt;· 第 29 节 · break / continue / while-else&lt;/text&gt;&lt;text x='0' y='94' fontSize='14.5' fill='#3A4A58' fontFamily='Microsoft YaHei'&gt;· 第 30 节 · 交互程序的骨架与收尾&lt;/text&gt;&lt;text x='0' y='124' fontSize='14.5' fill='#3A4A58' fontFamily='Microsoft YaHei'&gt;· 第 31 节 · 动手实战与答案讲评&lt;/text&gt;&lt;text x='0' y='154' fontSize='14.5' fill='#3A4A58' fontFamily='Microsoft YaHei'&gt;· 第 32 节 · 单元 6 验收复盘&lt;/text&gt;&lt;/svg&gt;&#13;&#10;        &lt;/Box&gt;&#13;&#10;    &lt;/Box&gt;&#13;&#10;    &lt;Box style={{ position: 'absolute', left: 656, top: 148, width: '560px', height: 400, background: '#FDF3E2', borderRadius: 12, padding: 20, flexDirection: 'column' }}&gt;&#13;&#10;        &lt;Text style={{ fontSize: 16, fontWeight: 'bold', color: '#E08A15' }}&gt;过关标准&lt;/Text&gt;&#13;&#10;        &lt;Text style={{ fontSize: 15, color: '#3A4A58', marginTop: 12, lineHeight: 1.9 }}&gt;&#13;&#10;            1. 本单元每一节的课后作业都做完并自己验收过&#13;&#10;&#13;&#10;            2. 不看讲义能独立重写一遍本单元的示例代码&#13;&#10;&#13;&#10;            3. 讲义最后「本单元验收自测」全部答对&#13;&#10;&#13;&#10;            4. 产出物已经写进笔记或提交到 Git&#13;&#10;        &lt;/Text&gt;&#13;&#10;        &lt;Text style={{ fontSize: 14, color: '#8A6A2A', marginTop: 16, lineHeight: 1.7 }}&gt;&#13;&#10;            没过关的项回到对应那一节重做，不要整体重学。&#13;&#10;        &lt;/Text&gt;&#13;&#10;    &lt;/Box&gt;&#13;&#10;    &lt;Box style={{ position: 'absolute', left: 72, bottom: 26, width: '1144px', flexDirection: 'row', justifyContent: 'space-between' }}&gt;&#13;&#10;        &lt;Text style={{ fontSize: 13, color: '#8A9AAA' }}&gt;Python 讲授课件 · 逐节版&lt;/Text&gt;&#13;&#10;        &lt;Text style={{ fontSize: 13, color: '#8A9AAA' }}&gt;单元 6 · 小结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24" name=""/>
          <p:cNvSpPr/>
          <p:nvPr/>
        </p:nvSpPr>
        <p:spPr>
          <a:xfrm rot="0" flipH="0" flipV="0">
            <a:off x="0" y="0"/>
            <a:ext cx="114300" cy="6858000"/>
          </a:xfrm>
          <a:prstGeom prst="rect">
            <a:avLst/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685800" y="419100"/>
            <a:ext cx="108966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232E"/>
                </a:solidFill>
                <a:latin typeface="Microsoft YaHei"/>
                <a:ea typeface="Microsoft YaHei"/>
              </a:rPr>
              <a:t>单元</a:t>
            </a:r>
            <a:r>
              <a:rPr lang="en-US" sz="25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6 · </a:t>
            </a:r>
            <a:r>
              <a:rPr lang="zh-CN" sz="2550" b="1">
                <a:solidFill>
                  <a:srgbClr val="16232E"/>
                </a:solidFill>
                <a:latin typeface="Microsoft YaHei"/>
                <a:ea typeface="Microsoft YaHei"/>
              </a:rPr>
              <a:t>小结与验收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685800" y="866775"/>
            <a:ext cx="10896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A6B7A"/>
                </a:solidFill>
                <a:latin typeface="Microsoft YaHei"/>
                <a:ea typeface="Microsoft YaHei"/>
              </a:rPr>
              <a:t>用户输入与</a:t>
            </a:r>
            <a:r>
              <a:rPr lang="en-US" sz="1200">
                <a:solidFill>
                  <a:srgbClr val="5A6B7A"/>
                </a:solidFill>
                <a:latin typeface="Microsoft YaHei"/>
                <a:ea typeface="Microsoft YaHei"/>
              </a:rPr>
              <a:t xml:space="preserve"> while </a:t>
            </a:r>
            <a:r>
              <a:rPr lang="zh-CN" sz="1200">
                <a:solidFill>
                  <a:srgbClr val="5A6B7A"/>
                </a:solidFill>
                <a:latin typeface="Microsoft YaHei"/>
                <a:ea typeface="Microsoft YaHei"/>
              </a:rPr>
              <a:t>循环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685800" y="1409700"/>
            <a:ext cx="5257800" cy="381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857250" y="1581150"/>
            <a:ext cx="4914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5FA8"/>
                </a:solidFill>
                <a:latin typeface="Microsoft YaHei"/>
                <a:ea typeface="Microsoft YaHei"/>
              </a:rPr>
              <a:t>本单元课节回顾</a:t>
            </a:r>
            <a:endParaRPr/>
          </a:p>
        </p:txBody>
      </p:sp>
      <p:pic>
        <p:nvPicPr>
          <p:cNvPr id="2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57250" y="1866900"/>
            <a:ext cx="4914900" cy="3143250"/>
          </a:xfrm>
          <a:prstGeom prst="rect">
            <a:avLst/>
          </a:prstGeom>
          <a:ln/>
        </p:spPr>
      </p:pic>
      <p:sp>
        <p:nvSpPr>
          <p:cNvPr id="30" name=""/>
          <p:cNvSpPr/>
          <p:nvPr/>
        </p:nvSpPr>
        <p:spPr>
          <a:xfrm rot="0" flipH="0" flipV="0">
            <a:off x="6248400" y="1409700"/>
            <a:ext cx="5334000" cy="3810000"/>
          </a:xfrm>
          <a:prstGeom prst="roundRect">
            <a:avLst>
              <a:gd name="adj" fmla="val 3000"/>
            </a:avLst>
          </a:prstGeom>
          <a:solidFill>
            <a:srgbClr val="FDF3E2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6438900" y="1600200"/>
            <a:ext cx="495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08A15"/>
                </a:solidFill>
                <a:latin typeface="Microsoft YaHei"/>
                <a:ea typeface="Microsoft YaHei"/>
              </a:rPr>
              <a:t>过关标准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6438900" y="1905000"/>
            <a:ext cx="4953000" cy="981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1.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本单元每一节的课后作业都做完并自己验收过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2.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不看讲义能独立重写一遍本单元的示例代码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3.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讲义最后「本单元验收自测」全部答对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4.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产出物已经写进笔记或提交到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Git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6438900" y="3038475"/>
            <a:ext cx="4953000" cy="2762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8A6A2A"/>
                </a:solidFill>
                <a:latin typeface="Microsoft YaHei"/>
                <a:ea typeface="Microsoft YaHei"/>
              </a:rPr>
              <a:t>没过关的项回到对应那一节重做，不要整体重学。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685800" y="645795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讲授课件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逐节版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10868025" y="6457950"/>
            <a:ext cx="714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单元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6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小结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2026-10-28T23:47:22Z</dcterms:created>
  <dcterms:modified xsi:type="dcterms:W3CDTF">2026-10-28T23:47:22Z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{"AIGC":{"Label":"1","ContentProducer":"00119111010856365494821B355","ProduceID":"01a1832b70827c3f8a1b0bab89e469ad","ReservedCode1":"","ContentPropagator":"00119111010856365494821B355","PropagateID":"01a1832b70827c3f8a1b0bab89e469ad","ReservedCode2":""}}</vt:lpwstr>
  </property>
</Properties>
</file>