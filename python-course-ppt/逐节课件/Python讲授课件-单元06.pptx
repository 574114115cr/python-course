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media/image1.svg" ContentType="image/svg+xml"/>
  <Override PartName="/ppt/slides/media/image10.svg" ContentType="image/svg+xml"/>
  <Override PartName="/ppt/slides/media/image11.svg" ContentType="image/svg+xml"/>
  <Override PartName="/ppt/slides/media/image12.svg" ContentType="image/svg+xml"/>
  <Override PartName="/ppt/slides/media/image2.svg" ContentType="image/svg+xml"/>
  <Override PartName="/ppt/slides/media/image3.svg" ContentType="image/svg+xml"/>
  <Override PartName="/ppt/slides/media/image4.svg" ContentType="image/svg+xml"/>
  <Override PartName="/ppt/slides/media/image5.svg" ContentType="image/svg+xml"/>
  <Override PartName="/ppt/slides/media/image6.svg" ContentType="image/svg+xml"/>
  <Override PartName="/ppt/slides/media/image7.svg" ContentType="image/svg+xml"/>
  <Override PartName="/ppt/slides/media/image8.svg" ContentType="image/svg+xml"/>
  <Override PartName="/ppt/slides/media/image9.svg" ContentType="image/svg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13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tableStyles" Target="tableStyles.xml"/><Relationship Id="rId1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6 · 单元 6 · 用户输入与 while 循环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本单元包含以下课节：</a:t>
            </a:r>
          </a:p>
          <a:p>
            <a:r>
              <a:rPr lang="zh-CN" dirty="0"/>
              <a:t>· 第 28 节 input() 的铁律与 for/while 之争</a:t>
            </a:r>
          </a:p>
          <a:p>
            <a:r>
              <a:rPr lang="zh-CN" dirty="0"/>
              <a:t>· 第 29 节 break / continue / while-else</a:t>
            </a:r>
          </a:p>
          <a:p>
            <a:r>
              <a:rPr lang="zh-CN" dirty="0"/>
              <a:t>· 第 30 节 交互程序的骨架与收尾</a:t>
            </a:r>
          </a:p>
          <a:p>
            <a:r>
              <a:rPr lang="zh-CN" dirty="0"/>
              <a:t>· 第 31 节 动手实战与答案讲评</a:t>
            </a:r>
          </a:p>
          <a:p>
            <a:r>
              <a:rPr lang="zh-CN" dirty="0"/>
              <a:t>· 第 32 节 单元 6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开场用 3 分钟讲清：这个单元学完能做出什么，最后会被关卡怎么验。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28 节 · input() 的铁律与 for/while 之争</a:t>
            </a:r>
          </a:p>
          <a:p>
            <a:r>
              <a:rPr lang="zh-CN" dirty="0"/>
              <a:t>单元 6 · 用户输入与 while 循环 · W6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学习目标：牢记「拿回来的永远是字符串」，知道什么时候该用 while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故意不写 int() 体会类型陷阱</a:t>
            </a:r>
          </a:p>
          <a:p>
            <a:r>
              <a:rPr lang="zh-CN" dirty="0"/>
              <a:t>· 现场写一个死循环再自救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6-1 ~ 6-3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28 节 · 核心知识点：input() 的铁律与 for/while 之争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本节目标：牢记「拿回来的永远是字符串」，知道什么时候该用 while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29 节 · break / continue / while-else</a:t>
            </a:r>
          </a:p>
          <a:p>
            <a:r>
              <a:rPr lang="zh-CN" dirty="0"/>
              <a:t>单元 6 · 用户输入与 while 循环 · W6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学习目标：掌握 break、continue 与 while...else 的执行时机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写一个只接受正数的输入循环，故意输入字母看是否崩</a:t>
            </a:r>
          </a:p>
          <a:p>
            <a:r>
              <a:rPr lang="zh-CN" dirty="0"/>
              <a:t>· 演示 while...else 的执行时机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完成动手练习 6-4 ~ 6-6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29 节 · 核心知识点：break / continue / while-else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本节目标：掌握 break、continue 与 while...else 的执行时机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30 节 · 交互程序的骨架与收尾</a:t>
            </a:r>
          </a:p>
          <a:p>
            <a:r>
              <a:rPr lang="zh-CN" dirty="0"/>
              <a:t>单元 6 · 用户输入与 while 循环 · W6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学习目标：能组装出「提示 → 输入 → 校验 → 处理」的完整交互程序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现场把 input + int + if + while 组装成一个完整程序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★ 动手项目 7.5–7.9 投票统计 + 7.10 收银机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30 节 · 核心知识点：交互程序的骨架与收尾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本节目标：能组装出「提示 → 输入 → 校验 → 处理」的完整交互程序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31 节 · 动手实战与答案讲评</a:t>
            </a:r>
          </a:p>
          <a:p>
            <a:r>
              <a:rPr lang="zh-CN" dirty="0"/>
              <a:t>单元 6 · 用户输入与 while 循环 · W6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学习目标：独立完成单元 6 练习，能写带校验的交互循环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限时 30 分钟独立完成基础档</a:t>
            </a:r>
          </a:p>
          <a:p>
            <a:r>
              <a:rPr lang="zh-CN" dirty="0"/>
              <a:t>· 逐题对照答案讲评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产出：带输入校验的投票统计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31 节 · 核心知识点：动手实战与答案讲评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本节目标：独立完成单元 6 练习，能写带校验的交互循环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32 节 · 单元 6 验收复盘</a:t>
            </a:r>
          </a:p>
          <a:p>
            <a:r>
              <a:rPr lang="zh-CN" dirty="0"/>
              <a:t>单元 6 · 用户输入与 while 循环 · W6</a:t>
            </a:r>
          </a:p>
          <a:p>
            <a:r>
              <a:rPr lang="zh-CN" dirty="0"/>
              <a:t/>
            </a:r>
          </a:p>
          <a:p>
            <a:r>
              <a:rPr lang="zh-CN" dirty="0"/>
              <a:t>学习目标：确认 input 转换、循环控制、交互骨架都过关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课堂实操（40 分钟，不看答案）：</a:t>
            </a:r>
          </a:p>
          <a:p>
            <a:r>
              <a:rPr lang="zh-CN" dirty="0"/>
              <a:t>· 逐条打勾验收自测</a:t>
            </a:r>
          </a:p>
          <a:p>
            <a:r>
              <a:rPr lang="zh-CN" dirty="0"/>
              <a:t>· 现场演示死循环的自救过程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课后作业：</a:t>
            </a:r>
          </a:p>
          <a:p>
            <a:r>
              <a:rPr lang="zh-CN" dirty="0"/>
              <a:t>· 完成本单元小结与产出检查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节奏：讲 20 分钟 → 学员自己敲 40 分钟（不看答案）→ 对讲评自查 20 分钟 → 写作业 10 分钟。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第 32 节 · 核心知识点：单元 6 验收复盘</a:t>
            </a:r>
          </a:p>
          <a:p>
            <a:r>
              <a:rPr lang="zh-CN" dirty="0"/>
              <a:t/>
            </a:r>
          </a:p>
          <a:p>
            <a:r>
              <a:rPr lang="zh-CN" dirty="0"/>
              <a:t>讲这一页时：先让学生说出上节课的结论，再逐块讲要点。</a:t>
            </a:r>
          </a:p>
          <a:p>
            <a:r>
              <a:rPr lang="zh-CN" dirty="0"/>
              <a:t>每讲完一块，问一句「这一步如果写错了，报错会长什么样？」——把错误提前讲。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本节目标：确认 input 转换、循环控制、交互骨架都过关</a:t>
            </a:r>
          </a:p>
          <a:p>
            <a:r>
              <a:rPr lang="zh-CN" dirty="0"/>
              <a:t/>
            </a:r>
          </a:p>
          <a:p>
            <a:r>
              <a:rPr lang="zh-CN" dirty="0"/>
              <a:t>看不到懂的地方，回讲义对应小节读一遍，再回来对着这页复述一次——能讲出来才算真懂。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讲课提示"/>
          <p:cNvSpPr txBox="1"/>
          <p:nvPr/>
        </p:nvSpPr>
        <p:spPr>
          <a:xfrm>
            <a:off x="457200" y="457200"/>
            <a:ext cx="6858000" cy="4800600"/>
          </a:xfrm>
          <a:prstGeom prst="rect">
            <a:avLst/>
          </a:prstGeom>
        </p:spPr>
        <p:txBody>
          <a:bodyPr wrap="square"/>
          <a:lstStyle/>
          <a:p>
            <a:r>
              <a:rPr lang="zh-CN" dirty="0"/>
              <a:t>单元 6 小结 · 单元 6 · 小结</a:t>
            </a:r>
          </a:p>
          <a:p>
            <a:r>
              <a:rPr lang="zh-CN" dirty="0"/>
              <a:t/>
            </a:r>
          </a:p>
          <a:p>
            <a:r>
              <a:rPr lang="zh-CN" dirty="0"/>
              <a:t>收尾动作：让学生合上讲义，口述本单元三个最重要的结论；说不出来的，回对应课节。</a:t>
            </a:r>
          </a:p>
          <a:p>
            <a:r>
              <a:rPr lang="zh-CN" dirty="0"/>
              <a:t>然后当场勾一遍本单元课节的「已完成」，没打勾的进下一单元前补掉。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.sv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5.sv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6.sv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7.sv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8.sv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9.sv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0.sv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1.sv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12.sv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2.sv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3.sv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image" Target="media/image4.svg"/><Relationship Id="rId3" Type="http://schemas.openxmlformats.org/officeDocument/2006/relationships/notesSlide" Target="../notesSlides/notesSlide12.xml"/></Relationships>
</file>

<file path=ppt/slides/slide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" name="" descr="&lt;Slide style={{ width: '1280px', height: '720px', backgroundColor: '#FAFCFE', padding: 0, position: 'relative', overflow: 'hidden' }}&gt;&#13;&#10;    &lt;Box style={{ position: 'absolute', left: 0, top: 0, width: '1280px', height: '150px', background: '#1F5FA8' }} /&gt;&#13;&#10;    &lt;Box style={{ position: 'absolute', left: 64, top: 34, width: '1152px', flexDirection: 'column' }}&gt;&#13;&#10;        &lt;Text style={{ fontSize: 15, fontWeight: 'bold', color: '#BFD9F2', letterSpacing: 2 }}&gt;阶段 1 · 单元 6&lt;/Text&gt;&#13;&#10;        &lt;Text style={{ fontSize: 38, fontWeight: 'bold', color: '#FFFFFF', marginTop: 6 }}&gt;用户输入与 while 循环&lt;/Text&gt;&#13;&#10;    &lt;/Box&gt;&#13;&#10;    &lt;Box style={{ position: 'absolute', left: 64, top: 168, width: '1152px', height: 470 }}&gt;&#13;&#10;        &lt;svg width='1152' height='470' viewBox='0 0 1152 470'&gt;&#13;&#10;            &lt;text x='0' y='18' fontSize='15' fontWeight='bold' fill='#16232E' fontFamily='Microsoft YaHei'&gt;本单元共 5 节课&lt;/text&gt;&#13;&#10;            &lt;rect x='0' y='196' width='1152' height='38' rx='7' fill='#FFFFFF' /&gt;&lt;text x='16' y='221' fontSize='15' fontWeight='bold' fill='#1F5FA8' fontFamily='Microsoft YaHei'&gt;第 28 节&lt;/text&gt;&lt;text x='96' y='221' fontSize='15' fill='#16232E' fontFamily='Microsoft YaHei'&gt;input() 的铁律与 for/while 之争&lt;/text&gt;&lt;text x='1080' y='221' fontSize='13' fill='#5A6B7A' textAnchor='end' fontFamily='Microsoft YaHei'&gt;W6&lt;/text&gt;&lt;rect x='0' y='238' width='1152' height='38' rx='7' fill='#F2F7FD' /&gt;&lt;text x='16' y='263' fontSize='15' fontWeight='bold' fill='#1F5FA8' fontFamily='Microsoft YaHei'&gt;第 29 节&lt;/text&gt;&lt;text x='96' y='263' fontSize='15' fill='#16232E' fontFamily='Microsoft YaHei'&gt;break / continue / while-else&lt;/text&gt;&lt;text x='1080' y='263' fontSize='13' fill='#5A6B7A' textAnchor='end' fontFamily='Microsoft YaHei'&gt;W6&lt;/text&gt;&lt;rect x='0' y='280' width='1152' height='38' rx='7' fill='#FFFFFF' /&gt;&lt;text x='16' y='305' fontSize='15' fontWeight='bold' fill='#1F5FA8' fontFamily='Microsoft YaHei'&gt;第 30 节&lt;/text&gt;&lt;text x='96' y='305' fontSize='15' fill='#16232E' fontFamily='Microsoft YaHei'&gt;交互程序的骨架与收尾&lt;/text&gt;&lt;text x='1080' y='305' fontSize='13' fill='#5A6B7A' textAnchor='end' fontFamily='Microsoft YaHei'&gt;W6&lt;/text&gt;&lt;rect x='0' y='322' width='1152' height='38' rx='7' fill='#F2F7FD' /&gt;&lt;text x='16' y='347' fontSize='15' fontWeight='bold' fill='#1F5FA8' fontFamily='Microsoft YaHei'&gt;第 31 节&lt;/text&gt;&lt;text x='96' y='347' fontSize='15' fill='#16232E' fontFamily='Microsoft YaHei'&gt;动手实战与答案讲评&lt;/text&gt;&lt;text x='1080' y='347' fontSize='13' fill='#5A6B7A' textAnchor='end' fontFamily='Microsoft YaHei'&gt;W6&lt;/text&gt;&lt;rect x='0' y='364' width='1152' height='38' rx='7' fill='#FFFFFF' /&gt;&lt;text x='16' y='389' fontSize='15' fontWeight='bold' fill='#1F5FA8' fontFamily='Microsoft YaHei'&gt;第 32 节&lt;/text&gt;&lt;text x='96' y='389' fontSize='15' fill='#16232E' fontFamily='Microsoft YaHei'&gt;单元 6 验收复盘&lt;/text&gt;&lt;text x='1080' y='389' fontSize='13' fill='#5A6B7A' textAnchor='end' fontFamily='Microsoft YaHei'&gt;W6&lt;/text&gt;&#13;&#10;        &lt;/svg&gt;&#13;&#10;    &lt;/Box&gt;&#13;&#10;    &lt;Box style={{ position: 'absolute', left: 64, bottom: 22, width: '1152px', flexDirection: 'row', justifyContent: 'space-between' }}&gt;&#13;&#10;        &lt;Text style={{ fontSize: 13, color: '#8A9AAA' }}&gt;Python 讲授课件 · 逐节版&lt;/Text&gt;&#13;&#10;        &lt;Text style={{ fontSize: 13, color: '#8A9AAA' }}&gt;单元 6 · 封面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323850"/>
            <a:ext cx="10972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阶段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1 · </a:t>
            </a:r>
            <a:r>
              <a:rPr lang="zh-CN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>单元</a:t>
            </a:r>
            <a:r>
              <a:rPr lang="en-US" sz="1125" b="1" spc="150">
                <a:solidFill>
                  <a:srgbClr val="BFD9F2"/>
                </a:solidFill>
                <a:latin typeface="Microsoft YaHei"/>
                <a:ea typeface="Microsoft YaHei"/>
              </a:rPr>
              <a:t xml:space="preserve"> 6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552450"/>
            <a:ext cx="109728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用户输入与</a:t>
            </a: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while </a:t>
            </a:r>
            <a:r>
              <a:rPr lang="zh-CN" sz="2850" b="1">
                <a:solidFill>
                  <a:srgbClr val="FFFFFF"/>
                </a:solidFill>
                <a:latin typeface="Microsoft YaHei"/>
                <a:ea typeface="Microsoft YaHei"/>
              </a:rPr>
              <a:t>循环</a:t>
            </a:r>
            <a:endParaRPr/>
          </a:p>
        </p:txBody>
      </p:sp>
      <p:pic>
        <p:nvPicPr>
          <p:cNvPr id="6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609600" y="1600200"/>
            <a:ext cx="10972800" cy="4476750"/>
          </a:xfrm>
          <a:prstGeom prst="rect">
            <a:avLst/>
          </a:prstGeom>
          <a:ln/>
        </p:spPr>
      </p:pic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64960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8" name="" descr="{&quot;isTemplate&quot;:true,&quot;type&quot;:&quot;text&quot;}"/>
          <p:cNvSpPr txBox="1"/>
          <p:nvPr/>
        </p:nvSpPr>
        <p:spPr>
          <a:xfrm rot="0" flipH="0" flipV="0">
            <a:off x="10868025" y="64960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6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封面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36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8 / 111 节&lt;/Text&gt;&#13;&#10;        &lt;/Box&gt;&#13;&#10;        &lt;Text style={{ fontSize: 30, fontWeight: 'bold', color: '#16232E' }}&gt;input() 的铁律与 for/while 之争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牢记「拿回来的永远是字符串」，知道什么时候该用 while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故意不写 int() 体会类型陷阱&lt;/text&gt;&lt;text x='84' y='338.75' fontSize='14.5' fill='#3A4A58' textAnchor='start' fontFamily='Microsoft YaHei'&gt;· 现场写一个死循环再自救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6-1 ~ 6-3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2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38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39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28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42862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input()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的铁律与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for/while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之争</a:t>
            </a:r>
            <a:endParaRPr/>
          </a:p>
        </p:txBody>
      </p:sp>
      <p:pic>
        <p:nvPicPr>
          <p:cNvPr id="4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3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8 节&lt;/Text&gt;&#13;&#10;        &lt;/Box&gt;&#13;&#10;        &lt;Text style={{ fontSize: 30, fontWeight: 'bold', color: '#16232E' }}&gt;核心知识点&lt;/Text&gt;&#13;&#10;        &lt;Text style={{ fontSize: 15, color: '#5A6B7A', marginTop: 10 }}&gt;· input() 的铁律与 for/whil…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1 input() 的铁律：拿回来的永远是字符串&lt;/text&gt;&lt;text x='82' y='169.0' fontSize='13' fill='#3A4A58' textAnchor='start' fontFamily='Microsoft YaHei'&gt;· 标准三步模板：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2 for 还是 while：怎么选&lt;/text&gt;&lt;text x='686' y='169.0' fontSize='13' fill='#3A4A58' textAnchor='start' fontFamily='Microsoft YaHei'&gt;· for 像按清单点名——名单上有 10 个人，念完 10 个就结束。&lt;/text&gt;&lt;text x='686' y='197.5' fontSize='13' fill='#3A4A58' textAnchor='start' fontFamily='Microsoft YaHei'&gt;· while 像守门等人——你说&quot;他来了我就开门&quot;，所以得一直站着等，来几个人都不确定&lt;/text&gt;&lt;text x='686' y='217.0' fontSize='13' fill='#3A4A58' textAnchor='start' fontFamily='Microsoft YaHei'&gt;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28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28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8383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input()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的铁律与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for/whil…</a:t>
            </a:r>
            <a:endParaRPr/>
          </a:p>
        </p:txBody>
      </p:sp>
      <p:pic>
        <p:nvPicPr>
          <p:cNvPr id="48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4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4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29 / 111 节&lt;/Text&gt;&#13;&#10;        &lt;/Box&gt;&#13;&#10;        &lt;Text style={{ fontSize: 30, fontWeight: 'bold', color: '#16232E' }}&gt;break / continue / while-el…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掌握 break、continue 与 while...else 的执行时机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写一个只接受正数的输入循环，故意输入字母看是否崩&lt;/text&gt;&lt;text x='84' y='338.75' fontSize='14.5' fill='#3A4A58' textAnchor='start' fontFamily='Microsoft YaHei'&gt;· 演示 while...else 的执行时机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动手练习 6-4 ~ 6-6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2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29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41052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>break / continue / while-el…</a:t>
            </a:r>
            <a:endParaRPr/>
          </a:p>
        </p:txBody>
      </p:sp>
      <p:pic>
        <p:nvPicPr>
          <p:cNvPr id="5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5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5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29 节&lt;/Text&gt;&#13;&#10;        &lt;/Box&gt;&#13;&#10;        &lt;Text style={{ fontSize: 30, fontWeight: 'bold', color: '#16232E' }}&gt;核心知识点&lt;/Text&gt;&#13;&#10;        &lt;Text style={{ fontSize: 15, color: '#5A6B7A', marginTop: 10 }}&gt;· break / continue / wh…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3 while 的核心：条件先行&lt;/text&gt;&lt;text x='82' y='169.0' fontSize='13' fill='#3A4A58' textAnchor='start' fontFamily='Microsoft YaHei'&gt;· 三个必须记住的点：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4 break 与 continue&lt;/text&gt;&lt;text x='686' y='169.0' fontSize='13' fill='#3A4A58' textAnchor='start' fontFamily='Microsoft YaHei'&gt;· break 是&quot;提前下课&quot;——举手表说&quot;这节课剩下的不上了&quot;，直接走人。&lt;/text&gt;&lt;text x='686' y='197.5' fontSize='13' fill='#3A4A58' textAnchor='start' fontFamily='Microsoft YaHei'&gt;· continue 是&quot;这题跳过，下一题&quot;——留在教室里，只是跳过当前这一题。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29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5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5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29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5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6668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>· break / continue / wh…</a:t>
            </a:r>
            <a:endParaRPr/>
          </a:p>
        </p:txBody>
      </p:sp>
      <p:pic>
        <p:nvPicPr>
          <p:cNvPr id="6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6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2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0 / 111 节&lt;/Text&gt;&#13;&#10;        &lt;/Box&gt;&#13;&#10;        &lt;Text style={{ fontSize: 30, fontWeight: 'bold', color: '#16232E' }}&gt;交互程序的骨架与收尾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能组装出「提示 → 输入 → 校验 → 处理」的完整交互程序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现场把 input + int + if + while 组装成一个完整程序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★ 动手项目 7.5–7.9 投票统计 + 7.10 收银机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3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64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30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8575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交互程序的骨架与收尾</a:t>
            </a:r>
            <a:endParaRPr/>
          </a:p>
        </p:txBody>
      </p:sp>
      <p:pic>
        <p:nvPicPr>
          <p:cNvPr id="6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7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68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0 节&lt;/Text&gt;&#13;&#10;        &lt;/Box&gt;&#13;&#10;        &lt;Text style={{ fontSize: 30, fontWeight: 'bold', color: '#16232E' }}&gt;核心知识点&lt;/Text&gt;&#13;&#10;        &lt;Text style={{ fontSize: 15, color: '#5A6B7A', marginTop: 10 }}&gt;· 交互程序的骨架与收尾&lt;/Text&gt;&#13;&#10;    &lt;/Box&gt;&#13;&#10;    &lt;Box style={{ position: 'absolute', left: 0, top: 0, width: '1280px', height: '720px' }}&gt;&#13;&#10;        &lt;svg width='1280' height='720' viewBox='0 0 1280 720'&gt;&#13;&#10;            &lt;rect x='64' y='96' width='548' height='330' rx='12' fill='#FFFFFF' stroke='#D8E3EE' /&gt;&lt;rect x='64' y='96' width='548' height='4' rx='2' fill='#1F5FA8' /&gt;&lt;text x='82' y='130' fontSize='15.5' fontWeight='bold' fill='#1F5FA8' textAnchor='start' fontFamily='Microsoft YaHei'&gt;2.5 while ... else：循环&quot;没被打断&quot;时执行&lt;/text&gt;&lt;text x='82' y='169.0' fontSize='13' fill='#3A4A58' textAnchor='start' fontFamily='Microsoft YaHei'&gt;· 这是一个非常优雅但很少人用、却极其好用的结构：&lt;/text&gt;&lt;rect x='668' y='96' width='548' height='330' rx='12' fill='#FFFFFF' stroke='#D8E3EE' /&gt;&lt;rect x='668' y='96' width='548' height='4' rx='2' fill='#1F5FA8' /&gt;&lt;text x='686' y='130' fontSize='15.5' fontWeight='bold' fill='#1F5FA8' textAnchor='start' fontFamily='Microsoft YaHei'&gt;2.6 交互程序的骨架&lt;/text&gt;&lt;text x='686' y='169.0' fontSize='13' fill='#3A4A58' textAnchor='start' fontFamily='Microsoft YaHei'&gt;· 注意这个模式的关键点：&lt;/text&gt;&lt;text x='686' y='197.5' fontSize='13' fill='#3A4A58' textAnchor='start' fontFamily='Microsoft YaHei'&gt;· while True 本身没有出口，唯一的出口是 break。&lt;/text&gt;&lt;text x='686' y='226.0' fontSize='13' fill='#3A4A58' textAnchor='start' fontFamily='Microsoft YaHei'&gt;· 所以每一条通向&quot;用户想退出&quot;的路径，都必须有 break。&lt;/text&gt;&lt;text x='64' y='470' fontSize='14.5' fontWeight='bold' fill='#0E9B78' textAnchor='start' fontFamily='Microsoft YaHei'&gt;本节的代码示例&lt;/text&gt;&lt;text x='64' y='500' fontSize='13' fill='#3A4A58' textAnchor='start' fontFamily='Microsoft YaHei'&gt;· input 的类型陷阱与三步模板&lt;/text&gt;&lt;text x='468' y='500' fontSize='13' fill='#3A4A58' textAnchor='start' fontFamily='Microsoft YaHei'&gt;· while 基本循环&lt;/text&gt;&lt;text x='872' y='500' fontSize='13' fill='#3A4A58' textAnchor='start' fontFamily='Microsoft YaHei'&gt;· break 与 continue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30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0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30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73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5144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交互程序的骨架与收尾</a:t>
            </a:r>
            <a:endParaRPr/>
          </a:p>
        </p:txBody>
      </p:sp>
      <p:pic>
        <p:nvPicPr>
          <p:cNvPr id="7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8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7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1 / 111 节&lt;/Text&gt;&#13;&#10;        &lt;/Box&gt;&#13;&#10;        &lt;Text style={{ fontSize: 30, fontWeight: 'bold', color: '#16232E' }}&gt;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独立完成单元 6 练习，能写带校验的交互循环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限时 30 分钟独立完成基础档&lt;/text&gt;&lt;text x='84' y='338.75' fontSize='14.5' fill='#3A4A58' textAnchor='start' fontFamily='Microsoft YaHei'&gt;· 逐题对照答案讲评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产出：带输入校验的投票统计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3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77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7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31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571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0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9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81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1 节&lt;/Text&gt;&#13;&#10;        &lt;/Box&gt;&#13;&#10;        &lt;Text style={{ fontSize: 30, fontWeight: 'bold', color: '#16232E' }}&gt;核心知识点&lt;/Text&gt;&#13;&#10;        &lt;Text style={{ fontSize: 15, color: '#5A6B7A', marginTop: 10 }}&gt;· 动手实战与答案讲评&lt;/Text&gt;&#13;&#10;    &lt;/Box&gt;&#13;&#10;    &lt;Box style={{ position: 'absolute', left: 0, top: 0, width: '1280px', height: '720px' }}&gt;&#13;&#10;        &lt;svg width='1280' height='720' viewBox='0 0 1280 720'&gt;&#13;&#10;            &lt;rect x='64' y='96' width='368' height='330' rx='12' fill='#FFFFFF' stroke='#D8E3EE' /&gt;&lt;rect x='64' y='96' width='368' height='4' rx='2' fill='#1F5FA8' /&gt;&lt;text x='82' y='130' fontSize='15.5' fontWeight='bold' fill='#1F5FA8' textAnchor='start' fontFamily='Microsoft YaHei'&gt;基础档&lt;/text&gt;&lt;text x='82' y='169.0' fontSize='13' fill='#3A4A58' textAnchor='start' fontFamily='Microsoft YaHei'&gt;· 练习 6-1【三步模板转换】&lt;/text&gt;&lt;text x='82' y='197.5' fontSize='13' fill='#3A4A58' textAnchor='start' fontFamily='Microsoft YaHei'&gt;· 练习 6-2【数字累加到 N】&lt;/text&gt;&lt;text x='82' y='226.0' fontSize='13' fill='#3A4A58' textAnchor='start' fontFamily='Microsoft YaHei'&gt;· 练习 6-3【倍数输出】&lt;/text&gt;&lt;rect x='468' y='96' width='368' height='330' rx='12' fill='#FFFFFF' stroke='#D8E3EE' /&gt;&lt;rect x='468' y='96' width='368' height='4' rx='2' fill='#1F5FA8' /&gt;&lt;text x='486' y='130' fontSize='15.5' fontWeight='bold' fill='#1F5FA8' textAnchor='start' fontFamily='Microsoft YaHei'&gt;进阶档&lt;/text&gt;&lt;text x='486' y='169.0' fontSize='13' fill='#3A4A58' textAnchor='start' fontFamily='Microsoft YaHei'&gt;· 练习 6-5🌐【猜数字游戏（完整版）】&lt;/text&gt;&lt;text x='486' y='197.5' fontSize='13' fill='#3A4A58' textAnchor='start' fontFamily='Microsoft YaHei'&gt;· 猜的数字太大 → &quot;太大了，再小一点&quot;&lt;/text&gt;&lt;text x='486' y='226.0' fontSize='13' fill='#3A4A58' textAnchor='start' fontFamily='Microsoft YaHei'&gt;· 猜的数字太小 → &quot;太小了，再大一点&quot;&lt;/text&gt;&lt;rect x='872' y='96' width='368' height='330' rx='12' fill='#FFFFFF' stroke='#D8E3EE' /&gt;&lt;rect x='872' y='96' width='368' height='4' rx='2' fill='#1F5FA8' /&gt;&lt;text x='890' y='130' fontSize='15.5' fontWeight='bold' fill='#1F5FA8' textAnchor='start' fontFamily='Microsoft YaHei'&gt;参考答案 6-1&lt;/text&gt;&lt;text x='890' y='169.0' fontSize='13' fill='#3A4A58' textAnchor='start' fontFamily='Microsoft YaHei'&gt;· name = input(&quot;请输入你的姓名：&quot;)&lt;/text&gt;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31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83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3716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动手实战与答案讲评</a:t>
            </a:r>
            <a:endParaRPr/>
          </a:p>
        </p:txBody>
      </p:sp>
      <p:pic>
        <p:nvPicPr>
          <p:cNvPr id="87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0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9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1F5FA8', borderRadius: 5, padding: '3px 11px' }}&gt;&#13;&#10;            &lt;Text style={{ fontSize: 14, fontWeight: 'bold', color: '#FFFFFF' }}&gt;第 32 / 111 节&lt;/Text&gt;&#13;&#10;        &lt;/Box&gt;&#13;&#10;        &lt;Text style={{ fontSize: 30, fontWeight: 'bold', color: '#16232E' }}&gt;单元 6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104' width='1152' height='112' rx='12' fill='#EEF5FB' /&gt;&lt;text x='84' y='134' fontSize='15' fontWeight='bold' fill='#1F5FA8' textAnchor='start' fontFamily='Microsoft YaHei'&gt;学习目标&lt;/text&gt;&lt;text x='84' y='164' fontSize='16' fill='#243444' textAnchor='start' fontFamily='Microsoft YaHei'&gt;确认 input 转换、循环控制、交互骨架都过关&lt;/text&gt;&lt;rect x='64' y='240' width='562' height='248' rx='12' fill='#FFFFFF' stroke='#D8E3EE' /&gt;&lt;text x='84' y='274' fontSize='15' fontWeight='bold' fill='#0E9B78' textAnchor='start' fontFamily='Microsoft YaHei'&gt;课堂实操（40 分钟 · 不看答案）&lt;/text&gt;&lt;text x='84' y='308.0' fontSize='14.5' fill='#3A4A58' textAnchor='start' fontFamily='Microsoft YaHei'&gt;· 逐条打勾验收自测&lt;/text&gt;&lt;text x='84' y='338.75' fontSize='14.5' fill='#3A4A58' textAnchor='start' fontFamily='Microsoft YaHei'&gt;· 现场演示死循环的自救过程&lt;/text&gt;&lt;rect x='654' y='240' width='562' height='248' rx='12' fill='#FDF3E2' stroke='none' /&gt;&lt;text x='674' y='274' fontSize='15' fontWeight='bold' fill='#E08A15' textAnchor='start' fontFamily='Microsoft YaHei'&gt;课后作业&lt;/text&gt;&lt;text x='674' y='308.0' fontSize='14.5' fill='#3A4A58' textAnchor='start' fontFamily='Microsoft YaHei'&gt;· 完成本单元小结与产出检查&lt;/text&gt;&lt;rect x='64' y='508' width='1152' height='92' rx='12' fill='#16232E' /&gt;&lt;text x='84' y='540' fontSize='14.5' fontWeight='bold' fill='#FFFFFF' textAnchor='start' fontFamily='Microsoft YaHei'&gt;这节课的节奏&lt;/text&gt;&lt;text x='84' y='570' fontSize='14' fill='#A8C4DE' textAnchor='start' fontFamily='Microsoft YaHei'&gt;先读讲义 20 分钟 → 自己敲 40 分钟（报错先自己读） → 对着讲评自查 20 分钟 → 写作业 10 分钟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3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1" name=""/>
          <p:cNvSpPr/>
          <p:nvPr/>
        </p:nvSpPr>
        <p:spPr>
          <a:xfrm rot="0" flipH="0" flipV="0">
            <a:off x="609600" y="409575"/>
            <a:ext cx="1114425" cy="219075"/>
          </a:xfrm>
          <a:prstGeom prst="roundRect">
            <a:avLst>
              <a:gd name="adj" fmla="val 21739"/>
            </a:avLst>
          </a:prstGeom>
          <a:solidFill>
            <a:srgbClr val="1F5FA8"/>
          </a:solidFill>
          <a:ln/>
        </p:spPr>
        <p:txBody>
          <a:bodyPr/>
          <a:p/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90487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32 / 111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1838325" y="342900"/>
            <a:ext cx="20669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2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6 </a:t>
            </a: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14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1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15" name="" descr="&lt;Slide style={{ width: '1280px', height: '720px', backgroundColor: '#FAFCFE', padding: 0, position: 'relative', overflow: 'hidden' }}&gt;&#13;&#10;    &lt;Box style={{ position: 'absolute', left: 64, top: 36, width: '1152px', flexDirection: 'row', alignItems: 'center', gap: 12 }}&gt;&#13;&#10;        &lt;Box style={{ background: '#0E9B78', borderRadius: 5, padding: '3px 11px' }}&gt;&#13;&#10;            &lt;Text style={{ fontSize: 14, fontWeight: 'bold', color: '#FFFFFF' }}&gt;第 32 节&lt;/Text&gt;&#13;&#10;        &lt;/Box&gt;&#13;&#10;        &lt;Text style={{ fontSize: 30, fontWeight: 'bold', color: '#16232E' }}&gt;核心知识点&lt;/Text&gt;&#13;&#10;        &lt;Text style={{ fontSize: 15, color: '#5A6B7A', marginTop: 10 }}&gt;· 单元 6 验收复盘&lt;/Text&gt;&#13;&#10;    &lt;/Box&gt;&#13;&#10;    &lt;Box style={{ position: 'absolute', left: 0, top: 0, width: '1280px', height: '720px' }}&gt;&#13;&#10;        &lt;svg width='1280' height='720' viewBox='0 0 1280 720'&gt;&#13;&#10;            &lt;rect x='64' y='574' width='1152' height='66' rx='12' fill='#EEF5FB' /&gt;&lt;text x='84' y='616' fontSize='14' fill='#243444' textAnchor='start' fontFamily='Microsoft YaHei'&gt;看不懂的地方先回讲义对应小节读一遍，再回来对着这页复述一次——能讲出来才算真懂。&lt;/text&gt;&#13;&#10;            &lt;text x='64' y='684' fontSize='13' fill='#8A9AAA' fontFamily='Microsoft YaHei'&gt;Python 讲授课件 · 逐节版&lt;/text&gt;&#13;&#10;            &lt;text x='1216' y='684' fontSize='13' fill='#8A9AAA' textAnchor='end' fontFamily='Microsoft YaHei'&gt;单元 6 · 第 32 节&lt;/text&gt;&#13;&#10;        &lt;/svg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609600" y="409575"/>
            <a:ext cx="723900" cy="219075"/>
          </a:xfrm>
          <a:prstGeom prst="roundRect">
            <a:avLst>
              <a:gd name="adj" fmla="val 21739"/>
            </a:avLst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714375" y="438150"/>
            <a:ext cx="5143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第</a:t>
            </a: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32 </a:t>
            </a:r>
            <a:r>
              <a:rPr lang="zh-CN" sz="1050" b="1">
                <a:solidFill>
                  <a:srgbClr val="FFFFFF"/>
                </a:solidFill>
                <a:latin typeface="Microsoft YaHei"/>
                <a:ea typeface="Microsoft YaHei"/>
              </a:rPr>
              <a:t>节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1447800" y="342900"/>
            <a:ext cx="14287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250" b="1">
                <a:solidFill>
                  <a:srgbClr val="16232E"/>
                </a:solidFill>
                <a:latin typeface="Microsoft YaHei"/>
                <a:ea typeface="Microsoft YaHei"/>
              </a:rPr>
              <a:t>核心知识点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2990850" y="476250"/>
            <a:ext cx="11049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单元</a:t>
            </a:r>
            <a:r>
              <a:rPr lang="en-US" sz="1125">
                <a:solidFill>
                  <a:srgbClr val="5A6B7A"/>
                </a:solidFill>
                <a:latin typeface="Microsoft YaHei"/>
                <a:ea typeface="Microsoft YaHei"/>
              </a:rPr>
              <a:t xml:space="preserve"> 6 </a:t>
            </a:r>
            <a:r>
              <a:rPr lang="zh-CN" sz="1125">
                <a:solidFill>
                  <a:srgbClr val="5A6B7A"/>
                </a:solidFill>
                <a:latin typeface="Microsoft YaHei"/>
                <a:ea typeface="Microsoft YaHei"/>
              </a:rPr>
              <a:t>验收复盘</a:t>
            </a:r>
            <a:endParaRPr/>
          </a:p>
        </p:txBody>
      </p:sp>
      <p:pic>
        <p:nvPicPr>
          <p:cNvPr id="21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0" y="0"/>
            <a:ext cx="12192000" cy="6858000"/>
          </a:xfrm>
          <a:prstGeom prst="rect">
            <a:avLst/>
          </a:prstGeom>
          <a:ln/>
        </p:spPr>
      </p:pic>
    </p:spTree>
  </p:cSld>
</p:sld>
</file>

<file path=ppt/slides/slide12.xml><?xml version="1.0" encoding="utf-8"?>
<p:sld xmlns:p="http://schemas.openxmlformats.org/presentationml/2006/main" xmlns:a="http://schemas.openxmlformats.org/drawingml/2006/main" xmlns:asvg="http://schemas.microsoft.com/office/drawing/2016/SVG/main" xmlns:r="http://schemas.openxmlformats.org/officeDocument/2006/relationships" xmlns:mc="http://schemas.openxmlformats.org/markup-compatibility/2006" mc:Ignorable="asvg">
  <p:cSld>
    <p:spTree>
      <p:nvGrpSpPr>
        <p:cNvPr id="22" name="" descr="&lt;Slide style={{ width: '1280px', height: '720px', backgroundColor: '#FAFCFE', padding: 0, position: 'relative', overflow: 'hidden' }}&gt;&#13;&#10;    &lt;Box style={{ position: 'absolute', left: 0, top: 0, width: '12px', height: '720px', background: '#0E9B78' }} /&gt;&#13;&#10;    &lt;Box style={{ position: 'absolute', left: 72, top: 44, width: '1144px', flexDirection: 'column' }}&gt;&#13;&#10;        &lt;Text style={{ fontSize: 34, fontWeight: 'bold', color: '#16232E' }}&gt;单元 6 · 小结与验收&lt;/Text&gt;&#13;&#10;        &lt;Text style={{ fontSize: 16, color: '#5A6B7A', marginTop: 6 }}&gt;用户输入与 while 循环&lt;/Text&gt;&#13;&#10;    &lt;/Box&gt;&#13;&#10;    &lt;Box style={{ position: 'absolute', left: 72, top: 148, width: '552px', height: 400, background: '#FFFFFF', border: '1px solid #D8E3EE', borderRadius: 12, padding: 18, flexDirection: 'column' }}&gt;&#13;&#10;        &lt;Text style={{ fontSize: 16, fontWeight: 'bold', color: '#1F5FA8' }}&gt;本单元课节回顾&lt;/Text&gt;&#13;&#10;        &lt;Box style={{ marginTop: 10, position: 'relative', height: 330 }}&gt;&#13;&#10;            &lt;svg width='516' height='330' viewBox='0 0 516 330'&gt;&lt;text x='0' y='34' fontSize='14.5' fill='#3A4A58' fontFamily='Microsoft YaHei'&gt;· 第 28 节 · input() 的铁律与 for/while 之争&lt;/text&gt;&lt;text x='0' y='64' fontSize='14.5' fill='#3A4A58' fontFamily='Microsoft YaHei'&gt;· 第 29 节 · break / continue / while-else&lt;/text&gt;&lt;text x='0' y='94' fontSize='14.5' fill='#3A4A58' fontFamily='Microsoft YaHei'&gt;· 第 30 节 · 交互程序的骨架与收尾&lt;/text&gt;&lt;text x='0' y='124' fontSize='14.5' fill='#3A4A58' fontFamily='Microsoft YaHei'&gt;· 第 31 节 · 动手实战与答案讲评&lt;/text&gt;&lt;text x='0' y='154' fontSize='14.5' fill='#3A4A58' fontFamily='Microsoft YaHei'&gt;· 第 32 节 · 单元 6 验收复盘&lt;/text&gt;&lt;/svg&gt;&#13;&#10;        &lt;/Box&gt;&#13;&#10;    &lt;/Box&gt;&#13;&#10;    &lt;Box style={{ position: 'absolute', left: 656, top: 148, width: '560px', height: 400, background: '#FDF3E2', borderRadius: 12, padding: 20, flexDirection: 'column' }}&gt;&#13;&#10;        &lt;Text style={{ fontSize: 16, fontWeight: 'bold', color: '#E08A15' }}&gt;过关标准&lt;/Text&gt;&#13;&#10;        &lt;Text style={{ fontSize: 15, color: '#3A4A58', marginTop: 12, lineHeight: 1.9 }}&gt;&#13;&#10;            1. 本单元每一节的课后作业都做完并自己验收过&#13;&#10;&#13;&#10;            2. 不看讲义能独立重写一遍本单元的示例代码&#13;&#10;&#13;&#10;            3. 讲义最后「本单元验收自测」全部答对&#13;&#10;&#13;&#10;            4. 产出物已经写进笔记或提交到 Git&#13;&#10;        &lt;/Text&gt;&#13;&#10;        &lt;Text style={{ fontSize: 14, color: '#8A6A2A', marginTop: 16, lineHeight: 1.7 }}&gt;&#13;&#10;            没过关的项回到对应那一节重做，不要整体重学。&#13;&#10;        &lt;/Text&gt;&#13;&#10;    &lt;/Box&gt;&#13;&#10;    &lt;Box style={{ position: 'absolute', left: 72, bottom: 26, width: '1144px', flexDirection: 'row', justifyContent: 'space-between' }}&gt;&#13;&#10;        &lt;Text style={{ fontSize: 13, color: '#8A9AAA' }}&gt;Python 讲授课件 · 逐节版&lt;/Text&gt;&#13;&#10;        &lt;Text style={{ fontSize: 13, color: '#8A9AAA' }}&gt;单元 6 · 小结&lt;/Text&gt;&#13;&#10;    &lt;/Box&gt;&#13;&#10;&lt;/Slide&gt;&#13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AFCFE"/>
          </a:solidFill>
          <a:ln/>
        </p:spPr>
        <p:txBody>
          <a:bodyPr/>
          <a:p/>
        </p:txBody>
      </p:sp>
      <p:sp>
        <p:nvSpPr>
          <p:cNvPr id="24" name=""/>
          <p:cNvSpPr/>
          <p:nvPr/>
        </p:nvSpPr>
        <p:spPr>
          <a:xfrm rot="0" flipH="0" flipV="0">
            <a:off x="0" y="0"/>
            <a:ext cx="114300" cy="6858000"/>
          </a:xfrm>
          <a:prstGeom prst="rect">
            <a:avLst/>
          </a:prstGeom>
          <a:solidFill>
            <a:srgbClr val="0E9B78"/>
          </a:solidFill>
          <a:ln/>
        </p:spPr>
        <p:txBody>
          <a:bodyPr/>
          <a:p/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85800" y="419100"/>
            <a:ext cx="108966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单元</a:t>
            </a:r>
            <a:r>
              <a:rPr lang="en-US" sz="2550" b="1">
                <a:solidFill>
                  <a:srgbClr val="16232E"/>
                </a:solidFill>
                <a:latin typeface="Microsoft YaHei"/>
                <a:ea typeface="Microsoft YaHei"/>
              </a:rPr>
              <a:t xml:space="preserve"> 6 · </a:t>
            </a:r>
            <a:r>
              <a:rPr lang="zh-CN" sz="2550" b="1">
                <a:solidFill>
                  <a:srgbClr val="16232E"/>
                </a:solidFill>
                <a:latin typeface="Microsoft YaHei"/>
                <a:ea typeface="Microsoft YaHei"/>
              </a:rPr>
              <a:t>小结与验收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685800" y="866775"/>
            <a:ext cx="108966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用户输入与</a:t>
            </a:r>
            <a:r>
              <a:rPr lang="en-US" sz="1200">
                <a:solidFill>
                  <a:srgbClr val="5A6B7A"/>
                </a:solidFill>
                <a:latin typeface="Microsoft YaHei"/>
                <a:ea typeface="Microsoft YaHei"/>
              </a:rPr>
              <a:t xml:space="preserve"> while </a:t>
            </a:r>
            <a:r>
              <a:rPr lang="zh-CN" sz="1200">
                <a:solidFill>
                  <a:srgbClr val="5A6B7A"/>
                </a:solidFill>
                <a:latin typeface="Microsoft YaHei"/>
                <a:ea typeface="Microsoft YaHei"/>
              </a:rPr>
              <a:t>循环</a:t>
            </a:r>
            <a:endParaRPr/>
          </a:p>
        </p:txBody>
      </p:sp>
      <p:sp>
        <p:nvSpPr>
          <p:cNvPr id="27" name=""/>
          <p:cNvSpPr/>
          <p:nvPr/>
        </p:nvSpPr>
        <p:spPr>
          <a:xfrm rot="0" flipH="0" flipV="0">
            <a:off x="685800" y="1409700"/>
            <a:ext cx="5257800" cy="38100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8E3EE"/>
            </a:solidFill>
            <a:prstDash val="solid"/>
          </a:ln>
        </p:spPr>
        <p:txBody>
          <a:bodyPr/>
          <a:p/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57250" y="1581150"/>
            <a:ext cx="49149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1F5FA8"/>
                </a:solidFill>
                <a:latin typeface="Microsoft YaHei"/>
                <a:ea typeface="Microsoft YaHei"/>
              </a:rPr>
              <a:t>本单元课节回顾</a:t>
            </a:r>
            <a:endParaRPr/>
          </a:p>
        </p:txBody>
      </p:sp>
      <p:pic>
        <p:nvPicPr>
          <p:cNvPr id="29" name="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r:embed="rId1"/>
              </a:ext>
            </a:extLst>
          </a:blip>
          <a:stretch>
            <a:fillRect/>
          </a:stretch>
        </p:blipFill>
        <p:spPr>
          <a:xfrm rot="0" flipH="0" flipV="0">
            <a:off x="857250" y="1866900"/>
            <a:ext cx="4914900" cy="3143250"/>
          </a:xfrm>
          <a:prstGeom prst="rect">
            <a:avLst/>
          </a:prstGeom>
          <a:ln/>
        </p:spPr>
      </p:pic>
      <p:sp>
        <p:nvSpPr>
          <p:cNvPr id="30" name=""/>
          <p:cNvSpPr/>
          <p:nvPr/>
        </p:nvSpPr>
        <p:spPr>
          <a:xfrm rot="0" flipH="0" flipV="0">
            <a:off x="6248400" y="1409700"/>
            <a:ext cx="5334000" cy="3810000"/>
          </a:xfrm>
          <a:prstGeom prst="roundRect">
            <a:avLst>
              <a:gd name="adj" fmla="val 3000"/>
            </a:avLst>
          </a:prstGeom>
          <a:solidFill>
            <a:srgbClr val="FDF3E2"/>
          </a:solidFill>
          <a:ln/>
        </p:spPr>
        <p:txBody>
          <a:bodyPr/>
          <a:p/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6438900" y="1600200"/>
            <a:ext cx="49530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E08A15"/>
                </a:solidFill>
                <a:latin typeface="Microsoft YaHei"/>
                <a:ea typeface="Microsoft YaHei"/>
              </a:rPr>
              <a:t>过关标准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6438900" y="1905000"/>
            <a:ext cx="4953000" cy="9810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1.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本单元每一节的课后作业都做完并自己验收过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2.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不看讲义能独立重写一遍本单元的示例代码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3.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讲义最后「本单元验收自测」全部答对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4. </a:t>
            </a:r>
            <a:r>
              <a:rPr lang="zh-CN" sz="1125">
                <a:solidFill>
                  <a:srgbClr val="3A4A58"/>
                </a:solidFill>
                <a:latin typeface="Microsoft YaHei"/>
                <a:ea typeface="Microsoft YaHei"/>
              </a:rPr>
              <a:t>产出物已经写进笔记或提交到</a:t>
            </a:r>
            <a:r>
              <a:rPr lang="en-US" sz="1125">
                <a:solidFill>
                  <a:srgbClr val="3A4A58"/>
                </a:solidFill>
                <a:latin typeface="Microsoft YaHei"/>
                <a:ea typeface="Microsoft YaHei"/>
              </a:rPr>
              <a:t xml:space="preserve"> Git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6438900" y="3038475"/>
            <a:ext cx="4953000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8A6A2A"/>
                </a:solidFill>
                <a:latin typeface="Microsoft YaHei"/>
                <a:ea typeface="Microsoft YaHei"/>
              </a:rPr>
              <a:t>没过关的项回到对应那一节重做，不要整体重学。</a:t>
            </a:r>
            <a:endParaRPr/>
          </a:p>
        </p:txBody>
      </p:sp>
      <p:sp>
        <p:nvSpPr>
          <p:cNvPr id="34" name="" descr="{&quot;isTemplate&quot;:true,&quot;type&quot;:&quot;text&quot;}"/>
          <p:cNvSpPr txBox="1"/>
          <p:nvPr/>
        </p:nvSpPr>
        <p:spPr>
          <a:xfrm rot="0" flipH="0" flipV="0">
            <a:off x="685800" y="6457950"/>
            <a:ext cx="142875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Python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讲授课件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逐节版</a:t>
            </a:r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10868025" y="6457950"/>
            <a:ext cx="7143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单元</a:t>
            </a:r>
            <a:r>
              <a:rPr lang="en-US" sz="975">
                <a:solidFill>
                  <a:srgbClr val="8A9AAA"/>
                </a:solidFill>
                <a:latin typeface="Microsoft YaHei"/>
                <a:ea typeface="Microsoft YaHei"/>
              </a:rPr>
              <a:t xml:space="preserve"> 6 · </a:t>
            </a:r>
            <a:r>
              <a:rPr lang="zh-CN" sz="975">
                <a:solidFill>
                  <a:srgbClr val="8A9AAA"/>
                </a:solidFill>
                <a:latin typeface="Microsoft YaHei"/>
                <a:ea typeface="Microsoft YaHei"/>
              </a:rPr>
              <a:t>小结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2026-10-16T00:39:32Z</dcterms:created>
  <dcterms:modified xsi:type="dcterms:W3CDTF">2026-10-16T00:39:32Z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{"AIGC":{"Label":"1","ContentProducer":"00119111010856365494821B355","ProduceID":"01a140606b8e78a9a7f16f4a35ab0244","ReservedCode1":"","ContentPropagator":"00119111010856365494821B355","PropagateID":"01a140606b8e78a9a7f16f4a35ab0244","ReservedCode2":""}}</vt:lpwstr>
  </property>
</Properties>
</file>