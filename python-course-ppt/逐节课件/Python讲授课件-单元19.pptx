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media/image1.svg" ContentType="image/svg+xml"/>
  <Override PartName="/ppt/slides/media/image10.svg" ContentType="image/svg+xml"/>
  <Override PartName="/ppt/slides/media/image11.svg" ContentType="image/svg+xml"/>
  <Override PartName="/ppt/slides/media/image12.svg" ContentType="image/svg+xml"/>
  <Override PartName="/ppt/slides/media/image2.svg" ContentType="image/svg+xml"/>
  <Override PartName="/ppt/slides/media/image3.svg" ContentType="image/svg+xml"/>
  <Override PartName="/ppt/slides/media/image4.svg" ContentType="image/svg+xml"/>
  <Override PartName="/ppt/slides/media/image5.svg" ContentType="image/svg+xml"/>
  <Override PartName="/ppt/slides/media/image6.svg" ContentType="image/svg+xml"/>
  <Override PartName="/ppt/slides/media/image7.svg" ContentType="image/svg+xml"/>
  <Override PartName="/ppt/slides/media/image8.svg" ContentType="image/svg+xml"/>
  <Override PartName="/ppt/slides/media/image9.svg" ContentType="image/svg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tableStyles" Target="tableStyles.xml"/><Relationship Id="rId1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19 · 单元 19 · 用户账户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本单元包含以下课节：</a:t>
            </a:r>
          </a:p>
          <a:p>
            <a:r>
              <a:rPr lang="zh-CN" dirty="0"/>
              <a:t>· 第 98 节 表单与数据归属三段式</a:t>
            </a:r>
          </a:p>
          <a:p>
            <a:r>
              <a:rPr lang="zh-CN" dirty="0"/>
              <a:t>· 第 99 节 登录、注销与注册三件套</a:t>
            </a:r>
          </a:p>
          <a:p>
            <a:r>
              <a:rPr lang="zh-CN" dirty="0"/>
              <a:t>· 第 100 节 ★ @login_required 与数据隔离红线</a:t>
            </a:r>
          </a:p>
          <a:p>
            <a:r>
              <a:rPr lang="zh-CN" dirty="0"/>
              <a:t>· 第 101 节 edit_entry 的双重保护</a:t>
            </a:r>
          </a:p>
          <a:p>
            <a:r>
              <a:rPr lang="zh-CN" dirty="0"/>
              <a:t>· 第 102 节 动手实战、答案与验收复盘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开场用 3 分钟讲清：这个单元学完能做出什么，最后会被关卡怎么验。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98 节 · 表单与数据归属三段式</a:t>
            </a:r>
          </a:p>
          <a:p>
            <a:r>
              <a:rPr lang="zh-CN" dirty="0"/>
              <a:t>单元 19 · 用户账户 · W25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学习目标：会用 ModelForm；掌握 `is_valid → save(commit=False) → 补 owner → save`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实现一个 ModelForm 并渲染它</a:t>
            </a:r>
          </a:p>
          <a:p>
            <a:r>
              <a:rPr lang="zh-CN" dirty="0"/>
              <a:t>· 故意不补 owner，看数据归属错在哪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完成教材 19.1 全部动手练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98 节 · 核心知识点：表单与数据归属三段式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本节目标：会用 ModelForm；掌握 `is_valid → save(commit=False) → 补 owner → save`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99 节 · 登录、注销与注册三件套</a:t>
            </a:r>
          </a:p>
          <a:p>
            <a:r>
              <a:rPr lang="zh-CN" dirty="0"/>
              <a:t>单元 19 · 用户账户 · W25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学习目标：会用 Django 自带的 auth 视图；会写注册页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实现登录与注销并测试</a:t>
            </a:r>
          </a:p>
          <a:p>
            <a:r>
              <a:rPr lang="zh-CN" dirty="0"/>
              <a:t>· 故意不注册 logout 的 URL 看会怎样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产出：能注册登录的网站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99 节 · 核心知识点：登录、注销与注册三件套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本节目标：会用 Django 自带的 auth 视图；会写注册页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100 节 · ★ @login_required 与数据隔离红线</a:t>
            </a:r>
          </a:p>
          <a:p>
            <a:r>
              <a:rPr lang="zh-CN" dirty="0"/>
              <a:t>单元 19 · 用户账户 · W25–W26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学习目标：会用装饰器限制访问；理解 `filter(owner=request.user)` 为什么不能写 all()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★ 现场把 filter 改成 all()，用两个账号看数据串了</a:t>
            </a:r>
          </a:p>
          <a:p>
            <a:r>
              <a:rPr lang="zh-CN" dirty="0"/>
              <a:t>· 再改回 filter，验证隔离生效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★ 产出：数据按用户隔离的网站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100 节 · 核心知识点：★ @login_required 与数据隔离红线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本节目标：会用装饰器限制访问；理解 `filter(owner=request.user)` 为什么不能写 all()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101 节 · edit_entry 的双重保护</a:t>
            </a:r>
          </a:p>
          <a:p>
            <a:r>
              <a:rPr lang="zh-CN" dirty="0"/>
              <a:t>单元 19 · 用户账户 · W26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学习目标：会同时校验条目所属主题与主题所属用户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实现双重校验</a:t>
            </a:r>
          </a:p>
          <a:p>
            <a:r>
              <a:rPr lang="zh-CN" dirty="0"/>
              <a:t>· 用一个账号去改另一个账号的条目，应被拒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完成教材 19.3 全部动手练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101 节 · 核心知识点：edit_entry 的双重保护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本节目标：会同时校验条目所属主题与主题所属用户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102 节 · 动手实战、答案与验收复盘</a:t>
            </a:r>
          </a:p>
          <a:p>
            <a:r>
              <a:rPr lang="zh-CN" dirty="0"/>
              <a:t>单元 19 · 用户账户 · W26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学习目标：独立完成单元 19 练习，守住数据隔离红线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限时 40 分钟独立完成基础档</a:t>
            </a:r>
          </a:p>
          <a:p>
            <a:r>
              <a:rPr lang="zh-CN" dirty="0"/>
              <a:t>· 逐条演示六、里的每个错误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★ 产出：带注册登录的完整学习笔记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102 节 · 核心知识点：动手实战、答案与验收复盘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本节目标：独立完成单元 19 练习，守住数据隔离红线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19 小结 · 单元 19 · 小结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收尾动作：让学生合上讲义，口述本单元三个最重要的结论；说不出来的，回对应课节。</a:t>
            </a:r>
          </a:p>
          <a:p>
            <a:r>
              <a:rPr lang="zh-CN" dirty="0"/>
              <a:t>然后当场勾一遍本单元课节的「已完成」，没打勾的进下一单元前补掉。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sv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5.sv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6.sv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7.sv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8.sv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9.sv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0.sv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1.sv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2.sv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sv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.sv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.svg"/><Relationship Id="rId3" Type="http://schemas.openxmlformats.org/officeDocument/2006/relationships/notesSlide" Target="../notesSlides/notesSlide12.xml"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'1280px', height: '720px', backgroundColor: '#FAFCFE', padding: 0, position: 'relative', overflow: 'hidden' }}&gt;&#13;&#10;    &lt;Box style={{ position: 'absolute', left: 0, top: 0, width: '1280px', height: '150px', background: '#1F5FA8' }} /&gt;&#13;&#10;    &lt;Box style={{ position: 'absolute', left: 64, top: 34, width: '1152px', flexDirection: 'column' }}&gt;&#13;&#10;        &lt;Text style={{ fontSize: 15, fontWeight: 'bold', color: '#BFD9F2', letterSpacing: 2 }}&gt;阶段 2 · 单元 19&lt;/Text&gt;&#13;&#10;        &lt;Text style={{ fontSize: 38, fontWeight: 'bold', color: '#FFFFFF', marginTop: 6 }}&gt;用户账户&lt;/Text&gt;&#13;&#10;    &lt;/Box&gt;&#13;&#10;    &lt;Box style={{ position: 'absolute', left: 64, top: 168, width: '1152px', height: 470 }}&gt;&#13;&#10;        &lt;svg width='1152' height='470' viewBox='0 0 1152 470'&gt;&#13;&#10;            &lt;text x='0' y='18' fontSize='15' fontWeight='bold' fill='#16232E' fontFamily='Microsoft YaHei'&gt;本单元共 5 节课&lt;/text&gt;&#13;&#10;            &lt;rect x='0' y='56.0' width='1152' height='48.0' rx='7' fill='#FFFFFF' /&gt;&lt;text x='16' y='85.0' fontSize='15' fontWeight='bold' fill='#1F5FA8' fontFamily='Microsoft YaHei'&gt;第 98 节&lt;/text&gt;&lt;text x='96' y='85.0' fontSize='15' fill='#16232E' fontFamily='Microsoft YaHei'&gt;表单与数据归属三段式&lt;/text&gt;&lt;text x='1080' y='85.0' fontSize='13' fill='#5A6B7A' textAnchor='end' fontFamily='Microsoft YaHei'&gt;W25&lt;/text&gt;&lt;rect x='0' y='135.2' width='1152' height='48.0' rx='7' fill='#F2F7FD' /&gt;&lt;text x='16' y='164.2' fontSize='15' fontWeight='bold' fill='#1F5FA8' fontFamily='Microsoft YaHei'&gt;第 99 节&lt;/text&gt;&lt;text x='96' y='164.2' fontSize='15' fill='#16232E' fontFamily='Microsoft YaHei'&gt;登录、注销与注册三件套&lt;/text&gt;&lt;text x='1080' y='164.2' fontSize='13' fill='#5A6B7A' textAnchor='end' fontFamily='Microsoft YaHei'&gt;W25&lt;/text&gt;&lt;rect x='0' y='214.4' width='1152' height='48.0' rx='7' fill='#FFFFFF' /&gt;&lt;text x='16' y='243.4' fontSize='15' fontWeight='bold' fill='#1F5FA8' fontFamily='Microsoft YaHei'&gt;第 100 节&lt;/text&gt;&lt;text x='96' y='243.4' fontSize='15' fill='#16232E' fontFamily='Microsoft YaHei'&gt;★ @login_required 与数据隔离红线&lt;/text&gt;&lt;text x='1080' y='243.4' fontSize='13' fill='#5A6B7A' textAnchor='end' fontFamily='Microsoft YaHei'&gt;W25&lt;/text&gt;&lt;rect x='0' y='293.6' width='1152' height='48.0' rx='7' fill='#F2F7FD' /&gt;&lt;text x='16' y='322.6' fontSize='15' fontWeight='bold' fill='#1F5FA8' fontFamily='Microsoft YaHei'&gt;第 101 节&lt;/text&gt;&lt;text x='96' y='322.6' fontSize='15' fill='#16232E' fontFamily='Microsoft YaHei'&gt;edit_entry 的双重保护&lt;/text&gt;&lt;text x='1080' y='322.6' fontSize='13' fill='#5A6B7A' textAnchor='end' fontFamily='Microsoft YaHei'&gt;W25&lt;/text&gt;&lt;rect x='0' y='372.8' width='1152' height='48.0' rx='7' fill='#FFFFFF' /&gt;&lt;text x='16' y='401.8' fontSize='15' fontWeight='bold' fill='#1F5FA8' fontFamily='Microsoft YaHei'&gt;第 102 节&lt;/text&gt;&lt;text x='96' y='401.8' fontSize='15' fill='#16232E' fontFamily='Microsoft YaHei'&gt;动手实战、答案与验收复盘&lt;/text&gt;&lt;text x='1080' y='401.8' fontSize='13' fill='#5A6B7A' textAnchor='end' fontFamily='Microsoft YaHei'&gt;W25&lt;/text&gt;&#13;&#10;        &lt;/svg&gt;&#13;&#10;    &lt;/Box&gt;&#13;&#10;    &lt;Box style={{ position: 'absolute', left: 64, bottom: 22, width: '1152px', flexDirection: 'row', justifyContent: 'space-between' }}&gt;&#13;&#10;        &lt;Text style={{ fontSize: 13, color: '#8A9AAA' }}&gt;Python 讲授课件 · 逐节版&lt;/Text&gt;&#13;&#10;        &lt;Text style={{ fontSize: 13, color: '#8A9AAA' }}&gt;单元 19 · 封面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1428750"/>
          </a:xfrm>
          <a:prstGeom prst="rect">
            <a:avLst/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阶段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2 · </a:t>
            </a: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单元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19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552450"/>
            <a:ext cx="109728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用户账户</a:t>
            </a:r>
            <a:endParaRPr/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600200"/>
            <a:ext cx="10972800" cy="4476750"/>
          </a:xfrm>
          <a:prstGeom prst="rect">
            <a:avLst/>
          </a:prstGeom>
          <a:ln/>
        </p:spPr>
      </p:pic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801350" y="64960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19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封面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6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98 / 111 节&lt;/Text&gt;&#13;&#10;        &lt;/Box&gt;&#13;&#10;        &lt;Text style={{ fontSize: 30, fontWeight: 'bold', color: '#16232E' }}&gt;表单与数据归属三段式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会用 ModelForm；掌握 is_valid → save(commit=False) → 补 owner → save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实现一个 ModelForm 并渲染它&lt;/text&gt;&lt;text x='84' y='338.75' fontSize='14.5' fill='#3A4A58' textAnchor='start' fontFamily='Microsoft YaHei'&gt;· 故意不补 owner，看数据归属错在哪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教材 19.1 全部动手练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9 · 第 98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98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857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表单与数据归属三段式</a:t>
            </a:r>
            <a:endParaRPr/>
          </a:p>
        </p:txBody>
      </p:sp>
      <p:pic>
        <p:nvPicPr>
          <p:cNvPr id="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98 节&lt;/Text&gt;&#13;&#10;        &lt;/Box&gt;&#13;&#10;        &lt;Text style={{ fontSize: 30, fontWeight: 'bold', color: '#16232E' }}&gt;核心知识点&lt;/Text&gt;&#13;&#10;        &lt;Text style={{ fontSize: 15, color: '#5A6B7A', marginTop: 10 }}&gt;· 表单与数据归属三段式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1 表单与 ModelForm：把模型变成表单的捷径&lt;/text&gt;&lt;text x='82' y='169.0' fontSize='13' fill='#3A4A58' textAnchor='start' fontFamily='Microsoft YaHei'&gt;· fields 白名单是安全措施，不是省事措施。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2 三段式与数据归属：commit=False 的经典…&lt;/text&gt;&lt;text x='686' y='169.0' fontSize='13' fill='#3A4A58' textAnchor='start' fontFamily='Microsoft YaHei'&gt;· 为什么需要 commit=False？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9 · 第 98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98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514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表单与数据归属三段式</a:t>
            </a:r>
            <a:endParaRPr/>
          </a:p>
        </p:txBody>
      </p:sp>
      <p:pic>
        <p:nvPicPr>
          <p:cNvPr id="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99 / 111 节&lt;/Text&gt;&#13;&#10;        &lt;/Box&gt;&#13;&#10;        &lt;Text style={{ fontSize: 30, fontWeight: 'bold', color: '#16232E' }}&gt;登录、注销与注册三件套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会用 Django 自带的 auth 视图；会写注册页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实现登录与注销并测试&lt;/text&gt;&lt;text x='84' y='338.75' fontSize='14.5' fill='#3A4A58' textAnchor='start' fontFamily='Microsoft YaHei'&gt;· 故意不注册 logout 的 URL 看会怎样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产出：能注册登录的网站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9 · 第 99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99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3143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登录、注销与注册三件套</a:t>
            </a:r>
            <a:endParaRPr/>
          </a:p>
        </p:txBody>
      </p:sp>
      <p:pic>
        <p:nvPicPr>
          <p:cNvPr id="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99 节&lt;/Text&gt;&#13;&#10;        &lt;/Box&gt;&#13;&#10;        &lt;Text style={{ fontSize: 30, fontWeight: 'bold', color: '#16232E' }}&gt;核心知识点&lt;/Text&gt;&#13;&#10;        &lt;Text style={{ fontSize: 15, color: '#5A6B7A', marginTop: 10 }}&gt;· 登录、注销与注册三件套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3 request.user：每个请求自带的「当前用户」&lt;/text&gt;&lt;text x='82' y='169.0' fontSize='13' fill='#3A4A58' textAnchor='start' fontFamily='Microsoft YaHei'&gt;· Django 给每一个请求都挂上一个 user 对象，视图里直接用 request.user…&lt;/text&gt;&lt;text x='82' y='197.5' fontSize='13' fill='#3A4A58' textAnchor='start' fontFamily='Microsoft YaHei'&gt;· 这就是导航栏「已登录显示问候语、未登录显示登录链接」的实现——同一个变量，&lt;/text&gt;&lt;text x='82' y='217.0' fontSize='13' fill='#3A4A58' textAnchor='start' fontFamily='Microsoft YaHei'&gt;两种身份，模板自己判断。&lt;/text&gt;&lt;text x='82' y='245.5' fontSize='13' fill='#3A4A58' textAnchor='start' fontFamily='Microsoft YaHei'&gt;· 实跑输出里 alice 那行是 is_authenticated=True pk=1…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4 登录、注销、注册三件套&lt;/text&gt;&lt;text x='686' y='169.0' fontSize='13' fill='#3A4A58' textAnchor='start' fontFamily='Microsoft YaHei'&gt;· 登录和注销不用自己写视图&lt;/text&gt;&lt;text x='686' y='197.5' fontSize='13' fill='#3A4A58' textAnchor='start' fontFamily='Microsoft YaHei'&gt;· 注册页面 Django 不提供，得自己写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9 · 第 99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99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657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登录、注销与注册三件套</a:t>
            </a:r>
            <a:endParaRPr/>
          </a:p>
        </p:txBody>
      </p:sp>
      <p:pic>
        <p:nvPicPr>
          <p:cNvPr id="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100 / 111 节&lt;/Text&gt;&#13;&#10;        &lt;/Box&gt;&#13;&#10;        &lt;Text style={{ fontSize: 30, fontWeight: 'bold', color: '#16232E' }}&gt;★ @login_required 与数据隔离红线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会用装饰器限制访问；理解 filter(owner=request.user) 为什么不能写 all()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★ 现场把 filter 改成 all()，用两个账号看数据串了&lt;/text&gt;&lt;text x='84' y='338.75' fontSize='14.5' fill='#3A4A58' textAnchor='start' fontFamily='Microsoft YaHei'&gt;· 再改回 filter，验证隔离生效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★ 产出：数据按用户隔离的网站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9 · 第 100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609600" y="409575"/>
            <a:ext cx="1200150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9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100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924050" y="342900"/>
            <a:ext cx="47815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★ @login_required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与数据隔离红线</a:t>
            </a:r>
            <a:endParaRPr/>
          </a:p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8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100 节&lt;/Text&gt;&#13;&#10;        &lt;/Box&gt;&#13;&#10;        &lt;Text style={{ fontSize: 30, fontWeight: 'bold', color: '#16232E' }}&gt;核心知识点&lt;/Text&gt;&#13;&#10;        &lt;Text style={{ fontSize: 15, color: '#5A6B7A', marginTop: 10 }}&gt;· ★ @login_required 与数据…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5 @login_required：视图的门卫 ★&lt;/text&gt;&lt;text x='82' y='169.0' fontSize='13' fill='#3A4A58' textAnchor='start' fontFamily='Microsoft YaHei'&gt;· 装饰器是放在函数定义前面的「@ 指令」，在函数运行前先跑一遍自己的代码。&lt;/text&gt;&lt;text x='82' y='197.5' fontSize='13' fill='#3A4A58' textAnchor='start' fontFamily='Microsoft YaHei'&gt;· 保护策略（教材的建议，值得抄走）：先列出哪些页面不需要保护——主页（谁都能看）&lt;/text&gt;&lt;text x='82' y='217.0' fontSize='13' fill='#3A4A58' textAnchor='start' fontFamily='Microsoft YaHei'&gt;…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6 数据隔离的安全红线 ★★★&lt;/text&gt;&lt;text x='686' y='169.0' fontSize='13' fill='#3A4A58' textAnchor='start' fontFamily='Microsoft YaHei'&gt;· 本单元最重要的一句话：查询数据时，必须按当前用户过滤。&lt;/text&gt;&lt;text x='686' y='197.5' fontSize='13' fill='#3A4A58' textAnchor='start' fontFamily='Microsoft YaHei'&gt;· .all() 的后果：用户 A 登录后，能看到用户 B 的所有主题和条目。&lt;/text&gt;&lt;text x='686' y='226.0' fontSize='13' fill='#3A4A58' textAnchor='start' fontFamily='Microsoft YaHei'&gt;· 为什么「查出来再在 Python 里筛」不行？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9 · 第 100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609600" y="409575"/>
            <a:ext cx="809625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600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100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533525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3076575" y="476250"/>
            <a:ext cx="1962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★ @login_required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与数据…</a:t>
            </a:r>
            <a:endParaRPr/>
          </a:p>
        </p:txBody>
      </p:sp>
      <p:pic>
        <p:nvPicPr>
          <p:cNvPr id="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101 / 111 节&lt;/Text&gt;&#13;&#10;        &lt;/Box&gt;&#13;&#10;        &lt;Text style={{ fontSize: 30, fontWeight: 'bold', color: '#16232E' }}&gt;edit_entry 的双重保护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会同时校验条目所属主题与主题所属用户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实现双重校验&lt;/text&gt;&lt;text x='84' y='338.75' fontSize='14.5' fill='#3A4A58' textAnchor='start' fontFamily='Microsoft YaHei'&gt;· 用一个账号去改另一个账号的条目，应被拒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教材 19.3 全部动手练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9 · 第 101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609600" y="409575"/>
            <a:ext cx="1200150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9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101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924050" y="342900"/>
            <a:ext cx="29718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edit_entry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的双重保护</a:t>
            </a:r>
            <a:endParaRPr/>
          </a:p>
        </p:txBody>
      </p:sp>
      <p:pic>
        <p:nvPicPr>
          <p:cNvPr id="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81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101 节&lt;/Text&gt;&#13;&#10;        &lt;/Box&gt;&#13;&#10;        &lt;Text style={{ fontSize: 30, fontWeight: 'bold', color: '#16232E' }}&gt;核心知识点&lt;/Text&gt;&#13;&#10;        &lt;Text style={{ fontSize: 15, color: '#5A6B7A', marginTop: 10 }}&gt;· edit_entry 的双重保护&lt;/Text&gt;&#13;&#10;    &lt;/Box&gt;&#13;&#10;    &lt;Box style={{ position: 'absolute', left: 0, top: 0, width: '1280px', height: '720px' }}&gt;&#13;&#10;        &lt;svg width='1280' height='720' viewBox='0 0 1280 720'&gt;&#13;&#10;            &lt;rect x='64' y='96' width='1152' height='330' rx='12' fill='#FFFFFF' stroke='#D8E3EE' /&gt;&lt;rect x='64' y='96' width='1152' height='4' rx='2' fill='#1F5FA8' /&gt;&lt;text x='82' y='130' fontSize='15.5' fontWeight='bold' fill='#1F5FA8' textAnchor='start' fontFamily='Microsoft YaHei'&gt;2.7 edit_entry 的双重保护&lt;/text&gt;&lt;text x='82' y='169.0' fontSize='13' fill='#3A4A58' textAnchor='start' fontFamily='Microsoft YaHei'&gt;· 进房间前要验两道——先查这个房间号（entry）在哪一层（topic）…&lt;/text&gt;&lt;text x='82' y='197.5' fontSize='13' fill='#3A4A58' textAnchor='start' fontFamily='Microsoft YaHei'&gt;· new_entry 同样要防（教材练习 19.4）：用户如果在 URL 里塞别人的 topic_id（…&lt;/text&gt;&lt;text x='64' y='470' fontSize='14.5' fontWeight='bold' fill='#0E9B78' textAnchor='start' fontFamily='Microsoft YaHei'&gt;本节的代码示例&lt;/text&gt;&lt;text x='64' y='500' fontSize='13' fill='#3A4A58' textAnchor='start' fontFamily='Microsoft YaHei'&gt;· 用纯 Python 看懂「字段白名单」&lt;/text&gt;&lt;text x='468' y='500' fontSize='13' fill='#3A4A58' textAnchor='start' fontFamily='Microsoft YaHei'&gt;· 用纯 Python 看懂 request.user&lt;/text&gt;&lt;text x='872' y='500' fontSize='13' fill='#3A4A58' textAnchor='start' fontFamily='Microsoft YaHei'&gt;· 用纯 Python 模拟 @login_required 门禁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9 · 第 101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609600" y="409575"/>
            <a:ext cx="809625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600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101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533525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3076575" y="476250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edit_entry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的双重保护</a:t>
            </a:r>
            <a:endParaRPr/>
          </a:p>
        </p:txBody>
      </p:sp>
      <p:pic>
        <p:nvPicPr>
          <p:cNvPr id="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102 / 111 节&lt;/Text&gt;&#13;&#10;        &lt;/Box&gt;&#13;&#10;        &lt;Text style={{ fontSize: 30, fontWeight: 'bold', color: '#16232E' }}&gt;动手实战、答案与验收复盘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独立完成单元 19 练习，守住数据隔离红线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限时 40 分钟独立完成基础档&lt;/text&gt;&lt;text x='84' y='338.75' fontSize='14.5' fill='#3A4A58' textAnchor='start' fontFamily='Microsoft YaHei'&gt;· 逐条演示六、里的每个错误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★ 产出：带注册登录的完整学习笔记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9 · 第 102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609600" y="409575"/>
            <a:ext cx="1200150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9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102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924050" y="342900"/>
            <a:ext cx="3429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动手实战、答案与验收复盘</a:t>
            </a:r>
            <a:endParaRPr/>
          </a:p>
        </p:txBody>
      </p:sp>
      <p:pic>
        <p:nvPicPr>
          <p:cNvPr id="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102 节&lt;/Text&gt;&#13;&#10;        &lt;/Box&gt;&#13;&#10;        &lt;Text style={{ fontSize: 30, fontWeight: 'bold', color: '#16232E' }}&gt;核心知识点&lt;/Text&gt;&#13;&#10;        &lt;Text style={{ fontSize: 15, color: '#5A6B7A', marginTop: 10 }}&gt;· 动手实战、答案与验收复盘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基础档&lt;/text&gt;&lt;text x='82' y='169.0' fontSize='13' fill='#3A4A58' textAnchor='start' fontFamily='Microsoft YaHei'&gt;· 练习 19-1【登录页与注销】&lt;/text&gt;&lt;text x='82' y='197.5' fontSize='13' fill='#3A4A58' textAnchor='start' fontFamily='Microsoft YaHei'&gt;· 练习 19-2【注册页面】&lt;/text&gt;&lt;text x='82' y='226.0' fontSize='13' fill='#3A4A58' textAnchor='start' fontFamily='Microsoft YaHei'&gt;· 练习 19-3【让每个用户只有自己的主题】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进阶档&lt;/text&gt;&lt;text x='486' y='169.0' fontSize='13' fill='#3A4A58' textAnchor='start' fontFamily='Microsoft YaHei'&gt;· 练习 19-4【教材练习 19.3：重构&lt;/text&gt;&lt;text x='486' y='188.5' fontSize='13' fill='#3A4A58' textAnchor='start' fontFamily='Microsoft YaHei'&gt;check_topic_owner()】&lt;/text&gt;&lt;text x='486' y='217.0' fontSize='13' fill='#3A4A58' textAnchor='start' fontFamily='Microsoft YaHei'&gt;· 练习 19-5【教材练习 19.4：保护 new_entry】&lt;/text&gt;&lt;text x='486' y='245.5' fontSize='13' fill='#3A4A58' textAnchor='start' fontFamily='Microsoft YaHei'&gt;· 练习 19-6【纯 Python：带用户隔离的笔记本】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参考答案 19-1&lt;/text&gt;&lt;text x='890' y='169.0' fontSize='13' fill='#3A4A58' textAnchor='start' fontFamily='Microsoft YaHei'&gt;· base.html 的改法见示例 8 的完整版（问候语 +&lt;/text&gt;&lt;text x='890' y='188.5' fontSize='13' fill='#3A4A58' textAnchor='start' fontFamily='Microsoft YaHei'&gt;注销表单）…&lt;/text&gt;&lt;text x='890' y='217.0' fontSize='13' fill='#3A4A58' textAnchor='start' fontFamily='Microsoft YaHei'&gt;· 别忘了 INSTALLED_APPS 里加 &quot;accounts&quot;。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9 · 第 102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609600" y="409575"/>
            <a:ext cx="809625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600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102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533525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3076575" y="476250"/>
            <a:ext cx="1800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动手实战、答案与验收复盘</a:t>
            </a:r>
            <a:endParaRPr/>
          </a:p>
        </p:txBody>
      </p:sp>
      <p:pic>
        <p:nvPicPr>
          <p:cNvPr id="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2" name="" descr="&lt;Slide style={{ width: '1280px', height: '720px', backgroundColor: '#FAFCFE', padding: 0, position: 'relative', overflow: 'hidden' }}&gt;&#13;&#10;    &lt;Box style={{ position: 'absolute', left: 0, top: 0, width: '12px', height: '720px', background: '#0E9B78' }} /&gt;&#13;&#10;    &lt;Box style={{ position: 'absolute', left: 72, top: 44, width: '1144px', flexDirection: 'column' }}&gt;&#13;&#10;        &lt;Text style={{ fontSize: 34, fontWeight: 'bold', color: '#16232E' }}&gt;单元 19 · 小结与验收&lt;/Text&gt;&#13;&#10;        &lt;Text style={{ fontSize: 16, color: '#5A6B7A', marginTop: 6 }}&gt;用户账户&lt;/Text&gt;&#13;&#10;    &lt;/Box&gt;&#13;&#10;    &lt;Box style={{ position: 'absolute', left: 72, top: 148, width: '552px', height: 400, background: '#FFFFFF', border: '1px solid #D8E3EE', borderRadius: 12, padding: 18, flexDirection: 'column' }}&gt;&#13;&#10;        &lt;Text style={{ fontSize: 16, fontWeight: 'bold', color: '#1F5FA8' }}&gt;本单元课节回顾&lt;/Text&gt;&#13;&#10;        &lt;Box style={{ marginTop: 10, position: 'relative', height: 330 }}&gt;&#13;&#10;            &lt;svg width='516' height='330' viewBox='0 0 516 330'&gt;&lt;text x='0' y='34' fontSize='14.5' fill='#3A4A58' fontFamily='Microsoft YaHei'&gt;· 第 98 节 · 表单与数据归属三段式&lt;/text&gt;&lt;text x='0' y='64' fontSize='14.5' fill='#3A4A58' fontFamily='Microsoft YaHei'&gt;· 第 99 节 · 登录、注销与注册三件套&lt;/text&gt;&lt;text x='0' y='94' fontSize='14.5' fill='#3A4A58' fontFamily='Microsoft YaHei'&gt;· 第 100 节 · ★ @login_required 与数据隔离红线&lt;/text&gt;&lt;text x='0' y='124' fontSize='14.5' fill='#3A4A58' fontFamily='Microsoft YaHei'&gt;· 第 101 节 · edit_entry 的双重保护&lt;/text&gt;&lt;text x='0' y='154' fontSize='14.5' fill='#3A4A58' fontFamily='Microsoft YaHei'&gt;· 第 102 节 · 动手实战、答案与验收复盘&lt;/text&gt;&lt;/svg&gt;&#13;&#10;        &lt;/Box&gt;&#13;&#10;    &lt;/Box&gt;&#13;&#10;    &lt;Box style={{ position: 'absolute', left: 656, top: 148, width: '560px', height: 400, background: '#FDF3E2', borderRadius: 12, padding: 20, flexDirection: 'column' }}&gt;&#13;&#10;        &lt;Text style={{ fontSize: 16, fontWeight: 'bold', color: '#E08A15' }}&gt;过关标准&lt;/Text&gt;&#13;&#10;        &lt;Text style={{ fontSize: 15, color: '#3A4A58', marginTop: 12, lineHeight: 1.9 }}&gt;&#13;&#10;            1. 本单元每一节的课后作业都做完并自己验收过&#13;&#10;&#13;&#10;            2. 不看讲义能独立重写一遍本单元的示例代码&#13;&#10;&#13;&#10;            3. 讲义最后「本单元验收自测」全部答对&#13;&#10;&#13;&#10;            4. 产出物已经写进笔记或提交到 Git&#13;&#10;        &lt;/Text&gt;&#13;&#10;        &lt;Text style={{ fontSize: 14, color: '#8A6A2A', marginTop: 16, lineHeight: 1.7 }}&gt;&#13;&#10;            没过关的项回到对应那一节重做，不要整体重学。&#13;&#10;        &lt;/Text&gt;&#13;&#10;    &lt;/Box&gt;&#13;&#10;    &lt;Box style={{ position: 'absolute', left: 72, bottom: 26, width: '1144px', flexDirection: 'row', justifyContent: 'space-between' }}&gt;&#13;&#10;        &lt;Text style={{ fontSize: 13, color: '#8A9AAA' }}&gt;Python 讲授课件 · 逐节版&lt;/Text&gt;&#13;&#10;        &lt;Text style={{ fontSize: 13, color: '#8A9AAA' }}&gt;单元 19 · 小结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0" y="0"/>
            <a:ext cx="114300" cy="6858000"/>
          </a:xfrm>
          <a:prstGeom prst="rect">
            <a:avLst/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10896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5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19 · </a:t>
            </a: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小结与验收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85800" y="866775"/>
            <a:ext cx="10896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用户账户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685800" y="1409700"/>
            <a:ext cx="52578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57250" y="1581150"/>
            <a:ext cx="491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5FA8"/>
                </a:solidFill>
                <a:latin typeface="Microsoft YaHei"/>
                <a:ea typeface="Microsoft YaHei"/>
              </a:rPr>
              <a:t>本单元课节回顾</a:t>
            </a:r>
            <a:endParaRPr/>
          </a:p>
        </p:txBody>
      </p:sp>
      <p:pic>
        <p:nvPicPr>
          <p:cNvPr id="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866900"/>
            <a:ext cx="4914900" cy="3143250"/>
          </a:xfrm>
          <a:prstGeom prst="rect">
            <a:avLst/>
          </a:prstGeom>
          <a:ln/>
        </p:spPr>
      </p:pic>
      <p:sp>
        <p:nvSpPr>
          <p:cNvPr id="30" name=""/>
          <p:cNvSpPr/>
          <p:nvPr/>
        </p:nvSpPr>
        <p:spPr>
          <a:xfrm rot="0" flipH="0" flipV="0">
            <a:off x="6248400" y="1409700"/>
            <a:ext cx="5334000" cy="3810000"/>
          </a:xfrm>
          <a:prstGeom prst="roundRect">
            <a:avLst>
              <a:gd name="adj" fmla="val 3000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438900" y="1600200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08A15"/>
                </a:solidFill>
                <a:latin typeface="Microsoft YaHei"/>
                <a:ea typeface="Microsoft YaHei"/>
              </a:rPr>
              <a:t>过关标准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438900" y="1905000"/>
            <a:ext cx="49530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1.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本单元每一节的课后作业都做完并自己验收过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2.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不看讲义能独立重写一遍本单元的示例代码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3.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讲义最后「本单元验收自测」全部答对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4.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产出物已经写进笔记或提交到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Git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438900" y="3038475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8A6A2A"/>
                </a:solidFill>
                <a:latin typeface="Microsoft YaHei"/>
                <a:ea typeface="Microsoft YaHei"/>
              </a:rPr>
              <a:t>没过关的项回到对应那一节重做，不要整体重学。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0801350" y="64579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19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2026-10-29T00:42:06Z</dcterms:created>
  <dcterms:modified xsi:type="dcterms:W3CDTF">2026-10-29T00:42:06Z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{"AIGC":{"Label":"1","ContentProducer":"00119111010856365494821B355","ProduceID":"01a183579b68743e9c290638234d6294","ReservedCode1":"","ContentPropagator":"00119111010856365494821B355","PropagateID":"01a183579b68743e9c290638234d6294","ReservedCode2":""}}</vt:lpwstr>
  </property>
</Properties>
</file>