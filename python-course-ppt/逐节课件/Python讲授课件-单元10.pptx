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media/image1.svg" ContentType="image/svg+xml"/>
  <Override PartName="/ppt/slides/media/image10.svg" ContentType="image/svg+xml"/>
  <Override PartName="/ppt/slides/media/image11.svg" ContentType="image/svg+xml"/>
  <Override PartName="/ppt/slides/media/image12.svg" ContentType="image/svg+xml"/>
  <Override PartName="/ppt/slides/media/image2.svg" ContentType="image/svg+xml"/>
  <Override PartName="/ppt/slides/media/image3.svg" ContentType="image/svg+xml"/>
  <Override PartName="/ppt/slides/media/image4.svg" ContentType="image/svg+xml"/>
  <Override PartName="/ppt/slides/media/image5.svg" ContentType="image/svg+xml"/>
  <Override PartName="/ppt/slides/media/image6.svg" ContentType="image/svg+xml"/>
  <Override PartName="/ppt/slides/media/image7.svg" ContentType="image/svg+xml"/>
  <Override PartName="/ppt/slides/media/image8.svg" ContentType="image/svg+xml"/>
  <Override PartName="/ppt/slides/media/image9.svg" ContentType="image/svg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tableStyles" Target="tableStyles.xml"/><Relationship Id="rId16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0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单元 10 · 单元 10 · 测试代码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本单元包含以下课节：</a:t>
            </a:r>
          </a:p>
          <a:p>
            <a:r>
              <a:rPr lang="zh-CN" dirty="0"/>
              <a:t>· 第 52 节 为什么需要测试与三条命名规则</a:t>
            </a:r>
          </a:p>
          <a:p>
            <a:r>
              <a:rPr lang="zh-CN" dirty="0"/>
              <a:t>· 第 53 节 assert 与测试用例设计</a:t>
            </a:r>
          </a:p>
          <a:p>
            <a:r>
              <a:rPr lang="zh-CN" dirty="0"/>
              <a:t>· 第 54 节 parametrize、测试类与运行命令</a:t>
            </a:r>
          </a:p>
          <a:p>
            <a:r>
              <a:rPr lang="zh-CN" dirty="0"/>
              <a:t>· 第 55 节 测试夹具与示例串讲</a:t>
            </a:r>
          </a:p>
          <a:p>
            <a:r>
              <a:rPr lang="zh-CN" dirty="0"/>
              <a:t>· 第 56 节 动手实战、答案与验收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开场用 3 分钟讲清：这个单元学完能做出什么，最后会被关卡怎么验。</a:t>
            </a:r>
          </a:p>
        </p:txBody>
      </p:sp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单元 10 · 单元 10 · 测试代码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本单元包含以下课节：</a:t>
            </a:r>
          </a:p>
          <a:p>
            <a:r>
              <a:rPr lang="zh-CN" dirty="0"/>
              <a:t>· 第 52 节 为什么需要测试与三条命名规则</a:t>
            </a:r>
          </a:p>
          <a:p>
            <a:r>
              <a:rPr lang="zh-CN" dirty="0"/>
              <a:t>· 第 53 节 assert 与测试用例设计</a:t>
            </a:r>
          </a:p>
          <a:p>
            <a:r>
              <a:rPr lang="zh-CN" dirty="0"/>
              <a:t>· 第 54 节 parametrize、测试类与运行命令</a:t>
            </a:r>
          </a:p>
          <a:p>
            <a:r>
              <a:rPr lang="zh-CN" dirty="0"/>
              <a:t>· 第 55 节 测试夹具与示例串讲</a:t>
            </a:r>
          </a:p>
          <a:p>
            <a:r>
              <a:rPr lang="zh-CN" dirty="0"/>
              <a:t>· 第 56 节 动手实战、答案与验收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开场用 3 分钟讲清：这个单元学完能做出什么，最后会被关卡怎么验。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52 节 · 为什么需要测试与三条命名规则</a:t>
            </a:r>
          </a:p>
          <a:p>
            <a:r>
              <a:rPr lang="zh-CN" dirty="0"/>
              <a:t>单元 10 · 测试代码 · W12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学习目标：理解 Bug 分两种，自动化测试的价值在改代码之前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先故意写一个错函数，看没有测试时能撑多久</a:t>
            </a:r>
          </a:p>
          <a:p>
            <a:r>
              <a:rPr lang="zh-CN" dirty="0"/>
              <a:t>· 把测试函数改成不符合命名规则，看能不能被收集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完成动手练习 10-1 ~ 10-2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52 节 · 为什么需要测试与三条命名规则</a:t>
            </a:r>
          </a:p>
          <a:p>
            <a:r>
              <a:rPr lang="zh-CN" dirty="0"/>
              <a:t>单元 10 · 测试代码 · W12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学习目标：理解 Bug 分两种，自动化测试的价值在改代码之前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先故意写一个错函数，看没有测试时能撑多久</a:t>
            </a:r>
          </a:p>
          <a:p>
            <a:r>
              <a:rPr lang="zh-CN" dirty="0"/>
              <a:t>· 把测试函数改成不符合命名规则，看能不能被收集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完成动手练习 10-1 ~ 10-2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52 节 · 核心知识点：为什么需要测试与三条命名规则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本节目标：理解 Bug 分两种，自动化测试的价值在改代码之前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52 节 · 核心知识点：为什么需要测试与三条命名规则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本节目标：理解 Bug 分两种，自动化测试的价值在改代码之前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53 节 · assert 与测试用例设计</a:t>
            </a:r>
          </a:p>
          <a:p>
            <a:r>
              <a:rPr lang="zh-CN" dirty="0"/>
              <a:t>单元 10 · 测试代码 · W12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学习目标：会用 assert 描述「应该是什么」，掌握正常 + 边界两种用例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给一个函数写 3 条测试：正常 / 边界 / 异常</a:t>
            </a:r>
          </a:p>
          <a:p>
            <a:r>
              <a:rPr lang="zh-CN" dirty="0"/>
              <a:t>· 故意让一条测试失败并读懂报告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完成动手练习 10-3 ~ 10-5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53 节 · assert 与测试用例设计</a:t>
            </a:r>
          </a:p>
          <a:p>
            <a:r>
              <a:rPr lang="zh-CN" dirty="0"/>
              <a:t>单元 10 · 测试代码 · W12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学习目标：会用 assert 描述「应该是什么」，掌握正常 + 边界两种用例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给一个函数写 3 条测试：正常 / 边界 / 异常</a:t>
            </a:r>
          </a:p>
          <a:p>
            <a:r>
              <a:rPr lang="zh-CN" dirty="0"/>
              <a:t>· 故意让一条测试失败并读懂报告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完成动手练习 10-3 ~ 10-5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53 节 · 核心知识点：assert 与测试用例设计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本节目标：会用 assert 描述「应该是什么」，掌握正常 + 边界两种用例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53 节 · 核心知识点：assert 与测试用例设计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本节目标：会用 assert 描述「应该是什么」，掌握正常 + 边界两种用例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54 节 · parametrize、测试类与运行命令</a:t>
            </a:r>
          </a:p>
          <a:p>
            <a:r>
              <a:rPr lang="zh-CN" dirty="0"/>
              <a:t>单元 10 · 测试代码 · W12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学习目标：会用 parametrize 一次测多组数据，掌握测试类与常用命令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把 5 条相似测试合并成一条 parametrize</a:t>
            </a:r>
          </a:p>
          <a:p>
            <a:r>
              <a:rPr lang="zh-CN" dirty="0"/>
              <a:t>· 跑一次完整 pytest 并读懂输出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完成动手练习 10-6 ~ 10-8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54 节 · parametrize、测试类与运行命令</a:t>
            </a:r>
          </a:p>
          <a:p>
            <a:r>
              <a:rPr lang="zh-CN" dirty="0"/>
              <a:t>单元 10 · 测试代码 · W12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学习目标：会用 parametrize 一次测多组数据，掌握测试类与常用命令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把 5 条相似测试合并成一条 parametrize</a:t>
            </a:r>
          </a:p>
          <a:p>
            <a:r>
              <a:rPr lang="zh-CN" dirty="0"/>
              <a:t>· 跑一次完整 pytest 并读懂输出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完成动手练习 10-6 ~ 10-8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54 节 · 核心知识点：parametrize、测试类与运行命令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本节目标：会用 parametrize 一次测多组数据，掌握测试类与常用命令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54 节 · 核心知识点：parametrize、测试类与运行命令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本节目标：会用 parametrize 一次测多组数据，掌握测试类与常用命令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55 节 · 测试夹具与示例串讲</a:t>
            </a:r>
          </a:p>
          <a:p>
            <a:r>
              <a:rPr lang="zh-CN" dirty="0"/>
              <a:t>单元 10 · 测试代码 · W12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学习目标：理解夹具解决什么问题，能读懂 pytest 的输出报告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对照示例讲清测试夹具的用途</a:t>
            </a:r>
          </a:p>
          <a:p>
            <a:r>
              <a:rPr lang="zh-CN" dirty="0"/>
              <a:t>· 故意让一个测试类失败并读懂报告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给单元 7/8/9 写过的代码补测试（共 8 条以上）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55 节 · 测试夹具与示例串讲</a:t>
            </a:r>
          </a:p>
          <a:p>
            <a:r>
              <a:rPr lang="zh-CN" dirty="0"/>
              <a:t>单元 10 · 测试代码 · W12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学习目标：理解夹具解决什么问题，能读懂 pytest 的输出报告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对照示例讲清测试夹具的用途</a:t>
            </a:r>
          </a:p>
          <a:p>
            <a:r>
              <a:rPr lang="zh-CN" dirty="0"/>
              <a:t>· 故意让一个测试类失败并读懂报告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给单元 7/8/9 写过的代码补测试（共 8 条以上）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55 节 · 核心知识点：测试夹具与示例串讲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本节目标：理解夹具解决什么问题，能读懂 pytest 的输出报告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55 节 · 核心知识点：测试夹具与示例串讲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本节目标：理解夹具解决什么问题，能读懂 pytest 的输出报告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56 节 · 动手实战、答案与验收</a:t>
            </a:r>
          </a:p>
          <a:p>
            <a:r>
              <a:rPr lang="zh-CN" dirty="0"/>
              <a:t>单元 10 · 测试代码 · W12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学习目标：独立完成单元 10 练习，能为函数写出完整测试套件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★ 动手项目 11.1–11.3 投票分析器测试</a:t>
            </a:r>
          </a:p>
          <a:p>
            <a:r>
              <a:rPr lang="zh-CN" dirty="0"/>
              <a:t>· 限时 30 分钟独立完成基础档</a:t>
            </a:r>
          </a:p>
          <a:p>
            <a:r>
              <a:rPr lang="zh-CN" dirty="0"/>
              <a:t>· 逐题对照答案并打勾验收自测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产出：pytest 套件 ≥10 条</a:t>
            </a:r>
          </a:p>
          <a:p>
            <a:r>
              <a:rPr lang="zh-CN" dirty="0"/>
              <a:t>· 完成本单元小结与产出检查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56 节 · 动手实战、答案与验收</a:t>
            </a:r>
          </a:p>
          <a:p>
            <a:r>
              <a:rPr lang="zh-CN" dirty="0"/>
              <a:t>单元 10 · 测试代码 · W12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学习目标：独立完成单元 10 练习，能为函数写出完整测试套件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★ 动手项目 11.1–11.3 投票分析器测试</a:t>
            </a:r>
          </a:p>
          <a:p>
            <a:r>
              <a:rPr lang="zh-CN" dirty="0"/>
              <a:t>· 限时 30 分钟独立完成基础档</a:t>
            </a:r>
          </a:p>
          <a:p>
            <a:r>
              <a:rPr lang="zh-CN" dirty="0"/>
              <a:t>· 逐题对照答案并打勾验收自测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产出：pytest 套件 ≥10 条</a:t>
            </a:r>
          </a:p>
          <a:p>
            <a:r>
              <a:rPr lang="zh-CN" dirty="0"/>
              <a:t>· 完成本单元小结与产出检查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56 节 · 核心知识点：动手实战、答案与验收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本节目标：独立完成单元 10 练习，能为函数写出完整测试套件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56 节 · 核心知识点：动手实战、答案与验收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本节目标：独立完成单元 10 练习，能为函数写出完整测试套件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单元 10 小结 · 单元 10 · 小结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收尾动作：让学生合上讲义，口述本单元三个最重要的结论；说不出来的，回对应课节。</a:t>
            </a:r>
          </a:p>
          <a:p>
            <a:r>
              <a:rPr lang="zh-CN" dirty="0"/>
              <a:t>然后当场勾一遍本单元课节的「已完成」，没打勾的进下一单元前补掉。</a:t>
            </a:r>
          </a:p>
        </p:txBody>
      </p:sp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单元 10 小结 · 单元 10 · 小结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收尾动作：让学生合上讲义，口述本单元三个最重要的结论；说不出来的，回对应课节。</a:t>
            </a:r>
          </a:p>
          <a:p>
            <a:r>
              <a:rPr lang="zh-CN" dirty="0"/>
              <a:t>然后当场勾一遍本单元课节的「已完成」，没打勾的进下一单元前补掉。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sv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5.sv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6.sv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7.sv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8.sv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9.sv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0.sv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1.sv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2.sv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2.sv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3.sv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4.svg"/><Relationship Id="rId3" Type="http://schemas.openxmlformats.org/officeDocument/2006/relationships/notesSlide" Target="../notesSlides/notesSlide12.xml"/></Relationships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 descr="&lt;Slide style={{ width: '1280px', height: '720px', backgroundColor: '#FAFCFE', padding: 0, position: 'relative', overflow: 'hidden' }}&gt;&#13;&#10;    &lt;Box style={{ position: 'absolute', left: 0, top: 0, width: '1280px', height: '150px', background: '#1F5FA8' }} /&gt;&#13;&#10;    &lt;Box style={{ position: 'absolute', left: 64, top: 34, width: '1152px', flexDirection: 'column' }}&gt;&#13;&#10;        &lt;Text style={{ fontSize: 15, fontWeight: 'bold', color: '#BFD9F2', letterSpacing: 2 }}&gt;阶段 1 · 单元 10&lt;/Text&gt;&#13;&#10;        &lt;Text style={{ fontSize: 38, fontWeight: 'bold', color: '#FFFFFF', marginTop: 6 }}&gt;测试代码&lt;/Text&gt;&#13;&#10;    &lt;/Box&gt;&#13;&#10;    &lt;Box style={{ position: 'absolute', left: 64, top: 168, width: '1152px', height: 470 }}&gt;&#13;&#10;        &lt;svg width='1152' height='470' viewBox='0 0 1152 470'&gt;&#13;&#10;            &lt;text x='0' y='18' fontSize='15' fontWeight='bold' fill='#16232E' fontFamily='Microsoft YaHei'&gt;本单元共 5 节课&lt;/text&gt;&#13;&#10;            &lt;rect x='0' y='196' width='1152' height='38' rx='7' fill='#FFFFFF' /&gt;&lt;text x='16' y='221' fontSize='15' fontWeight='bold' fill='#1F5FA8' fontFamily='Microsoft YaHei'&gt;第 52 节&lt;/text&gt;&lt;text x='96' y='221' fontSize='15' fill='#16232E' fontFamily='Microsoft YaHei'&gt;为什么需要测试与三条命名规则&lt;/text&gt;&lt;text x='1080' y='221' fontSize='13' fill='#5A6B7A' textAnchor='end' fontFamily='Microsoft YaHei'&gt;W12&lt;/text&gt;&lt;rect x='0' y='238' width='1152' height='38' rx='7' fill='#F2F7FD' /&gt;&lt;text x='16' y='263' fontSize='15' fontWeight='bold' fill='#1F5FA8' fontFamily='Microsoft YaHei'&gt;第 53 节&lt;/text&gt;&lt;text x='96' y='263' fontSize='15' fill='#16232E' fontFamily='Microsoft YaHei'&gt;assert 与测试用例设计&lt;/text&gt;&lt;text x='1080' y='263' fontSize='13' fill='#5A6B7A' textAnchor='end' fontFamily='Microsoft YaHei'&gt;W12&lt;/text&gt;&lt;rect x='0' y='280' width='1152' height='38' rx='7' fill='#FFFFFF' /&gt;&lt;text x='16' y='305' fontSize='15' fontWeight='bold' fill='#1F5FA8' fontFamily='Microsoft YaHei'&gt;第 54 节&lt;/text&gt;&lt;text x='96' y='305' fontSize='15' fill='#16232E' fontFamily='Microsoft YaHei'&gt;parametrize、测试类与运行命令&lt;/text&gt;&lt;text x='1080' y='305' fontSize='13' fill='#5A6B7A' textAnchor='end' fontFamily='Microsoft YaHei'&gt;W12&lt;/text&gt;&lt;rect x='0' y='322' width='1152' height='38' rx='7' fill='#F2F7FD' /&gt;&lt;text x='16' y='347' fontSize='15' fontWeight='bold' fill='#1F5FA8' fontFamily='Microsoft YaHei'&gt;第 55 节&lt;/text&gt;&lt;text x='96' y='347' fontSize='15' fill='#16232E' fontFamily='Microsoft YaHei'&gt;测试夹具与示例串讲&lt;/text&gt;&lt;text x='1080' y='347' fontSize='13' fill='#5A6B7A' textAnchor='end' fontFamily='Microsoft YaHei'&gt;W12&lt;/text&gt;&lt;rect x='0' y='364' width='1152' height='38' rx='7' fill='#FFFFFF' /&gt;&lt;text x='16' y='389' fontSize='15' fontWeight='bold' fill='#1F5FA8' fontFamily='Microsoft YaHei'&gt;第 56 节&lt;/text&gt;&lt;text x='96' y='389' fontSize='15' fill='#16232E' fontFamily='Microsoft YaHei'&gt;动手实战、答案与验收&lt;/text&gt;&lt;text x='1080' y='389' fontSize='13' fill='#5A6B7A' textAnchor='end' fontFamily='Microsoft YaHei'&gt;W12&lt;/text&gt;&#13;&#10;        &lt;/svg&gt;&#13;&#10;    &lt;/Box&gt;&#13;&#10;    &lt;Box style={{ position: 'absolute', left: 64, bottom: 22, width: '1152px', flexDirection: 'row', justifyContent: 'space-between' }}&gt;&#13;&#10;        &lt;Text style={{ fontSize: 13, color: '#8A9AAA' }}&gt;Python 讲授课件 · 逐节版&lt;/Text&gt;&#13;&#10;        &lt;Text style={{ fontSize: 13, color: '#8A9AAA' }}&gt;单元 10 · 封面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1428750"/>
          </a:xfrm>
          <a:prstGeom prst="rect">
            <a:avLst/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609600" y="3238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>阶段</a:t>
            </a:r>
            <a:r>
              <a:rPr lang="en-US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 xml:space="preserve"> 1 · </a:t>
            </a:r>
            <a:r>
              <a:rPr lang="zh-CN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>单元</a:t>
            </a:r>
            <a:r>
              <a:rPr lang="en-US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 xml:space="preserve"> 10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552450"/>
            <a:ext cx="109728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测试代码</a:t>
            </a:r>
            <a:endParaRPr/>
          </a:p>
        </p:txBody>
      </p:sp>
      <p:pic>
        <p:nvPicPr>
          <p:cNvPr id="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1600200"/>
            <a:ext cx="10972800" cy="4476750"/>
          </a:xfrm>
          <a:prstGeom prst="rect">
            <a:avLst/>
          </a:prstGeom>
          <a:ln/>
        </p:spPr>
      </p:pic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讲授课件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逐节版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0801350" y="6496050"/>
            <a:ext cx="781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单元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10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封面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6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52 / 111 节&lt;/Text&gt;&#13;&#10;        &lt;/Box&gt;&#13;&#10;        &lt;Text style={{ fontSize: 30, fontWeight: 'bold', color: '#16232E' }}&gt;为什么需要测试与三条命名规则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理解 Bug 分两种，自动化测试的价值在改代码之前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先故意写一个错函数，看没有测试时能撑多久&lt;/text&gt;&lt;text x='84' y='338.75' fontSize='14.5' fill='#3A4A58' textAnchor='start' fontFamily='Microsoft YaHei'&gt;· 把测试函数改成不符合命名规则，看能不能被收集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动手练习 10-1 ~ 10-2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0 · 第 52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8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52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4000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为什么需要测试与三条命名规则</a:t>
            </a:r>
            <a:endParaRPr/>
          </a:p>
        </p:txBody>
      </p:sp>
      <p:pic>
        <p:nvPicPr>
          <p:cNvPr id="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2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52 节&lt;/Text&gt;&#13;&#10;        &lt;/Box&gt;&#13;&#10;        &lt;Text style={{ fontSize: 30, fontWeight: 'bold', color: '#16232E' }}&gt;核心知识点&lt;/Text&gt;&#13;&#10;        &lt;Text style={{ fontSize: 15, color: '#5A6B7A', marginTop: 10 }}&gt;· 为什么需要测试与三条命名规则&lt;/Text&gt;&#13;&#10;    &lt;/Box&gt;&#13;&#10;    &lt;Box style={{ position: 'absolute', left: 0, top: 0, width: '1280px', height: '720px' }}&gt;&#13;&#10;        &lt;svg width='1280' height='720' viewBox='0 0 1280 720'&gt;&#13;&#10;            &lt;rect x='64' y='96' width='368' height='330' rx='12' fill='#FFFFFF' stroke='#D8E3EE' /&gt;&lt;rect x='64' y='96' width='368' height='4' rx='2' fill='#1F5FA8' /&gt;&lt;text x='82' y='130' fontSize='15.5' fontWeight='bold' fill='#1F5FA8' textAnchor='start' fontFamily='Microsoft YaHei'&gt;2.1 为什么需要测试：Bug 有两种&lt;/text&gt;&lt;text x='82' y='169.0' fontSize='13' fill='#3A4A58' textAnchor='start' fontFamily='Microsoft YaHei'&gt;· 逻辑错误是测试唯一能对付的东西。 语法错误在第一次&lt;/text&gt;&lt;text x='82' y='188.5' fontSize='13' fill='#3A4A58' textAnchor='start' fontFamily='Microsoft YaHei'&gt;运行时就会暴露，根本不需要测试。&lt;/text&gt;&lt;rect x='468' y='96' width='368' height='330' rx='12' fill='#FFFFFF' stroke='#D8E3EE' /&gt;&lt;rect x='468' y='96' width='368' height='4' rx='2' fill='#1F5FA8' /&gt;&lt;text x='486' y='130' fontSize='15.5' fontWeight='bold' fill='#1F5FA8' textAnchor='start' fontFamily='Microsoft YaHei'&gt;2.2 自动化测试的价值&lt;/text&gt;&lt;text x='486' y='169.0' fontSize='13' fill='#3A4A58' textAnchor='start' fontFamily='Microsoft YaHei'&gt;· 手动测试：改一次代码 → 手动跑一遍所有功能 → 累&lt;/text&gt;&lt;text x='486' y='188.5' fontSize='13' fill='#3A4A58' textAnchor='start' fontFamily='Microsoft YaHei'&gt;。&lt;/text&gt;&lt;text x='486' y='217.0' fontSize='13' fill='#3A4A58' textAnchor='start' fontFamily='Microsoft YaHei'&gt;· 自动化测试：改一次代码 → 跑一条命令 pytest → &lt;/text&gt;&lt;text x='486' y='236.5' fontSize='13' fill='#3A4A58' textAnchor='start' fontFamily='Microsoft YaHei'&gt;几秒内告诉你所有测试是否通过。&lt;/text&gt;&lt;text x='486' y='265.0' fontSize='13' fill='#3A4A58' textAnchor='start' fontFamily='Microsoft YaHei'&gt;· 手动测试像每次装修完都亲自去每个房间检查一遍门锁、&lt;/text&gt;&lt;text x='486' y='284.5' fontSize='13' fill='#3A4A58' textAnchor='start' fontFamily='Microsoft YaHei'&gt;水电——可靠但极慢。&lt;/text&gt;&lt;rect x='872' y='96' width='368' height='330' rx='12' fill='#FFFFFF' stroke='#D8E3EE' /&gt;&lt;rect x='872' y='96' width='368' height='4' rx='2' fill='#1F5FA8' /&gt;&lt;text x='890' y='130' fontSize='15.5' fontWeight='bold' fill='#1F5FA8' textAnchor='start' fontFamily='Microsoft YaHei'&gt;2.3 三条硬性命名规则&lt;/text&gt;&lt;text x='890' y='169.0' fontSize='13' fill='#3A4A58' textAnchor='start' fontFamily='Microsoft YaHei'&gt;· 最高频的坑：文件名或函数名少写了 test_，pytest &lt;/text&gt;&lt;text x='890' y='188.5' fontSize='13' fill='#3A4A58' textAnchor='start' fontFamily='Microsoft YaHei'&gt;静默地不跑它——不报错，但也不执行。如果你…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0 · 第 52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44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52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2085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为什么需要测试与三条命名规则</a:t>
            </a:r>
            <a:endParaRPr/>
          </a:p>
        </p:txBody>
      </p:sp>
      <p:pic>
        <p:nvPicPr>
          <p:cNvPr id="4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9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53 / 111 节&lt;/Text&gt;&#13;&#10;        &lt;/Box&gt;&#13;&#10;        &lt;Text style={{ fontSize: 30, fontWeight: 'bold', color: '#16232E' }}&gt;assert 与测试用例设计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会用 assert 描述「应该是什么」，掌握正常 + 边界两种用例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给一个函数写 3 条测试：正常 / 边界 / 异常&lt;/text&gt;&lt;text x='84' y='338.75' fontSize='14.5' fill='#3A4A58' textAnchor='start' fontFamily='Microsoft YaHei'&gt;· 故意让一条测试失败并读懂报告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动手练习 10-3 ~ 10-5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0 · 第 53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53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2952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assert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与测试用例设计</a:t>
            </a:r>
            <a:endParaRPr/>
          </a:p>
        </p:txBody>
      </p:sp>
      <p:pic>
        <p:nvPicPr>
          <p:cNvPr id="5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5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53 节&lt;/Text&gt;&#13;&#10;        &lt;/Box&gt;&#13;&#10;        &lt;Text style={{ fontSize: 30, fontWeight: 'bold', color: '#16232E' }}&gt;核心知识点&lt;/Text&gt;&#13;&#10;        &lt;Text style={{ fontSize: 15, color: '#5A6B7A', marginTop: 10 }}&gt;· assert 与测试用例设计&lt;/Text&gt;&#13;&#10;    &lt;/Box&gt;&#13;&#10;    &lt;Box style={{ position: 'absolute', left: 0, top: 0, width: '1280px', height: '720px' }}&gt;&#13;&#10;        &lt;svg width='1280' height='720' viewBox='0 0 1280 720'&gt;&#13;&#10;            &lt;rect x='64' y='96' width='368' height='330' rx='12' fill='#FFFFFF' stroke='#D8E3EE' /&gt;&lt;rect x='64' y='96' width='368' height='4' rx='2' fill='#1F5FA8' /&gt;&lt;text x='82' y='130' fontSize='15.5' fontWeight='bold' fill='#1F5FA8' textAnchor='start' fontFamily='Microsoft YaHei'&gt;2.4 assert：用代码描述&quot;应该是什么&quot;&lt;/text&gt;&lt;text x='82' y='169.0' fontSize='13' fill='#3A4A58' textAnchor='start' fontFamily='Microsoft YaHei'&gt;· 关键在于 assert 里要写&quot;实际结果 == 预期结果&quot;，而&lt;/text&gt;&lt;text x='82' y='188.5' fontSize='13' fill='#3A4A58' textAnchor='start' fontFamily='Microsoft YaHei'&gt;不是只写实际结果：&lt;/text&gt;&lt;text x='82' y='217.0' fontSize='13' fill='#3A4A58' textAnchor='start' fontFamily='Microsoft YaHei'&gt;· 断言消息：可以给 assert 加一句说明，失败时这条消&lt;/text&gt;&lt;text x='82' y='236.5' fontSize='13' fill='#3A4A58' textAnchor='start' fontFamily='Microsoft YaHei'&gt;息会显示出来。这在测试复杂逻辑时非常有用：&lt;/text&gt;&lt;rect x='468' y='96' width='368' height='330' rx='12' fill='#FFFFFF' stroke='#D8E3EE' /&gt;&lt;rect x='468' y='96' width='368' height='4' rx='2' fill='#1F5FA8' /&gt;&lt;text x='486' y='130' fontSize='15.5' fontWeight='bold' fill='#1F5FA8' textAnchor='start' fontFamily='Microsoft YaHei'&gt;2.5 测试与被测代码必须分离&lt;/text&gt;&lt;text x='486' y='169.0' fontSize='13' fill='#3A4A58' textAnchor='start' fontFamily='Microsoft YaHei'&gt;· 不要把测试代码写在被测文件里。 正确做法是两个文件&lt;/text&gt;&lt;text x='486' y='188.5' fontSize='13' fill='#3A4A58' textAnchor='start' fontFamily='Microsoft YaHei'&gt;：&lt;/text&gt;&lt;rect x='872' y='96' width='368' height='330' rx='12' fill='#FFFFFF' stroke='#D8E3EE' /&gt;&lt;rect x='872' y='96' width='368' height='4' rx='2' fill='#1F5FA8' /&gt;&lt;text x='890' y='130' fontSize='15.5' fontWeight='bold' fill='#1F5FA8' textAnchor='start' fontFamily='Microsoft YaHei'&gt;2.6 测试用例的设计：正常 + 边界&lt;/text&gt;&lt;text x='890' y='169.0' fontSize='13' fill='#3A4A58' textAnchor='start' fontFamily='Microsoft YaHei'&gt;· 一个好的测试不只测&quot;正常情况&quot;，更重要的是测&quot;极端情&lt;/text&gt;&lt;text x='890' y='188.5' fontSize='13' fill='#3A4A58' textAnchor='start' fontFamily='Microsoft YaHei'&gt;况&quot;。&lt;/text&gt;&lt;text x='890' y='217.0' fontSize='13' fill='#3A4A58' textAnchor='start' fontFamily='Microsoft YaHei'&gt;· 除零、负数、空输入这三类是最容易藏 bug 的地方，也&lt;/text&gt;&lt;text x='890' y='236.5' fontSize='13' fill='#3A4A58' textAnchor='start' fontFamily='Microsoft YaHei'&gt;是面试和实际工作里最常被要求测试的点。本单元的练…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0 · 第 53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57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53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524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assert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与测试用例设计</a:t>
            </a:r>
            <a:endParaRPr/>
          </a:p>
        </p:txBody>
      </p:sp>
      <p:pic>
        <p:nvPicPr>
          <p:cNvPr id="6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2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54 / 111 节&lt;/Text&gt;&#13;&#10;        &lt;/Box&gt;&#13;&#10;        &lt;Text style={{ fontSize: 30, fontWeight: 'bold', color: '#16232E' }}&gt;parametrize、测试类与运行命令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会用 parametrize 一次测多组数据，掌握测试类与常用命令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把 5 条相似测试合并成一条 parametrize&lt;/text&gt;&lt;text x='84' y='338.75' fontSize='14.5' fill='#3A4A58' textAnchor='start' fontFamily='Microsoft YaHei'&gt;· 跑一次完整 pytest 并读懂输出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动手练习 10-6 ~ 10-8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0 · 第 54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64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54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42957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>parametrize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、测试类与运行命令</a:t>
            </a:r>
            <a:endParaRPr/>
          </a:p>
        </p:txBody>
      </p:sp>
      <p:pic>
        <p:nvPicPr>
          <p:cNvPr id="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8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54 节&lt;/Text&gt;&#13;&#10;        &lt;/Box&gt;&#13;&#10;        &lt;Text style={{ fontSize: 30, fontWeight: 'bold', color: '#16232E' }}&gt;核心知识点&lt;/Text&gt;&#13;&#10;        &lt;Text style={{ fontSize: 15, color: '#5A6B7A', marginTop: 10 }}&gt;· parametrize、测试类与运行命令&lt;/Text&gt;&#13;&#10;    &lt;/Box&gt;&#13;&#10;    &lt;Box style={{ position: 'absolute', left: 0, top: 0, width: '1280px', height: '720px' }}&gt;&#13;&#10;        &lt;svg width='1280' height='720' viewBox='0 0 1280 720'&gt;&#13;&#10;            &lt;rect x='64' y='96' width='548' height='330' rx='12' fill='#FFFFFF' stroke='#D8E3EE' /&gt;&lt;rect x='64' y='96' width='548' height='4' rx='2' fill='#1F5FA8' /&gt;&lt;text x='82' y='130' fontSize='15.5' fontWeight='bold' fill='#1F5FA8' textAnchor='start' fontFamily='Microsoft YaHei'&gt;2.7 parametrize：一次测很多组数据&lt;/text&gt;&lt;text x='82' y='169.0' fontSize='13' fill='#3A4A58' textAnchor='start' fontFamily='Microsoft YaHei'&gt;· 如果同一个测试要跑 6 组数据，逐个写函数太浪费：&lt;/text&gt;&lt;rect x='668' y='96' width='548' height='330' rx='12' fill='#FFFFFF' stroke='#D8E3EE' /&gt;&lt;rect x='668' y='96' width='548' height='4' rx='2' fill='#1F5FA8' /&gt;&lt;text x='686' y='130' fontSize='15.5' fontWeight='bold' fill='#1F5FA8' textAnchor='start' fontFamily='Microsoft YaHei'&gt;2.8 运行 pytest 的常用命令&lt;/text&gt;&lt;text x='686' y='169.0' fontSize='13' fill='#3A4A58' textAnchor='start' fontFamily='Microsoft YaHei'&gt;· pytest # 运行当前目录所有测试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0 · 第 54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54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2181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>· parametrize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、测试类与运行命令</a:t>
            </a:r>
            <a:endParaRPr/>
          </a:p>
        </p:txBody>
      </p:sp>
      <p:pic>
        <p:nvPicPr>
          <p:cNvPr id="7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75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55 / 111 节&lt;/Text&gt;&#13;&#10;        &lt;/Box&gt;&#13;&#10;        &lt;Text style={{ fontSize: 30, fontWeight: 'bold', color: '#16232E' }}&gt;测试夹具与示例串讲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理解夹具解决什么问题，能读懂 pytest 的输出报告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对照示例讲清测试夹具的用途&lt;/text&gt;&lt;text x='84' y='338.75' fontSize='14.5' fill='#3A4A58' textAnchor='start' fontFamily='Microsoft YaHei'&gt;· 故意让一个测试类失败并读懂报告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给单元 7/8/9 写过的代码补测试（共 8 条以上）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0 · 第 55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77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55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2571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测试夹具与示例串讲</a:t>
            </a:r>
            <a:endParaRPr/>
          </a:p>
        </p:txBody>
      </p:sp>
      <p:pic>
        <p:nvPicPr>
          <p:cNvPr id="8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81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55 节&lt;/Text&gt;&#13;&#10;        &lt;/Box&gt;&#13;&#10;        &lt;Text style={{ fontSize: 30, fontWeight: 'bold', color: '#16232E' }}&gt;核心知识点&lt;/Text&gt;&#13;&#10;        &lt;Text style={{ fontSize: 15, color: '#5A6B7A', marginTop: 10 }}&gt;· 测试夹具与示例串讲&lt;/Text&gt;&#13;&#10;    &lt;/Box&gt;&#13;&#10;    &lt;Box style={{ position: 'absolute', left: 0, top: 0, width: '1280px', height: '720px' }}&gt;&#13;&#10;        &lt;svg width='1280' height='720' viewBox='0 0 1280 720'&gt;&#13;&#10;            &lt;text x='64' y='470' fontSize='14.5' fontWeight='bold' fill='#0E9B78' textAnchor='start' fontFamily='Microsoft YaHei'&gt;本节的代码示例&lt;/text&gt;&lt;text x='64' y='500' fontSize='13' fill='#3A4A58' textAnchor='start' fontFamily='Microsoft YaHei'&gt;· 安装与验证&lt;/text&gt;&lt;text x='468' y='500' fontSize='13' fill='#3A4A58' textAnchor='start' fontFamily='Microsoft YaHei'&gt;· 第一个被测模块与测试&lt;/text&gt;&lt;text x='872' y='500' fontSize='13' fill='#3A4A58' textAnchor='start' fontFamily='Microsoft YaHei'&gt;· 断言消息与常见断言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0 · 第 55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83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55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371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测试夹具与示例串讲</a:t>
            </a:r>
            <a:endParaRPr/>
          </a:p>
        </p:txBody>
      </p:sp>
      <p:pic>
        <p:nvPicPr>
          <p:cNvPr id="8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56 / 111 节&lt;/Text&gt;&#13;&#10;        &lt;/Box&gt;&#13;&#10;        &lt;Text style={{ fontSize: 30, fontWeight: 'bold', color: '#16232E' }}&gt;动手实战、答案与验收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独立完成单元 10 练习，能为函数写出完整测试套件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★ 动手项目 11.1–11.3 投票分析器测试&lt;/text&gt;&lt;text x='84' y='338.75' fontSize='14.5' fill='#3A4A58' textAnchor='start' fontFamily='Microsoft YaHei'&gt;· 限时 30 分钟独立完成基础档&lt;/text&gt;&lt;text x='84' y='369.5' fontSize='14.5' fill='#3A4A58' textAnchor='start' fontFamily='Microsoft YaHei'&gt;· 逐题对照答案并打勾验收自测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产出：pytest 套件 ≥10 条&lt;/text&gt;&lt;text x='674' y='338.75' fontSize='14.5' fill='#3A4A58' textAnchor='start' fontFamily='Microsoft YaHei'&gt;· 完成本单元小结与产出检查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0 · 第 56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11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56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2857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动手实战、答案与验收</a:t>
            </a:r>
            <a:endParaRPr/>
          </a:p>
        </p:txBody>
      </p:sp>
      <p:pic>
        <p:nvPicPr>
          <p:cNvPr id="1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5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56 节&lt;/Text&gt;&#13;&#10;        &lt;/Box&gt;&#13;&#10;        &lt;Text style={{ fontSize: 30, fontWeight: 'bold', color: '#16232E' }}&gt;核心知识点&lt;/Text&gt;&#13;&#10;        &lt;Text style={{ fontSize: 15, color: '#5A6B7A', marginTop: 10 }}&gt;· 动手实战、答案与验收&lt;/Text&gt;&#13;&#10;    &lt;/Box&gt;&#13;&#10;    &lt;Box style={{ position: 'absolute', left: 0, top: 0, width: '1280px', height: '720px' }}&gt;&#13;&#10;        &lt;svg width='1280' height='720' viewBox='0 0 1280 720'&gt;&#13;&#10;            &lt;rect x='64' y='96' width='368' height='330' rx='12' fill='#FFFFFF' stroke='#D8E3EE' /&gt;&lt;rect x='64' y='96' width='368' height='4' rx='2' fill='#1F5FA8' /&gt;&lt;text x='82' y='130' fontSize='15.5' fontWeight='bold' fill='#1F5FA8' textAnchor='start' fontFamily='Microsoft YaHei'&gt;基础档&lt;/text&gt;&lt;text x='82' y='169.0' fontSize='13' fill='#3A4A58' textAnchor='start' fontFamily='Microsoft YaHei'&gt;· 练习 10-1【给函数补测试】&lt;/text&gt;&lt;text x='82' y='197.5' fontSize='13' fill='#3A4A58' textAnchor='start' fontFamily='Microsoft YaHei'&gt;· text_utils.py：包含三个函数&lt;/text&gt;&lt;text x='82' y='226.0' fontSize='13' fill='#3A4A58' textAnchor='start' fontFamily='Microsoft YaHei'&gt;· count_words(text)：返回文本中的单词数&lt;/text&gt;&lt;rect x='468' y='96' width='368' height='330' rx='12' fill='#FFFFFF' stroke='#D8E3EE' /&gt;&lt;rect x='468' y='96' width='368' height='4' rx='2' fill='#1F5FA8' /&gt;&lt;text x='486' y='130' fontSize='15.5' fontWeight='bold' fill='#1F5FA8' textAnchor='start' fontFamily='Microsoft YaHei'&gt;进阶档&lt;/text&gt;&lt;text x='486' y='169.0' fontSize='13' fill='#3A4A58' textAnchor='start' fontFamily='Microsoft YaHei'&gt;· 练习 10-5【参数化测试】&lt;/text&gt;&lt;text x='486' y='197.5' fontSize='13' fill='#3A4A58' textAnchor='start' fontFamily='Microsoft YaHei'&gt;· &quot;hello world&quot; → 2&lt;/text&gt;&lt;text x='486' y='226.0' fontSize='13' fill='#3A4A58' textAnchor='start' fontFamily='Microsoft YaHei'&gt;· &quot;&quot; → 0&lt;/text&gt;&lt;rect x='872' y='96' width='368' height='330' rx='12' fill='#FFFFFF' stroke='#D8E3EE' /&gt;&lt;rect x='872' y='96' width='368' height='4' rx='2' fill='#1F5FA8' /&gt;&lt;text x='890' y='130' fontSize='15.5' fontWeight='bold' fill='#1F5FA8' textAnchor='start' fontFamily='Microsoft YaHei'&gt;参考答案 10-1&lt;/text&gt;&lt;text x='890' y='169.0' fontSize='13' fill='#3A4A58' textAnchor='start' fontFamily='Microsoft YaHei'&gt;· def count_words(text):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0 · 第 56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17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56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514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动手实战、答案与验收</a:t>
            </a:r>
            <a:endParaRPr/>
          </a:p>
        </p:txBody>
      </p:sp>
      <p:pic>
        <p:nvPicPr>
          <p:cNvPr id="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2" name="" descr="&lt;Slide style={{ width: '1280px', height: '720px', backgroundColor: '#FAFCFE', padding: 0, position: 'relative', overflow: 'hidden' }}&gt;&#13;&#10;    &lt;Box style={{ position: 'absolute', left: 0, top: 0, width: '12px', height: '720px', background: '#0E9B78' }} /&gt;&#13;&#10;    &lt;Box style={{ position: 'absolute', left: 72, top: 44, width: '1144px', flexDirection: 'column' }}&gt;&#13;&#10;        &lt;Text style={{ fontSize: 34, fontWeight: 'bold', color: '#16232E' }}&gt;单元 10 · 小结与验收&lt;/Text&gt;&#13;&#10;        &lt;Text style={{ fontSize: 16, color: '#5A6B7A', marginTop: 6 }}&gt;测试代码&lt;/Text&gt;&#13;&#10;    &lt;/Box&gt;&#13;&#10;    &lt;Box style={{ position: 'absolute', left: 72, top: 148, width: '552px', height: 400, background: '#FFFFFF', border: '1px solid #D8E3EE', borderRadius: 12, padding: 18, flexDirection: 'column' }}&gt;&#13;&#10;        &lt;Text style={{ fontSize: 16, fontWeight: 'bold', color: '#1F5FA8' }}&gt;本单元课节回顾&lt;/Text&gt;&#13;&#10;        &lt;Box style={{ marginTop: 10, position: 'relative', height: 330 }}&gt;&#13;&#10;            &lt;svg width='516' height='330' viewBox='0 0 516 330'&gt;&lt;text x='0' y='34' fontSize='14.5' fill='#3A4A58' fontFamily='Microsoft YaHei'&gt;· 第 52 节 · 为什么需要测试与三条命名规则&lt;/text&gt;&lt;text x='0' y='64' fontSize='14.5' fill='#3A4A58' fontFamily='Microsoft YaHei'&gt;· 第 53 节 · assert 与测试用例设计&lt;/text&gt;&lt;text x='0' y='94' fontSize='14.5' fill='#3A4A58' fontFamily='Microsoft YaHei'&gt;· 第 54 节 · parametrize、测试类与运行命令&lt;/text&gt;&lt;text x='0' y='124' fontSize='14.5' fill='#3A4A58' fontFamily='Microsoft YaHei'&gt;· 第 55 节 · 测试夹具与示例串讲&lt;/text&gt;&lt;text x='0' y='154' fontSize='14.5' fill='#3A4A58' fontFamily='Microsoft YaHei'&gt;· 第 56 节 · 动手实战、答案与验收&lt;/text&gt;&lt;/svg&gt;&#13;&#10;        &lt;/Box&gt;&#13;&#10;    &lt;/Box&gt;&#13;&#10;    &lt;Box style={{ position: 'absolute', left: 656, top: 148, width: '560px', height: 400, background: '#FDF3E2', borderRadius: 12, padding: 20, flexDirection: 'column' }}&gt;&#13;&#10;        &lt;Text style={{ fontSize: 16, fontWeight: 'bold', color: '#E08A15' }}&gt;过关标准&lt;/Text&gt;&#13;&#10;        &lt;Text style={{ fontSize: 15, color: '#3A4A58', marginTop: 12, lineHeight: 1.9 }}&gt;&#13;&#10;            1. 本单元每一节的课后作业都做完并自己验收过&#13;&#10;&#13;&#10;            2. 不看讲义能独立重写一遍本单元的示例代码&#13;&#10;&#13;&#10;            3. 讲义最后「本单元验收自测」全部答对&#13;&#10;&#13;&#10;            4. 产出物已经写进笔记或提交到 Git&#13;&#10;        &lt;/Text&gt;&#13;&#10;        &lt;Text style={{ fontSize: 14, color: '#8A6A2A', marginTop: 16, lineHeight: 1.7 }}&gt;&#13;&#10;            没过关的项回到对应那一节重做，不要整体重学。&#13;&#10;        &lt;/Text&gt;&#13;&#10;    &lt;/Box&gt;&#13;&#10;    &lt;Box style={{ position: 'absolute', left: 72, bottom: 26, width: '1144px', flexDirection: 'row', justifyContent: 'space-between' }}&gt;&#13;&#10;        &lt;Text style={{ fontSize: 13, color: '#8A9AAA' }}&gt;Python 讲授课件 · 逐节版&lt;/Text&gt;&#13;&#10;        &lt;Text style={{ fontSize: 13, color: '#8A9AAA' }}&gt;单元 10 · 小结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24" name=""/>
          <p:cNvSpPr/>
          <p:nvPr/>
        </p:nvSpPr>
        <p:spPr>
          <a:xfrm rot="0" flipH="0" flipV="0">
            <a:off x="0" y="0"/>
            <a:ext cx="114300" cy="6858000"/>
          </a:xfrm>
          <a:prstGeom prst="rect">
            <a:avLst/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85800" y="419100"/>
            <a:ext cx="10896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单元</a:t>
            </a:r>
            <a:r>
              <a:rPr lang="en-US" sz="25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10 · </a:t>
            </a: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小结与验收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685800" y="866775"/>
            <a:ext cx="10896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A6B7A"/>
                </a:solidFill>
                <a:latin typeface="Microsoft YaHei"/>
                <a:ea typeface="Microsoft YaHei"/>
              </a:rPr>
              <a:t>测试代码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685800" y="1409700"/>
            <a:ext cx="5257800" cy="381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857250" y="1581150"/>
            <a:ext cx="4914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5FA8"/>
                </a:solidFill>
                <a:latin typeface="Microsoft YaHei"/>
                <a:ea typeface="Microsoft YaHei"/>
              </a:rPr>
              <a:t>本单元课节回顾</a:t>
            </a:r>
            <a:endParaRPr/>
          </a:p>
        </p:txBody>
      </p:sp>
      <p:pic>
        <p:nvPicPr>
          <p:cNvPr id="2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1866900"/>
            <a:ext cx="4914900" cy="3143250"/>
          </a:xfrm>
          <a:prstGeom prst="rect">
            <a:avLst/>
          </a:prstGeom>
          <a:ln/>
        </p:spPr>
      </p:pic>
      <p:sp>
        <p:nvSpPr>
          <p:cNvPr id="30" name=""/>
          <p:cNvSpPr/>
          <p:nvPr/>
        </p:nvSpPr>
        <p:spPr>
          <a:xfrm rot="0" flipH="0" flipV="0">
            <a:off x="6248400" y="1409700"/>
            <a:ext cx="5334000" cy="3810000"/>
          </a:xfrm>
          <a:prstGeom prst="roundRect">
            <a:avLst>
              <a:gd name="adj" fmla="val 3000"/>
            </a:avLst>
          </a:prstGeom>
          <a:solidFill>
            <a:srgbClr val="FDF3E2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6438900" y="1600200"/>
            <a:ext cx="495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08A15"/>
                </a:solidFill>
                <a:latin typeface="Microsoft YaHei"/>
                <a:ea typeface="Microsoft YaHei"/>
              </a:rPr>
              <a:t>过关标准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438900" y="1905000"/>
            <a:ext cx="4953000" cy="981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1.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本单元每一节的课后作业都做完并自己验收过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2.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不看讲义能独立重写一遍本单元的示例代码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3.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讲义最后「本单元验收自测」全部答对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4.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产出物已经写进笔记或提交到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Git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438900" y="3038475"/>
            <a:ext cx="49530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8A6A2A"/>
                </a:solidFill>
                <a:latin typeface="Microsoft YaHei"/>
                <a:ea typeface="Microsoft YaHei"/>
              </a:rPr>
              <a:t>没过关的项回到对应那一节重做，不要整体重学。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85800" y="645795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讲授课件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逐节版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10801350" y="6457950"/>
            <a:ext cx="781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单元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10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小结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2026-10-16T00:42:49Z</dcterms:created>
  <dcterms:modified xsi:type="dcterms:W3CDTF">2026-10-16T00:42:49Z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{"AIGC":{"Label":"1","ContentProducer":"00119111010856365494821B355","ProduceID":"01a140606b8e78a9a7f16f4a35ab0244","ReservedCode1":"","ContentPropagator":"00119111010856365494821B355","PropagateID":"01a140606b8e78a9a7f16f4a35ab0244","ReservedCode2":""}}</vt:lpwstr>
  </property>
</Properties>
</file>