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2 · 单元 2 · 列表简介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10 节 列表是什么、索引为什么从 0 开始</a:t>
            </a:r>
          </a:p>
          <a:p>
            <a:r>
              <a:rPr lang="zh-CN" dirty="0"/>
              <a:t>· 第 11 节 增删改查、引用共享与排序</a:t>
            </a:r>
          </a:p>
          <a:p>
            <a:r>
              <a:rPr lang="zh-CN" dirty="0"/>
              <a:t>· 第 12 节 动手实战与答案讲评</a:t>
            </a:r>
          </a:p>
          <a:p>
            <a:r>
              <a:rPr lang="zh-CN" dirty="0"/>
              <a:t>· 第 13 节 单元 2 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 节 · 列表是什么、索引为什么从 0 开始</a:t>
            </a:r>
          </a:p>
          <a:p>
            <a:r>
              <a:rPr lang="zh-CN" dirty="0"/>
              <a:t>单元 2 · 列表简介 · W2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学习目标：理解「一排抽屉」模型，牢记索引从 0 开始与负索引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画一个列表并标出每个元素的下标</a:t>
            </a:r>
          </a:p>
          <a:p>
            <a:r>
              <a:rPr lang="zh-CN" dirty="0"/>
              <a:t>· 用负索引取最后三个元素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2-1 ~ 2-2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 节 · 核心知识点：列表是什么、索引为什么从 0 开始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本节目标：理解「一排抽屉」模型，牢记索引从 0 开始与负索引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11 节 · 增删改查、引用共享与排序</a:t>
            </a:r>
          </a:p>
          <a:p>
            <a:r>
              <a:rPr lang="zh-CN" dirty="0"/>
              <a:t>单元 2 · 列表简介 · W2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学习目标：掌握五个增删改方法；理解引用共享——本单元最反直觉的一课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★ 现场演示 a = b[:] 与 a = b 的区别</a:t>
            </a:r>
          </a:p>
          <a:p>
            <a:r>
              <a:rPr lang="zh-CN" dirty="0"/>
              <a:t>· 对同一列表做 20 次增删改排序操作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完成动手练习进阶档 2-3 ~ 2-8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11 节 · 核心知识点：增删改查、引用共享与排序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本节目标：掌握五个增删改方法；理解引用共享——本单元最反直觉的一课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12 节 · 动手实战与答案讲评</a:t>
            </a:r>
          </a:p>
          <a:p>
            <a:r>
              <a:rPr lang="zh-CN" dirty="0"/>
              <a:t>单元 2 · 列表简介 · W2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2 练习，能预测任意列表操作的结果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25 分钟独立完成基础档</a:t>
            </a:r>
          </a:p>
          <a:p>
            <a:r>
              <a:rPr lang="zh-CN" dirty="0"/>
              <a:t>· 逐题对照答案，错的当场重跑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产出：能增删改查排序的清单脚本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12 节 · 核心知识点：动手实战与答案讲评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2 练习，能预测任意列表操作的结果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13 节 · 单元 2 验收复盘</a:t>
            </a:r>
          </a:p>
          <a:p>
            <a:r>
              <a:rPr lang="zh-CN" dirty="0"/>
              <a:t>单元 2 · 列表简介 · W2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学习目标：确认增删改查、引用共享、排序都过关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逐条打勾验收自测</a:t>
            </a:r>
          </a:p>
          <a:p>
            <a:r>
              <a:rPr lang="zh-CN" dirty="0"/>
              <a:t>· 现场演示引用共享的坑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完成本单元小结与产出检查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13 节 · 核心知识点：单元 2 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本节目标：确认增删改查、引用共享、排序都过关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2 小结 · 单元 2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2&lt;/Text&gt;&#13;&#10;        &lt;Text style={{ fontSize: 38, fontWeight: 'bold', color: '#FFFFFF', marginTop: 6 }}&gt;列表简介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4 节课&lt;/text&gt;&#13;&#10;            &lt;rect x='0' y='196' width='1152' height='38' rx='7' fill='#FFFFFF' /&gt;&lt;text x='16' y='221' fontSize='15' fontWeight='bold' fill='#1F5FA8' fontFamily='Microsoft YaHei'&gt;第 10 节&lt;/text&gt;&lt;text x='96' y='221' fontSize='15' fill='#16232E' fontFamily='Microsoft YaHei'&gt;列表是什么、索引为什么从 0 开始&lt;/text&gt;&lt;text x='1080' y='221' fontSize='13' fill='#5A6B7A' textAnchor='end' fontFamily='Microsoft YaHei'&gt;W2&lt;/text&gt;&lt;rect x='0' y='238' width='1152' height='38' rx='7' fill='#F2F7FD' /&gt;&lt;text x='16' y='263' fontSize='15' fontWeight='bold' fill='#1F5FA8' fontFamily='Microsoft YaHei'&gt;第 11 节&lt;/text&gt;&lt;text x='96' y='263' fontSize='15' fill='#16232E' fontFamily='Microsoft YaHei'&gt;增删改查、引用共享与排序&lt;/text&gt;&lt;text x='1080' y='263' fontSize='13' fill='#5A6B7A' textAnchor='end' fontFamily='Microsoft YaHei'&gt;W2&lt;/text&gt;&lt;rect x='0' y='280' width='1152' height='38' rx='7' fill='#FFFFFF' /&gt;&lt;text x='16' y='305' fontSize='15' fontWeight='bold' fill='#1F5FA8' fontFamily='Microsoft YaHei'&gt;第 12 节&lt;/text&gt;&lt;text x='96' y='305' fontSize='15' fill='#16232E' fontFamily='Microsoft YaHei'&gt;动手实战与答案讲评&lt;/text&gt;&lt;text x='1080' y='305' fontSize='13' fill='#5A6B7A' textAnchor='end' fontFamily='Microsoft YaHei'&gt;W2&lt;/text&gt;&lt;rect x='0' y='322' width='1152' height='38' rx='7' fill='#F2F7FD' /&gt;&lt;text x='16' y='347' fontSize='15' fontWeight='bold' fill='#1F5FA8' fontFamily='Microsoft YaHei'&gt;第 13 节&lt;/text&gt;&lt;text x='96' y='347' fontSize='15' fill='#16232E' fontFamily='Microsoft YaHei'&gt;单元 2 验收复盘&lt;/text&gt;&lt;text x='1080' y='347' fontSize='13' fill='#5A6B7A' textAnchor='end' fontFamily='Microsoft YaHei'&gt;W2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2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列表简介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 / 111 节&lt;/Text&gt;&#13;&#10;        &lt;/Box&gt;&#13;&#10;        &lt;Text style={{ fontSize: 30, fontWeight: 'bold', color: '#16232E' }}&gt;列表是什么、索引为什么从 0 开始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「一排抽屉」模型，牢记索引从 0 开始与负索引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画一个列表并标出每个元素的下标&lt;/text&gt;&lt;text x='84' y='338.75' fontSize='14.5' fill='#3A4A58' textAnchor='start' fontFamily='Microsoft YaHei'&gt;· 用负索引取最后三个元素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2-1 ~ 2-2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 · 第 1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4352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列表是什么、索引为什么从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 节&lt;/Text&gt;&#13;&#10;        &lt;/Box&gt;&#13;&#10;        &lt;Text style={{ fontSize: 30, fontWeight: 'bold', color: '#16232E' }}&gt;核心知识点&lt;/Text&gt;&#13;&#10;        &lt;Text style={{ fontSize: 15, color: '#5A6B7A', marginTop: 10 }}&gt;· 列表是什么、索引为什么从 0 开始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1 列表：一个名字，一排抽屉&lt;/text&gt;&lt;text x='82' y='169.0' fontSize='13' fill='#3A4A58' textAnchor='start' fontFamily='Microsoft YaHei'&gt;· 到目前为止，变量只能装一个值。但现实中数据总是成组&lt;/text&gt;&lt;text x='82' y='188.5' fontSize='13' fill='#3A4A58' textAnchor='start' fontFamily='Microsoft YaHei'&gt;的：一串商品名、一堆分数、一串待办事项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2 索引从 0 开始：为什么不是从 1 开始&lt;/text&gt;&lt;text x='486' y='169.0' fontSize='13' fill='#3A4A58' textAnchor='start' fontFamily='Microsoft YaHei'&gt;· 越界会报 IndexError：cars[3] 或 cars[-4] 都会崩&lt;/text&gt;&lt;text x='486' y='188.5' fontSize='13' fill='#3A4A58' textAnchor='start' fontFamily='Microsoft YaHei'&gt;。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3 列表是可变的：能直接改&lt;/text&gt;&lt;text x='890' y='169.0' fontSize='13' fill='#3A4A58' textAnchor='start' fontFamily='Microsoft YaHei'&gt;· 列表元素可以是任意类型，包括另一个列表（叫嵌套列表&lt;/text&gt;&lt;text x='890' y='188.5' fontSize='13' fill='#3A4A58' textAnchor='start' fontFamily='Microsoft YaHei'&gt;）：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 · 第 1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列表是什么、索引为什么从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1 / 111 节&lt;/Text&gt;&#13;&#10;        &lt;/Box&gt;&#13;&#10;        &lt;Text style={{ fontSize: 30, fontWeight: 'bold', color: '#16232E' }}&gt;增删改查、引用共享与排序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五个增删改方法；理解引用共享——本单元最反直觉的一课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★ 现场演示 a = b[:] 与 a = b 的区别&lt;/text&gt;&lt;text x='84' y='338.75' fontSize='14.5' fill='#3A4A58' textAnchor='start' fontFamily='Microsoft YaHei'&gt;· 对同一列表做 20 次增删改排序操作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进阶档 2-3 ~ 2-8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 · 第 1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增删改查、引用共享与排序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1 节&lt;/Text&gt;&#13;&#10;        &lt;/Box&gt;&#13;&#10;        &lt;Text style={{ fontSize: 30, fontWeight: 'bold', color: '#16232E' }}&gt;核心知识点&lt;/Text&gt;&#13;&#10;        &lt;Text style={{ fontSize: 15, color: '#5A6B7A', marginTop: 10 }}&gt;· 增删改查、引用共享与排序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4 增删改方法：五个主力&lt;/text&gt;&lt;text x='82' y='169.0' fontSize='13' fill='#3A4A58' textAnchor='start' fontFamily='Microsoft YaHei'&gt;· cars = [&quot;小红帽&quot;, &quot;凯迪拉克&quot;]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5 .remove() 与 .pop()：一个删&quot;值&quot;…&lt;/text&gt;&lt;text x='486' y='169.0' fontSize='13' fill='#3A4A58' textAnchor='start' fontFamily='Microsoft YaHei'&gt;· 这是本单元最容易混淆的一对：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6 引用共享：最反直觉的一课&lt;/text&gt;&lt;text x='890' y='169.0' fontSize='13' fill='#3A4A58' textAnchor='start' fontFamily='Microsoft YaHei'&gt;· 这是初学者最容易踩的坑，也是&quot;浅拷贝&quot;概念的入门。&lt;/text&gt;&lt;text x='64' y='470' fontSize='14.5' fontWeight='bold' fill='#0E9B78' textAnchor='start' fontFamily='Microsoft YaHei'&gt;本节的代码示例&lt;/text&gt;&lt;text x='64' y='500' fontSize='13' fill='#3A4A58' textAnchor='start' fontFamily='Microsoft YaHei'&gt;· 创建列表与基本访问&lt;/text&gt;&lt;text x='468' y='500' fontSize='13' fill='#3A4A58' textAnchor='start' fontFamily='Microsoft YaHei'&gt;· 修改元素（列表可变的体现）&lt;/text&gt;&lt;text x='872' y='500' fontSize='13' fill='#3A4A58' textAnchor='start' fontFamily='Microsoft YaHei'&gt;· 添加元素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 · 第 1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增删改查、引用共享与排序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2 / 111 节&lt;/Text&gt;&#13;&#10;        &lt;/Box&gt;&#13;&#10;        &lt;Text style={{ fontSize: 30, fontWeight: 'bold', color: '#16232E' }}&gt;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2 练习，能预测任意列表操作的结果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25 分钟独立完成基础档&lt;/text&gt;&lt;text x='84' y='338.75' fontSize='14.5' fill='#3A4A58' textAnchor='start' fontFamily='Microsoft YaHei'&gt;· 逐题对照答案，错的当场重跑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能增删改查排序的清单脚本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 · 第 1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2 节&lt;/Text&gt;&#13;&#10;        &lt;/Box&gt;&#13;&#10;        &lt;Text style={{ fontSize: 30, fontWeight: 'bold', color: '#16232E' }}&gt;核心知识点&lt;/Text&gt;&#13;&#10;        &lt;Text style={{ fontSize: 15, color: '#5A6B7A', marginTop: 10 }}&gt;· 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2-1【我的收藏清单】&lt;/text&gt;&lt;text x='82' y='197.5' fontSize='13' fill='#3A4A58' textAnchor='start' fontFamily='Microsoft YaHei'&gt;· 练习 2-2【购物车】&lt;/text&gt;&lt;text x='82' y='226.0' fontSize='13' fill='#3A4A58' textAnchor='start' fontFamily='Microsoft YaHei'&gt;· 练习 2-3【正负索引热身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2-5【成绩分析（不用循环）】&lt;/text&gt;&lt;text x='486' y='197.5' fontSize='13' fill='#3A4A58' textAnchor='start' fontFamily='Microsoft YaHei'&gt;· 练习 2-6【实现自己的&quot;栈&quot;】&lt;/text&gt;&lt;text x='486' y='226.0' fontSize='13' fill='#3A4A58' textAnchor='start' fontFamily='Microsoft YaHei'&gt;· 练习 2-7【嵌套列表访问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2-1&lt;/text&gt;&lt;text x='890' y='169.0' fontSize='13' fill='#3A4A58' textAnchor='start' fontFamily='Microsoft YaHei'&gt;· hobbies = [&quot;阅读&quot;, &quot;篮球&quot;, &quot;烹饪&quot;, &quot;摄影&quot;, &quot;吉&lt;/text&gt;&lt;text x='890' y='188.5' fontSize='13' fill='#3A4A58' textAnchor='start' fontFamily='Microsoft YaHei'&gt;他&quot;]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 · 第 1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3 / 111 节&lt;/Text&gt;&#13;&#10;        &lt;/Box&gt;&#13;&#10;        &lt;Text style={{ fontSize: 30, fontWeight: 'bold', color: '#16232E' }}&gt;单元 2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增删改查、引用共享、排序都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打勾验收自测&lt;/text&gt;&lt;text x='84' y='338.75' fontSize='14.5' fill='#3A4A58' textAnchor='start' fontFamily='Microsoft YaHei'&gt;· 现场演示引用共享的坑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 · 第 1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66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3 节&lt;/Text&gt;&#13;&#10;        &lt;/Box&gt;&#13;&#10;        &lt;Text style={{ fontSize: 30, fontWeight: 'bold', color: '#16232E' }}&gt;核心知识点&lt;/Text&gt;&#13;&#10;        &lt;Text style={{ fontSize: 15, color: '#5A6B7A', marginTop: 10 }}&gt;· 单元 2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 · 第 1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2 · 小结与验收&lt;/Text&gt;&#13;&#10;        &lt;Text style={{ fontSize: 16, color: '#5A6B7A', marginTop: 6 }}&gt;列表简介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10 节 · 列表是什么、索引为什么从 0 开始&lt;/text&gt;&lt;text x='0' y='64' fontSize='14.5' fill='#3A4A58' fontFamily='Microsoft YaHei'&gt;· 第 11 节 · 增删改查、引用共享与排序&lt;/text&gt;&lt;text x='0' y='94' fontSize='14.5' fill='#3A4A58' fontFamily='Microsoft YaHei'&gt;· 第 12 节 · 动手实战与答案讲评&lt;/text&gt;&lt;text x='0' y='124' fontSize='14.5' fill='#3A4A58' fontFamily='Microsoft YaHei'&gt;· 第 13 节 · 单元 2 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2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列表简介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2026-10-16T00:36:46Z</dcterms:created>
  <dcterms:modified xsi:type="dcterms:W3CDTF">2026-10-16T00:36:46Z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