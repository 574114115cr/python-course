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 · 单元 2 · 列表简介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 节 列表是什么、索引为什么从 0 开始</a:t>
            </a:r>
          </a:p>
          <a:p>
            <a:r>
              <a:rPr lang="zh-CN" dirty="0"/>
              <a:t>· 第 11 节 增删改查、引用共享与排序</a:t>
            </a:r>
          </a:p>
          <a:p>
            <a:r>
              <a:rPr lang="zh-CN" dirty="0"/>
              <a:t>· 第 12 节 动手实战与答案讲评</a:t>
            </a:r>
          </a:p>
          <a:p>
            <a:r>
              <a:rPr lang="zh-CN" dirty="0"/>
              <a:t>· 第 13 节 单元 2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 节 · 列表是什么、索引为什么从 0 开始</a:t>
            </a:r>
          </a:p>
          <a:p>
            <a:r>
              <a:rPr lang="zh-CN" dirty="0"/>
              <a:t>单元 2 · 列表简介 · W2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学习目标：理解「一排抽屉」模型，牢记索引从 0 开始与负索引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画一个列表并标出每个元素的下标</a:t>
            </a:r>
          </a:p>
          <a:p>
            <a:r>
              <a:rPr lang="zh-CN" dirty="0"/>
              <a:t>· 用负索引取最后三个元素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2-1 ~ 2-2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 节 · 核心知识点：列表是什么、索引为什么从 0 开始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本节目标：理解「一排抽屉」模型，牢记索引从 0 开始与负索引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 节 · 增删改查、引用共享与排序</a:t>
            </a:r>
          </a:p>
          <a:p>
            <a:r>
              <a:rPr lang="zh-CN" dirty="0"/>
              <a:t>单元 2 · 列表简介 · W2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学习目标：掌握五个增删改方法；理解引用共享——本单元最反直觉的一课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现场演示 a = b[:] 与 a = b 的区别</a:t>
            </a:r>
          </a:p>
          <a:p>
            <a:r>
              <a:rPr lang="zh-CN" dirty="0"/>
              <a:t>· 对同一列表做 20 次增删改排序操作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2-3 ~ 2-8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 节 · 核心知识点：增删改查、引用共享与排序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本节目标：掌握五个增删改方法；理解引用共享——本单元最反直觉的一课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12 节 · 动手实战与答案讲评</a:t>
            </a:r>
          </a:p>
          <a:p>
            <a:r>
              <a:rPr lang="zh-CN" dirty="0"/>
              <a:t>单元 2 · 列表简介 · W2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2 练习，能预测任意列表操作的结果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25 分钟独立完成基础档</a:t>
            </a:r>
          </a:p>
          <a:p>
            <a:r>
              <a:rPr lang="zh-CN" dirty="0"/>
              <a:t>· 逐题对照答案，错的当场重跑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产出：能增删改查排序的清单脚本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12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2 练习，能预测任意列表操作的结果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13 节 · 单元 2 验收复盘</a:t>
            </a:r>
          </a:p>
          <a:p>
            <a:r>
              <a:rPr lang="zh-CN" dirty="0"/>
              <a:t>单元 2 · 列表简介 · W2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学习目标：确认增删改查、引用共享、排序都过关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现场演示引用共享的坑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13 节 · 核心知识点：单元 2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本节目标：确认增删改查、引用共享、排序都过关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 小结 · 单元 2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2&lt;/Text&gt;&#13;&#10;        &lt;Text style={{ fontSize: 38, fontWeight: 'bold', color: '#FFFFFF', marginTop: 6 }}&gt;列表简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10 节&lt;/text&gt;&lt;text x='96' y='85.0' fontSize='15' fill='#16232E' fontFamily='Microsoft YaHei'&gt;列表是什么、索引为什么从 0 开始&lt;/text&gt;&lt;text x='1080' y='85.0' fontSize='13' fill='#5A6B7A' textAnchor='end' fontFamily='Microsoft YaHei'&gt;W2&lt;/text&gt;&lt;rect x='0' y='155.0' width='1152' height='48.0' rx='7' fill='#F2F7FD' /&gt;&lt;text x='16' y='184.0' fontSize='15' fontWeight='bold' fill='#1F5FA8' fontFamily='Microsoft YaHei'&gt;第 11 节&lt;/text&gt;&lt;text x='96' y='184.0' fontSize='15' fill='#16232E' fontFamily='Microsoft YaHei'&gt;增删改查、引用共享与排序&lt;/text&gt;&lt;text x='1080' y='184.0' fontSize='13' fill='#5A6B7A' textAnchor='end' fontFamily='Microsoft YaHei'&gt;W2&lt;/text&gt;&lt;rect x='0' y='254.0' width='1152' height='48.0' rx='7' fill='#FFFFFF' /&gt;&lt;text x='16' y='283.0' fontSize='15' fontWeight='bold' fill='#1F5FA8' fontFamily='Microsoft YaHei'&gt;第 12 节&lt;/text&gt;&lt;text x='96' y='283.0' fontSize='15' fill='#16232E' fontFamily='Microsoft YaHei'&gt;动手实战与答案讲评&lt;/text&gt;&lt;text x='1080' y='283.0' fontSize='13' fill='#5A6B7A' textAnchor='end' fontFamily='Microsoft YaHei'&gt;W2&lt;/text&gt;&lt;rect x='0' y='353.0' width='1152' height='48.0' rx='7' fill='#F2F7FD' /&gt;&lt;text x='16' y='382.0' fontSize='15' fontWeight='bold' fill='#1F5FA8' fontFamily='Microsoft YaHei'&gt;第 13 节&lt;/text&gt;&lt;text x='96' y='382.0' fontSize='15' fill='#16232E' fontFamily='Microsoft YaHei'&gt;单元 2 验收复盘&lt;/text&gt;&lt;text x='1080' y='382.0' fontSize='13' fill='#5A6B7A' textAnchor='end' fontFamily='Microsoft YaHei'&gt;W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 / 111 节&lt;/Text&gt;&#13;&#10;        &lt;/Box&gt;&#13;&#10;        &lt;Text style={{ fontSize: 30, fontWeight: 'bold', color: '#16232E' }}&gt;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一排抽屉」模型，牢记索引从 0 开始与负索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个列表并标出每个元素的下标&lt;/text&gt;&lt;text x='84' y='338.75' fontSize='14.5' fill='#3A4A58' textAnchor='start' fontFamily='Microsoft YaHei'&gt;· 用负索引取最后三个元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2-1 ~ 2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352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 节&lt;/Text&gt;&#13;&#10;        &lt;/Box&gt;&#13;&#10;        &lt;Text style={{ fontSize: 30, fontWeight: 'bold', color: '#16232E' }}&gt;核心知识点&lt;/Text&gt;&#13;&#10;        &lt;Text style={{ fontSize: 15, color: '#5A6B7A', marginTop: 10 }}&gt;· 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：一个名字，一排抽屉&lt;/text&gt;&lt;text x='82' y='169.0' fontSize='13' fill='#3A4A58' textAnchor='start' fontFamily='Microsoft YaHei'&gt;· 到目前为止，变量只能装一个值。&lt;/text&gt;&lt;text x='82' y='197.5' fontSize='13' fill='#3A4A58' textAnchor='start' fontFamily='Microsoft YaHei'&gt;· 变量像单个盒子，列表像一整排带编号的抽屉柜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索引从 0 开始：为什么不是从 1 开始&lt;/text&gt;&lt;text x='486' y='169.0' fontSize='13' fill='#3A4A58' textAnchor='start' fontFamily='Microsoft YaHei'&gt;· 越界会报 Index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列表是可变的：能直接改&lt;/text&gt;&lt;text x='890' y='169.0' fontSize='13' fill='#3A4A58' textAnchor='start' fontFamily='Microsoft YaHei'&gt;· 列表元素可以是任意类型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24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 / 111 节&lt;/Text&gt;&#13;&#10;        &lt;/Box&gt;&#13;&#10;        &lt;Text style={{ fontSize: 30, fontWeight: 'bold', color: '#16232E' }}&gt;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五个增删改方法；理解引用共享——本单元最反直觉的一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 a = b[:] 与 a = b 的区别&lt;/text&gt;&lt;text x='84' y='338.75' fontSize='14.5' fill='#3A4A58' textAnchor='start' fontFamily='Microsoft YaHei'&gt;· 对同一列表做 20 次增删改排序操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2-3 ~ 2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 节&lt;/Text&gt;&#13;&#10;        &lt;/Box&gt;&#13;&#10;        &lt;Text style={{ fontSize: 30, fontWeight: 'bold', color: '#16232E' }}&gt;核心知识点&lt;/Text&gt;&#13;&#10;        &lt;Text style={{ fontSize: 15, color: '#5A6B7A', marginTop: 10 }}&gt;· 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.remove() 与 .pop()…&lt;/text&gt;&lt;text x='82' y='169.0' fontSize='13' fill='#3A4A58' textAnchor='start' fontFamily='Microsoft YaHei'&gt;· del 和 .pop() 效果类似，但 del 不返回被删的元素，所以要保留就得改用&lt;/text&gt;&lt;text x='82' y='188.5' fontSize='13' fill='#3A4A58' textAnchor='start' fontFamily='Microsoft YaHei'&gt;.pop()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引用共享：最反直觉的一课&lt;/text&gt;&lt;text x='686' y='169.0' fontSize='13' fill='#3A4A58' textAnchor='start' fontFamily='Microsoft YaHei'&gt;· 这是初学者最容易踩的坑，也是&quot;浅拷贝&quot;概念的入门。&lt;/text&gt;&lt;text x='686' y='197.5' fontSize='13' fill='#3A4A58' textAnchor='start' fontFamily='Microsoft YaHei'&gt;· 你把同一本笔记本的封面同时写上了&quot;cars&quot;和&quot;other&quot;两个名字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列表与基本访问&lt;/text&gt;&lt;text x='468' y='500' fontSize='13' fill='#3A4A58' textAnchor='start' fontFamily='Microsoft YaHei'&gt;· 修改元素（列表可变的体现）&lt;/text&gt;&lt;text x='872' y='500' fontSize='13' fill='#3A4A58' textAnchor='start' fontFamily='Microsoft YaHei'&gt;· 添加元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2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2 练习，能预测任意列表操作的结果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增删改查排序的清单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2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-1【我的收藏清单】&lt;/text&gt;&lt;text x='82' y='197.5' fontSize='13' fill='#3A4A58' textAnchor='start' fontFamily='Microsoft YaHei'&gt;· 练习 2-2【购物车】&lt;/text&gt;&lt;text x='82' y='226.0' fontSize='13' fill='#3A4A58' textAnchor='start' fontFamily='Microsoft YaHei'&gt;· 练习 2-3【正负索引热身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-5【成绩分析（不用循环）】&lt;/text&gt;&lt;text x='486' y='197.5' fontSize='13' fill='#3A4A58' textAnchor='start' fontFamily='Microsoft YaHei'&gt;· 练习 2-6【实现自己的&quot;栈&quot;】&lt;/text&gt;&lt;text x='486' y='226.0' fontSize='13' fill='#3A4A58' textAnchor='start' fontFamily='Microsoft YaHei'&gt;· 练习 2-7【嵌套列表访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-9&lt;/text&gt;&lt;text x='890' y='169.0' fontSize='13' fill='#3A4A58' textAnchor='start' fontFamily='Microsoft YaHei'&gt;· print(&quot;升序 &quot;, sorted(scores)) 里有两个空格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3 / 111 节&lt;/Text&gt;&#13;&#10;        &lt;/Box&gt;&#13;&#10;        &lt;Text style={{ fontSize: 30, fontWeight: 'bold', color: '#16232E' }}&gt;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增删改查、引用共享、排序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引用共享的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3 节&lt;/Text&gt;&#13;&#10;        &lt;/Box&gt;&#13;&#10;        &lt;Text style={{ fontSize: 30, fontWeight: 'bold', color: '#16232E' }}&gt;核心知识点&lt;/Text&gt;&#13;&#10;        &lt;Text style={{ fontSize: 15, color: '#5A6B7A', marginTop: 10 }}&gt;· 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 · 小结与验收&lt;/Text&gt;&#13;&#10;        &lt;Text style={{ fontSize: 16, color: '#5A6B7A', marginTop: 6 }}&gt;列表简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 节 · 列表是什么、索引为什么从 0 开始&lt;/text&gt;&lt;text x='0' y='64' fontSize='14.5' fill='#3A4A58' fontFamily='Microsoft YaHei'&gt;· 第 11 节 · 增删改查、引用共享与排序&lt;/text&gt;&lt;text x='0' y='94' fontSize='14.5' fill='#3A4A58' fontFamily='Microsoft YaHei'&gt;· 第 12 节 · 动手实战与答案讲评&lt;/text&gt;&lt;text x='0' y='124' fontSize='14.5' fill='#3A4A58' fontFamily='Microsoft YaHei'&gt;· 第 13 节 · 单元 2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2026-10-29T00:30:30Z</dcterms:created>
  <dcterms:modified xsi:type="dcterms:W3CDTF">2026-10-29T00:30:30Z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