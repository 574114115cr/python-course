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media/image1.svg" ContentType="image/svg+xml"/>
  <Override PartName="/ppt/slides/media/image10.svg" ContentType="image/svg+xml"/>
  <Override PartName="/ppt/slides/media/image11.svg" ContentType="image/svg+xml"/>
  <Override PartName="/ppt/slides/media/image12.svg" ContentType="image/svg+xml"/>
  <Override PartName="/ppt/slides/media/image2.svg" ContentType="image/svg+xml"/>
  <Override PartName="/ppt/slides/media/image3.svg" ContentType="image/svg+xml"/>
  <Override PartName="/ppt/slides/media/image4.svg" ContentType="image/svg+xml"/>
  <Override PartName="/ppt/slides/media/image5.svg" ContentType="image/svg+xml"/>
  <Override PartName="/ppt/slides/media/image6.svg" ContentType="image/svg+xml"/>
  <Override PartName="/ppt/slides/media/image7.svg" ContentType="image/svg+xml"/>
  <Override PartName="/ppt/slides/media/image8.svg" ContentType="image/svg+xml"/>
  <Override PartName="/ppt/slides/media/image9.svg" ContentType="image/svg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0" Type="http://schemas.openxmlformats.org/officeDocument/2006/relationships/officeDocument" Target="ppt/presentation.xml"/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/Relationships>
</file>

<file path=ppt/presentation.xml><?xml version="1.0" encoding="utf-8"?>
<p:presentation xmlns:p="http://schemas.openxmlformats.org/presentationml/2006/main" xmlns:a="http://schemas.openxmlformats.org/drawingml/2006/main" xmlns:r="http://schemas.openxmlformats.org/officeDocument/2006/relationships" firstSlideNum="1">
  <p:sldMasterIdLst>
    <p:sldMasterId id="2147483648" r:id="rId0"/>
  </p:sldMasterIdLst>
  <p:notesMasterIdLst>
    <p:notesMasterId r:id="rId13"/>
  </p:notesMasterIdLst>
  <p:sldIdLst>
    <p:sldId id="256" r:id="rId1"/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uri="{E76CE94A-603C-4142-B9EB-6D1370010A27}"/>
    <p:ext uri="{D31A062A-798A-4329-ABDD-BBA856620510}"/>
    <p:ext uri="{FD5EFAAD-0ECE-453E-9831-46B23BE46B34}"/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 xmlns:a="http://schemas.openxmlformats.org/drawing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27" d="100"/>
          <a:sy n="127" d="100"/>
        </p:scale>
        <p:origin x="536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0" Type="http://schemas.openxmlformats.org/officeDocument/2006/relationships/slideMaster" Target="slideMasters/slideMaster1.xml"/><Relationship Id="rId1" Type="http://schemas.openxmlformats.org/officeDocument/2006/relationships/slide" Target="slides/slide1.xml"/><Relationship Id="rId2" Type="http://schemas.openxmlformats.org/officeDocument/2006/relationships/slide" Target="slides/slide2.xml"/><Relationship Id="rId3" Type="http://schemas.openxmlformats.org/officeDocument/2006/relationships/slide" Target="slides/slide3.xml"/><Relationship Id="rId4" Type="http://schemas.openxmlformats.org/officeDocument/2006/relationships/slide" Target="slides/slide4.xml"/><Relationship Id="rId5" Type="http://schemas.openxmlformats.org/officeDocument/2006/relationships/slide" Target="slides/slide5.xml"/><Relationship Id="rId6" Type="http://schemas.openxmlformats.org/officeDocument/2006/relationships/slide" Target="slides/slide6.xml"/><Relationship Id="rId7" Type="http://schemas.openxmlformats.org/officeDocument/2006/relationships/slide" Target="slides/slide7.xml"/><Relationship Id="rId8" Type="http://schemas.openxmlformats.org/officeDocument/2006/relationships/slide" Target="slides/slide8.xml"/><Relationship Id="rId9" Type="http://schemas.openxmlformats.org/officeDocument/2006/relationships/slide" Target="slides/slide9.xml"/><Relationship Id="rId10" Type="http://schemas.openxmlformats.org/officeDocument/2006/relationships/slide" Target="slides/slide10.xml"/><Relationship Id="rId11" Type="http://schemas.openxmlformats.org/officeDocument/2006/relationships/slide" Target="slides/slide11.xml"/><Relationship Id="rId12" Type="http://schemas.openxmlformats.org/officeDocument/2006/relationships/slide" Target="slides/slide12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tableStyles" Target="tableStyles.xml"/><Relationship Id="rId16" Type="http://schemas.openxmlformats.org/officeDocument/2006/relationships/viewProps" Target="viewProps.xml"/></Relationships>
</file>

<file path=ppt/notesMasters/_rels/notesMaster1.xml.rels><?xml version='1.0' encoding='UTF-8' standalone='yes'?>
<Relationships xmlns="http://schemas.openxmlformats.org/package/2006/relationships"><Relationship Id="rId0" Type="http://schemas.openxmlformats.org/officeDocument/2006/relationships/theme" Target="../theme/theme2.xml"/></Relationships>
</file>

<file path=ppt/notesMasters/notesMaster1.xml><?xml version="1.0" encoding="utf-8"?>
<p:notesMaster xmlns:p="http://schemas.openxmlformats.org/presentationml/2006/main" xmlns:a="http://schemas.openxmlformats.org/drawing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单元 0 · 单元 0 · 环境与工具链</a:t>
            </a:r>
          </a:p>
          <a:p>
            <a:r>
              <a:rPr lang="zh-CN" dirty="0"/>
              <a:t/>
            </a:r>
          </a:p>
          <a:p>
            <a:r>
              <a:rPr lang="zh-CN" dirty="0"/>
              <a:t>本单元包含以下课节：</a:t>
            </a:r>
          </a:p>
          <a:p>
            <a:r>
              <a:rPr lang="zh-CN" dirty="0"/>
              <a:t>· 第 1 节 装好 Python 与 VS Code</a:t>
            </a:r>
          </a:p>
          <a:p>
            <a:r>
              <a:rPr lang="zh-CN" dirty="0"/>
              <a:t>· 第 2 节 第一个报错与 Git 拍快照</a:t>
            </a:r>
          </a:p>
          <a:p>
            <a:r>
              <a:rPr lang="zh-CN" dirty="0"/>
              <a:t>· 第 3 节 目录结构、print 与注释</a:t>
            </a:r>
          </a:p>
          <a:p>
            <a:r>
              <a:rPr lang="zh-CN" dirty="0"/>
              <a:t>· 第 4 节 动手实战与答案讲评</a:t>
            </a:r>
          </a:p>
          <a:p>
            <a:r>
              <a:rPr lang="zh-CN" dirty="0"/>
              <a:t>· 第 5 节 单元 0 验收复盘</a:t>
            </a:r>
          </a:p>
          <a:p>
            <a:r>
              <a:rPr lang="zh-CN" dirty="0"/>
              <a:t/>
            </a:r>
          </a:p>
          <a:p>
            <a:r>
              <a:rPr lang="zh-CN" dirty="0"/>
              <a:t>开场用 3 分钟讲清：这个单元学完能做出什么，最后会被关卡怎么验。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1 节 · 装好 Python 与 VS Code</a:t>
            </a:r>
          </a:p>
          <a:p>
            <a:r>
              <a:rPr lang="zh-CN" dirty="0"/>
              <a:t>单元 0 · 环境与工具链 · W0</a:t>
            </a:r>
          </a:p>
          <a:p>
            <a:r>
              <a:rPr lang="zh-CN" dirty="0"/>
              <a:t/>
            </a:r>
          </a:p>
          <a:p>
            <a:r>
              <a:rPr lang="zh-CN" dirty="0"/>
              <a:t>学习目标：知道解释器是什么，能新建并运行第一个脚本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课堂实操（40 分钟，不看答案）：</a:t>
            </a:r>
          </a:p>
          <a:p>
            <a:r>
              <a:rPr lang="zh-CN" dirty="0"/>
              <a:t>· 跟着敲：新建 hello.py 并运行</a:t>
            </a:r>
          </a:p>
          <a:p>
            <a:r>
              <a:rPr lang="zh-CN" dirty="0"/>
              <a:t>· 故意写错一次，观察报错长什么样</a:t>
            </a:r>
          </a:p>
          <a:p>
            <a:r>
              <a:rPr lang="zh-CN" dirty="0"/>
              <a:t>· 用终端直接运行 python hello.py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课后作业：</a:t>
            </a:r>
          </a:p>
          <a:p>
            <a:r>
              <a:rPr lang="zh-CN" dirty="0"/>
              <a:t>· 装好环境并跑通 hello.py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节奏：讲 20 分钟 → 学员自己敲 40 分钟（不看答案）→ 对讲评自查 20 分钟 → 写作业 10 分钟。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1 节 · 核心知识点：装好 Python 与 VS Code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讲这一页时：先让学生说出上节课的结论，再逐块讲要点。</a:t>
            </a:r>
          </a:p>
          <a:p>
            <a:r>
              <a:rPr lang="zh-CN" dirty="0"/>
              <a:t>每讲完一块，问一句「这一步如果写错了，报错会长什么样？」——把错误提前讲。</a:t>
            </a:r>
          </a:p>
          <a:p>
            <a:r>
              <a:rPr lang="zh-CN" dirty="0"/>
              <a:t/>
            </a:r>
          </a:p>
          <a:p>
            <a:r>
              <a:rPr lang="zh-CN" dirty="0"/>
              <a:t>本节目标：知道解释器是什么，能新建并运行第一个脚本</a:t>
            </a:r>
          </a:p>
          <a:p>
            <a:r>
              <a:rPr lang="zh-CN" dirty="0"/>
              <a:t/>
            </a:r>
          </a:p>
          <a:p>
            <a:r>
              <a:rPr lang="zh-CN" dirty="0"/>
              <a:t>看不到懂的地方，回讲义对应小节读一遍，再回来对着这页复述一次——能讲出来才算真懂。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2 节 · 第一个报错与 Git 拍快照</a:t>
            </a:r>
          </a:p>
          <a:p>
            <a:r>
              <a:rPr lang="zh-CN" dirty="0"/>
              <a:t>单元 0 · 环境与工具链 · W0</a:t>
            </a:r>
          </a:p>
          <a:p>
            <a:r>
              <a:rPr lang="zh-CN" dirty="0"/>
              <a:t/>
            </a:r>
          </a:p>
          <a:p>
            <a:r>
              <a:rPr lang="zh-CN" dirty="0"/>
              <a:t>学习目标：会读 traceback；能用 git 给代码拍快照并恢复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课堂实操（40 分钟，不看答案）：</a:t>
            </a:r>
          </a:p>
          <a:p>
            <a:r>
              <a:rPr lang="zh-CN" dirty="0"/>
              <a:t>· 故意触发 3 种报错并读懂 traceback</a:t>
            </a:r>
          </a:p>
          <a:p>
            <a:r>
              <a:rPr lang="zh-CN" dirty="0"/>
              <a:t>· git init / add / commit 走一遍</a:t>
            </a:r>
          </a:p>
          <a:p>
            <a:r>
              <a:rPr lang="zh-CN" dirty="0"/>
              <a:t>· 故意删掉文件，用 git checkout 恢复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课后作业：</a:t>
            </a:r>
          </a:p>
          <a:p>
            <a:r>
              <a:rPr lang="zh-CN" dirty="0"/>
              <a:t>· 完成动手练习 0-1 ~ 0-5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节奏：讲 20 分钟 → 学员自己敲 40 分钟（不看答案）→ 对讲评自查 20 分钟 → 写作业 10 分钟。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2 节 · 核心知识点：第一个报错与 Git 拍快照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讲这一页时：先让学生说出上节课的结论，再逐块讲要点。</a:t>
            </a:r>
          </a:p>
          <a:p>
            <a:r>
              <a:rPr lang="zh-CN" dirty="0"/>
              <a:t>每讲完一块，问一句「这一步如果写错了，报错会长什么样？」——把错误提前讲。</a:t>
            </a:r>
          </a:p>
          <a:p>
            <a:r>
              <a:rPr lang="zh-CN" dirty="0"/>
              <a:t/>
            </a:r>
          </a:p>
          <a:p>
            <a:r>
              <a:rPr lang="zh-CN" dirty="0"/>
              <a:t>本节目标：会读 traceback；能用 git 给代码拍快照并恢复</a:t>
            </a:r>
          </a:p>
          <a:p>
            <a:r>
              <a:rPr lang="zh-CN" dirty="0"/>
              <a:t/>
            </a:r>
          </a:p>
          <a:p>
            <a:r>
              <a:rPr lang="zh-CN" dirty="0"/>
              <a:t>看不到懂的地方，回讲义对应小节读一遍，再回来对着这页复述一次——能讲出来才算真懂。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3 节 · 目录结构、print 与注释</a:t>
            </a:r>
          </a:p>
          <a:p>
            <a:r>
              <a:rPr lang="zh-CN" dirty="0"/>
              <a:t>单元 0 · 环境与工具链 · W0</a:t>
            </a:r>
          </a:p>
          <a:p>
            <a:r>
              <a:rPr lang="zh-CN" dirty="0"/>
              <a:t/>
            </a:r>
          </a:p>
          <a:p>
            <a:r>
              <a:rPr lang="zh-CN" dirty="0"/>
              <a:t>学习目标：掌握 print 的 sep / end、f-string 与注释规范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课堂实操（40 分钟，不看答案）：</a:t>
            </a:r>
          </a:p>
          <a:p>
            <a:r>
              <a:rPr lang="zh-CN" dirty="0"/>
              <a:t>· 修改示例 4 的 sep 和 end，观察输出变化</a:t>
            </a:r>
          </a:p>
          <a:p>
            <a:r>
              <a:rPr lang="zh-CN" dirty="0"/>
              <a:t>· 用 f-string 输出自我介绍</a:t>
            </a:r>
          </a:p>
          <a:p>
            <a:r>
              <a:rPr lang="zh-CN" dirty="0"/>
              <a:t>· 把 hello.py 写成有注释的规范版本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课后作业：</a:t>
            </a:r>
          </a:p>
          <a:p>
            <a:r>
              <a:rPr lang="zh-CN" dirty="0"/>
              <a:t>· 完成动手练习进阶档 0-6 ~ 0-8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节奏：讲 20 分钟 → 学员自己敲 40 分钟（不看答案）→ 对讲评自查 20 分钟 → 写作业 10 分钟。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3 节 · 核心知识点：目录结构、print 与注释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讲这一页时：先让学生说出上节课的结论，再逐块讲要点。</a:t>
            </a:r>
          </a:p>
          <a:p>
            <a:r>
              <a:rPr lang="zh-CN" dirty="0"/>
              <a:t>每讲完一块，问一句「这一步如果写错了，报错会长什么样？」——把错误提前讲。</a:t>
            </a:r>
          </a:p>
          <a:p>
            <a:r>
              <a:rPr lang="zh-CN" dirty="0"/>
              <a:t/>
            </a:r>
          </a:p>
          <a:p>
            <a:r>
              <a:rPr lang="zh-CN" dirty="0"/>
              <a:t>本节目标：掌握 print 的 sep / end、f-string 与注释规范</a:t>
            </a:r>
          </a:p>
          <a:p>
            <a:r>
              <a:rPr lang="zh-CN" dirty="0"/>
              <a:t/>
            </a:r>
          </a:p>
          <a:p>
            <a:r>
              <a:rPr lang="zh-CN" dirty="0"/>
              <a:t>看不到懂的地方，回讲义对应小节读一遍，再回来对着这页复述一次——能讲出来才算真懂。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4 节 · 动手实战与答案讲评</a:t>
            </a:r>
          </a:p>
          <a:p>
            <a:r>
              <a:rPr lang="zh-CN" dirty="0"/>
              <a:t>单元 0 · 环境与工具链 · W0</a:t>
            </a:r>
          </a:p>
          <a:p>
            <a:r>
              <a:rPr lang="zh-CN" dirty="0"/>
              <a:t/>
            </a:r>
          </a:p>
          <a:p>
            <a:r>
              <a:rPr lang="zh-CN" dirty="0"/>
              <a:t>学习目标：独立完成单元 0 全部练习，并能对照答案自查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课堂实操（40 分钟，不看答案）：</a:t>
            </a:r>
          </a:p>
          <a:p>
            <a:r>
              <a:rPr lang="zh-CN" dirty="0"/>
              <a:t>· 限时 20 分钟独立完成基础档</a:t>
            </a:r>
          </a:p>
          <a:p>
            <a:r>
              <a:rPr lang="zh-CN" dirty="0"/>
              <a:t>· 逐题对照参考答案，错的当场重跑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课后作业：</a:t>
            </a:r>
          </a:p>
          <a:p>
            <a:r>
              <a:rPr lang="zh-CN" dirty="0"/>
              <a:t>· 产出：可运行的 hello.py + 首次 git 提交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节奏：讲 20 分钟 → 学员自己敲 40 分钟（不看答案）→ 对讲评自查 20 分钟 → 写作业 10 分钟。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4 节 · 核心知识点：动手实战与答案讲评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讲这一页时：先让学生说出上节课的结论，再逐块讲要点。</a:t>
            </a:r>
          </a:p>
          <a:p>
            <a:r>
              <a:rPr lang="zh-CN" dirty="0"/>
              <a:t>每讲完一块，问一句「这一步如果写错了，报错会长什么样？」——把错误提前讲。</a:t>
            </a:r>
          </a:p>
          <a:p>
            <a:r>
              <a:rPr lang="zh-CN" dirty="0"/>
              <a:t/>
            </a:r>
          </a:p>
          <a:p>
            <a:r>
              <a:rPr lang="zh-CN" dirty="0"/>
              <a:t>本节目标：独立完成单元 0 全部练习，并能对照答案自查</a:t>
            </a:r>
          </a:p>
          <a:p>
            <a:r>
              <a:rPr lang="zh-CN" dirty="0"/>
              <a:t/>
            </a:r>
          </a:p>
          <a:p>
            <a:r>
              <a:rPr lang="zh-CN" dirty="0"/>
              <a:t>看不到懂的地方，回讲义对应小节读一遍，再回来对着这页复述一次——能讲出来才算真懂。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5 节 · 单元 0 验收复盘</a:t>
            </a:r>
          </a:p>
          <a:p>
            <a:r>
              <a:rPr lang="zh-CN" dirty="0"/>
              <a:t>单元 0 · 环境与工具链 · W0</a:t>
            </a:r>
          </a:p>
          <a:p>
            <a:r>
              <a:rPr lang="zh-CN" dirty="0"/>
              <a:t/>
            </a:r>
          </a:p>
          <a:p>
            <a:r>
              <a:rPr lang="zh-CN" dirty="0"/>
              <a:t>学习目标：确认环境、终端、Git、目录结构四项都掌握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课堂实操（40 分钟，不看答案）：</a:t>
            </a:r>
          </a:p>
          <a:p>
            <a:r>
              <a:rPr lang="zh-CN" dirty="0"/>
              <a:t>· 逐条打勾验收自测</a:t>
            </a:r>
          </a:p>
          <a:p>
            <a:r>
              <a:rPr lang="zh-CN" dirty="0"/>
              <a:t>· 把没过的项写成补齐计划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课后作业：</a:t>
            </a:r>
          </a:p>
          <a:p>
            <a:r>
              <a:rPr lang="zh-CN" dirty="0"/>
              <a:t>· 完成本单元小结与产出检查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节奏：讲 20 分钟 → 学员自己敲 40 分钟（不看答案）→ 对讲评自查 20 分钟 → 写作业 10 分钟。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5 节 · 核心知识点：单元 0 验收复盘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讲这一页时：先让学生说出上节课的结论，再逐块讲要点。</a:t>
            </a:r>
          </a:p>
          <a:p>
            <a:r>
              <a:rPr lang="zh-CN" dirty="0"/>
              <a:t>每讲完一块，问一句「这一步如果写错了，报错会长什么样？」——把错误提前讲。</a:t>
            </a:r>
          </a:p>
          <a:p>
            <a:r>
              <a:rPr lang="zh-CN" dirty="0"/>
              <a:t/>
            </a:r>
          </a:p>
          <a:p>
            <a:r>
              <a:rPr lang="zh-CN" dirty="0"/>
              <a:t>本节目标：确认环境、终端、Git、目录结构四项都掌握</a:t>
            </a:r>
          </a:p>
          <a:p>
            <a:r>
              <a:rPr lang="zh-CN" dirty="0"/>
              <a:t/>
            </a:r>
          </a:p>
          <a:p>
            <a:r>
              <a:rPr lang="zh-CN" dirty="0"/>
              <a:t>看不到懂的地方，回讲义对应小节读一遍，再回来对着这页复述一次——能讲出来才算真懂。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单元 0 小结 · 单元 0 · 小结</a:t>
            </a:r>
          </a:p>
          <a:p>
            <a:r>
              <a:rPr lang="zh-CN" dirty="0"/>
              <a:t/>
            </a:r>
          </a:p>
          <a:p>
            <a:r>
              <a:rPr lang="zh-CN" dirty="0"/>
              <a:t>收尾动作：让学生合上讲义，口述本单元三个最重要的结论；说不出来的，回对应课节。</a:t>
            </a:r>
          </a:p>
          <a:p>
            <a:r>
              <a:rPr lang="zh-CN" dirty="0"/>
              <a:t>然后当场勾一遍本单元课节的「已完成」，没打勾的进下一单元前补掉。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0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xmlns:a="http://schemas.openxmlformats.org/drawing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theme" Target="../theme/theme1.xml"/></Relationships>
</file>

<file path=ppt/slideMasters/slideMaster1.xml><?xml version="1.0" encoding="utf-8"?>
<p:sldMaster xmlns:p="http://schemas.openxmlformats.org/presentationml/2006/main" xmlns:a="http://schemas.openxmlformats.org/drawing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0"/>
  </p:sldLayoutIdLst>
  <p:hf sldNum="0" hdr="0" ftr="0" dt="0"/>
  <p:txStyles>
    <p:titleStyle>
      <a:lvl1pPr algn="ctr" defTabSz="914400" rtl="0" eaLnBrk="1" latinLnBrk="0" hangingPunct="1">
        <a:spcBef>
          <a:spcPct val="1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1.sv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5.sv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6.sv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7.sv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8.sv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9.sv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10.sv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11.sv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12.sv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2.sv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3.sv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4.svg"/><Relationship Id="rId3" Type="http://schemas.openxmlformats.org/officeDocument/2006/relationships/notesSlide" Target="../notesSlides/notesSlide12.xml"/></Relationships>
</file>

<file path=ppt/slides/slide1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1" name="" descr="&lt;Slide style={{ width: '1280px', height: '720px', backgroundColor: '#FAFCFE', padding: 0, position: 'relative', overflow: 'hidden' }}&gt;&#13;&#10;    &lt;Box style={{ position: 'absolute', left: 0, top: 0, width: '1280px', height: '150px', background: '#1F5FA8' }} /&gt;&#13;&#10;    &lt;Box style={{ position: 'absolute', left: 64, top: 34, width: '1152px', flexDirection: 'column' }}&gt;&#13;&#10;        &lt;Text style={{ fontSize: 15, fontWeight: 'bold', color: '#BFD9F2', letterSpacing: 2 }}&gt;阶段 1 · 单元 0&lt;/Text&gt;&#13;&#10;        &lt;Text style={{ fontSize: 38, fontWeight: 'bold', color: '#FFFFFF', marginTop: 6 }}&gt;环境与工具链&lt;/Text&gt;&#13;&#10;    &lt;/Box&gt;&#13;&#10;    &lt;Box style={{ position: 'absolute', left: 64, top: 168, width: '1152px', height: 470 }}&gt;&#13;&#10;        &lt;svg width='1152' height='470' viewBox='0 0 1152 470'&gt;&#13;&#10;            &lt;text x='0' y='18' fontSize='15' fontWeight='bold' fill='#16232E' fontFamily='Microsoft YaHei'&gt;本单元共 5 节课&lt;/text&gt;&#13;&#10;            &lt;rect x='0' y='56.0' width='1152' height='48.0' rx='7' fill='#FFFFFF' /&gt;&lt;text x='16' y='85.0' fontSize='15' fontWeight='bold' fill='#1F5FA8' fontFamily='Microsoft YaHei'&gt;第 1 节&lt;/text&gt;&lt;text x='96' y='85.0' fontSize='15' fill='#16232E' fontFamily='Microsoft YaHei'&gt;装好 Python 与 VS Code&lt;/text&gt;&lt;text x='1080' y='85.0' fontSize='13' fill='#5A6B7A' textAnchor='end' fontFamily='Microsoft YaHei'&gt;W0&lt;/text&gt;&lt;rect x='0' y='135.2' width='1152' height='48.0' rx='7' fill='#F2F7FD' /&gt;&lt;text x='16' y='164.2' fontSize='15' fontWeight='bold' fill='#1F5FA8' fontFamily='Microsoft YaHei'&gt;第 2 节&lt;/text&gt;&lt;text x='96' y='164.2' fontSize='15' fill='#16232E' fontFamily='Microsoft YaHei'&gt;第一个报错与 Git 拍快照&lt;/text&gt;&lt;text x='1080' y='164.2' fontSize='13' fill='#5A6B7A' textAnchor='end' fontFamily='Microsoft YaHei'&gt;W0&lt;/text&gt;&lt;rect x='0' y='214.4' width='1152' height='48.0' rx='7' fill='#FFFFFF' /&gt;&lt;text x='16' y='243.4' fontSize='15' fontWeight='bold' fill='#1F5FA8' fontFamily='Microsoft YaHei'&gt;第 3 节&lt;/text&gt;&lt;text x='96' y='243.4' fontSize='15' fill='#16232E' fontFamily='Microsoft YaHei'&gt;目录结构、print 与注释&lt;/text&gt;&lt;text x='1080' y='243.4' fontSize='13' fill='#5A6B7A' textAnchor='end' fontFamily='Microsoft YaHei'&gt;W0&lt;/text&gt;&lt;rect x='0' y='293.6' width='1152' height='48.0' rx='7' fill='#F2F7FD' /&gt;&lt;text x='16' y='322.6' fontSize='15' fontWeight='bold' fill='#1F5FA8' fontFamily='Microsoft YaHei'&gt;第 4 节&lt;/text&gt;&lt;text x='96' y='322.6' fontSize='15' fill='#16232E' fontFamily='Microsoft YaHei'&gt;动手实战与答案讲评&lt;/text&gt;&lt;text x='1080' y='322.6' fontSize='13' fill='#5A6B7A' textAnchor='end' fontFamily='Microsoft YaHei'&gt;W0&lt;/text&gt;&lt;rect x='0' y='372.8' width='1152' height='48.0' rx='7' fill='#FFFFFF' /&gt;&lt;text x='16' y='401.8' fontSize='15' fontWeight='bold' fill='#1F5FA8' fontFamily='Microsoft YaHei'&gt;第 5 节&lt;/text&gt;&lt;text x='96' y='401.8' fontSize='15' fill='#16232E' fontFamily='Microsoft YaHei'&gt;单元 0 验收复盘&lt;/text&gt;&lt;text x='1080' y='401.8' fontSize='13' fill='#5A6B7A' textAnchor='end' fontFamily='Microsoft YaHei'&gt;W0&lt;/text&gt;&#13;&#10;        &lt;/svg&gt;&#13;&#10;    &lt;/Box&gt;&#13;&#10;    &lt;Box style={{ position: 'absolute', left: 64, bottom: 22, width: '1152px', flexDirection: 'row', justifyContent: 'space-between' }}&gt;&#13;&#10;        &lt;Text style={{ fontSize: 13, color: '#8A9AAA' }}&gt;Python 讲授课件 · 逐节版&lt;/Text&gt;&#13;&#10;        &lt;Text style={{ fontSize: 13, color: '#8A9AAA' }}&gt;单元 0 · 封面&lt;/Text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3" name=""/>
          <p:cNvSpPr/>
          <p:nvPr/>
        </p:nvSpPr>
        <p:spPr>
          <a:xfrm rot="0" flipH="0" flipV="0">
            <a:off x="0" y="0"/>
            <a:ext cx="12192000" cy="1428750"/>
          </a:xfrm>
          <a:prstGeom prst="rect">
            <a:avLst/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4" name="" descr="{&quot;isTemplate&quot;:true,&quot;type&quot;:&quot;text&quot;}"/>
          <p:cNvSpPr txBox="1"/>
          <p:nvPr/>
        </p:nvSpPr>
        <p:spPr>
          <a:xfrm rot="0" flipH="0" flipV="0">
            <a:off x="609600" y="323850"/>
            <a:ext cx="109728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 spc="150">
                <a:solidFill>
                  <a:srgbClr val="BFD9F2"/>
                </a:solidFill>
                <a:latin typeface="Microsoft YaHei"/>
                <a:ea typeface="Microsoft YaHei"/>
              </a:rPr>
              <a:t>阶段</a:t>
            </a:r>
            <a:r>
              <a:rPr lang="en-US" sz="1125" b="1" spc="150">
                <a:solidFill>
                  <a:srgbClr val="BFD9F2"/>
                </a:solidFill>
                <a:latin typeface="Microsoft YaHei"/>
                <a:ea typeface="Microsoft YaHei"/>
              </a:rPr>
              <a:t xml:space="preserve"> 1 · </a:t>
            </a:r>
            <a:r>
              <a:rPr lang="zh-CN" sz="1125" b="1" spc="150">
                <a:solidFill>
                  <a:srgbClr val="BFD9F2"/>
                </a:solidFill>
                <a:latin typeface="Microsoft YaHei"/>
                <a:ea typeface="Microsoft YaHei"/>
              </a:rPr>
              <a:t>单元</a:t>
            </a:r>
            <a:r>
              <a:rPr lang="en-US" sz="1125" b="1" spc="150">
                <a:solidFill>
                  <a:srgbClr val="BFD9F2"/>
                </a:solidFill>
                <a:latin typeface="Microsoft YaHei"/>
                <a:ea typeface="Microsoft YaHei"/>
              </a:rPr>
              <a:t xml:space="preserve"> 0</a:t>
            </a:r>
            <a:endParaRPr/>
          </a:p>
        </p:txBody>
      </p:sp>
      <p:sp>
        <p:nvSpPr>
          <p:cNvPr id="5" name="" descr="{&quot;isTemplate&quot;:true,&quot;type&quot;:&quot;text&quot;}"/>
          <p:cNvSpPr txBox="1"/>
          <p:nvPr/>
        </p:nvSpPr>
        <p:spPr>
          <a:xfrm rot="0" flipH="0" flipV="0">
            <a:off x="609600" y="552450"/>
            <a:ext cx="10972800" cy="4381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850" b="1">
                <a:solidFill>
                  <a:srgbClr val="FFFFFF"/>
                </a:solidFill>
                <a:latin typeface="Microsoft YaHei"/>
                <a:ea typeface="Microsoft YaHei"/>
              </a:rPr>
              <a:t>环境与工具链</a:t>
            </a:r>
            <a:endParaRPr/>
          </a:p>
        </p:txBody>
      </p:sp>
      <p:pic>
        <p:nvPicPr>
          <p:cNvPr id="6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609600" y="1600200"/>
            <a:ext cx="10972800" cy="4476750"/>
          </a:xfrm>
          <a:prstGeom prst="rect">
            <a:avLst/>
          </a:prstGeom>
          <a:ln/>
        </p:spPr>
      </p:pic>
      <p:sp>
        <p:nvSpPr>
          <p:cNvPr id="7" name="" descr="{&quot;isTemplate&quot;:true,&quot;type&quot;:&quot;text&quot;}"/>
          <p:cNvSpPr txBox="1"/>
          <p:nvPr/>
        </p:nvSpPr>
        <p:spPr>
          <a:xfrm rot="0" flipH="0" flipV="0">
            <a:off x="609600" y="6496050"/>
            <a:ext cx="14287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Python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讲授课件</a:t>
            </a: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逐节版</a:t>
            </a:r>
            <a:endParaRPr/>
          </a:p>
        </p:txBody>
      </p:sp>
      <p:sp>
        <p:nvSpPr>
          <p:cNvPr id="8" name="" descr="{&quot;isTemplate&quot;:true,&quot;type&quot;:&quot;text&quot;}"/>
          <p:cNvSpPr txBox="1"/>
          <p:nvPr/>
        </p:nvSpPr>
        <p:spPr>
          <a:xfrm rot="0" flipH="0" flipV="0">
            <a:off x="10868025" y="6496050"/>
            <a:ext cx="7143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单元</a:t>
            </a: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 0 ·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封面</a:t>
            </a:r>
            <a:endParaRPr/>
          </a:p>
        </p:txBody>
      </p:sp>
    </p:spTree>
  </p:cSld>
</p:sld>
</file>

<file path=ppt/slides/slide2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36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1F5FA8', borderRadius: 5, padding: '3px 11px' }}&gt;&#13;&#10;            &lt;Text style={{ fontSize: 14, fontWeight: 'bold', color: '#FFFFFF' }}&gt;第 1 / 111 节&lt;/Text&gt;&#13;&#10;        &lt;/Box&gt;&#13;&#10;        &lt;Text style={{ fontSize: 30, fontWeight: 'bold', color: '#16232E' }}&gt;装好 Python 与 VS Code&lt;/Text&gt;&#13;&#10;    &lt;/Box&gt;&#13;&#10;    &lt;Box style={{ position: 'absolute', left: 0, top: 0, width: '1280px', height: '720px' }}&gt;&#13;&#10;        &lt;svg width='1280' height='720' viewBox='0 0 1280 720'&gt;&#13;&#10;            &lt;rect x='64' y='104' width='1152' height='112' rx='12' fill='#EEF5FB' /&gt;&lt;text x='84' y='134' fontSize='15' fontWeight='bold' fill='#1F5FA8' textAnchor='start' fontFamily='Microsoft YaHei'&gt;学习目标&lt;/text&gt;&lt;text x='84' y='164' fontSize='16' fill='#243444' textAnchor='start' fontFamily='Microsoft YaHei'&gt;知道解释器是什么，能新建并运行第一个脚本&lt;/text&gt;&lt;rect x='64' y='240' width='562' height='248' rx='12' fill='#FFFFFF' stroke='#D8E3EE' /&gt;&lt;text x='84' y='274' fontSize='15' fontWeight='bold' fill='#0E9B78' textAnchor='start' fontFamily='Microsoft YaHei'&gt;课堂实操（40 分钟 · 不看答案）&lt;/text&gt;&lt;text x='84' y='308.0' fontSize='14.5' fill='#3A4A58' textAnchor='start' fontFamily='Microsoft YaHei'&gt;· 跟着敲：新建 hello.py 并运行&lt;/text&gt;&lt;text x='84' y='338.75' fontSize='14.5' fill='#3A4A58' textAnchor='start' fontFamily='Microsoft YaHei'&gt;· 故意写错一次，观察报错长什么样&lt;/text&gt;&lt;text x='84' y='369.5' fontSize='14.5' fill='#3A4A58' textAnchor='start' fontFamily='Microsoft YaHei'&gt;· 用终端直接运行 python hello.py&lt;/text&gt;&lt;rect x='654' y='240' width='562' height='248' rx='12' fill='#FDF3E2' stroke='none' /&gt;&lt;text x='674' y='274' fontSize='15' fontWeight='bold' fill='#E08A15' textAnchor='start' fontFamily='Microsoft YaHei'&gt;课后作业&lt;/text&gt;&lt;text x='674' y='308.0' fontSize='14.5' fill='#3A4A58' textAnchor='start' fontFamily='Microsoft YaHei'&gt;· 装好环境并跑通 hello.py&lt;/text&gt;&lt;rect x='64' y='508' width='1152' height='92' rx='12' fill='#16232E' /&gt;&lt;text x='84' y='540' fontSize='14.5' fontWeight='bold' fill='#FFFFFF' textAnchor='start' fontFamily='Microsoft YaHei'&gt;这节课的节奏&lt;/text&gt;&lt;text x='84' y='570' fontSize='14' fill='#A8C4DE' textAnchor='start' fontFamily='Microsoft YaHei'&gt;先读讲义 20 分钟 → 自己敲 40 分钟（报错先自己读） → 对着讲评自查 20 分钟 → 写作业 10 分钟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0 · 第 1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38" name=""/>
          <p:cNvSpPr/>
          <p:nvPr/>
        </p:nvSpPr>
        <p:spPr>
          <a:xfrm rot="0" flipH="0" flipV="0">
            <a:off x="609600" y="409575"/>
            <a:ext cx="1028700" cy="219075"/>
          </a:xfrm>
          <a:prstGeom prst="roundRect">
            <a:avLst>
              <a:gd name="adj" fmla="val 21739"/>
            </a:avLst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39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8191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1 / 111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40" name="" descr="{&quot;isTemplate&quot;:true,&quot;type&quot;:&quot;text&quot;}"/>
          <p:cNvSpPr txBox="1"/>
          <p:nvPr/>
        </p:nvSpPr>
        <p:spPr>
          <a:xfrm rot="0" flipH="0" flipV="0">
            <a:off x="1752600" y="342900"/>
            <a:ext cx="3343275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装好</a:t>
            </a:r>
            <a:r>
              <a:rPr lang="en-US" sz="2250" b="1">
                <a:solidFill>
                  <a:srgbClr val="16232E"/>
                </a:solidFill>
                <a:latin typeface="Microsoft YaHei"/>
                <a:ea typeface="Microsoft YaHei"/>
              </a:rPr>
              <a:t xml:space="preserve"> Python </a:t>
            </a: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与</a:t>
            </a:r>
            <a:r>
              <a:rPr lang="en-US" sz="2250" b="1">
                <a:solidFill>
                  <a:srgbClr val="16232E"/>
                </a:solidFill>
                <a:latin typeface="Microsoft YaHei"/>
                <a:ea typeface="Microsoft YaHei"/>
              </a:rPr>
              <a:t xml:space="preserve"> VS Code</a:t>
            </a:r>
            <a:endParaRPr/>
          </a:p>
        </p:txBody>
      </p:sp>
      <p:pic>
        <p:nvPicPr>
          <p:cNvPr id="41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3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42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0E9B78', borderRadius: 5, padding: '3px 11px' }}&gt;&#13;&#10;            &lt;Text style={{ fontSize: 14, fontWeight: 'bold', color: '#FFFFFF' }}&gt;第 1 节&lt;/Text&gt;&#13;&#10;        &lt;/Box&gt;&#13;&#10;        &lt;Text style={{ fontSize: 30, fontWeight: 'bold', color: '#16232E' }}&gt;核心知识点&lt;/Text&gt;&#13;&#10;        &lt;Text style={{ fontSize: 15, color: '#5A6B7A', marginTop: 10 }}&gt;· 装好 Python 与 VS Code&lt;/Text&gt;&#13;&#10;    &lt;/Box&gt;&#13;&#10;    &lt;Box style={{ position: 'absolute', left: 0, top: 0, width: '1280px', height: '720px' }}&gt;&#13;&#10;        &lt;svg width='1280' height='720' viewBox='0 0 1280 720'&gt;&#13;&#10;            &lt;rect x='64' y='96' width='368' height='330' rx='12' fill='#FFFFFF' stroke='#D8E3EE' /&gt;&lt;rect x='64' y='96' width='368' height='4' rx='2' fill='#1F5FA8' /&gt;&lt;text x='82' y='130' fontSize='15.5' fontWeight='bold' fill='#1F5FA8' textAnchor='start' fontFamily='Microsoft YaHei'&gt;2.1 Python 解释器：写的是&quot;食材&quot;，&lt;/text&gt;&lt;text x='82' y='153' fontSize='15.5' fontWeight='bold' fill='#1F5FA8' textAnchor='start' fontFamily='Microsoft YaHei'&gt;跑的是&quot;厨师&quot;&lt;/text&gt;&lt;text x='82' y='192.0' fontSize='13' fill='#3A4A58' textAnchor='start' fontFamily='Microsoft YaHei'&gt;· Python 是一门解释型语言。&lt;/text&gt;&lt;text x='82' y='220.5' fontSize='13' fill='#3A4A58' textAnchor='start' fontFamily='Microsoft YaHei'&gt;· 你写了一张菜谱（.py 文件），&lt;/text&gt;&lt;text x='82' y='240.0' fontSize='13' fill='#3A4A58' textAnchor='start' fontFamily='Microsoft YaHei'&gt;但菜谱不会自己变成菜。&lt;/text&gt;&lt;text x='82' y='268.5' fontSize='13' fill='#3A4A58' textAnchor='start' fontFamily='Microsoft YaHei'&gt;· 理解这一点，你就明白了为什么安装 Python&lt;/text&gt;&lt;text x='82' y='288.0' fontSize='13' fill='#3A4A58' textAnchor='start' fontFamily='Microsoft YaHei'&gt;是第一步——没有厨师，菜谱就是废纸。&lt;/text&gt;&lt;rect x='468' y='96' width='368' height='330' rx='12' fill='#FFFFFF' stroke='#D8E3EE' /&gt;&lt;rect x='468' y='96' width='368' height='4' rx='2' fill='#1F5FA8' /&gt;&lt;text x='486' y='130' fontSize='15.5' fontWeight='bold' fill='#1F5FA8' textAnchor='start' fontFamily='Microsoft YaHei'&gt;2.2 终端（命令行）：和解释器对话的窗口&lt;/text&gt;&lt;text x='486' y='169.0' fontSize='13' fill='#3A4A58' textAnchor='start' fontFamily='Microsoft YaHei'&gt;· cd 文件夹名 —— 进入某个目录（change&lt;/text&gt;&lt;text x='486' y='188.5' fontSize='13' fill='#3A4A58' textAnchor='start' fontFamily='Microsoft YaHei'&gt;directory）&lt;/text&gt;&lt;text x='486' y='217.0' fontSize='13' fill='#3A4A58' textAnchor='start' fontFamily='Microsoft YaHei'&gt;· dir（Windows）或 ls（macOS/Linux）——&lt;/text&gt;&lt;text x='486' y='236.5' fontSize='13' fill='#3A4A58' textAnchor='start' fontFamily='Microsoft YaHei'&gt;列出当前目录里有什么&lt;/text&gt;&lt;rect x='872' y='96' width='368' height='330' rx='12' fill='#FFFFFF' stroke='#D8E3EE' /&gt;&lt;rect x='872' y='96' width='368' height='4' rx='2' fill='#1F5FA8' /&gt;&lt;text x='890' y='130' fontSize='15.5' fontWeight='bold' fill='#1F5FA8' textAnchor='start' fontFamily='Microsoft YaHei'&gt;2.3 VS Code + Python 扩展…&lt;/text&gt;&lt;text x='890' y='169.0' fontSize='13' fill='#3A4A58' textAnchor='start' fontFamily='Microsoft YaHei'&gt;· 右上角的 ▶ 播放按钮，一键运行当前文件&lt;/text&gt;&lt;text x='890' y='197.5' fontSize='13' fill='#3A4A58' textAnchor='start' fontFamily='Microsoft YaHei'&gt;· 智能提示：打了一半的函数名，&lt;/text&gt;&lt;text x='890' y='217.0' fontSize='13' fill='#3A4A58' textAnchor='start' fontFamily='Microsoft YaHei'&gt;会自动补全并显示参数说明&lt;/text&gt;&lt;text x='890' y='245.5' fontSize='13' fill='#3A4A58' textAnchor='start' fontFamily='Microsoft YaHei'&gt;· 错误提示：你在当前文件还没运行之前，&lt;/text&gt;&lt;text x='890' y='265.0' fontSize='13' fill='#3A4A58' textAnchor='start' fontFamily='Microsoft YaHei'&gt;就能看到红波浪线告诉你哪里写错了&lt;/text&gt;&lt;rect x='64' y='574' width='1152' height='66' rx='12' fill='#EEF5FB' /&gt;&lt;text x='84' y='616' fontSize='14' fill='#243444' textAnchor='start' fontFamily='Microsoft YaHei'&gt;看不懂的地方先回讲义对应小节读一遍，再回来对着这页复述一次——能讲出来才算真懂。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0 · 第 1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44" name=""/>
          <p:cNvSpPr/>
          <p:nvPr/>
        </p:nvSpPr>
        <p:spPr>
          <a:xfrm rot="0" flipH="0" flipV="0">
            <a:off x="609600" y="409575"/>
            <a:ext cx="638175" cy="219075"/>
          </a:xfrm>
          <a:prstGeom prst="roundRect">
            <a:avLst>
              <a:gd name="adj" fmla="val 21739"/>
            </a:avLst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45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4286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1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46" name="" descr="{&quot;isTemplate&quot;:true,&quot;type&quot;:&quot;text&quot;}"/>
          <p:cNvSpPr txBox="1"/>
          <p:nvPr/>
        </p:nvSpPr>
        <p:spPr>
          <a:xfrm rot="0" flipH="0" flipV="0">
            <a:off x="1362075" y="342900"/>
            <a:ext cx="1428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核心知识点</a:t>
            </a:r>
            <a:endParaRPr/>
          </a:p>
        </p:txBody>
      </p:sp>
      <p:sp>
        <p:nvSpPr>
          <p:cNvPr id="47" name="" descr="{&quot;isTemplate&quot;:true,&quot;type&quot;:&quot;text&quot;}"/>
          <p:cNvSpPr txBox="1"/>
          <p:nvPr/>
        </p:nvSpPr>
        <p:spPr>
          <a:xfrm rot="0" flipH="0" flipV="0">
            <a:off x="2905125" y="476250"/>
            <a:ext cx="16954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·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装好</a:t>
            </a: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 Python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与</a:t>
            </a: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 VS Code</a:t>
            </a:r>
            <a:endParaRPr/>
          </a:p>
        </p:txBody>
      </p:sp>
      <p:pic>
        <p:nvPicPr>
          <p:cNvPr id="48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4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49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1F5FA8', borderRadius: 5, padding: '3px 11px' }}&gt;&#13;&#10;            &lt;Text style={{ fontSize: 14, fontWeight: 'bold', color: '#FFFFFF' }}&gt;第 2 / 111 节&lt;/Text&gt;&#13;&#10;        &lt;/Box&gt;&#13;&#10;        &lt;Text style={{ fontSize: 30, fontWeight: 'bold', color: '#16232E' }}&gt;第一个报错与 Git 拍快照&lt;/Text&gt;&#13;&#10;    &lt;/Box&gt;&#13;&#10;    &lt;Box style={{ position: 'absolute', left: 0, top: 0, width: '1280px', height: '720px' }}&gt;&#13;&#10;        &lt;svg width='1280' height='720' viewBox='0 0 1280 720'&gt;&#13;&#10;            &lt;rect x='64' y='104' width='1152' height='112' rx='12' fill='#EEF5FB' /&gt;&lt;text x='84' y='134' fontSize='15' fontWeight='bold' fill='#1F5FA8' textAnchor='start' fontFamily='Microsoft YaHei'&gt;学习目标&lt;/text&gt;&lt;text x='84' y='164' fontSize='16' fill='#243444' textAnchor='start' fontFamily='Microsoft YaHei'&gt;会读 traceback；能用 git 给代码拍快照并恢复&lt;/text&gt;&lt;rect x='64' y='240' width='562' height='248' rx='12' fill='#FFFFFF' stroke='#D8E3EE' /&gt;&lt;text x='84' y='274' fontSize='15' fontWeight='bold' fill='#0E9B78' textAnchor='start' fontFamily='Microsoft YaHei'&gt;课堂实操（40 分钟 · 不看答案）&lt;/text&gt;&lt;text x='84' y='308.0' fontSize='14.5' fill='#3A4A58' textAnchor='start' fontFamily='Microsoft YaHei'&gt;· 故意触发 3 种报错并读懂 traceback&lt;/text&gt;&lt;text x='84' y='338.75' fontSize='14.5' fill='#3A4A58' textAnchor='start' fontFamily='Microsoft YaHei'&gt;· git init / add / commit 走一遍&lt;/text&gt;&lt;text x='84' y='369.5' fontSize='14.5' fill='#3A4A58' textAnchor='start' fontFamily='Microsoft YaHei'&gt;· 故意删掉文件，用 git checkout 恢复&lt;/text&gt;&lt;rect x='654' y='240' width='562' height='248' rx='12' fill='#FDF3E2' stroke='none' /&gt;&lt;text x='674' y='274' fontSize='15' fontWeight='bold' fill='#E08A15' textAnchor='start' fontFamily='Microsoft YaHei'&gt;课后作业&lt;/text&gt;&lt;text x='674' y='308.0' fontSize='14.5' fill='#3A4A58' textAnchor='start' fontFamily='Microsoft YaHei'&gt;· 完成动手练习 0-1 ~ 0-5&lt;/text&gt;&lt;rect x='64' y='508' width='1152' height='92' rx='12' fill='#16232E' /&gt;&lt;text x='84' y='540' fontSize='14.5' fontWeight='bold' fill='#FFFFFF' textAnchor='start' fontFamily='Microsoft YaHei'&gt;这节课的节奏&lt;/text&gt;&lt;text x='84' y='570' fontSize='14' fill='#A8C4DE' textAnchor='start' fontFamily='Microsoft YaHei'&gt;先读讲义 20 分钟 → 自己敲 40 分钟（报错先自己读） → 对着讲评自查 20 分钟 → 写作业 10 分钟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0 · 第 2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51" name=""/>
          <p:cNvSpPr/>
          <p:nvPr/>
        </p:nvSpPr>
        <p:spPr>
          <a:xfrm rot="0" flipH="0" flipV="0">
            <a:off x="609600" y="409575"/>
            <a:ext cx="1028700" cy="219075"/>
          </a:xfrm>
          <a:prstGeom prst="roundRect">
            <a:avLst>
              <a:gd name="adj" fmla="val 21739"/>
            </a:avLst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52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8191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2 / 111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53" name="" descr="{&quot;isTemplate&quot;:true,&quot;type&quot;:&quot;text&quot;}"/>
          <p:cNvSpPr txBox="1"/>
          <p:nvPr/>
        </p:nvSpPr>
        <p:spPr>
          <a:xfrm rot="0" flipH="0" flipV="0">
            <a:off x="1752600" y="342900"/>
            <a:ext cx="3171825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第一个报错与</a:t>
            </a:r>
            <a:r>
              <a:rPr lang="en-US" sz="2250" b="1">
                <a:solidFill>
                  <a:srgbClr val="16232E"/>
                </a:solidFill>
                <a:latin typeface="Microsoft YaHei"/>
                <a:ea typeface="Microsoft YaHei"/>
              </a:rPr>
              <a:t xml:space="preserve"> Git </a:t>
            </a: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拍快照</a:t>
            </a:r>
            <a:endParaRPr/>
          </a:p>
        </p:txBody>
      </p:sp>
      <p:pic>
        <p:nvPicPr>
          <p:cNvPr id="54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5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55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0E9B78', borderRadius: 5, padding: '3px 11px' }}&gt;&#13;&#10;            &lt;Text style={{ fontSize: 14, fontWeight: 'bold', color: '#FFFFFF' }}&gt;第 2 节&lt;/Text&gt;&#13;&#10;        &lt;/Box&gt;&#13;&#10;        &lt;Text style={{ fontSize: 30, fontWeight: 'bold', color: '#16232E' }}&gt;核心知识点&lt;/Text&gt;&#13;&#10;        &lt;Text style={{ fontSize: 15, color: '#5A6B7A', marginTop: 10 }}&gt;· 第一个报错与 Git 拍快照&lt;/Text&gt;&#13;&#10;    &lt;/Box&gt;&#13;&#10;    &lt;Box style={{ position: 'absolute', left: 0, top: 0, width: '1280px', height: '720px' }}&gt;&#13;&#10;        &lt;svg width='1280' height='720' viewBox='0 0 1280 720'&gt;&#13;&#10;            &lt;rect x='64' y='96' width='548' height='330' rx='12' fill='#FFFFFF' stroke='#D8E3EE' /&gt;&lt;rect x='64' y='96' width='548' height='4' rx='2' fill='#1F5FA8' /&gt;&lt;text x='82' y='130' fontSize='15.5' fontWeight='bold' fill='#1F5FA8' textAnchor='start' fontFamily='Microsoft YaHei'&gt;2.4 第一个报错：报错是你的朋友&lt;/text&gt;&lt;text x='82' y='169.0' fontSize='13' fill='#3A4A58' textAnchor='start' fontFamily='Microsoft YaHei'&gt;· File &quot;hello.py&quot;, line 1 —— 哪个文件、第几行&lt;/text&gt;&lt;text x='82' y='197.5' fontSize='13' fill='#3A4A58' textAnchor='start' fontFamily='Microsoft YaHei'&gt;· 那行代码 + 一个 ^ 箭头 —— 箭头指着的就是问题所在&lt;/text&gt;&lt;text x='82' y='226.0' fontSize='13' fill='#3A4A58' textAnchor='start' fontFamily='Microsoft YaHei'&gt;· SyntaxError: '(' was never closed —— 人类语言的错误原因&lt;/text&gt;&lt;rect x='668' y='96' width='548' height='330' rx='12' fill='#FFFFFF' stroke='#D8E3EE' /&gt;&lt;rect x='668' y='96' width='548' height='4' rx='2' fill='#1F5FA8' /&gt;&lt;text x='686' y='130' fontSize='15.5' fontWeight='bold' fill='#1F5FA8' textAnchor='start' fontFamily='Microsoft YaHei'&gt;2.5 Git：给代码拍快照&lt;/text&gt;&lt;text x='686' y='169.0' fontSize='13' fill='#3A4A58' textAnchor='start' fontFamily='Microsoft YaHei'&gt;· Git 是一个版本控制系统，作用是给你的代码拍快照。&lt;/text&gt;&lt;rect x='64' y='574' width='1152' height='66' rx='12' fill='#EEF5FB' /&gt;&lt;text x='84' y='616' fontSize='14' fill='#243444' textAnchor='start' fontFamily='Microsoft YaHei'&gt;看不懂的地方先回讲义对应小节读一遍，再回来对着这页复述一次——能讲出来才算真懂。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0 · 第 2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57" name=""/>
          <p:cNvSpPr/>
          <p:nvPr/>
        </p:nvSpPr>
        <p:spPr>
          <a:xfrm rot="0" flipH="0" flipV="0">
            <a:off x="609600" y="409575"/>
            <a:ext cx="638175" cy="219075"/>
          </a:xfrm>
          <a:prstGeom prst="roundRect">
            <a:avLst>
              <a:gd name="adj" fmla="val 21739"/>
            </a:avLst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58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4286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2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59" name="" descr="{&quot;isTemplate&quot;:true,&quot;type&quot;:&quot;text&quot;}"/>
          <p:cNvSpPr txBox="1"/>
          <p:nvPr/>
        </p:nvSpPr>
        <p:spPr>
          <a:xfrm rot="0" flipH="0" flipV="0">
            <a:off x="1362075" y="342900"/>
            <a:ext cx="1428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核心知识点</a:t>
            </a:r>
            <a:endParaRPr/>
          </a:p>
        </p:txBody>
      </p:sp>
      <p:sp>
        <p:nvSpPr>
          <p:cNvPr id="60" name="" descr="{&quot;isTemplate&quot;:true,&quot;type&quot;:&quot;text&quot;}"/>
          <p:cNvSpPr txBox="1"/>
          <p:nvPr/>
        </p:nvSpPr>
        <p:spPr>
          <a:xfrm rot="0" flipH="0" flipV="0">
            <a:off x="2905125" y="476250"/>
            <a:ext cx="16478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·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第一个报错与</a:t>
            </a: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 Git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拍快照</a:t>
            </a:r>
            <a:endParaRPr/>
          </a:p>
        </p:txBody>
      </p:sp>
      <p:pic>
        <p:nvPicPr>
          <p:cNvPr id="61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6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62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1F5FA8', borderRadius: 5, padding: '3px 11px' }}&gt;&#13;&#10;            &lt;Text style={{ fontSize: 14, fontWeight: 'bold', color: '#FFFFFF' }}&gt;第 3 / 111 节&lt;/Text&gt;&#13;&#10;        &lt;/Box&gt;&#13;&#10;        &lt;Text style={{ fontSize: 30, fontWeight: 'bold', color: '#16232E' }}&gt;目录结构、print 与注释&lt;/Text&gt;&#13;&#10;    &lt;/Box&gt;&#13;&#10;    &lt;Box style={{ position: 'absolute', left: 0, top: 0, width: '1280px', height: '720px' }}&gt;&#13;&#10;        &lt;svg width='1280' height='720' viewBox='0 0 1280 720'&gt;&#13;&#10;            &lt;rect x='64' y='104' width='1152' height='112' rx='12' fill='#EEF5FB' /&gt;&lt;text x='84' y='134' fontSize='15' fontWeight='bold' fill='#1F5FA8' textAnchor='start' fontFamily='Microsoft YaHei'&gt;学习目标&lt;/text&gt;&lt;text x='84' y='164' fontSize='16' fill='#243444' textAnchor='start' fontFamily='Microsoft YaHei'&gt;掌握 print 的 sep / end、f-string 与注释规范&lt;/text&gt;&lt;rect x='64' y='240' width='562' height='248' rx='12' fill='#FFFFFF' stroke='#D8E3EE' /&gt;&lt;text x='84' y='274' fontSize='15' fontWeight='bold' fill='#0E9B78' textAnchor='start' fontFamily='Microsoft YaHei'&gt;课堂实操（40 分钟 · 不看答案）&lt;/text&gt;&lt;text x='84' y='308.0' fontSize='14.5' fill='#3A4A58' textAnchor='start' fontFamily='Microsoft YaHei'&gt;· 修改示例 4 的 sep 和 end，观察输出变化&lt;/text&gt;&lt;text x='84' y='338.75' fontSize='14.5' fill='#3A4A58' textAnchor='start' fontFamily='Microsoft YaHei'&gt;· 用 f-string 输出自我介绍&lt;/text&gt;&lt;text x='84' y='369.5' fontSize='14.5' fill='#3A4A58' textAnchor='start' fontFamily='Microsoft YaHei'&gt;· 把 hello.py 写成有注释的规范版本&lt;/text&gt;&lt;rect x='654' y='240' width='562' height='248' rx='12' fill='#FDF3E2' stroke='none' /&gt;&lt;text x='674' y='274' fontSize='15' fontWeight='bold' fill='#E08A15' textAnchor='start' fontFamily='Microsoft YaHei'&gt;课后作业&lt;/text&gt;&lt;text x='674' y='308.0' fontSize='14.5' fill='#3A4A58' textAnchor='start' fontFamily='Microsoft YaHei'&gt;· 完成动手练习进阶档 0-6 ~ 0-8&lt;/text&gt;&lt;rect x='64' y='508' width='1152' height='92' rx='12' fill='#16232E' /&gt;&lt;text x='84' y='540' fontSize='14.5' fontWeight='bold' fill='#FFFFFF' textAnchor='start' fontFamily='Microsoft YaHei'&gt;这节课的节奏&lt;/text&gt;&lt;text x='84' y='570' fontSize='14' fill='#A8C4DE' textAnchor='start' fontFamily='Microsoft YaHei'&gt;先读讲义 20 分钟 → 自己敲 40 分钟（报错先自己读） → 对着讲评自查 20 分钟 → 写作业 10 分钟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0 · 第 3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64" name=""/>
          <p:cNvSpPr/>
          <p:nvPr/>
        </p:nvSpPr>
        <p:spPr>
          <a:xfrm rot="0" flipH="0" flipV="0">
            <a:off x="609600" y="409575"/>
            <a:ext cx="1028700" cy="219075"/>
          </a:xfrm>
          <a:prstGeom prst="roundRect">
            <a:avLst>
              <a:gd name="adj" fmla="val 21739"/>
            </a:avLst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65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8191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3 / 111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66" name="" descr="{&quot;isTemplate&quot;:true,&quot;type&quot;:&quot;text&quot;}"/>
          <p:cNvSpPr txBox="1"/>
          <p:nvPr/>
        </p:nvSpPr>
        <p:spPr>
          <a:xfrm rot="0" flipH="0" flipV="0">
            <a:off x="1752600" y="342900"/>
            <a:ext cx="3076575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目录结构、</a:t>
            </a:r>
            <a:r>
              <a:rPr lang="en-US" sz="2250" b="1">
                <a:solidFill>
                  <a:srgbClr val="16232E"/>
                </a:solidFill>
                <a:latin typeface="Microsoft YaHei"/>
                <a:ea typeface="Microsoft YaHei"/>
              </a:rPr>
              <a:t xml:space="preserve">print </a:t>
            </a: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与注释</a:t>
            </a:r>
            <a:endParaRPr/>
          </a:p>
        </p:txBody>
      </p:sp>
      <p:pic>
        <p:nvPicPr>
          <p:cNvPr id="67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7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68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0E9B78', borderRadius: 5, padding: '3px 11px' }}&gt;&#13;&#10;            &lt;Text style={{ fontSize: 14, fontWeight: 'bold', color: '#FFFFFF' }}&gt;第 3 节&lt;/Text&gt;&#13;&#10;        &lt;/Box&gt;&#13;&#10;        &lt;Text style={{ fontSize: 30, fontWeight: 'bold', color: '#16232E' }}&gt;核心知识点&lt;/Text&gt;&#13;&#10;        &lt;Text style={{ fontSize: 15, color: '#5A6B7A', marginTop: 10 }}&gt;· 目录结构、print 与注释&lt;/Text&gt;&#13;&#10;    &lt;/Box&gt;&#13;&#10;    &lt;Box style={{ position: 'absolute', left: 0, top: 0, width: '1280px', height: '720px' }}&gt;&#13;&#10;        &lt;svg width='1280' height='720' viewBox='0 0 1280 720'&gt;&#13;&#10;            &lt;text x='64' y='470' fontSize='14.5' fontWeight='bold' fill='#0E9B78' textAnchor='start' fontFamily='Microsoft YaHei'&gt;本节的代码示例&lt;/text&gt;&lt;text x='64' y='500' fontSize='13' fill='#3A4A58' textAnchor='start' fontFamily='Microsoft YaHei'&gt;· 第一个脚本&lt;/text&gt;&lt;text x='468' y='500' fontSize='13' fill='#3A4A58' textAnchor='start' fontFamily='Microsoft YaHei'&gt;· 先写后跑的顺序演示（体会&quot;从上到下&quot;）&lt;/text&gt;&lt;text x='872' y='500' fontSize='13' fill='#3A4A58' textAnchor='start' fontFamily='Microsoft YaHei'&gt;· 用变量做一次简单计算&lt;/text&gt;&lt;rect x='64' y='574' width='1152' height='66' rx='12' fill='#EEF5FB' /&gt;&lt;text x='84' y='616' fontSize='14' fill='#243444' textAnchor='start' fontFamily='Microsoft YaHei'&gt;看不懂的地方先回讲义对应小节读一遍，再回来对着这页复述一次——能讲出来才算真懂。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0 · 第 3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70" name=""/>
          <p:cNvSpPr/>
          <p:nvPr/>
        </p:nvSpPr>
        <p:spPr>
          <a:xfrm rot="0" flipH="0" flipV="0">
            <a:off x="609600" y="409575"/>
            <a:ext cx="638175" cy="219075"/>
          </a:xfrm>
          <a:prstGeom prst="roundRect">
            <a:avLst>
              <a:gd name="adj" fmla="val 21739"/>
            </a:avLst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71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4286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3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72" name="" descr="{&quot;isTemplate&quot;:true,&quot;type&quot;:&quot;text&quot;}"/>
          <p:cNvSpPr txBox="1"/>
          <p:nvPr/>
        </p:nvSpPr>
        <p:spPr>
          <a:xfrm rot="0" flipH="0" flipV="0">
            <a:off x="1362075" y="342900"/>
            <a:ext cx="1428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核心知识点</a:t>
            </a:r>
            <a:endParaRPr/>
          </a:p>
        </p:txBody>
      </p:sp>
      <p:sp>
        <p:nvSpPr>
          <p:cNvPr id="73" name="" descr="{&quot;isTemplate&quot;:true,&quot;type&quot;:&quot;text&quot;}"/>
          <p:cNvSpPr txBox="1"/>
          <p:nvPr/>
        </p:nvSpPr>
        <p:spPr>
          <a:xfrm rot="0" flipH="0" flipV="0">
            <a:off x="2905125" y="476250"/>
            <a:ext cx="15906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·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目录结构、</a:t>
            </a: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print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与注释</a:t>
            </a:r>
            <a:endParaRPr/>
          </a:p>
        </p:txBody>
      </p:sp>
      <p:pic>
        <p:nvPicPr>
          <p:cNvPr id="74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8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75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1F5FA8', borderRadius: 5, padding: '3px 11px' }}&gt;&#13;&#10;            &lt;Text style={{ fontSize: 14, fontWeight: 'bold', color: '#FFFFFF' }}&gt;第 4 / 111 节&lt;/Text&gt;&#13;&#10;        &lt;/Box&gt;&#13;&#10;        &lt;Text style={{ fontSize: 30, fontWeight: 'bold', color: '#16232E' }}&gt;动手实战与答案讲评&lt;/Text&gt;&#13;&#10;    &lt;/Box&gt;&#13;&#10;    &lt;Box style={{ position: 'absolute', left: 0, top: 0, width: '1280px', height: '720px' }}&gt;&#13;&#10;        &lt;svg width='1280' height='720' viewBox='0 0 1280 720'&gt;&#13;&#10;            &lt;rect x='64' y='104' width='1152' height='112' rx='12' fill='#EEF5FB' /&gt;&lt;text x='84' y='134' fontSize='15' fontWeight='bold' fill='#1F5FA8' textAnchor='start' fontFamily='Microsoft YaHei'&gt;学习目标&lt;/text&gt;&lt;text x='84' y='164' fontSize='16' fill='#243444' textAnchor='start' fontFamily='Microsoft YaHei'&gt;独立完成单元 0 全部练习，并能对照答案自查&lt;/text&gt;&lt;rect x='64' y='240' width='562' height='248' rx='12' fill='#FFFFFF' stroke='#D8E3EE' /&gt;&lt;text x='84' y='274' fontSize='15' fontWeight='bold' fill='#0E9B78' textAnchor='start' fontFamily='Microsoft YaHei'&gt;课堂实操（40 分钟 · 不看答案）&lt;/text&gt;&lt;text x='84' y='308.0' fontSize='14.5' fill='#3A4A58' textAnchor='start' fontFamily='Microsoft YaHei'&gt;· 限时 20 分钟独立完成基础档&lt;/text&gt;&lt;text x='84' y='338.75' fontSize='14.5' fill='#3A4A58' textAnchor='start' fontFamily='Microsoft YaHei'&gt;· 逐题对照参考答案，错的当场重跑&lt;/text&gt;&lt;rect x='654' y='240' width='562' height='248' rx='12' fill='#FDF3E2' stroke='none' /&gt;&lt;text x='674' y='274' fontSize='15' fontWeight='bold' fill='#E08A15' textAnchor='start' fontFamily='Microsoft YaHei'&gt;课后作业&lt;/text&gt;&lt;text x='674' y='308.0' fontSize='14.5' fill='#3A4A58' textAnchor='start' fontFamily='Microsoft YaHei'&gt;· 产出：可运行的 hello.py + 首次 git 提交&lt;/text&gt;&lt;rect x='64' y='508' width='1152' height='92' rx='12' fill='#16232E' /&gt;&lt;text x='84' y='540' fontSize='14.5' fontWeight='bold' fill='#FFFFFF' textAnchor='start' fontFamily='Microsoft YaHei'&gt;这节课的节奏&lt;/text&gt;&lt;text x='84' y='570' fontSize='14' fill='#A8C4DE' textAnchor='start' fontFamily='Microsoft YaHei'&gt;先读讲义 20 分钟 → 自己敲 40 分钟（报错先自己读） → 对着讲评自查 20 分钟 → 写作业 10 分钟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0 · 第 4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77" name=""/>
          <p:cNvSpPr/>
          <p:nvPr/>
        </p:nvSpPr>
        <p:spPr>
          <a:xfrm rot="0" flipH="0" flipV="0">
            <a:off x="609600" y="409575"/>
            <a:ext cx="1028700" cy="219075"/>
          </a:xfrm>
          <a:prstGeom prst="roundRect">
            <a:avLst>
              <a:gd name="adj" fmla="val 21739"/>
            </a:avLst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78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8191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4 / 111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79" name="" descr="{&quot;isTemplate&quot;:true,&quot;type&quot;:&quot;text&quot;}"/>
          <p:cNvSpPr txBox="1"/>
          <p:nvPr/>
        </p:nvSpPr>
        <p:spPr>
          <a:xfrm rot="0" flipH="0" flipV="0">
            <a:off x="1752600" y="342900"/>
            <a:ext cx="2571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动手实战与答案讲评</a:t>
            </a:r>
            <a:endParaRPr/>
          </a:p>
        </p:txBody>
      </p:sp>
      <p:pic>
        <p:nvPicPr>
          <p:cNvPr id="80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9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81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0E9B78', borderRadius: 5, padding: '3px 11px' }}&gt;&#13;&#10;            &lt;Text style={{ fontSize: 14, fontWeight: 'bold', color: '#FFFFFF' }}&gt;第 4 节&lt;/Text&gt;&#13;&#10;        &lt;/Box&gt;&#13;&#10;        &lt;Text style={{ fontSize: 30, fontWeight: 'bold', color: '#16232E' }}&gt;核心知识点&lt;/Text&gt;&#13;&#10;        &lt;Text style={{ fontSize: 15, color: '#5A6B7A', marginTop: 10 }}&gt;· 动手实战与答案讲评&lt;/Text&gt;&#13;&#10;    &lt;/Box&gt;&#13;&#10;    &lt;Box style={{ position: 'absolute', left: 0, top: 0, width: '1280px', height: '720px' }}&gt;&#13;&#10;        &lt;svg width='1280' height='720' viewBox='0 0 1280 720'&gt;&#13;&#10;            &lt;rect x='64' y='96' width='368' height='330' rx='12' fill='#FFFFFF' stroke='#D8E3EE' /&gt;&lt;rect x='64' y='96' width='368' height='4' rx='2' fill='#1F5FA8' /&gt;&lt;text x='82' y='130' fontSize='15.5' fontWeight='bold' fill='#1F5FA8' textAnchor='start' fontFamily='Microsoft YaHei'&gt;基础档&lt;/text&gt;&lt;text x='82' y='169.0' fontSize='13' fill='#3A4A58' textAnchor='start' fontFamily='Microsoft YaHei'&gt;· 练习 0-1【环境验证】&lt;/text&gt;&lt;text x='82' y='197.5' fontSize='13' fill='#3A4A58' textAnchor='start' fontFamily='Microsoft YaHei'&gt;· 练习 0-2【第一个变量】&lt;/text&gt;&lt;text x='82' y='226.0' fontSize='13' fill='#3A4A58' textAnchor='start' fontFamily='Microsoft YaHei'&gt;· 练习 0-3【f-string 自我介绍】&lt;/text&gt;&lt;rect x='468' y='96' width='368' height='330' rx='12' fill='#FFFFFF' stroke='#D8E3EE' /&gt;&lt;rect x='468' y='96' width='368' height='4' rx='2' fill='#1F5FA8' /&gt;&lt;text x='486' y='130' fontSize='15.5' fontWeight='bold' fill='#1F5FA8' textAnchor='start' fontFamily='Microsoft YaHei'&gt;进阶档&lt;/text&gt;&lt;text x='486' y='169.0' fontSize='13' fill='#3A4A58' textAnchor='start' fontFamily='Microsoft YaHei'&gt;· 练习 0-5🌐【第一个交互程序】&lt;/text&gt;&lt;text x='486' y='197.5' fontSize='13' fill='#3A4A58' textAnchor='start' fontFamily='Microsoft YaHei'&gt;· 练习 0-6【批量注释与规范】&lt;/text&gt;&lt;text x='486' y='226.0' fontSize='13' fill='#3A4A58' textAnchor='start' fontFamily='Microsoft YaHei'&gt;· 练习 0-7【错误修复】&lt;/text&gt;&lt;rect x='872' y='96' width='368' height='330' rx='12' fill='#FFFFFF' stroke='#D8E3EE' /&gt;&lt;rect x='872' y='96' width='368' height='4' rx='2' fill='#1F5FA8' /&gt;&lt;text x='890' y='130' fontSize='15.5' fontWeight='bold' fill='#1F5FA8' textAnchor='start' fontFamily='Microsoft YaHei'&gt;参考答案 0-5&lt;/text&gt;&lt;text x='890' y='169.0' fontSize='13' fill='#3A4A58' textAnchor='start' fontFamily='Microsoft YaHei'&gt;· 如果用户输入的是 abc，int(&quot;abc&quot;) 会报&lt;/text&gt;&lt;text x='890' y='188.5' fontSize='13' fill='#3A4A58' textAnchor='start' fontFamily='Microsoft YaHei'&gt;ValueError，这是正常的…&lt;/text&gt;&lt;rect x='64' y='574' width='1152' height='66' rx='12' fill='#EEF5FB' /&gt;&lt;text x='84' y='616' fontSize='14' fill='#243444' textAnchor='start' fontFamily='Microsoft YaHei'&gt;看不懂的地方先回讲义对应小节读一遍，再回来对着这页复述一次——能讲出来才算真懂。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0 · 第 4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83" name=""/>
          <p:cNvSpPr/>
          <p:nvPr/>
        </p:nvSpPr>
        <p:spPr>
          <a:xfrm rot="0" flipH="0" flipV="0">
            <a:off x="609600" y="409575"/>
            <a:ext cx="638175" cy="219075"/>
          </a:xfrm>
          <a:prstGeom prst="roundRect">
            <a:avLst>
              <a:gd name="adj" fmla="val 21739"/>
            </a:avLst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84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4286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4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85" name="" descr="{&quot;isTemplate&quot;:true,&quot;type&quot;:&quot;text&quot;}"/>
          <p:cNvSpPr txBox="1"/>
          <p:nvPr/>
        </p:nvSpPr>
        <p:spPr>
          <a:xfrm rot="0" flipH="0" flipV="0">
            <a:off x="1362075" y="342900"/>
            <a:ext cx="1428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核心知识点</a:t>
            </a:r>
            <a:endParaRPr/>
          </a:p>
        </p:txBody>
      </p:sp>
      <p:sp>
        <p:nvSpPr>
          <p:cNvPr id="86" name="" descr="{&quot;isTemplate&quot;:true,&quot;type&quot;:&quot;text&quot;}"/>
          <p:cNvSpPr txBox="1"/>
          <p:nvPr/>
        </p:nvSpPr>
        <p:spPr>
          <a:xfrm rot="0" flipH="0" flipV="0">
            <a:off x="2905125" y="476250"/>
            <a:ext cx="13716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·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动手实战与答案讲评</a:t>
            </a:r>
            <a:endParaRPr/>
          </a:p>
        </p:txBody>
      </p:sp>
      <p:pic>
        <p:nvPicPr>
          <p:cNvPr id="87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10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9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1F5FA8', borderRadius: 5, padding: '3px 11px' }}&gt;&#13;&#10;            &lt;Text style={{ fontSize: 14, fontWeight: 'bold', color: '#FFFFFF' }}&gt;第 5 / 111 节&lt;/Text&gt;&#13;&#10;        &lt;/Box&gt;&#13;&#10;        &lt;Text style={{ fontSize: 30, fontWeight: 'bold', color: '#16232E' }}&gt;单元 0 验收复盘&lt;/Text&gt;&#13;&#10;    &lt;/Box&gt;&#13;&#10;    &lt;Box style={{ position: 'absolute', left: 0, top: 0, width: '1280px', height: '720px' }}&gt;&#13;&#10;        &lt;svg width='1280' height='720' viewBox='0 0 1280 720'&gt;&#13;&#10;            &lt;rect x='64' y='104' width='1152' height='112' rx='12' fill='#EEF5FB' /&gt;&lt;text x='84' y='134' fontSize='15' fontWeight='bold' fill='#1F5FA8' textAnchor='start' fontFamily='Microsoft YaHei'&gt;学习目标&lt;/text&gt;&lt;text x='84' y='164' fontSize='16' fill='#243444' textAnchor='start' fontFamily='Microsoft YaHei'&gt;确认环境、终端、Git、目录结构四项都掌握&lt;/text&gt;&lt;rect x='64' y='240' width='562' height='248' rx='12' fill='#FFFFFF' stroke='#D8E3EE' /&gt;&lt;text x='84' y='274' fontSize='15' fontWeight='bold' fill='#0E9B78' textAnchor='start' fontFamily='Microsoft YaHei'&gt;课堂实操（40 分钟 · 不看答案）&lt;/text&gt;&lt;text x='84' y='308.0' fontSize='14.5' fill='#3A4A58' textAnchor='start' fontFamily='Microsoft YaHei'&gt;· 逐条打勾验收自测&lt;/text&gt;&lt;text x='84' y='338.75' fontSize='14.5' fill='#3A4A58' textAnchor='start' fontFamily='Microsoft YaHei'&gt;· 把没过的项写成补齐计划&lt;/text&gt;&lt;rect x='654' y='240' width='562' height='248' rx='12' fill='#FDF3E2' stroke='none' /&gt;&lt;text x='674' y='274' fontSize='15' fontWeight='bold' fill='#E08A15' textAnchor='start' fontFamily='Microsoft YaHei'&gt;课后作业&lt;/text&gt;&lt;text x='674' y='308.0' fontSize='14.5' fill='#3A4A58' textAnchor='start' fontFamily='Microsoft YaHei'&gt;· 完成本单元小结与产出检查&lt;/text&gt;&lt;rect x='64' y='508' width='1152' height='92' rx='12' fill='#16232E' /&gt;&lt;text x='84' y='540' fontSize='14.5' fontWeight='bold' fill='#FFFFFF' textAnchor='start' fontFamily='Microsoft YaHei'&gt;这节课的节奏&lt;/text&gt;&lt;text x='84' y='570' fontSize='14' fill='#A8C4DE' textAnchor='start' fontFamily='Microsoft YaHei'&gt;先读讲义 20 分钟 → 自己敲 40 分钟（报错先自己读） → 对着讲评自查 20 分钟 → 写作业 10 分钟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0 · 第 5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11" name=""/>
          <p:cNvSpPr/>
          <p:nvPr/>
        </p:nvSpPr>
        <p:spPr>
          <a:xfrm rot="0" flipH="0" flipV="0">
            <a:off x="609600" y="409575"/>
            <a:ext cx="1028700" cy="219075"/>
          </a:xfrm>
          <a:prstGeom prst="roundRect">
            <a:avLst>
              <a:gd name="adj" fmla="val 21739"/>
            </a:avLst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12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8191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5 / 111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13" name="" descr="{&quot;isTemplate&quot;:true,&quot;type&quot;:&quot;text&quot;}"/>
          <p:cNvSpPr txBox="1"/>
          <p:nvPr/>
        </p:nvSpPr>
        <p:spPr>
          <a:xfrm rot="0" flipH="0" flipV="0">
            <a:off x="1752600" y="342900"/>
            <a:ext cx="2066925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单元</a:t>
            </a:r>
            <a:r>
              <a:rPr lang="en-US" sz="2250" b="1">
                <a:solidFill>
                  <a:srgbClr val="16232E"/>
                </a:solidFill>
                <a:latin typeface="Microsoft YaHei"/>
                <a:ea typeface="Microsoft YaHei"/>
              </a:rPr>
              <a:t xml:space="preserve"> 0 </a:t>
            </a: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验收复盘</a:t>
            </a:r>
            <a:endParaRPr/>
          </a:p>
        </p:txBody>
      </p:sp>
      <p:pic>
        <p:nvPicPr>
          <p:cNvPr id="14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11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15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0E9B78', borderRadius: 5, padding: '3px 11px' }}&gt;&#13;&#10;            &lt;Text style={{ fontSize: 14, fontWeight: 'bold', color: '#FFFFFF' }}&gt;第 5 节&lt;/Text&gt;&#13;&#10;        &lt;/Box&gt;&#13;&#10;        &lt;Text style={{ fontSize: 30, fontWeight: 'bold', color: '#16232E' }}&gt;核心知识点&lt;/Text&gt;&#13;&#10;        &lt;Text style={{ fontSize: 15, color: '#5A6B7A', marginTop: 10 }}&gt;· 单元 0 验收复盘&lt;/Text&gt;&#13;&#10;    &lt;/Box&gt;&#13;&#10;    &lt;Box style={{ position: 'absolute', left: 0, top: 0, width: '1280px', height: '720px' }}&gt;&#13;&#10;        &lt;svg width='1280' height='720' viewBox='0 0 1280 720'&gt;&#13;&#10;            &lt;rect x='64' y='574' width='1152' height='66' rx='12' fill='#EEF5FB' /&gt;&lt;text x='84' y='616' fontSize='14' fill='#243444' textAnchor='start' fontFamily='Microsoft YaHei'&gt;看不懂的地方先回讲义对应小节读一遍，再回来对着这页复述一次——能讲出来才算真懂。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0 · 第 5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17" name=""/>
          <p:cNvSpPr/>
          <p:nvPr/>
        </p:nvSpPr>
        <p:spPr>
          <a:xfrm rot="0" flipH="0" flipV="0">
            <a:off x="609600" y="409575"/>
            <a:ext cx="638175" cy="219075"/>
          </a:xfrm>
          <a:prstGeom prst="roundRect">
            <a:avLst>
              <a:gd name="adj" fmla="val 21739"/>
            </a:avLst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18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4286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5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19" name="" descr="{&quot;isTemplate&quot;:true,&quot;type&quot;:&quot;text&quot;}"/>
          <p:cNvSpPr txBox="1"/>
          <p:nvPr/>
        </p:nvSpPr>
        <p:spPr>
          <a:xfrm rot="0" flipH="0" flipV="0">
            <a:off x="1362075" y="342900"/>
            <a:ext cx="1428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核心知识点</a:t>
            </a:r>
            <a:endParaRPr/>
          </a:p>
        </p:txBody>
      </p:sp>
      <p:sp>
        <p:nvSpPr>
          <p:cNvPr id="20" name="" descr="{&quot;isTemplate&quot;:true,&quot;type&quot;:&quot;text&quot;}"/>
          <p:cNvSpPr txBox="1"/>
          <p:nvPr/>
        </p:nvSpPr>
        <p:spPr>
          <a:xfrm rot="0" flipH="0" flipV="0">
            <a:off x="2905125" y="476250"/>
            <a:ext cx="11049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·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单元</a:t>
            </a: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 0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验收复盘</a:t>
            </a:r>
            <a:endParaRPr/>
          </a:p>
        </p:txBody>
      </p:sp>
      <p:pic>
        <p:nvPicPr>
          <p:cNvPr id="21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12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22" name="" descr="&lt;Slide style={{ width: '1280px', height: '720px', backgroundColor: '#FAFCFE', padding: 0, position: 'relative', overflow: 'hidden' }}&gt;&#13;&#10;    &lt;Box style={{ position: 'absolute', left: 0, top: 0, width: '12px', height: '720px', background: '#0E9B78' }} /&gt;&#13;&#10;    &lt;Box style={{ position: 'absolute', left: 72, top: 44, width: '1144px', flexDirection: 'column' }}&gt;&#13;&#10;        &lt;Text style={{ fontSize: 34, fontWeight: 'bold', color: '#16232E' }}&gt;单元 0 · 小结与验收&lt;/Text&gt;&#13;&#10;        &lt;Text style={{ fontSize: 16, color: '#5A6B7A', marginTop: 6 }}&gt;环境与工具链&lt;/Text&gt;&#13;&#10;    &lt;/Box&gt;&#13;&#10;    &lt;Box style={{ position: 'absolute', left: 72, top: 148, width: '552px', height: 400, background: '#FFFFFF', border: '1px solid #D8E3EE', borderRadius: 12, padding: 18, flexDirection: 'column' }}&gt;&#13;&#10;        &lt;Text style={{ fontSize: 16, fontWeight: 'bold', color: '#1F5FA8' }}&gt;本单元课节回顾&lt;/Text&gt;&#13;&#10;        &lt;Box style={{ marginTop: 10, position: 'relative', height: 330 }}&gt;&#13;&#10;            &lt;svg width='516' height='330' viewBox='0 0 516 330'&gt;&lt;text x='0' y='34' fontSize='14.5' fill='#3A4A58' fontFamily='Microsoft YaHei'&gt;· 第 1 节 · 装好 Python 与 VS Code&lt;/text&gt;&lt;text x='0' y='64' fontSize='14.5' fill='#3A4A58' fontFamily='Microsoft YaHei'&gt;· 第 2 节 · 第一个报错与 Git 拍快照&lt;/text&gt;&lt;text x='0' y='94' fontSize='14.5' fill='#3A4A58' fontFamily='Microsoft YaHei'&gt;· 第 3 节 · 目录结构、print 与注释&lt;/text&gt;&lt;text x='0' y='124' fontSize='14.5' fill='#3A4A58' fontFamily='Microsoft YaHei'&gt;· 第 4 节 · 动手实战与答案讲评&lt;/text&gt;&lt;text x='0' y='154' fontSize='14.5' fill='#3A4A58' fontFamily='Microsoft YaHei'&gt;· 第 5 节 · 单元 0 验收复盘&lt;/text&gt;&lt;/svg&gt;&#13;&#10;        &lt;/Box&gt;&#13;&#10;    &lt;/Box&gt;&#13;&#10;    &lt;Box style={{ position: 'absolute', left: 656, top: 148, width: '560px', height: 400, background: '#FDF3E2', borderRadius: 12, padding: 20, flexDirection: 'column' }}&gt;&#13;&#10;        &lt;Text style={{ fontSize: 16, fontWeight: 'bold', color: '#E08A15' }}&gt;过关标准&lt;/Text&gt;&#13;&#10;        &lt;Text style={{ fontSize: 15, color: '#3A4A58', marginTop: 12, lineHeight: 1.9 }}&gt;&#13;&#10;            1. 本单元每一节的课后作业都做完并自己验收过&#13;&#10;&#13;&#10;            2. 不看讲义能独立重写一遍本单元的示例代码&#13;&#10;&#13;&#10;            3. 讲义最后「本单元验收自测」全部答对&#13;&#10;&#13;&#10;            4. 产出物已经写进笔记或提交到 Git&#13;&#10;        &lt;/Text&gt;&#13;&#10;        &lt;Text style={{ fontSize: 14, color: '#8A6A2A', marginTop: 16, lineHeight: 1.7 }}&gt;&#13;&#10;            没过关的项回到对应那一节重做，不要整体重学。&#13;&#10;        &lt;/Text&gt;&#13;&#10;    &lt;/Box&gt;&#13;&#10;    &lt;Box style={{ position: 'absolute', left: 72, bottom: 26, width: '1144px', flexDirection: 'row', justifyContent: 'space-between' }}&gt;&#13;&#10;        &lt;Text style={{ fontSize: 13, color: '#8A9AAA' }}&gt;Python 讲授课件 · 逐节版&lt;/Text&gt;&#13;&#10;        &lt;Text style={{ fontSize: 13, color: '#8A9AAA' }}&gt;单元 0 · 小结&lt;/Text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24" name=""/>
          <p:cNvSpPr/>
          <p:nvPr/>
        </p:nvSpPr>
        <p:spPr>
          <a:xfrm rot="0" flipH="0" flipV="0">
            <a:off x="0" y="0"/>
            <a:ext cx="114300" cy="6858000"/>
          </a:xfrm>
          <a:prstGeom prst="rect">
            <a:avLst/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25" name="" descr="{&quot;isTemplate&quot;:true,&quot;type&quot;:&quot;text&quot;}"/>
          <p:cNvSpPr txBox="1"/>
          <p:nvPr/>
        </p:nvSpPr>
        <p:spPr>
          <a:xfrm rot="0" flipH="0" flipV="0">
            <a:off x="685800" y="419100"/>
            <a:ext cx="108966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16232E"/>
                </a:solidFill>
                <a:latin typeface="Microsoft YaHei"/>
                <a:ea typeface="Microsoft YaHei"/>
              </a:rPr>
              <a:t>单元</a:t>
            </a:r>
            <a:r>
              <a:rPr lang="en-US" sz="2550" b="1">
                <a:solidFill>
                  <a:srgbClr val="16232E"/>
                </a:solidFill>
                <a:latin typeface="Microsoft YaHei"/>
                <a:ea typeface="Microsoft YaHei"/>
              </a:rPr>
              <a:t xml:space="preserve"> 0 · </a:t>
            </a:r>
            <a:r>
              <a:rPr lang="zh-CN" sz="2550" b="1">
                <a:solidFill>
                  <a:srgbClr val="16232E"/>
                </a:solidFill>
                <a:latin typeface="Microsoft YaHei"/>
                <a:ea typeface="Microsoft YaHei"/>
              </a:rPr>
              <a:t>小结与验收</a:t>
            </a:r>
            <a:endParaRPr/>
          </a:p>
        </p:txBody>
      </p:sp>
      <p:sp>
        <p:nvSpPr>
          <p:cNvPr id="26" name="" descr="{&quot;isTemplate&quot;:true,&quot;type&quot;:&quot;text&quot;}"/>
          <p:cNvSpPr txBox="1"/>
          <p:nvPr/>
        </p:nvSpPr>
        <p:spPr>
          <a:xfrm rot="0" flipH="0" flipV="0">
            <a:off x="685800" y="866775"/>
            <a:ext cx="108966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5A6B7A"/>
                </a:solidFill>
                <a:latin typeface="Microsoft YaHei"/>
                <a:ea typeface="Microsoft YaHei"/>
              </a:rPr>
              <a:t>环境与工具链</a:t>
            </a:r>
            <a:endParaRPr/>
          </a:p>
        </p:txBody>
      </p:sp>
      <p:sp>
        <p:nvSpPr>
          <p:cNvPr id="27" name=""/>
          <p:cNvSpPr/>
          <p:nvPr/>
        </p:nvSpPr>
        <p:spPr>
          <a:xfrm rot="0" flipH="0" flipV="0">
            <a:off x="685800" y="1409700"/>
            <a:ext cx="5257800" cy="38100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8E3EE"/>
            </a:solidFill>
            <a:prstDash val="solid"/>
          </a:ln>
        </p:spPr>
        <p:txBody>
          <a:bodyPr/>
          <a:p/>
        </p:txBody>
      </p:sp>
      <p:sp>
        <p:nvSpPr>
          <p:cNvPr id="28" name="" descr="{&quot;isTemplate&quot;:true,&quot;type&quot;:&quot;text&quot;}"/>
          <p:cNvSpPr txBox="1"/>
          <p:nvPr/>
        </p:nvSpPr>
        <p:spPr>
          <a:xfrm rot="0" flipH="0" flipV="0">
            <a:off x="857250" y="1581150"/>
            <a:ext cx="49149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1F5FA8"/>
                </a:solidFill>
                <a:latin typeface="Microsoft YaHei"/>
                <a:ea typeface="Microsoft YaHei"/>
              </a:rPr>
              <a:t>本单元课节回顾</a:t>
            </a:r>
            <a:endParaRPr/>
          </a:p>
        </p:txBody>
      </p:sp>
      <p:pic>
        <p:nvPicPr>
          <p:cNvPr id="29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857250" y="1866900"/>
            <a:ext cx="4914900" cy="3143250"/>
          </a:xfrm>
          <a:prstGeom prst="rect">
            <a:avLst/>
          </a:prstGeom>
          <a:ln/>
        </p:spPr>
      </p:pic>
      <p:sp>
        <p:nvSpPr>
          <p:cNvPr id="30" name=""/>
          <p:cNvSpPr/>
          <p:nvPr/>
        </p:nvSpPr>
        <p:spPr>
          <a:xfrm rot="0" flipH="0" flipV="0">
            <a:off x="6248400" y="1409700"/>
            <a:ext cx="5334000" cy="3810000"/>
          </a:xfrm>
          <a:prstGeom prst="roundRect">
            <a:avLst>
              <a:gd name="adj" fmla="val 3000"/>
            </a:avLst>
          </a:prstGeom>
          <a:solidFill>
            <a:srgbClr val="FDF3E2"/>
          </a:solidFill>
          <a:ln/>
        </p:spPr>
        <p:txBody>
          <a:bodyPr/>
          <a:p/>
        </p:txBody>
      </p:sp>
      <p:sp>
        <p:nvSpPr>
          <p:cNvPr id="31" name="" descr="{&quot;isTemplate&quot;:true,&quot;type&quot;:&quot;text&quot;}"/>
          <p:cNvSpPr txBox="1"/>
          <p:nvPr/>
        </p:nvSpPr>
        <p:spPr>
          <a:xfrm rot="0" flipH="0" flipV="0">
            <a:off x="6438900" y="1600200"/>
            <a:ext cx="49530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E08A15"/>
                </a:solidFill>
                <a:latin typeface="Microsoft YaHei"/>
                <a:ea typeface="Microsoft YaHei"/>
              </a:rPr>
              <a:t>过关标准</a:t>
            </a:r>
            <a:endParaRPr/>
          </a:p>
        </p:txBody>
      </p:sp>
      <p:sp>
        <p:nvSpPr>
          <p:cNvPr id="32" name="" descr="{&quot;isTemplate&quot;:true,&quot;type&quot;:&quot;text&quot;}"/>
          <p:cNvSpPr txBox="1"/>
          <p:nvPr/>
        </p:nvSpPr>
        <p:spPr>
          <a:xfrm rot="0" flipH="0" flipV="0">
            <a:off x="6438900" y="1905000"/>
            <a:ext cx="4953000" cy="9810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90000"/>
              </a:lnSpc>
            </a:pP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1. </a:t>
            </a: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本单元每一节的课后作业都做完并自己验收过</a:t>
            </a: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 2. </a:t>
            </a: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不看讲义能独立重写一遍本单元的示例代码</a:t>
            </a: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 3. </a:t>
            </a: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讲义最后「本单元验收自测」全部答对</a:t>
            </a: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 4. </a:t>
            </a: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产出物已经写进笔记或提交到</a:t>
            </a: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 Git</a:t>
            </a:r>
            <a:endParaRPr/>
          </a:p>
        </p:txBody>
      </p:sp>
      <p:sp>
        <p:nvSpPr>
          <p:cNvPr id="33" name="" descr="{&quot;isTemplate&quot;:true,&quot;type&quot;:&quot;text&quot;}"/>
          <p:cNvSpPr txBox="1"/>
          <p:nvPr/>
        </p:nvSpPr>
        <p:spPr>
          <a:xfrm rot="0" flipH="0" flipV="0">
            <a:off x="6438900" y="3038475"/>
            <a:ext cx="4953000" cy="276225"/>
          </a:xfrm>
          <a:prstGeom prst="rect"/>
        </p:spPr>
        <p:txBody>
          <a:bodyPr wrap="none" lIns="0" tIns="0" rIns="0" bIns="0"/>
          <a:p>
            <a:pPr>
              <a:lnSpc>
                <a:spcPct val="170000"/>
              </a:lnSpc>
            </a:pPr>
            <a:r>
              <a:rPr lang="zh-CN" sz="1050">
                <a:solidFill>
                  <a:srgbClr val="8A6A2A"/>
                </a:solidFill>
                <a:latin typeface="Microsoft YaHei"/>
                <a:ea typeface="Microsoft YaHei"/>
              </a:rPr>
              <a:t>没过关的项回到对应那一节重做，不要整体重学。</a:t>
            </a:r>
            <a:endParaRPr/>
          </a:p>
        </p:txBody>
      </p:sp>
      <p:sp>
        <p:nvSpPr>
          <p:cNvPr id="34" name="" descr="{&quot;isTemplate&quot;:true,&quot;type&quot;:&quot;text&quot;}"/>
          <p:cNvSpPr txBox="1"/>
          <p:nvPr/>
        </p:nvSpPr>
        <p:spPr>
          <a:xfrm rot="0" flipH="0" flipV="0">
            <a:off x="685800" y="6457950"/>
            <a:ext cx="14287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Python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讲授课件</a:t>
            </a: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逐节版</a:t>
            </a:r>
            <a:endParaRPr/>
          </a:p>
        </p:txBody>
      </p:sp>
      <p:sp>
        <p:nvSpPr>
          <p:cNvPr id="35" name="" descr="{&quot;isTemplate&quot;:true,&quot;type&quot;:&quot;text&quot;}"/>
          <p:cNvSpPr txBox="1"/>
          <p:nvPr/>
        </p:nvSpPr>
        <p:spPr>
          <a:xfrm rot="0" flipH="0" flipV="0">
            <a:off x="10868025" y="6457950"/>
            <a:ext cx="7143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单元</a:t>
            </a: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 0 ·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小结</a:t>
            </a:r>
            <a:endParaRPr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Tencent office</Applicat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2026-10-29T00:29:21Z</dcterms:created>
  <dcterms:modified xsi:type="dcterms:W3CDTF">2026-10-29T00:29:21Z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IGC">
    <vt:lpwstr>{"AIGC":{"Label":"1","ContentProducer":"00119111010856365494821B355","ProduceID":"01a183579b68743e9c290638234d6294","ReservedCode1":"","ContentPropagator":"00119111010856365494821B355","PropagateID":"01a183579b68743e9c290638234d6294","ReservedCode2":""}}</vt:lpwstr>
  </property>
</Properties>
</file>