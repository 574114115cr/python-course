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tableStyles" Target="tableStyles.xml"/><Relationship Id="rId1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0 · 单元 0 · 环境与工具链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1 节 装好 Python 与 VS Code</a:t>
            </a:r>
          </a:p>
          <a:p>
            <a:r>
              <a:rPr lang="zh-CN" dirty="0"/>
              <a:t>· 第 2 节 第一个报错与 Git 拍快照</a:t>
            </a:r>
          </a:p>
          <a:p>
            <a:r>
              <a:rPr lang="zh-CN" dirty="0"/>
              <a:t>· 第 3 节 目录结构、print 与注释</a:t>
            </a:r>
          </a:p>
          <a:p>
            <a:r>
              <a:rPr lang="zh-CN" dirty="0"/>
              <a:t>· 第 4 节 动手实战与答案讲评</a:t>
            </a:r>
          </a:p>
          <a:p>
            <a:r>
              <a:rPr lang="zh-CN" dirty="0"/>
              <a:t>· 第 5 节 单元 0 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 节 · 装好 Python 与 VS Code</a:t>
            </a:r>
          </a:p>
          <a:p>
            <a:r>
              <a:rPr lang="zh-CN" dirty="0"/>
              <a:t>单元 0 · 环境与工具链 · W0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学习目标：知道解释器是什么，能新建并运行第一个脚本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跟着敲：新建 hello.py 并运行</a:t>
            </a:r>
          </a:p>
          <a:p>
            <a:r>
              <a:rPr lang="zh-CN" dirty="0"/>
              <a:t>· 故意写错一次，观察报错长什么样</a:t>
            </a:r>
          </a:p>
          <a:p>
            <a:r>
              <a:rPr lang="zh-CN" dirty="0"/>
              <a:t>· 用终端直接运行 python hello.py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装好环境并跑通 hello.py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 节 · 核心知识点：装好 Python 与 VS Code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本节目标：知道解释器是什么，能新建并运行第一个脚本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 节 · 第一个报错与 Git 拍快照</a:t>
            </a:r>
          </a:p>
          <a:p>
            <a:r>
              <a:rPr lang="zh-CN" dirty="0"/>
              <a:t>单元 0 · 环境与工具链 · W0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学习目标：会读 traceback；能用 git 给代码拍快照并恢复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故意触发 3 种报错并读懂 traceback</a:t>
            </a:r>
          </a:p>
          <a:p>
            <a:r>
              <a:rPr lang="zh-CN" dirty="0"/>
              <a:t>· git init / add / commit 走一遍</a:t>
            </a:r>
          </a:p>
          <a:p>
            <a:r>
              <a:rPr lang="zh-CN" dirty="0"/>
              <a:t>· 故意删掉文件，用 git checkout 恢复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0-1 ~ 0-5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 节 · 核心知识点：第一个报错与 Git 拍快照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本节目标：会读 traceback；能用 git 给代码拍快照并恢复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3 节 · 目录结构、print 与注释</a:t>
            </a:r>
          </a:p>
          <a:p>
            <a:r>
              <a:rPr lang="zh-CN" dirty="0"/>
              <a:t>单元 0 · 环境与工具链 · W0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学习目标：掌握 print 的 sep / end、f-string 与注释规范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修改示例 4 的 sep 和 end，观察输出变化</a:t>
            </a:r>
          </a:p>
          <a:p>
            <a:r>
              <a:rPr lang="zh-CN" dirty="0"/>
              <a:t>· 用 f-string 输出自我介绍</a:t>
            </a:r>
          </a:p>
          <a:p>
            <a:r>
              <a:rPr lang="zh-CN" dirty="0"/>
              <a:t>· 把 hello.py 写成有注释的规范版本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完成动手练习进阶档 0-6 ~ 0-8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3 节 · 核心知识点：目录结构、print 与注释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本节目标：掌握 print 的 sep / end、f-string 与注释规范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 节 · 动手实战与答案讲评</a:t>
            </a:r>
          </a:p>
          <a:p>
            <a:r>
              <a:rPr lang="zh-CN" dirty="0"/>
              <a:t>单元 0 · 环境与工具链 · W0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0 全部练习，并能对照答案自查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20 分钟独立完成基础档</a:t>
            </a:r>
          </a:p>
          <a:p>
            <a:r>
              <a:rPr lang="zh-CN" dirty="0"/>
              <a:t>· 逐题对照参考答案，错的当场重跑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产出：可运行的 hello.py + 首次 git 提交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 节 · 核心知识点：动手实战与答案讲评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0 全部练习，并能对照答案自查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 节 · 单元 0 验收复盘</a:t>
            </a:r>
          </a:p>
          <a:p>
            <a:r>
              <a:rPr lang="zh-CN" dirty="0"/>
              <a:t>单元 0 · 环境与工具链 · W0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学习目标：确认环境、终端、Git、目录结构四项都掌握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逐条打勾验收自测</a:t>
            </a:r>
          </a:p>
          <a:p>
            <a:r>
              <a:rPr lang="zh-CN" dirty="0"/>
              <a:t>· 把没过的项写成补齐计划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完成本单元小结与产出检查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 节 · 核心知识点：单元 0 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本节目标：确认环境、终端、Git、目录结构四项都掌握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0 小结 · 单元 0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0&lt;/Text&gt;&#13;&#10;        &lt;Text style={{ fontSize: 38, fontWeight: 'bold', color: '#FFFFFF', marginTop: 6 }}&gt;环境与工具链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196' width='1152' height='38' rx='7' fill='#FFFFFF' /&gt;&lt;text x='16' y='221' fontSize='15' fontWeight='bold' fill='#1F5FA8' fontFamily='Microsoft YaHei'&gt;第 1 节&lt;/text&gt;&lt;text x='96' y='221' fontSize='15' fill='#16232E' fontFamily='Microsoft YaHei'&gt;装好 Python 与 VS Code&lt;/text&gt;&lt;text x='1080' y='221' fontSize='13' fill='#5A6B7A' textAnchor='end' fontFamily='Microsoft YaHei'&gt;W0&lt;/text&gt;&lt;rect x='0' y='238' width='1152' height='38' rx='7' fill='#F2F7FD' /&gt;&lt;text x='16' y='263' fontSize='15' fontWeight='bold' fill='#1F5FA8' fontFamily='Microsoft YaHei'&gt;第 2 节&lt;/text&gt;&lt;text x='96' y='263' fontSize='15' fill='#16232E' fontFamily='Microsoft YaHei'&gt;第一个报错与 Git 拍快照&lt;/text&gt;&lt;text x='1080' y='263' fontSize='13' fill='#5A6B7A' textAnchor='end' fontFamily='Microsoft YaHei'&gt;W0&lt;/text&gt;&lt;rect x='0' y='280' width='1152' height='38' rx='7' fill='#FFFFFF' /&gt;&lt;text x='16' y='305' fontSize='15' fontWeight='bold' fill='#1F5FA8' fontFamily='Microsoft YaHei'&gt;第 3 节&lt;/text&gt;&lt;text x='96' y='305' fontSize='15' fill='#16232E' fontFamily='Microsoft YaHei'&gt;目录结构、print 与注释&lt;/text&gt;&lt;text x='1080' y='305' fontSize='13' fill='#5A6B7A' textAnchor='end' fontFamily='Microsoft YaHei'&gt;W0&lt;/text&gt;&lt;rect x='0' y='322' width='1152' height='38' rx='7' fill='#F2F7FD' /&gt;&lt;text x='16' y='347' fontSize='15' fontWeight='bold' fill='#1F5FA8' fontFamily='Microsoft YaHei'&gt;第 4 节&lt;/text&gt;&lt;text x='96' y='347' fontSize='15' fill='#16232E' fontFamily='Microsoft YaHei'&gt;动手实战与答案讲评&lt;/text&gt;&lt;text x='1080' y='347' fontSize='13' fill='#5A6B7A' textAnchor='end' fontFamily='Microsoft YaHei'&gt;W0&lt;/text&gt;&lt;rect x='0' y='364' width='1152' height='38' rx='7' fill='#FFFFFF' /&gt;&lt;text x='16' y='389' fontSize='15' fontWeight='bold' fill='#1F5FA8' fontFamily='Microsoft YaHei'&gt;第 5 节&lt;/text&gt;&lt;text x='96' y='389' fontSize='15' fill='#16232E' fontFamily='Microsoft YaHei'&gt;单元 0 验收复盘&lt;/text&gt;&lt;text x='1080' y='389' fontSize='13' fill='#5A6B7A' textAnchor='end' fontFamily='Microsoft YaHei'&gt;W0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0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环境与工具链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0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 / 111 节&lt;/Text&gt;&#13;&#10;        &lt;/Box&gt;&#13;&#10;        &lt;Text style={{ fontSize: 30, fontWeight: 'bold', color: '#16232E' }}&gt;装好 Python 与 VS Code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知道解释器是什么，能新建并运行第一个脚本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跟着敲：新建 hello.py 并运行&lt;/text&gt;&lt;text x='84' y='338.75' fontSize='14.5' fill='#3A4A58' textAnchor='start' fontFamily='Microsoft YaHei'&gt;· 故意写错一次，观察报错长什么样&lt;/text&gt;&lt;text x='84' y='369.5' fontSize='14.5' fill='#3A4A58' textAnchor='start' fontFamily='Microsoft YaHei'&gt;· 用终端直接运行 python hello.py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装好环境并跑通 hello.py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0 · 第 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02870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752600" y="342900"/>
            <a:ext cx="3343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装好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VS Code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 节&lt;/Text&gt;&#13;&#10;        &lt;/Box&gt;&#13;&#10;        &lt;Text style={{ fontSize: 30, fontWeight: 'bold', color: '#16232E' }}&gt;核心知识点&lt;/Text&gt;&#13;&#10;        &lt;Text style={{ fontSize: 15, color: '#5A6B7A', marginTop: 10 }}&gt;· 装好 Python 与 VS Code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1 Python 解释器：写的是&quot;食材&quot;，跑的是&quot;&lt;/text&gt;&lt;text x='82' y='153' fontSize='15.5' fontWeight='bold' fill='#1F5FA8' textAnchor='start' fontFamily='Microsoft YaHei'&gt;厨师&quot;&lt;/text&gt;&lt;text x='82' y='192.0' fontSize='13' fill='#3A4A58' textAnchor='start' fontFamily='Microsoft YaHei'&gt;· Python 是一门解释型语言。你写的 .py 文件只是纯文&lt;/text&gt;&lt;text x='82' y='211.5' fontSize='13' fill='#3A4A58' textAnchor='start' fontFamily='Microsoft YaHei'&gt;本（叫&quot;源代码&quot;），机器本身并不认识它。真…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2 终端（命令行）：和解释器对话的窗口&lt;/text&gt;&lt;text x='486' y='169.0' fontSize='13' fill='#3A4A58' textAnchor='start' fontFamily='Microsoft YaHei'&gt;· cd 文件夹名 —— 进入某个目录（change directory&lt;/text&gt;&lt;text x='486' y='188.5' fontSize='13' fill='#3A4A58' textAnchor='start' fontFamily='Microsoft YaHei'&gt;）&lt;/text&gt;&lt;text x='486' y='217.0' fontSize='13' fill='#3A4A58' textAnchor='start' fontFamily='Microsoft YaHei'&gt;· dir（Windows）或 ls（macOS/Linux）—— 列出当前&lt;/text&gt;&lt;text x='486' y='236.5' fontSize='13' fill='#3A4A58' textAnchor='start' fontFamily='Microsoft YaHei'&gt;目录里有什么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3 VS Code + Python 扩展：写代码的写…&lt;/text&gt;&lt;text x='890' y='169.0' fontSize='13' fill='#3A4A58' textAnchor='start' fontFamily='Microsoft YaHei'&gt;· 右上角的 ▶ 播放按钮，一键运行当前文件&lt;/text&gt;&lt;text x='890' y='197.5' fontSize='13' fill='#3A4A58' textAnchor='start' fontFamily='Microsoft YaHei'&gt;· 智能提示：打了一半的函数名，会自动补全并显示参数说&lt;/text&gt;&lt;text x='890' y='217.0' fontSize='13' fill='#3A4A58' textAnchor='start' fontFamily='Microsoft YaHei'&gt;明&lt;/text&gt;&lt;text x='890' y='245.5' fontSize='13' fill='#3A4A58' textAnchor='start' fontFamily='Microsoft YaHei'&gt;· 错误提示：你在当前文件还没运行之前，就能看到红波浪&lt;/text&gt;&lt;text x='890' y='265.0' fontSize='13' fill='#3A4A58' textAnchor='start' fontFamily='Microsoft YaHei'&gt;线告诉你哪里写错了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0 · 第 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63817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36207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05125" y="476250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装好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VS Code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 / 111 节&lt;/Text&gt;&#13;&#10;        &lt;/Box&gt;&#13;&#10;        &lt;Text style={{ fontSize: 30, fontWeight: 'bold', color: '#16232E' }}&gt;第一个报错与 Git 拍快照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读 traceback；能用 git 给代码拍快照并恢复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故意触发 3 种报错并读懂 traceback&lt;/text&gt;&lt;text x='84' y='338.75' fontSize='14.5' fill='#3A4A58' textAnchor='start' fontFamily='Microsoft YaHei'&gt;· git init / add / commit 走一遍&lt;/text&gt;&lt;text x='84' y='369.5' fontSize='14.5' fill='#3A4A58' textAnchor='start' fontFamily='Microsoft YaHei'&gt;· 故意删掉文件，用 git checkout 恢复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0-1 ~ 0-5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0 · 第 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02870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752600" y="342900"/>
            <a:ext cx="3171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第一个报错与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Git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拍快照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 节&lt;/Text&gt;&#13;&#10;        &lt;/Box&gt;&#13;&#10;        &lt;Text style={{ fontSize: 30, fontWeight: 'bold', color: '#16232E' }}&gt;核心知识点&lt;/Text&gt;&#13;&#10;        &lt;Text style={{ fontSize: 15, color: '#5A6B7A', marginTop: 10 }}&gt;· 第一个报错与 Git 拍快照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4 第一个报错：报错是你的朋友&lt;/text&gt;&lt;text x='82' y='169.0' fontSize='13' fill='#3A4A58' textAnchor='start' fontFamily='Microsoft YaHei'&gt;· File &quot;hello.py&quot;, line 1 —— 哪个文件、第几行&lt;/text&gt;&lt;text x='82' y='197.5' fontSize='13' fill='#3A4A58' textAnchor='start' fontFamily='Microsoft YaHei'&gt;· 那行代码 + 一个 ^ 箭头 —— 箭头指着的就是问题所在&lt;/text&gt;&lt;text x='82' y='226.0' fontSize='13' fill='#3A4A58' textAnchor='start' fontFamily='Microsoft YaHei'&gt;· SyntaxError: '(' was never closed —— 人类语言的错误原因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5 Git：给代码拍快照&lt;/text&gt;&lt;text x='686' y='169.0' fontSize='13' fill='#3A4A58' textAnchor='start' fontFamily='Microsoft YaHei'&gt;· Git 是一个版本控制系统，作用是给你的代码拍快照。写崩了可以回到任何一个快照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0 · 第 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63817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36207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05125" y="476250"/>
            <a:ext cx="1647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第一个报错与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Git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拍快照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 / 111 节&lt;/Text&gt;&#13;&#10;        &lt;/Box&gt;&#13;&#10;        &lt;Text style={{ fontSize: 30, fontWeight: 'bold', color: '#16232E' }}&gt;目录结构、print 与注释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 print 的 sep / end、f-string 与注释规范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修改示例 4 的 sep 和 end，观察输出变化&lt;/text&gt;&lt;text x='84' y='338.75' fontSize='14.5' fill='#3A4A58' textAnchor='start' fontFamily='Microsoft YaHei'&gt;· 用 f-string 输出自我介绍&lt;/text&gt;&lt;text x='84' y='369.5' fontSize='14.5' fill='#3A4A58' textAnchor='start' fontFamily='Microsoft YaHei'&gt;· 把 hello.py 写成有注释的规范版本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进阶档 0-6 ~ 0-8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0 · 第 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02870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752600" y="342900"/>
            <a:ext cx="3076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目录结构、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print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与注释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 节&lt;/Text&gt;&#13;&#10;        &lt;/Box&gt;&#13;&#10;        &lt;Text style={{ fontSize: 30, fontWeight: 'bold', color: '#16232E' }}&gt;核心知识点&lt;/Text&gt;&#13;&#10;        &lt;Text style={{ fontSize: 15, color: '#5A6B7A', marginTop: 10 }}&gt;· 目录结构、print 与注释&lt;/Text&gt;&#13;&#10;    &lt;/Box&gt;&#13;&#10;    &lt;Box style={{ position: 'absolute', left: 0, top: 0, width: '1280px', height: '720px' }}&gt;&#13;&#10;        &lt;svg width='1280' height='720' viewBox='0 0 1280 720'&gt;&#13;&#10;            &lt;rect x='64' y='96' width='1152' height='330' rx='12' fill='#FFFFFF' stroke='#D8E3EE' /&gt;&lt;rect x='64' y='96' width='1152' height='4' rx='2' fill='#1F5FA8' /&gt;&lt;text x='82' y='130' fontSize='15.5' fontWeight='bold' fill='#1F5FA8' textAnchor='start' fontFamily='Microsoft YaHei'&gt;2.6 建议的目录结构&lt;/text&gt;&lt;text x='82' y='169.0' fontSize='13' fill='#3A4A58' textAnchor='start' fontFamily='Microsoft YaHei'&gt;· 从第一天起就养成&quot;一个项目一个文件夹&quot;的习惯，单元 10 开始你会立刻感谢自己：&lt;/text&gt;&lt;text x='64' y='470' fontSize='14.5' fontWeight='bold' fill='#0E9B78' textAnchor='start' fontFamily='Microsoft YaHei'&gt;本节的代码示例&lt;/text&gt;&lt;text x='64' y='500' fontSize='13' fill='#3A4A58' textAnchor='start' fontFamily='Microsoft YaHei'&gt;· 第一个脚本&lt;/text&gt;&lt;text x='468' y='500' fontSize='13' fill='#3A4A58' textAnchor='start' fontFamily='Microsoft YaHei'&gt;· 先写后跑的顺序演示（体会&quot;从上到下&quot;）&lt;/text&gt;&lt;text x='872' y='500' fontSize='13' fill='#3A4A58' textAnchor='start' fontFamily='Microsoft YaHei'&gt;· 用变量做一次简单计算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0 · 第 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63817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36207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05125" y="476250"/>
            <a:ext cx="1590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目录结构、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print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与注释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 / 111 节&lt;/Text&gt;&#13;&#10;        &lt;/Box&gt;&#13;&#10;        &lt;Text style={{ fontSize: 30, fontWeight: 'bold', color: '#16232E' }}&gt;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0 全部练习，并能对照答案自查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20 分钟独立完成基础档&lt;/text&gt;&lt;text x='84' y='338.75' fontSize='14.5' fill='#3A4A58' textAnchor='start' fontFamily='Microsoft YaHei'&gt;· 逐题对照参考答案，错的当场重跑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可运行的 hello.py + 首次 git 提交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0 · 第 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02870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752600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 节&lt;/Text&gt;&#13;&#10;        &lt;/Box&gt;&#13;&#10;        &lt;Text style={{ fontSize: 30, fontWeight: 'bold', color: '#16232E' }}&gt;核心知识点&lt;/Text&gt;&#13;&#10;        &lt;Text style={{ fontSize: 15, color: '#5A6B7A', marginTop: 10 }}&gt;· 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0-1【环境验证】&lt;/text&gt;&lt;text x='82' y='197.5' fontSize='13' fill='#3A4A58' textAnchor='start' fontFamily='Microsoft YaHei'&gt;· 练习 0-2【第一个变量】&lt;/text&gt;&lt;text x='82' y='226.0' fontSize='13' fill='#3A4A58' textAnchor='start' fontFamily='Microsoft YaHei'&gt;· 练习 0-3【f-string 自我介绍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0-5🌐【第一个交互程序】&lt;/text&gt;&lt;text x='486' y='197.5' fontSize='13' fill='#3A4A58' textAnchor='start' fontFamily='Microsoft YaHei'&gt;· 练习 0-6【批量注释与规范】&lt;/text&gt;&lt;text x='486' y='226.0' fontSize='13' fill='#3A4A58' textAnchor='start' fontFamily='Microsoft YaHei'&gt;· 练习 0-7【错误修复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0-2&lt;/text&gt;&lt;text x='890' y='169.0' fontSize='13' fill='#3A4A58' textAnchor='start' fontFamily='Microsoft YaHei'&gt;· name = &quot;小明&quot; # str：字符串，用引号包起来的文字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0 · 第 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63817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36207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05125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 / 111 节&lt;/Text&gt;&#13;&#10;        &lt;/Box&gt;&#13;&#10;        &lt;Text style={{ fontSize: 30, fontWeight: 'bold', color: '#16232E' }}&gt;单元 0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确认环境、终端、Git、目录结构四项都掌握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打勾验收自测&lt;/text&gt;&lt;text x='84' y='338.75' fontSize='14.5' fill='#3A4A58' textAnchor='start' fontFamily='Microsoft YaHei'&gt;· 把没过的项写成补齐计划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0 · 第 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02870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752600" y="342900"/>
            <a:ext cx="2066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 节&lt;/Text&gt;&#13;&#10;        &lt;/Box&gt;&#13;&#10;        &lt;Text style={{ fontSize: 30, fontWeight: 'bold', color: '#16232E' }}&gt;核心知识点&lt;/Text&gt;&#13;&#10;        &lt;Text style={{ fontSize: 15, color: '#5A6B7A', marginTop: 10 }}&gt;· 单元 0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0 · 第 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63817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36207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05125" y="4762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0 · 小结与验收&lt;/Text&gt;&#13;&#10;        &lt;Text style={{ fontSize: 16, color: '#5A6B7A', marginTop: 6 }}&gt;环境与工具链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1 节 · 装好 Python 与 VS Code&lt;/text&gt;&lt;text x='0' y='64' fontSize='14.5' fill='#3A4A58' fontFamily='Microsoft YaHei'&gt;· 第 2 节 · 第一个报错与 Git 拍快照&lt;/text&gt;&lt;text x='0' y='94' fontSize='14.5' fill='#3A4A58' fontFamily='Microsoft YaHei'&gt;· 第 3 节 · 目录结构、print 与注释&lt;/text&gt;&lt;text x='0' y='124' fontSize='14.5' fill='#3A4A58' fontFamily='Microsoft YaHei'&gt;· 第 4 节 · 动手实战与答案讲评&lt;/text&gt;&lt;text x='0' y='154' fontSize='14.5' fill='#3A4A58' fontFamily='Microsoft YaHei'&gt;· 第 5 节 · 单元 0 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0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0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环境与工具链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68025" y="64579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0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2026-10-28T23:22:02Z</dcterms:created>
  <dcterms:modified xsi:type="dcterms:W3CDTF">2026-10-28T23:22:02Z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{"AIGC":{"Label":"1","ContentProducer":"00119111010856365494821B355","ProduceID":"01a182ff913d785ca080478f5d3c9218","ReservedCode1":"","ContentPropagator":"00119111010856365494821B355","PropagateID":"01a182ff913d785ca080478f5d3c9218","ReservedCode2":""}}</vt:lpwstr>
  </property>
</Properties>
</file>