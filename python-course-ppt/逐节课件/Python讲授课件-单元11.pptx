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11 · 单元 11 · 阶段 1 总复习 + 关卡验收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57 节 知识串讲与能力地图</a:t>
            </a:r>
          </a:p>
          <a:p>
            <a:r>
              <a:rPr lang="zh-CN" dirty="0"/>
              <a:t>· 第 58 节 排错思路与项目骨架</a:t>
            </a:r>
          </a:p>
          <a:p>
            <a:r>
              <a:rPr lang="zh-CN" dirty="0"/>
              <a:t>· 第 59 节 四个复习示例串讲</a:t>
            </a:r>
          </a:p>
          <a:p>
            <a:r>
              <a:rPr lang="zh-CN" dirty="0"/>
              <a:t>· 第 60 节 ★ 综合项目 1：待办管理器</a:t>
            </a:r>
          </a:p>
          <a:p>
            <a:r>
              <a:rPr lang="zh-CN" dirty="0"/>
              <a:t>· 第 61 节 ★ 综合项目 2：成绩分析器</a:t>
            </a:r>
          </a:p>
          <a:p>
            <a:r>
              <a:rPr lang="zh-CN" dirty="0"/>
              <a:t>· 第 62 节 ★ 综合项目 3：文本统计工具</a:t>
            </a:r>
          </a:p>
          <a:p>
            <a:r>
              <a:rPr lang="zh-CN" dirty="0"/>
              <a:t>· 第 63 节 ★ 关卡 1 现场测评</a:t>
            </a:r>
          </a:p>
          <a:p>
            <a:r>
              <a:rPr lang="zh-CN" dirty="0"/>
              <a:t>· 第 64 节 结业检查与下一阶段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11 · 单元 11 · 阶段 1 总复习 + 关卡验收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57 节 知识串讲与能力地图</a:t>
            </a:r>
          </a:p>
          <a:p>
            <a:r>
              <a:rPr lang="zh-CN" dirty="0"/>
              <a:t>· 第 58 节 排错思路与项目骨架</a:t>
            </a:r>
          </a:p>
          <a:p>
            <a:r>
              <a:rPr lang="zh-CN" dirty="0"/>
              <a:t>· 第 59 节 四个复习示例串讲</a:t>
            </a:r>
          </a:p>
          <a:p>
            <a:r>
              <a:rPr lang="zh-CN" dirty="0"/>
              <a:t>· 第 60 节 ★ 综合项目 1：待办管理器</a:t>
            </a:r>
          </a:p>
          <a:p>
            <a:r>
              <a:rPr lang="zh-CN" dirty="0"/>
              <a:t>· 第 61 节 ★ 综合项目 2：成绩分析器</a:t>
            </a:r>
          </a:p>
          <a:p>
            <a:r>
              <a:rPr lang="zh-CN" dirty="0"/>
              <a:t>· 第 62 节 ★ 综合项目 3：文本统计工具</a:t>
            </a:r>
          </a:p>
          <a:p>
            <a:r>
              <a:rPr lang="zh-CN" dirty="0"/>
              <a:t>· 第 63 节 ★ 关卡 1 现场测评</a:t>
            </a:r>
          </a:p>
          <a:p>
            <a:r>
              <a:rPr lang="zh-CN" dirty="0"/>
              <a:t>· 第 64 节 结业检查与下一阶段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57 节 · 知识串讲与能力地图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 11 章串成一条线，能说出每个知识点解决什么问题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画一张从变量到类的知识图谱</a:t>
            </a:r>
          </a:p>
          <a:p>
            <a:r>
              <a:rPr lang="zh-CN" dirty="0"/>
              <a:t>· 互相考 10 个最易错的点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完成单元 11 动手练习基础档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57 节 · 知识串讲与能力地图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 11 章串成一条线，能说出每个知识点解决什么问题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画一张从变量到类的知识图谱</a:t>
            </a:r>
          </a:p>
          <a:p>
            <a:r>
              <a:rPr lang="zh-CN" dirty="0"/>
              <a:t>· 互相考 10 个最易错的点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完成单元 11 动手练习基础档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57 节 · 核心知识点：知识串讲与能力地图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 11 章串成一条线，能说出每个知识点解决什么问题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57 节 · 核心知识点：知识串讲与能力地图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 11 章串成一条线，能说出每个知识点解决什么问题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58 节 · 排错思路与项目骨架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学习目标：掌握读 traceback 的方法，能把模糊需求拆成步骤和函数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现场给一段含 3 个 bug 的脚本限时 15 分钟修复</a:t>
            </a:r>
          </a:p>
          <a:p>
            <a:r>
              <a:rPr lang="zh-CN" dirty="0"/>
              <a:t>· 现场把一个模糊需求拆成步骤清单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11-1 ~ 11-2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58 节 · 排错思路与项目骨架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学习目标：掌握读 traceback 的方法，能把模糊需求拆成步骤和函数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现场给一段含 3 个 bug 的脚本限时 15 分钟修复</a:t>
            </a:r>
          </a:p>
          <a:p>
            <a:r>
              <a:rPr lang="zh-CN" dirty="0"/>
              <a:t>· 现场把一个模糊需求拆成步骤清单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11-1 ~ 11-2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58 节 · 核心知识点：排错思路与项目骨架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本节目标：掌握读 traceback 的方法，能把模糊需求拆成步骤和函数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58 节 · 核心知识点：排错思路与项目骨架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本节目标：掌握读 traceback 的方法，能把模糊需求拆成步骤和函数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59 节 · 四个复习示例串讲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学习目标：把类、文件异常、pytest 三块复习串成可运行的完整程序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对照示例跑通四个复习程序</a:t>
            </a:r>
          </a:p>
          <a:p>
            <a:r>
              <a:rPr lang="zh-CN" dirty="0"/>
              <a:t>· 讲清每个程序综合了哪几章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把四个复习程序各改一个需求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59 节 · 四个复习示例串讲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学习目标：把类、文件异常、pytest 三块复习串成可运行的完整程序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对照示例跑通四个复习程序</a:t>
            </a:r>
          </a:p>
          <a:p>
            <a:r>
              <a:rPr lang="zh-CN" dirty="0"/>
              <a:t>· 讲清每个程序综合了哪几章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把四个复习程序各改一个需求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59 节 · 核心知识点：四个复习示例串讲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本节目标：把类、文件异常、pytest 三块复习串成可运行的完整程序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59 节 · 核心知识点：四个复习示例串讲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本节目标：把类、文件异常、pytest 三块复习串成可运行的完整程序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60 节 · ★ 综合项目 1：待办管理器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学习目标：独立写出一个可增删改查并能存盘的待办管理器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>· 逐行读懂参考答案的实现思路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1 并写 3 条测试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60 节 · ★ 综合项目 1：待办管理器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学习目标：独立写出一个可增删改查并能存盘的待办管理器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>· 逐行读懂参考答案的实现思路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1 并写 3 条测试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60 节 · 核心知识点：★ 综合项目 1：待办管理器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本节目标：独立写出一个可增删改查并能存盘的待办管理器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60 节 · 核心知识点：★ 综合项目 1：待办管理器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本节目标：独立写出一个可增删改查并能存盘的待办管理器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61 节 · ★ 综合项目 2：成绩分析器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学习目标：独立写出一个能统计平均分、最高分并画图的成绩分析器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>· 对照参考答案补齐自己漏掉的功能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2 及其测试文件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61 节 · ★ 综合项目 2：成绩分析器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学习目标：独立写出一个能统计平均分、最高分并画图的成绩分析器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>· 对照参考答案补齐自己漏掉的功能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2 及其测试文件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61 节 · 核心知识点：★ 综合项目 2：成绩分析器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本节目标：独立写出一个能统计平均分、最高分并画图的成绩分析器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61 节 · 核心知识点：★ 综合项目 2：成绩分析器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本节目标：独立写出一个能统计平均分、最高分并画图的成绩分析器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62 节 · ★ 综合项目 3：文本统计工具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学习目标：独立写出一个能统计词频并输出报告的文本工具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3 及其测试文件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62 节 · ★ 综合项目 3：文本统计工具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学习目标：独立写出一个能统计词频并输出报告的文本工具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3 及其测试文件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62 节 · 核心知识点：★ 综合项目 3：文本统计工具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本节目标：独立写出一个能统计词频并输出报告的文本工具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62 节 · 核心知识点：★ 综合项目 3：文本统计工具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本节目标：独立写出一个能统计词频并输出报告的文本工具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63 节 · ★ 关卡 1 现场测评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学习目标：限时 2 小时完成四条硬指标，证明能独立动手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现场测评，全程不查资料，2 小时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关卡 1 四项逐条自测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63 节 · ★ 关卡 1 现场测评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学习目标：限时 2 小时完成四条硬指标，证明能独立动手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现场测评，全程不查资料，2 小时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关卡 1 四项逐条自测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63 节 · 核心知识点：★ 关卡 1 现场测评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本节目标：限时 2 小时完成四条硬指标，证明能独立动手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63 节 · 核心知识点：★ 关卡 1 现场测评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本节目标：限时 2 小时完成四条硬指标，证明能独立动手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64 节 · 结业检查与下一阶段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学习目标：确认四条验收是否全通过，明确阶段 1 的能力边界与下一步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对照四条硬指标逐条打勾</a:t>
            </a:r>
          </a:p>
          <a:p>
            <a:r>
              <a:rPr lang="zh-CN" dirty="0"/>
              <a:t>· 没通过的项定下补齐计划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完成综合自测 10 题</a:t>
            </a:r>
          </a:p>
          <a:p>
            <a:r>
              <a:rPr lang="zh-CN" dirty="0"/>
              <a:t>· 产出：一份阶段 1 学习总结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64 节 · 结业检查与下一阶段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学习目标：确认四条验收是否全通过，明确阶段 1 的能力边界与下一步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对照四条硬指标逐条打勾</a:t>
            </a:r>
          </a:p>
          <a:p>
            <a:r>
              <a:rPr lang="zh-CN" dirty="0"/>
              <a:t>· 没通过的项定下补齐计划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完成综合自测 10 题</a:t>
            </a:r>
          </a:p>
          <a:p>
            <a:r>
              <a:rPr lang="zh-CN" dirty="0"/>
              <a:t>· 产出：一份阶段 1 学习总结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64 节 · 核心知识点：结业检查与下一阶段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本节目标：确认四条验收是否全通过，明确阶段 1 的能力边界与下一步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64 节 · 核心知识点：结业检查与下一阶段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本节目标：确认四条验收是否全通过，明确阶段 1 的能力边界与下一步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11 小结 · 单元 11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11 小结 · 单元 11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3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4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5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6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7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8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18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1&lt;/Text&gt;&#13;&#10;        &lt;Text style={{ fontSize: 38, fontWeight: 'bold', color: '#FFFFFF', marginTop: 6 }}&gt;阶段 1 总复习 + 关卡验收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8 节课&lt;/text&gt;&#13;&#10;            &lt;rect x='0' y='196' width='1152' height='38' rx='7' fill='#FFFFFF' /&gt;&lt;text x='16' y='221' fontSize='15' fontWeight='bold' fill='#1F5FA8' fontFamily='Microsoft YaHei'&gt;第 57 节&lt;/text&gt;&lt;text x='96' y='221' fontSize='15' fill='#16232E' fontFamily='Microsoft YaHei'&gt;知识串讲与能力地图&lt;/text&gt;&lt;text x='1080' y='221' fontSize='13' fill='#5A6B7A' textAnchor='end' fontFamily='Microsoft YaHei'&gt;W13&lt;/text&gt;&lt;rect x='0' y='238' width='1152' height='38' rx='7' fill='#F2F7FD' /&gt;&lt;text x='16' y='263' fontSize='15' fontWeight='bold' fill='#1F5FA8' fontFamily='Microsoft YaHei'&gt;第 58 节&lt;/text&gt;&lt;text x='96' y='263' fontSize='15' fill='#16232E' fontFamily='Microsoft YaHei'&gt;排错思路与项目骨架&lt;/text&gt;&lt;text x='1080' y='263' fontSize='13' fill='#5A6B7A' textAnchor='end' fontFamily='Microsoft YaHei'&gt;W13&lt;/text&gt;&lt;rect x='0' y='280' width='1152' height='38' rx='7' fill='#FFFFFF' /&gt;&lt;text x='16' y='305' fontSize='15' fontWeight='bold' fill='#1F5FA8' fontFamily='Microsoft YaHei'&gt;第 59 节&lt;/text&gt;&lt;text x='96' y='305' fontSize='15' fill='#16232E' fontFamily='Microsoft YaHei'&gt;四个复习示例串讲&lt;/text&gt;&lt;text x='1080' y='305' fontSize='13' fill='#5A6B7A' textAnchor='end' fontFamily='Microsoft YaHei'&gt;W13&lt;/text&gt;&lt;rect x='0' y='322' width='1152' height='38' rx='7' fill='#F2F7FD' /&gt;&lt;text x='16' y='347' fontSize='15' fontWeight='bold' fill='#1F5FA8' fontFamily='Microsoft YaHei'&gt;第 60 节&lt;/text&gt;&lt;text x='96' y='347' fontSize='15' fill='#16232E' fontFamily='Microsoft YaHei'&gt;★ 综合项目 1：待办管理器&lt;/text&gt;&lt;text x='1080' y='347' fontSize='13' fill='#5A6B7A' textAnchor='end' fontFamily='Microsoft YaHei'&gt;W13&lt;/text&gt;&lt;rect x='0' y='364' width='1152' height='38' rx='7' fill='#FFFFFF' /&gt;&lt;text x='16' y='389' fontSize='15' fontWeight='bold' fill='#1F5FA8' fontFamily='Microsoft YaHei'&gt;第 61 节&lt;/text&gt;&lt;text x='96' y='389' fontSize='15' fill='#16232E' fontFamily='Microsoft YaHei'&gt;★ 综合项目 2：成绩分析器&lt;/text&gt;&lt;text x='1080' y='389' fontSize='13' fill='#5A6B7A' textAnchor='end' fontFamily='Microsoft YaHei'&gt;W13&lt;/text&gt;&lt;rect x='0' y='406' width='1152' height='38' rx='7' fill='#F2F7FD' /&gt;&lt;text x='16' y='431' fontSize='15' fontWeight='bold' fill='#1F5FA8' fontFamily='Microsoft YaHei'&gt;第 62 节&lt;/text&gt;&lt;text x='96' y='431' fontSize='15' fill='#16232E' fontFamily='Microsoft YaHei'&gt;★ 综合项目 3：文本统计工具&lt;/text&gt;&lt;text x='1080' y='431' fontSize='13' fill='#5A6B7A' textAnchor='end' fontFamily='Microsoft YaHei'&gt;W13&lt;/text&gt;&lt;rect x='0' y='448' width='1152' height='38' rx='7' fill='#FFFFFF' /&gt;&lt;text x='16' y='473' fontSize='15' fontWeight='bold' fill='#1F5FA8' fontFamily='Microsoft YaHei'&gt;第 63 节&lt;/text&gt;&lt;text x='96' y='473' fontSize='15' fill='#16232E' fontFamily='Microsoft YaHei'&gt;★ 关卡 1 现场测评&lt;/text&gt;&lt;text x='1080' y='473' fontSize='13' fill='#5A6B7A' textAnchor='end' fontFamily='Microsoft YaHei'&gt;W13&lt;/text&gt;&lt;rect x='0' y='490' width='1152' height='38' rx='7' fill='#F2F7FD' /&gt;&lt;text x='16' y='515' fontSize='15' fontWeight='bold' fill='#1F5FA8' fontFamily='Microsoft YaHei'&gt;第 64 节&lt;/text&gt;&lt;text x='96' y='515' fontSize='15' fill='#16232E' fontFamily='Microsoft YaHei'&gt;结业检查与下一阶段&lt;/text&gt;&lt;text x='1080' y='515' fontSize='13' fill='#5A6B7A' textAnchor='end' fontFamily='Microsoft YaHei'&gt;W1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总复习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7 / 111 节&lt;/Text&gt;&#13;&#10;        &lt;/Box&gt;&#13;&#10;        &lt;Text style={{ fontSize: 30, fontWeight: 'bold', color: '#16232E' }}&gt;知识串讲与能力地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 11 章串成一条线，能说出每个知识点解决什么问题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张从变量到类的知识图谱&lt;/text&gt;&lt;text x='84' y='338.75' fontSize='14.5' fill='#3A4A58' textAnchor='start' fontFamily='Microsoft YaHei'&gt;· 互相考 10 个最易错的点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单元 11 动手练习基础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知识串讲与能力地图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7 节&lt;/Text&gt;&#13;&#10;        &lt;/Box&gt;&#13;&#10;        &lt;Text style={{ fontSize: 30, fontWeight: 'bold', color: '#16232E' }}&gt;核心知识点&lt;/Text&gt;&#13;&#10;        &lt;Text style={{ fontSize: 15, color: '#5A6B7A', marginTop: 10 }}&gt;· 知识串讲与能力地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前 11 章的能力地图&lt;/text&gt;&lt;text x='82' y='169.0' fontSize='13' fill='#3A4A58' textAnchor='start' fontFamily='Microsoft YaHei'&gt;· 最关键的一张依赖图（箭头表示&quot;前者是后者的基础&quot;）：&lt;/text&gt;&lt;text x='82' y='197.5' fontSize='13' fill='#3A4A58' textAnchor='start' fontFamily='Microsoft YaHei'&gt;· 一句话总结每个单元：环境能跑起来 → 数据能存住 → 批量能处理 → 条件能判断 →&lt;/text&gt;&lt;text x='82' y='217.0' fontSize='13' fill='#3A4A58' textAnchor='start' fontFamily='Microsoft YaHei'&gt; 循环能重复 →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六个&quot;选什么&quot;的高频决策&lt;/text&gt;&lt;text x='686' y='169.0' fontSize='13' fill='#3A4A58' textAnchor='start' fontFamily='Microsoft YaHei'&gt;· 做项目时反复遇到的问题，答案都在这里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知识串讲与能力地图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8 / 111 节&lt;/Text&gt;&#13;&#10;        &lt;/Box&gt;&#13;&#10;        &lt;Text style={{ fontSize: 30, fontWeight: 'bold', color: '#16232E' }}&gt;排错思路与项目骨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读 traceback 的方法，能把模糊需求拆成步骤和函数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给一段含 3 个 bug 的脚本限时 15 分钟修复&lt;/text&gt;&lt;text x='84' y='338.75' fontSize='14.5' fill='#3A4A58' textAnchor='start' fontFamily='Microsoft YaHei'&gt;· 现场把一个模糊需求拆成步骤清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11-1 ~ 11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排错思路与项目骨架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8 节&lt;/Text&gt;&#13;&#10;        &lt;/Box&gt;&#13;&#10;        &lt;Text style={{ fontSize: 30, fontWeight: 'bold', color: '#16232E' }}&gt;核心知识点&lt;/Text&gt;&#13;&#10;        &lt;Text style={{ fontSize: 15, color: '#5A6B7A', marginTop: 10 }}&gt;· 排错思路与项目骨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一个完整项目的骨架&lt;/text&gt;&lt;text x='82' y='169.0' fontSize='13' fill='#3A4A58' textAnchor='start' fontFamily='Microsoft YaHei'&gt;· 这个骨架的四个设计要点（每个都是阶段 1 的知识点）&lt;/text&gt;&lt;text x='82' y='188.5' fontSize='13' fill='#3A4A58' textAnchor='start' fontFamily='Microsoft YaHei'&gt;：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排错思路（最实用的一节）&lt;/text&gt;&lt;text x='486' y='169.0' fontSize='13' fill='#3A4A58' textAnchor='start' fontFamily='Microsoft YaHei'&gt;· 三个最高频报错的快速定位：&lt;/text&gt;&lt;text x='486' y='197.5' fontSize='13' fill='#3A4A58' textAnchor='start' fontFamily='Microsoft YaHei'&gt;· ① IndentationError&lt;/text&gt;&lt;text x='486' y='226.0' fontSize='13' fill='#3A4A58' textAnchor='start' fontFamily='Microsoft YaHei'&gt;· ② NameError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阶段 1 的能力边界&lt;/text&gt;&lt;text x='890' y='169.0' fontSize='13' fill='#3A4A58' textAnchor='start' fontFamily='Microsoft YaHei'&gt;· 你现在能做到的：&lt;/text&gt;&lt;text x='890' y='197.5' fontSize='13' fill='#3A4A58' textAnchor='start' fontFamily='Microsoft YaHei'&gt;· 写一个几十到几百行的单文件程序&lt;/text&gt;&lt;text x='890' y='226.0' fontSize='13' fill='#3A4A58' textAnchor='start' fontFamily='Microsoft YaHei'&gt;· 用类和函数组织代码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排错思路与项目骨架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9 / 111 节&lt;/Text&gt;&#13;&#10;        &lt;/Box&gt;&#13;&#10;        &lt;Text style={{ fontSize: 30, fontWeight: 'bold', color: '#16232E' }}&gt;四个复习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类、文件异常、pytest 三块复习串成可运行的完整程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照示例跑通四个复习程序&lt;/text&gt;&lt;text x='84' y='338.75' fontSize='14.5' fill='#3A4A58' textAnchor='start' fontFamily='Microsoft YaHei'&gt;· 讲清每个程序综合了哪几章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四个复习程序各改一个需求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28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四个复习示例串讲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9 节&lt;/Text&gt;&#13;&#10;        &lt;/Box&gt;&#13;&#10;        &lt;Text style={{ fontSize: 30, fontWeight: 'bold', color: '#16232E' }}&gt;核心知识点&lt;/Text&gt;&#13;&#10;        &lt;Text style={{ fontSize: 15, color: '#5A6B7A', marginTop: 10 }}&gt;· 四个复习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知识自查清单（可运行的版本）&lt;/text&gt;&lt;text x='468' y='500' fontSize='13' fill='#3A4A58' textAnchor='start' fontFamily='Microsoft YaHei'&gt;· 类 + 继承的完整复习&lt;/text&gt;&lt;text x='872' y='500' fontSize='13' fill='#3A4A58' textAnchor='start' fontFamily='Microsoft YaHei'&gt;· 文件 + 异常完整复习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四个复习示例串讲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1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0 / 111 节&lt;/Text&gt;&#13;&#10;        &lt;/Box&gt;&#13;&#10;        &lt;Text style={{ fontSize: 30, fontWeight: 'bold', color: '#16232E' }}&gt;★ 综合项目 1：待办管理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写出一个可增删改查并能存盘的待办管理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限时 40 分钟自己写，再看参考答案对照&lt;/text&gt;&lt;text x='84' y='338.75' fontSize='14.5' fill='#3A4A58' textAnchor='start' fontFamily='Microsoft YaHei'&gt;· 逐行读懂参考答案的实现思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项目 1 并写 3 条测试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：待办管理器</a:t>
            </a:r>
            <a:endParaRPr/>
          </a:p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20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0 节&lt;/Text&gt;&#13;&#10;        &lt;/Box&gt;&#13;&#10;        &lt;Text style={{ fontSize: 30, fontWeight: 'bold', color: '#16232E' }}&gt;核心知识点&lt;/Text&gt;&#13;&#10;        &lt;Text style={{ fontSize: 15, color: '#5A6B7A', marginTop: 10 }}&gt;· ★ 综合项目 1：待办管理器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1-1【知识自查表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1-2【综合项目 1：命令行待办事项管理器】&lt;/text&gt;&lt;text x='486' y='197.5' fontSize='13' fill='#3A4A58' textAnchor='start' fontFamily='Microsoft YaHei'&gt;· 功能需求：&lt;/text&gt;&lt;text x='486' y='226.0' fontSize='13' fill='#3A4A58' textAnchor='start' fontFamily='Microsoft YaHei'&gt;· 技术要求：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1-2（综合项目 1：待办管理器完整&lt;/text&gt;&lt;text x='890' y='153' fontSize='15.5' fontWeight='bold' fill='#1F5FA8' textAnchor='start' fontFamily='Microsoft YaHei'&gt;实现）&lt;/text&gt;&lt;text x='890' y='192.0' fontSize='13' fill='#3A4A58' textAnchor='start' fontFamily='Microsoft YaHei'&gt;· import json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：待办管理器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1 / 111 节&lt;/Text&gt;&#13;&#10;        &lt;/Box&gt;&#13;&#10;        &lt;Text style={{ fontSize: 30, fontWeight: 'bold', color: '#16232E' }}&gt;★ 综合项目 2：成绩分析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写出一个能统计平均分、最高分并画图的成绩分析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限时 40 分钟自己写，再看参考答案对照&lt;/text&gt;&lt;text x='84' y='338.75' fontSize='14.5' fill='#3A4A58' textAnchor='start' fontFamily='Microsoft YaHei'&gt;· 对照参考答案补齐自己漏掉的功能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项目 2 及其测试文件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：成绩分析器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1 节&lt;/Text&gt;&#13;&#10;        &lt;/Box&gt;&#13;&#10;        &lt;Text style={{ fontSize: 30, fontWeight: 'bold', color: '#16232E' }}&gt;核心知识点&lt;/Text&gt;&#13;&#10;        &lt;Text style={{ fontSize: 15, color: '#5A6B7A', marginTop: 10 }}&gt;· ★ 综合项目 2：成绩分析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参考答案 11-3（综合项目 2：成绩分析器完整实现）&lt;/text&gt;&lt;text x='82' y='169.0' fontSize='13' fill='#3A4A58' textAnchor='start' fontFamily='Microsoft YaHei'&gt;· import json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参考答案 11-3 的测试文件&lt;/text&gt;&lt;text x='686' y='169.0' fontSize='13' fill='#3A4A58' textAnchor='start' fontFamily='Microsoft YaHei'&gt;· import json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：成绩分析器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2 / 111 节&lt;/Text&gt;&#13;&#10;        &lt;/Box&gt;&#13;&#10;        &lt;Text style={{ fontSize: 30, fontWeight: 'bold', color: '#16232E' }}&gt;★ 综合项目 3：文本统计工具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写出一个能统计词频并输出报告的文本工具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限时 40 分钟自己写，再看参考答案对照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项目 3 及其测试文件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724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：文本统计工具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2 节&lt;/Text&gt;&#13;&#10;        &lt;/Box&gt;&#13;&#10;        &lt;Text style={{ fontSize: 30, fontWeight: 'bold', color: '#16232E' }}&gt;核心知识点&lt;/Text&gt;&#13;&#10;        &lt;Text style={{ fontSize: 15, color: '#5A6B7A', marginTop: 10 }}&gt;· ★ 综合项目 3：文本统计工具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参考答案 11-4（综合项目 3：文本统计工具完整实现）&lt;/text&gt;&lt;text x='82' y='169.0' fontSize='13' fill='#3A4A58' textAnchor='start' fontFamily='Microsoft YaHei'&gt;· import json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参考答案 11-4 的测试文件&lt;/text&gt;&lt;text x='686' y='169.0' fontSize='13' fill='#3A4A58' textAnchor='start' fontFamily='Microsoft YaHei'&gt;· import os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：文本统计工具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3 / 111 节&lt;/Text&gt;&#13;&#10;        &lt;/Box&gt;&#13;&#10;        &lt;Text style={{ fontSize: 30, fontWeight: 'bold', color: '#16232E' }}&gt;★ 关卡 1 现场测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限时 2 小时完成四条硬指标，证明能独立动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测评，全程不查资料，2 小时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关卡 1 四项逐条自测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381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关卡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3 节&lt;/Text&gt;&#13;&#10;        &lt;/Box&gt;&#13;&#10;        &lt;Text style={{ fontSize: 30, fontWeight: 'bold', color: '#16232E' }}&gt;核心知识点&lt;/Text&gt;&#13;&#10;        &lt;Text style={{ fontSize: 15, color: '#5A6B7A', marginTop: 10 }}&gt;· ★ 关卡 1 现场测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✅ 验收 1：手写猜数字游戏&lt;/text&gt;&lt;text x='82' y='169.0' fontSize='13' fill='#3A4A58' textAnchor='start' fontFamily='Microsoft YaHei'&gt;· 必须包含：&lt;/text&gt;&lt;text x='82' y='197.5' fontSize='13' fill='#3A4A58' textAnchor='start' fontFamily='Microsoft YaHei'&gt;· random.randint(1, 100) 生成随机数&lt;/text&gt;&lt;text x='82' y='226.0' fontSize='13' fill='#3A4A58' textAnchor='start' fontFamily='Microsoft YaHei'&gt;· while 循环持续接收猜测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✅ 验收 2：手写一个含继承的类&lt;/text&gt;&lt;text x='486' y='169.0' fontSize='13' fill='#3A4A58' textAnchor='start' fontFamily='Microsoft YaHei'&gt;· 参考实现：&lt;/text&gt;&lt;text x='486' y='197.5' fontSize='13' fill='#3A4A58' textAnchor='start' fontFamily='Microsoft YaHei'&gt;· 自检清单：&lt;/text&gt;&lt;text x='486' y='226.0' fontSize='13' fill='#3A4A58' textAnchor='start' fontFamily='Microsoft YaHei'&gt;· [ ] 至少三层（基类 + 两个子类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✅ 验收 3：用 pytest 写 3 条测试并全部通&lt;/text&gt;&lt;text x='890' y='153' fontSize='15.5' fontWeight='bold' fill='#1F5FA8' textAnchor='start' fontFamily='Microsoft YaHei'&gt;过&lt;/text&gt;&lt;text x='890' y='192.0' fontSize='13' fill='#3A4A58' textAnchor='start' fontFamily='Microsoft YaHei'&gt;· 参考实现：&lt;/text&gt;&lt;text x='890' y='220.5' fontSize='13' fill='#3A4A58' textAnchor='start' fontFamily='Microsoft YaHei'&gt;· 运行结果必须是这样：&lt;/text&gt;&lt;text x='890' y='249.0' fontSize='13' fill='#3A4A58' textAnchor='start' fontFamily='Microsoft YaHei'&gt;· 自检清单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关卡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4 / 111 节&lt;/Text&gt;&#13;&#10;        &lt;/Box&gt;&#13;&#10;        &lt;Text style={{ fontSize: 30, fontWeight: 'bold', color: '#16232E' }}&gt;结业检查与下一阶段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四条验收是否全通过，明确阶段 1 的能力边界与下一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照四条硬指标逐条打勾&lt;/text&gt;&lt;text x='84' y='338.75' fontSize='14.5' fill='#3A4A58' textAnchor='start' fontFamily='Microsoft YaHei'&gt;· 没通过的项定下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自测 10 题&lt;/text&gt;&lt;text x='674' y='338.75' fontSize='14.5' fill='#3A4A58' textAnchor='start' fontFamily='Microsoft YaHei'&gt;· 产出：一份阶段 1 学习总结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结业检查与下一阶段</a:t>
            </a:r>
            <a:endParaRPr/>
          </a:p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4 节&lt;/Text&gt;&#13;&#10;        &lt;/Box&gt;&#13;&#10;        &lt;Text style={{ fontSize: 30, fontWeight: 'bold', color: '#16232E' }}&gt;核心知识点&lt;/Text&gt;&#13;&#10;        &lt;Text style={{ fontSize: 15, color: '#5A6B7A', marginTop: 10 }}&gt;· 结业检查与下一阶段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完成情况自查&lt;/text&gt;&lt;text x='82' y='169.0' fontSize='13' fill='#3A4A58' textAnchor='start' fontFamily='Microsoft YaHei'&gt;· 知识层面&lt;/text&gt;&lt;text x='82' y='197.5' fontSize='13' fill='#3A4A58' textAnchor='start' fontFamily='Microsoft YaHei'&gt;· [ ] 能默写出前 11 章的核心能力（不查资料）&lt;/text&gt;&lt;text x='82' y='226.0' fontSize='13' fill='#3A4A58' textAnchor='start' fontFamily='Microsoft YaHei'&gt;· [ ] 能解释六个&quot;选什么&quot;的决策标准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如果四条验收全部通过&lt;/text&gt;&lt;text x='486' y='169.0' fontSize='13' fill='#3A4A58' textAnchor='start' fontFamily='Microsoft YaHei'&gt;· 接下来进入阶段 2：项目篇。 你会学到：&lt;/text&gt;&lt;text x='486' y='197.5' fontSize='13' fill='#3A4A58' textAnchor='start' fontFamily='Microsoft YaHei'&gt;· 导入并使用第三方库（requests、pygame、matplotli&lt;/text&gt;&lt;text x='486' y='217.0' fontSize='13' fill='#3A4A58' textAnchor='start' fontFamily='Microsoft YaHei'&gt;b）&lt;/text&gt;&lt;text x='486' y='245.5' fontSize='13' fill='#3A4A58' textAnchor='start' fontFamily='Microsoft YaHei'&gt;· 把程序拆成多个文件组织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如果某条没通过&lt;/text&gt;&lt;text x='890' y='169.0' fontSize='13' fill='#3A4A58' textAnchor='start' fontFamily='Microsoft YaHei'&gt;· 完全正常。 对照下面找到薄弱环节，补做对应的练习：&lt;/text&gt;&lt;text x='890' y='197.5' fontSize='13' fill='#3A4A58' textAnchor='start' fontFamily='Microsoft YaHei'&gt;· 给你的一句话：卡住的时候，不要往下走，回头把那个知&lt;/text&gt;&lt;text x='890' y='217.0' fontSize='13' fill='#3A4A58' textAnchor='start' fontFamily='Microsoft YaHei'&gt;识点再做三道题。阶段 1 的每一关都是后面所有项目的&lt;/text&gt;&lt;text x='890' y='236.5' fontSize='13' fill='#3A4A58' textAnchor='start' fontFamily='Microsoft YaHei'&gt;…&lt;/text&gt;&lt;text x='890' y='265.0' fontSize='13' fill='#3A4A58' textAnchor='start' fontFamily='Microsoft YaHei'&gt;· 阶段 1 完结。 恭喜你走完这段路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结业检查与下一阶段</a:t>
            </a:r>
            <a:endParaRPr/>
          </a:p>
        </p:txBody>
      </p:sp>
      <p:pic>
        <p:nvPicPr>
          <p:cNvPr id="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1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1 · 小结与验收&lt;/Text&gt;&#13;&#10;        &lt;Text style={{ fontSize: 16, color: '#5A6B7A', marginTop: 6 }}&gt;阶段 1 总复习 + 关卡验收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57 节 · 知识串讲与能力地图&lt;/text&gt;&lt;text x='0' y='64' fontSize='14.5' fill='#3A4A58' fontFamily='Microsoft YaHei'&gt;· 第 58 节 · 排错思路与项目骨架&lt;/text&gt;&lt;text x='0' y='94' fontSize='14.5' fill='#3A4A58' fontFamily='Microsoft YaHei'&gt;· 第 59 节 · 四个复习示例串讲&lt;/text&gt;&lt;text x='0' y='124' fontSize='14.5' fill='#3A4A58' fontFamily='Microsoft YaHei'&gt;· 第 60 节 · ★ 综合项目 1：待办管理器&lt;/text&gt;&lt;text x='0' y='154' fontSize='14.5' fill='#3A4A58' fontFamily='Microsoft YaHei'&gt;· 第 61 节 · ★ 综合项目 2：成绩分析器&lt;/text&gt;&lt;text x='0' y='184' fontSize='14.5' fill='#3A4A58' fontFamily='Microsoft YaHei'&gt;· 第 62 节 · ★ 综合项目 3：文本统计工具&lt;/text&gt;&lt;text x='0' y='214' fontSize='14.5' fill='#3A4A58' fontFamily='Microsoft YaHei'&gt;· 第 63 节 · ★ 关卡 1 现场测评&lt;/text&gt;&lt;text x='0' y='244' fontSize='14.5' fill='#3A4A58' fontFamily='Microsoft YaHei'&gt;· 第 64 节 · 结业检查与下一阶段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总复习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69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2026-10-16T00:43:44Z</dcterms:created>
  <dcterms:modified xsi:type="dcterms:W3CDTF">2026-10-16T00:43:44Z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