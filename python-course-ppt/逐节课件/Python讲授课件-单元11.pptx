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15" Type="http://schemas.openxmlformats.org/officeDocument/2006/relationships/slide" Target="slides/slide15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21" Type="http://schemas.openxmlformats.org/officeDocument/2006/relationships/tableStyles" Target="tableStyles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notesMaster" Target="notesMasters/notesMaster1.xml" /><Relationship Id="rId2" Type="http://schemas.openxmlformats.org/officeDocument/2006/relationships/slide" Target="slides/slide2.xml" /><Relationship Id="rId20" Type="http://schemas.openxmlformats.org/officeDocument/2006/relationships/presProps" Target="presProps.xml" /><Relationship Id="rId22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6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7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8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sv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Color: '#FAFCFE', padding: 0, position: 'relative', overflow: 'hidden' }}&gt;&#13;&#10;    &lt;Box style={{ position: 'absolute', left: 0, top: 0, width: '1280px', height: '150px', background: '#1F5FA8' }} /&gt;&#13;&#10;    &lt;Box style={{ position: 'absolute', left: 64, top: 34, width: '1152px', flexDirection: 'column' }}&gt;&#13;&#10;        &lt;Text style={{ fontSize: 15, fontWeight: 'bold', color: '#BFD9F2', letterSpacing: 2 }}&gt;阶段 1 · 单元 11&lt;/Text&gt;&#13;&#10;        &lt;Text style={{ fontSize: 38, fontWeight: 'bold', color: '#FFFFFF', marginTop: 6 }}&gt;阶段 1 总复习 + 关卡验收&lt;/Text&gt;&#13;&#10;    &lt;/Box&gt;&#13;&#10;    &lt;Box style={{ position: 'absolute', left: 64, top: 168, width: '1152px', height: 470 }}&gt;&#13;&#10;        &lt;svg width='1152' height='470' viewBox='0 0 1152 470'&gt;&#13;&#10;            &lt;text x='0' y='18' fontSize='15' fontWeight='bold' fill='#16232E' fontFamily='Microsoft YaHei'&gt;本单元共 8 节课&lt;/text&gt;&#13;&#10;            &lt;rect x='0' y='56.0' width='1152' height='39.5' rx='7' fill='#FFFFFF' /&gt;&lt;text x='16' y='80.8' fontSize='15' fontWeight='bold' fill='#1F5FA8' fontFamily='Microsoft YaHei'&gt;第 57 节&lt;/text&gt;&lt;text x='96' y='80.8' fontSize='15' fill='#16232E' fontFamily='Microsoft YaHei'&gt;知识串讲与能力地图&lt;/text&gt;&lt;text x='1080' y='80.8' fontSize='13' fill='#5A6B7A' textAnchor='end' fontFamily='Microsoft YaHei'&gt;W13&lt;/text&gt;&lt;rect x='0' y='105.5' width='1152' height='39.5' rx='7' fill='#F2F7FD' /&gt;&lt;text x='16' y='130.2' fontSize='15' fontWeight='bold' fill='#1F5FA8' fontFamily='Microsoft YaHei'&gt;第 58 节&lt;/text&gt;&lt;text x='96' y='130.2' fontSize='15' fill='#16232E' fontFamily='Microsoft YaHei'&gt;排错思路与项目骨架&lt;/text&gt;&lt;text x='1080' y='130.2' fontSize='13' fill='#5A6B7A' textAnchor='end' fontFamily='Microsoft YaHei'&gt;W13&lt;/text&gt;&lt;rect x='0' y='155.0' width='1152' height='39.5' rx='7' fill='#FFFFFF' /&gt;&lt;text x='16' y='179.8' fontSize='15' fontWeight='bold' fill='#1F5FA8' fontFamily='Microsoft YaHei'&gt;第 59 节&lt;/text&gt;&lt;text x='96' y='179.8' fontSize='15' fill='#16232E' fontFamily='Microsoft YaHei'&gt;四个复习示例串讲&lt;/text&gt;&lt;text x='1080' y='179.8' fontSize='13' fill='#5A6B7A' textAnchor='end' fontFamily='Microsoft YaHei'&gt;W13&lt;/text&gt;&lt;rect x='0' y='204.5' width='1152' height='39.5' rx='7' fill='#F2F7FD' /&gt;&lt;text x='16' y='229.2' fontSize='15' fontWeight='bold' fill='#1F5FA8' fontFamily='Microsoft YaHei'&gt;第 60 节&lt;/text&gt;&lt;text x='96' y='229.2' fontSize='15' fill='#16232E' fontFamily='Microsoft YaHei'&gt;★ 综合项目 1：待办管理器&lt;/text&gt;&lt;text x='1080' y='229.2' fontSize='13' fill='#5A6B7A' textAnchor='end' fontFamily='Microsoft YaHei'&gt;W13&lt;/text&gt;&lt;rect x='0' y='254.0' width='1152' height='39.5' rx='7' fill='#FFFFFF' /&gt;&lt;text x='16' y='278.8' fontSize='15' fontWeight='bold' fill='#1F5FA8' fontFamily='Microsoft YaHei'&gt;第 61 节&lt;/text&gt;&lt;text x='96' y='278.8' fontSize='15' fill='#16232E' fontFamily='Microsoft YaHei'&gt;★ 综合项目 2：成绩分析器&lt;/text&gt;&lt;text x='1080' y='278.8' fontSize='13' fill='#5A6B7A' textAnchor='end' fontFamily='Microsoft YaHei'&gt;W13&lt;/text&gt;&lt;rect x='0' y='303.5' width='1152' height='39.5' rx='7' fill='#F2F7FD' /&gt;&lt;text x='16' y='328.2' fontSize='15' fontWeight='bold' fill='#1F5FA8' fontFamily='Microsoft YaHei'&gt;第 62 节&lt;/text&gt;&lt;text x='96' y='328.2' fontSize='15' fill='#16232E' fontFamily='Microsoft YaHei'&gt;★ 综合项目 3：文本统计工具&lt;/text&gt;&lt;text x='1080' y='328.2' fontSize='13' fill='#5A6B7A' textAnchor='end' fontFamily='Microsoft YaHei'&gt;W13&lt;/text&gt;&lt;rect x='0' y='353.0' width='1152' height='39.5' rx='7' fill='#FFFFFF' /&gt;&lt;text x='16' y='377.8' fontSize='15' fontWeight='bold' fill='#1F5FA8' fontFamily='Microsoft YaHei'&gt;第 63 节&lt;/text&gt;&lt;text x='96' y='377.8' fontSize='15' fill='#16232E' fontFamily='Microsoft YaHei'&gt;★ 关卡 1 现场测评&lt;/text&gt;&lt;text x='1080' y='377.8' fontSize='13' fill='#5A6B7A' textAnchor='end' fontFamily='Microsoft YaHei'&gt;W13&lt;/text&gt;&lt;rect x='0' y='402.5' width='1152' height='39.5' rx='7' fill='#F2F7FD' /&gt;&lt;text x='16' y='427.2' fontSize='15' fontWeight='bold' fill='#1F5FA8' fontFamily='Microsoft YaHei'&gt;第 64 节&lt;/text&gt;&lt;text x='96' y='427.2' fontSize='15' fill='#16232E' fontFamily='Microsoft YaHei'&gt;结业检查与下一阶段&lt;/text&gt;&lt;text x='1080' y='427.2' fontSize='13' fill='#5A6B7A' textAnchor='end' fontFamily='Microsoft YaHei'&gt;W13&lt;/text&gt;&#13;&#10;        &lt;/svg&gt;&#13;&#10;    &lt;/Box&gt;&#13;&#10;    &lt;Box style={{ position: 'absolute', left: 64, bottom: 22, width: '1152px', flexDirection: 'row', justifyContent: 'space-between' }}&gt;&#13;&#10;        &lt;Text style={{ fontSize: 13, color: '#8A9AAA' }}&gt;Python 讲授课件 · 逐节版&lt;/Text&gt;&#13;&#10;        &lt;Text style={{ fontSize: 13, color: '#8A9AAA' }}&gt;单元 11 · 封面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42875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阶段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1 · </a:t>
            </a: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单元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11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5524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阶段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总复习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关卡验收</a:t>
            </a:r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10972800" cy="447675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801350" y="64960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11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封面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57 / 111 节&lt;/Text&gt;&#13;&#10;        &lt;/Box&gt;&#13;&#10;        &lt;Text style={{ fontSize: 30, fontWeight: 'bold', color: '#16232E' }}&gt;知识串讲与能力地图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把 11 章串成一条线，能说出每个知识点解决什么问题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画一张从变量到类的知识图谱&lt;/text&gt;&lt;text x='84' y='338.75' fontSize='14.5' fill='#3A4A58' textAnchor='start' fontFamily='Microsoft YaHei'&gt;· 互相考 10 个最易错的点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单元 11 动手练习基础档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1 · 第 57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57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知识串讲与能力地图</a:t>
            </a:r>
            <a:endParaRPr/>
          </a:p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1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57 节&lt;/Text&gt;&#13;&#10;        &lt;/Box&gt;&#13;&#10;        &lt;Text style={{ fontSize: 30, fontWeight: 'bold', color: '#16232E' }}&gt;核心知识点&lt;/Text&gt;&#13;&#10;        &lt;Text style={{ fontSize: 15, color: '#5A6B7A', marginTop: 10 }}&gt;· 知识串讲与能力地图&lt;/Text&gt;&#13;&#10;    &lt;/Box&gt;&#13;&#10;    &lt;Box style={{ position: 'absolute', left: 0, top: 0, width: '1280px', height: '720px' }}&gt;&#13;&#10;        &lt;svg width='1280' height='720' viewBox='0 0 1280 720'&gt;&#13;&#10;            &lt;rect x='64' y='96' width='1152' height='330' rx='12' fill='#FFFFFF' stroke='#D8E3EE' /&gt;&lt;rect x='64' y='96' width='1152' height='4' rx='2' fill='#1F5FA8' /&gt;&lt;text x='82' y='130' fontSize='15.5' fontWeight='bold' fill='#1F5FA8' textAnchor='start' fontFamily='Microsoft YaHei'&gt;2.1 前 11 章的能力地图&lt;/text&gt;&lt;text x='82' y='169.0' fontSize='13' fill='#3A4A58' textAnchor='start' fontFamily='Microsoft YaHei'&gt;· 最关键的一张依赖图&lt;/text&gt;&lt;text x='82' y='197.5' fontSize='13' fill='#3A4A58' textAnchor='start' fontFamily='Microsoft YaHei'&gt;· 一句话总结每个单元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1 · 第 57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57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知识串讲与能力地图</a:t>
            </a:r>
            <a:endParaRPr/>
          </a:p>
        </p:txBody>
      </p:sp>
      <p:pic>
        <p:nvPicPr>
          <p:cNvPr id="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58 / 111 节&lt;/Text&gt;&#13;&#10;        &lt;/Box&gt;&#13;&#10;        &lt;Text style={{ fontSize: 30, fontWeight: 'bold', color: '#16232E' }}&gt;排错思路与项目骨架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掌握读 traceback 的方法，能把模糊需求拆成步骤和函数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现场给一段含 3 个 bug 的脚本限时 15 分钟修复&lt;/text&gt;&lt;text x='84' y='338.75' fontSize='14.5' fill='#3A4A58' textAnchor='start' fontFamily='Microsoft YaHei'&gt;· 现场把一个模糊需求拆成步骤清单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进阶档 11-1 ~ 11-2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1 · 第 58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58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排错思路与项目骨架</a:t>
            </a:r>
            <a:endParaRPr/>
          </a:p>
        </p:txBody>
      </p:sp>
      <p:pic>
        <p:nvPicPr>
          <p:cNvPr id="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4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58 节&lt;/Text&gt;&#13;&#10;        &lt;/Box&gt;&#13;&#10;        &lt;Text style={{ fontSize: 30, fontWeight: 'bold', color: '#16232E' }}&gt;核心知识点&lt;/Text&gt;&#13;&#10;        &lt;Text style={{ fontSize: 15, color: '#5A6B7A', marginTop: 10 }}&gt;· 排错思路与项目骨架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2.3 一个完整项目的骨架&lt;/text&gt;&lt;text x='82' y='169.0' fontSize='13' fill='#3A4A58' textAnchor='start' fontFamily='Microsoft YaHei'&gt;· 这个骨架的四个设计要点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2.4 排错思路（最实用的一节）&lt;/text&gt;&lt;text x='486' y='169.0' fontSize='13' fill='#3A4A58' textAnchor='start' fontFamily='Microsoft YaHei'&gt;· 三个最高频报错的快速定位&lt;/text&gt;&lt;text x='486' y='197.5' fontSize='13' fill='#3A4A58' textAnchor='start' fontFamily='Microsoft YaHei'&gt;· ① IndentationError&lt;/text&gt;&lt;text x='486' y='226.0' fontSize='13' fill='#3A4A58' textAnchor='start' fontFamily='Microsoft YaHei'&gt;· ② NameError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2.5 阶段 1 的能力边界&lt;/text&gt;&lt;text x='890' y='169.0' fontSize='13' fill='#3A4A58' textAnchor='start' fontFamily='Microsoft YaHei'&gt;· 写一个几十到几百行的单文件程序&lt;/text&gt;&lt;text x='890' y='197.5' fontSize='13' fill='#3A4A58' textAnchor='start' fontFamily='Microsoft YaHei'&gt;· 用类和函数组织代码&lt;/text&gt;&lt;text x='890' y='226.0' fontSize='13' fill='#3A4A58' textAnchor='start' fontFamily='Microsoft YaHei'&gt;· 让程序读写 JSON / CSV 文件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1 · 第 58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58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排错思路与项目骨架</a:t>
            </a:r>
            <a:endParaRPr/>
          </a:p>
        </p:txBody>
      </p:sp>
      <p:pic>
        <p:nvPicPr>
          <p:cNvPr id="1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1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59 / 111 节&lt;/Text&gt;&#13;&#10;        &lt;/Box&gt;&#13;&#10;        &lt;Text style={{ fontSize: 30, fontWeight: 'bold', color: '#16232E' }}&gt;四个复习示例串讲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把类、文件异常、pytest 三块复习串成可运行的完整程序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对照示例跑通四个复习程序&lt;/text&gt;&lt;text x='84' y='338.75' fontSize='14.5' fill='#3A4A58' textAnchor='start' fontFamily='Microsoft YaHei'&gt;· 讲清每个程序综合了哪几章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把四个复习程序各改一个需求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1 · 第 59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59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286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四个复习示例串讲</a:t>
            </a:r>
            <a:endParaRPr/>
          </a:p>
        </p:txBody>
      </p:sp>
      <p:pic>
        <p:nvPicPr>
          <p:cNvPr id="1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7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59 节&lt;/Text&gt;&#13;&#10;        &lt;/Box&gt;&#13;&#10;        &lt;Text style={{ fontSize: 30, fontWeight: 'bold', color: '#16232E' }}&gt;核心知识点&lt;/Text&gt;&#13;&#10;        &lt;Text style={{ fontSize: 15, color: '#5A6B7A', marginTop: 10 }}&gt;· 四个复习示例串讲&lt;/Text&gt;&#13;&#10;    &lt;/Box&gt;&#13;&#10;    &lt;Box style={{ position: 'absolute', left: 0, top: 0, width: '1280px', height: '720px' }}&gt;&#13;&#10;        &lt;svg width='1280' height='720' viewBox='0 0 1280 720'&gt;&#13;&#10;            &lt;text x='64' y='470' fontSize='14.5' fontWeight='bold' fill='#0E9B78' textAnchor='start' fontFamily='Microsoft YaHei'&gt;本节的代码示例&lt;/text&gt;&lt;text x='64' y='500' fontSize='13' fill='#3A4A58' textAnchor='start' fontFamily='Microsoft YaHei'&gt;· 知识自查清单（可运行的版本）&lt;/text&gt;&lt;text x='468' y='500' fontSize='13' fill='#3A4A58' textAnchor='start' fontFamily='Microsoft YaHei'&gt;· 类 + 继承的完整复习&lt;/text&gt;&lt;text x='872' y='500' fontSize='13' fill='#3A4A58' textAnchor='start' fontFamily='Microsoft YaHei'&gt;· 文件 + 异常完整复习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1 · 第 59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59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228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四个复习示例串讲</a:t>
            </a:r>
            <a:endParaRPr/>
          </a:p>
        </p:txBody>
      </p:sp>
      <p:pic>
        <p:nvPicPr>
          <p:cNvPr id="1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14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60 / 111 节&lt;/Text&gt;&#13;&#10;        &lt;/Box&gt;&#13;&#10;        &lt;Text style={{ fontSize: 30, fontWeight: 'bold', color: '#16232E' }}&gt;★ 综合项目 1：待办管理器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独立写出一个可增删改查并能存盘的待办管理器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先限时 40 分钟自己写，再看参考答案对照&lt;/text&gt;&lt;text x='84' y='338.75' fontSize='14.5' fill='#3A4A58' textAnchor='start' fontFamily='Microsoft YaHei'&gt;· 逐行读懂参考答案的实现思路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综合项目 1 并写 3 条测试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1 · 第 60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60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4385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综合项目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1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：待办管理器</a:t>
            </a:r>
            <a:endParaRPr/>
          </a:p>
        </p:txBody>
      </p:sp>
      <p:pic>
        <p:nvPicPr>
          <p:cNvPr id="1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20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60 节&lt;/Text&gt;&#13;&#10;        &lt;/Box&gt;&#13;&#10;        &lt;Text style={{ fontSize: 30, fontWeight: 'bold', color: '#16232E' }}&gt;核心知识点&lt;/Text&gt;&#13;&#10;        &lt;Text style={{ fontSize: 15, color: '#5A6B7A', marginTop: 10 }}&gt;· ★ 综合项目 1：待办管理器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基础档&lt;/text&gt;&lt;text x='82' y='169.0' fontSize='13' fill='#3A4A58' textAnchor='start' fontFamily='Microsoft YaHei'&gt;· 练习 11-1【知识自查表】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进阶档&lt;/text&gt;&lt;text x='686' y='169.0' fontSize='13' fill='#3A4A58' textAnchor='start' fontFamily='Microsoft YaHei'&gt;· 练习 11-2【综合项目 1：命令行待办事项管理器】&lt;/text&gt;&lt;text x='686' y='197.5' fontSize='13' fill='#3A4A58' textAnchor='start' fontFamily='Microsoft YaHei'&gt;· 功能需求&lt;/text&gt;&lt;text x='686' y='226.0' fontSize='13' fill='#3A4A58' textAnchor='start' fontFamily='Microsoft YaHei'&gt;· 技术要求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1 · 第 60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22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790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★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综合项目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1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：待办管理器</a:t>
            </a:r>
            <a:endParaRPr/>
          </a:p>
        </p:txBody>
      </p:sp>
      <p:pic>
        <p:nvPicPr>
          <p:cNvPr id="1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61 / 111 节&lt;/Text&gt;&#13;&#10;        &lt;/Box&gt;&#13;&#10;        &lt;Text style={{ fontSize: 30, fontWeight: 'bold', color: '#16232E' }}&gt;★ 综合项目 2：成绩分析器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独立写出一个能统计平均分、最高分并画图的成绩分析器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先限时 40 分钟自己写，再看参考答案对照&lt;/text&gt;&lt;text x='84' y='338.75' fontSize='14.5' fill='#3A4A58' textAnchor='start' fontFamily='Microsoft YaHei'&gt;· 对照参考答案补齐自己漏掉的功能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综合项目 2 及其测试文件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1 · 第 61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61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4385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综合项目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2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：成绩分析器</a:t>
            </a:r>
            <a:endParaRPr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61 节&lt;/Text&gt;&#13;&#10;        &lt;/Box&gt;&#13;&#10;        &lt;Text style={{ fontSize: 30, fontWeight: 'bold', color: '#16232E' }}&gt;核心知识点&lt;/Text&gt;&#13;&#10;        &lt;Text style={{ fontSize: 15, color: '#5A6B7A', marginTop: 10 }}&gt;· ★ 综合项目 2：成绩分析器&lt;/Text&gt;&#13;&#10;    &lt;/Box&gt;&#13;&#10;    &lt;Box style={{ position: 'absolute', left: 0, top: 0, width: '1280px', height: '720px' }}&gt;&#13;&#10;        &lt;svg width='1280' height='720' viewBox='0 0 1280 720'&gt;&#13;&#10;            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1 · 第 61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790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★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综合项目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2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：成绩分析器</a:t>
            </a:r>
            <a:endParaRPr/>
          </a:p>
        </p:txBody>
      </p:sp>
      <p:pic>
        <p:nvPicPr>
          <p:cNvPr id="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62 / 111 节&lt;/Text&gt;&#13;&#10;        &lt;/Box&gt;&#13;&#10;        &lt;Text style={{ fontSize: 30, fontWeight: 'bold', color: '#16232E' }}&gt;★ 综合项目 3：文本统计工具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独立写出一个能统计词频并输出报告的文本工具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先限时 40 分钟自己写，再看参考答案对照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综合项目 3 及其测试文件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1 · 第 62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62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7242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综合项目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3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：文本统计工具</a:t>
            </a:r>
            <a:endParaRPr/>
          </a:p>
        </p:txBody>
      </p:sp>
      <p:pic>
        <p:nvPicPr>
          <p:cNvPr id="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62 节&lt;/Text&gt;&#13;&#10;        &lt;/Box&gt;&#13;&#10;        &lt;Text style={{ fontSize: 30, fontWeight: 'bold', color: '#16232E' }}&gt;核心知识点&lt;/Text&gt;&#13;&#10;        &lt;Text style={{ fontSize: 15, color: '#5A6B7A', marginTop: 10 }}&gt;· ★ 综合项目 3：文本统计工具&lt;/Text&gt;&#13;&#10;    &lt;/Box&gt;&#13;&#10;    &lt;Box style={{ position: 'absolute', left: 0, top: 0, width: '1280px', height: '720px' }}&gt;&#13;&#10;        &lt;svg width='1280' height='720' viewBox='0 0 1280 720'&gt;&#13;&#10;            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1 · 第 62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62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933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★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综合项目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3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：文本统计工具</a:t>
            </a:r>
            <a:endParaRPr/>
          </a:p>
        </p:txBody>
      </p:sp>
      <p:pic>
        <p:nvPicPr>
          <p:cNvPr id="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63 / 111 节&lt;/Text&gt;&#13;&#10;        &lt;/Box&gt;&#13;&#10;        &lt;Text style={{ fontSize: 30, fontWeight: 'bold', color: '#16232E' }}&gt;★ 关卡 1 现场测评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限时 2 小时完成四条硬指标，证明能独立动手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现场测评，全程不查资料，2 小时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★ 关卡 1 四项逐条自测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1 · 第 63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63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381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关卡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现场测评</a:t>
            </a:r>
            <a:endParaRPr/>
          </a:p>
        </p:txBody>
      </p:sp>
      <p:pic>
        <p:nvPicPr>
          <p:cNvPr id="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1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63 节&lt;/Text&gt;&#13;&#10;        &lt;/Box&gt;&#13;&#10;        &lt;Text style={{ fontSize: 30, fontWeight: 'bold', color: '#16232E' }}&gt;核心知识点&lt;/Text&gt;&#13;&#10;        &lt;Text style={{ fontSize: 15, color: '#5A6B7A', marginTop: 10 }}&gt;· ★ 关卡 1 现场测评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✅ 验收 1：手写猜数字游戏&lt;/text&gt;&lt;text x='82' y='169.0' fontSize='13' fill='#3A4A58' textAnchor='start' fontFamily='Microsoft YaHei'&gt;· 必须包含&lt;/text&gt;&lt;text x='82' y='197.5' fontSize='13' fill='#3A4A58' textAnchor='start' fontFamily='Microsoft YaHei'&gt;· random.randint(1, 100) 生成随机数&lt;/text&gt;&lt;text x='82' y='226.0' fontSize='13' fill='#3A4A58' textAnchor='start' fontFamily='Microsoft YaHei'&gt;· while 循环持续接收猜测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✅ 验收 2：手写一个含继承的类&lt;/text&gt;&lt;text x='486' y='169.0' fontSize='13' fill='#3A4A58' textAnchor='start' fontFamily='Microsoft YaHei'&gt;· 参考实现&lt;/text&gt;&lt;text x='486' y='197.5' fontSize='13' fill='#3A4A58' textAnchor='start' fontFamily='Microsoft YaHei'&gt;· 自检清单&lt;/text&gt;&lt;text x='486' y='226.0' fontSize='13' fill='#3A4A58' textAnchor='start' fontFamily='Microsoft YaHei'&gt;· [ ] 至少三层（基类 + 两个子类）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✅ 验收 3：用 pytest 写 3&lt;/text&gt;&lt;text x='890' y='153' fontSize='15.5' fontWeight='bold' fill='#1F5FA8' textAnchor='start' fontFamily='Microsoft YaHei'&gt;条测试并全部通过&lt;/text&gt;&lt;text x='890' y='192.0' fontSize='13' fill='#3A4A58' textAnchor='start' fontFamily='Microsoft YaHei'&gt;· 参考实现&lt;/text&gt;&lt;text x='890' y='220.5' fontSize='13' fill='#3A4A58' textAnchor='start' fontFamily='Microsoft YaHei'&gt;· 运行结果必须是这样&lt;/text&gt;&lt;text x='890' y='249.0' fontSize='13' fill='#3A4A58' textAnchor='start' fontFamily='Microsoft YaHei'&gt;· 自检清单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1 · 第 63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63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266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★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关卡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现场测评</a:t>
            </a:r>
            <a:endParaRPr/>
          </a:p>
        </p:txBody>
      </p:sp>
      <p:pic>
        <p:nvPicPr>
          <p:cNvPr id="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64 / 111 节&lt;/Text&gt;&#13;&#10;        &lt;/Box&gt;&#13;&#10;        &lt;Text style={{ fontSize: 30, fontWeight: 'bold', color: '#16232E' }}&gt;结业检查与下一阶段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确认四条验收是否全通过，明确阶段 1 的能力边界与下一步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对照四条硬指标逐条打勾&lt;/text&gt;&lt;text x='84' y='338.75' fontSize='14.5' fill='#3A4A58' textAnchor='start' fontFamily='Microsoft YaHei'&gt;· 没通过的项定下补齐计划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综合自测 10 题&lt;/text&gt;&lt;text x='674' y='338.75' fontSize='14.5' fill='#3A4A58' textAnchor='start' fontFamily='Microsoft YaHei'&gt;· 产出：一份阶段 1 学习总结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1 · 第 64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64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结业检查与下一阶段</a:t>
            </a:r>
            <a:endParaRPr/>
          </a:p>
        </p:txBody>
      </p:sp>
      <p:pic>
        <p:nvPicPr>
          <p:cNvPr id="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4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64 节&lt;/Text&gt;&#13;&#10;        &lt;/Box&gt;&#13;&#10;        &lt;Text style={{ fontSize: 30, fontWeight: 'bold', color: '#16232E' }}&gt;核心知识点&lt;/Text&gt;&#13;&#10;        &lt;Text style={{ fontSize: 15, color: '#5A6B7A', marginTop: 10 }}&gt;· 结业检查与下一阶段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完成情况自查&lt;/text&gt;&lt;text x='82' y='169.0' fontSize='13' fill='#3A4A58' textAnchor='start' fontFamily='Microsoft YaHei'&gt;· 知识层面&lt;/text&gt;&lt;text x='82' y='197.5' fontSize='13' fill='#3A4A58' textAnchor='start' fontFamily='Microsoft YaHei'&gt;· [ ] 能默写出前 11 章的核心能力（不查资料）&lt;/text&gt;&lt;text x='82' y='226.0' fontSize='13' fill='#3A4A58' textAnchor='start' fontFamily='Microsoft YaHei'&gt;· [ ] 能解释六个&quot;选什么&quot;的决策标准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如果四条验收全部通过&lt;/text&gt;&lt;text x='486' y='169.0' fontSize='13' fill='#3A4A58' textAnchor='start' fontFamily='Microsoft YaHei'&gt;· 接下来进入阶段 2：项目篇。&lt;/text&gt;&lt;text x='486' y='197.5' fontSize='13' fill='#3A4A58' textAnchor='start' fontFamily='Microsoft YaHei'&gt;· 导入并使用第三方库（requests、pygame、&lt;/text&gt;&lt;text x='486' y='217.0' fontSize='13' fill='#3A4A58' textAnchor='start' fontFamily='Microsoft YaHei'&gt;matplotlib）&lt;/text&gt;&lt;text x='486' y='245.5' fontSize='13' fill='#3A4A58' textAnchor='start' fontFamily='Microsoft YaHei'&gt;· 把程序拆成多个文件组织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如果某条没通过&lt;/text&gt;&lt;text x='890' y='169.0' fontSize='13' fill='#3A4A58' textAnchor='start' fontFamily='Microsoft YaHei'&gt;· 完全正常。&lt;/text&gt;&lt;text x='890' y='197.5' fontSize='13' fill='#3A4A58' textAnchor='start' fontFamily='Microsoft YaHei'&gt;· 给你的一句话&lt;/text&gt;&lt;text x='890' y='226.0' fontSize='13' fill='#3A4A58' textAnchor='start' fontFamily='Microsoft YaHei'&gt;· 阶段 1 完结。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1 · 第 64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64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结业检查与下一阶段</a:t>
            </a:r>
            <a:endParaRPr/>
          </a:p>
        </p:txBody>
      </p:sp>
      <p:pic>
        <p:nvPicPr>
          <p:cNvPr id="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1" name="" descr="&lt;Slide style={{ width: '1280px', height: '720px', backgroundColor: '#FAFCFE', padding: 0, position: 'relative', overflow: 'hidden' }}&gt;&#13;&#10;    &lt;Box style={{ position: 'absolute', left: 0, top: 0, width: '12px', height: '720px', background: '#0E9B78' }} /&gt;&#13;&#10;    &lt;Box style={{ position: 'absolute', left: 72, top: 44, width: '1144px', flexDirection: 'column' }}&gt;&#13;&#10;        &lt;Text style={{ fontSize: 34, fontWeight: 'bold', color: '#16232E' }}&gt;单元 11 · 小结与验收&lt;/Text&gt;&#13;&#10;        &lt;Text style={{ fontSize: 16, color: '#5A6B7A', marginTop: 6 }}&gt;阶段 1 总复习 + 关卡验收&lt;/Text&gt;&#13;&#10;    &lt;/Box&gt;&#13;&#10;    &lt;Box style={{ position: 'absolute', left: 72, top: 148, width: '552px', height: 400, background: '#FFFFFF', border: '1px solid #D8E3EE', borderRadius: 12, padding: 18, flexDirection: 'column' }}&gt;&#13;&#10;        &lt;Text style={{ fontSize: 16, fontWeight: 'bold', color: '#1F5FA8' }}&gt;本单元课节回顾&lt;/Text&gt;&#13;&#10;        &lt;Box style={{ marginTop: 10, position: 'relative', height: 330 }}&gt;&#13;&#10;            &lt;svg width='516' height='330' viewBox='0 0 516 330'&gt;&lt;text x='0' y='34' fontSize='14.5' fill='#3A4A58' fontFamily='Microsoft YaHei'&gt;· 第 57 节 · 知识串讲与能力地图&lt;/text&gt;&lt;text x='0' y='64' fontSize='14.5' fill='#3A4A58' fontFamily='Microsoft YaHei'&gt;· 第 58 节 · 排错思路与项目骨架&lt;/text&gt;&lt;text x='0' y='94' fontSize='14.5' fill='#3A4A58' fontFamily='Microsoft YaHei'&gt;· 第 59 节 · 四个复习示例串讲&lt;/text&gt;&lt;text x='0' y='124' fontSize='14.5' fill='#3A4A58' fontFamily='Microsoft YaHei'&gt;· 第 60 节 · ★ 综合项目 1：待办管理器&lt;/text&gt;&lt;text x='0' y='154' fontSize='14.5' fill='#3A4A58' fontFamily='Microsoft YaHei'&gt;· 第 61 节 · ★ 综合项目 2：成绩分析器&lt;/text&gt;&lt;text x='0' y='184' fontSize='14.5' fill='#3A4A58' fontFamily='Microsoft YaHei'&gt;· 第 62 节 · ★ 综合项目 3：文本统计工具&lt;/text&gt;&lt;text x='0' y='214' fontSize='14.5' fill='#3A4A58' fontFamily='Microsoft YaHei'&gt;· 第 63 节 · ★ 关卡 1 现场测评&lt;/text&gt;&lt;text x='0' y='244' fontSize='14.5' fill='#3A4A58' fontFamily='Microsoft YaHei'&gt;· 第 64 节 · 结业检查与下一阶段&lt;/text&gt;&lt;/svg&gt;&#13;&#10;        &lt;/Box&gt;&#13;&#10;    &lt;/Box&gt;&#13;&#10;    &lt;Box style={{ position: 'absolute', left: 656, top: 148, width: '560px', height: 400, background: '#FDF3E2', borderRadius: 12, padding: 20, flexDirection: 'column' }}&gt;&#13;&#10;        &lt;Text style={{ fontSize: 16, fontWeight: 'bold', color: '#E08A15' }}&gt;过关标准&lt;/Text&gt;&#13;&#10;        &lt;Text style={{ fontSize: 15, color: '#3A4A58', marginTop: 12, lineHeight: 1.9 }}&gt;&#13;&#10;            1. 本单元每一节的课后作业都做完并自己验收过&#13;&#10;&#13;&#10;            2. 不看讲义能独立重写一遍本单元的示例代码&#13;&#10;&#13;&#10;            3. 讲义最后「本单元验收自测」全部答对&#13;&#10;&#13;&#10;            4. 产出物已经写进笔记或提交到 Git&#13;&#10;        &lt;/Text&gt;&#13;&#10;        &lt;Text style={{ fontSize: 14, color: '#8A6A2A', marginTop: 16, lineHeight: 1.7 }}&gt;&#13;&#10;            没过关的项回到对应那一节重做，不要整体重学。&#13;&#10;        &lt;/Text&gt;&#13;&#10;    &lt;/Box&gt;&#13;&#10;    &lt;Box style={{ position: 'absolute', left: 72, bottom: 26, width: '1144px', flexDirection: 'row', justifyContent: 'space-between' }}&gt;&#13;&#10;        &lt;Text style={{ fontSize: 13, color: '#8A9AAA' }}&gt;Python 讲授课件 · 逐节版&lt;/Text&gt;&#13;&#10;        &lt;Text style={{ fontSize: 13, color: '#8A9AAA' }}&gt;单元 11 · 小结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96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11 ·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小结与验收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9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阶段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总复习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关卡验收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85800" y="1409700"/>
            <a:ext cx="52578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57250" y="158115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本单元课节回顾</a:t>
            </a:r>
            <a:endParaRPr/>
          </a:p>
        </p:txBody>
      </p:sp>
      <p:pic>
        <p:nvPicPr>
          <p:cNvPr id="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866900"/>
            <a:ext cx="4914900" cy="3143250"/>
          </a:xfrm>
          <a:prstGeom prst="rect">
            <a:avLst/>
          </a:prstGeom>
          <a:ln/>
        </p:spPr>
      </p:pic>
      <p:sp>
        <p:nvSpPr>
          <p:cNvPr id="69" name=""/>
          <p:cNvSpPr/>
          <p:nvPr/>
        </p:nvSpPr>
        <p:spPr>
          <a:xfrm rot="0" flipH="0" flipV="0">
            <a:off x="6248400" y="14097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438900" y="160020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8A15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438900" y="1905000"/>
            <a:ext cx="4953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本单元每一节的课后作业都做完并自己验收过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2.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不看讲义能独立重写一遍本单元的示例代码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讲义最后「本单元验收自测」全部答对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4.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产出物已经写进笔记或提交到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Git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438900" y="30384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8A6A2A"/>
                </a:solidFill>
                <a:latin typeface="Microsoft YaHei"/>
                <a:ea typeface="Microsoft YaHei"/>
              </a:rPr>
              <a:t>没过关的项回到对应那一节重做，不要整体重学。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0801350" y="64579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11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2026-10-29T00:36:52Z</dcterms:created>
  <dcterms:modified xsi:type="dcterms:W3CDTF">2026-10-29T00:36:52Z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{"AIGC":{"Label":"1","ContentProducer":"00119111010856365494821B355","ProduceID":"01a183579b68743e9c290638234d6294","ReservedCode1":"","ContentPropagator":"00119111010856365494821B355","PropagateID":"01a183579b68743e9c290638234d6294","ReservedCode2":""}}</vt:lpwstr>
  </property>
</Properties>
</file>