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media/image1.svg" ContentType="image/svg+xml"/>
  <Override PartName="/ppt/slides/media/image10.svg" ContentType="image/svg+xml"/>
  <Override PartName="/ppt/slides/media/image2.svg" ContentType="image/svg+xml"/>
  <Override PartName="/ppt/slides/media/image3.svg" ContentType="image/svg+xml"/>
  <Override PartName="/ppt/slides/media/image4.svg" ContentType="image/svg+xml"/>
  <Override PartName="/ppt/slides/media/image5.svg" ContentType="image/svg+xml"/>
  <Override PartName="/ppt/slides/media/image6.svg" ContentType="image/svg+xml"/>
  <Override PartName="/ppt/slides/media/image7.svg" ContentType="image/svg+xml"/>
  <Override PartName="/ppt/slides/media/image8.svg" ContentType="image/svg+xml"/>
  <Override PartName="/ppt/slides/media/image9.svg" ContentType="image/svg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0" Type="http://schemas.openxmlformats.org/officeDocument/2006/relationships/officeDocument" Target="ppt/presentation.xml"/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1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0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Relationship Id="rId5" Type="http://schemas.openxmlformats.org/officeDocument/2006/relationships/slide" Target="slides/slide5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9.xml"/><Relationship Id="rId10" Type="http://schemas.openxmlformats.org/officeDocument/2006/relationships/slide" Target="slides/slide10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tableStyles" Target="tableStyles.xml"/><Relationship Id="rId14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0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17 · 单元 17 · 使用 API 与 Plotly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本单元包含以下课节：</a:t>
            </a:r>
          </a:p>
          <a:p>
            <a:r>
              <a:rPr lang="zh-CN" dirty="0"/>
              <a:t>· 第 88 节 API 概念与 Requests</a:t>
            </a:r>
          </a:p>
          <a:p>
            <a:r>
              <a:rPr lang="zh-CN" dirty="0"/>
              <a:t>· 第 89 节 GitHub API 与速率限制</a:t>
            </a:r>
          </a:p>
          <a:p>
            <a:r>
              <a:rPr lang="zh-CN" dirty="0"/>
              <a:t>· 第 90 节 Plotly 可视化与可点击链接</a:t>
            </a:r>
          </a:p>
          <a:p>
            <a:r>
              <a:rPr lang="zh-CN" dirty="0"/>
              <a:t>· 第 91 节 Hacker News API 与动手实战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开场用 3 分钟讲清：这个单元学完能做出什么，最后会被关卡怎么验。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17 · 单元 17 · 使用 API 与 Plotly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本单元包含以下课节：</a:t>
            </a:r>
          </a:p>
          <a:p>
            <a:r>
              <a:rPr lang="zh-CN" dirty="0"/>
              <a:t>· 第 88 节 API 概念与 Requests</a:t>
            </a:r>
          </a:p>
          <a:p>
            <a:r>
              <a:rPr lang="zh-CN" dirty="0"/>
              <a:t>· 第 89 节 GitHub API 与速率限制</a:t>
            </a:r>
          </a:p>
          <a:p>
            <a:r>
              <a:rPr lang="zh-CN" dirty="0"/>
              <a:t>· 第 90 节 Plotly 可视化与可点击链接</a:t>
            </a:r>
          </a:p>
          <a:p>
            <a:r>
              <a:rPr lang="zh-CN" dirty="0"/>
              <a:t>· 第 91 节 Hacker News API 与动手实战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开场用 3 分钟讲清：这个单元学完能做出什么，最后会被关卡怎么验。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88 节 · API 概念与 Requests</a:t>
            </a:r>
          </a:p>
          <a:p>
            <a:r>
              <a:rPr lang="zh-CN" dirty="0"/>
              <a:t>单元 17 · 使用 API 与 Plotly · W21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学习目标：理解 API 是什么；会用 requests.get 并检查 status_code、用 .json() 拿字典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发一次请求并打印 status_code 与响应前 200 字符</a:t>
            </a:r>
          </a:p>
          <a:p>
            <a:r>
              <a:rPr lang="zh-CN" dirty="0"/>
              <a:t>· 故意请求一个不存在的 URL 看 404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装好 requests 并跑通第一个 API 调用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88 节 · API 概念与 Requests</a:t>
            </a:r>
          </a:p>
          <a:p>
            <a:r>
              <a:rPr lang="zh-CN" dirty="0"/>
              <a:t>单元 17 · 使用 API 与 Plotly · W21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学习目标：理解 API 是什么；会用 requests.get 并检查 status_code、用 .json() 拿字典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发一次请求并打印 status_code 与响应前 200 字符</a:t>
            </a:r>
          </a:p>
          <a:p>
            <a:r>
              <a:rPr lang="zh-CN" dirty="0"/>
              <a:t>· 故意请求一个不存在的 URL 看 404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装好 requests 并跑通第一个 API 调用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88 节 · 核心知识点：API 概念与 Requests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本节目标：理解 API 是什么；会用 requests.get 并检查 status_code、用 .json() 拿字典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88 节 · 核心知识点：API 概念与 Requests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本节目标：理解 API 是什么；会用 requests.get 并检查 status_code、用 .json() 拿字典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89 节 · GitHub API 与速率限制</a:t>
            </a:r>
          </a:p>
          <a:p>
            <a:r>
              <a:rPr lang="zh-CN" dirty="0"/>
              <a:t>单元 17 · 使用 API 与 Plotly · W21–W22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学习目标：会调 GitHub search API 提取仓库信息；知道未认证每小时 60 次的限制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提取前 5 个热门仓库的 name / stars / url</a:t>
            </a:r>
          </a:p>
          <a:p>
            <a:r>
              <a:rPr lang="zh-CN" dirty="0"/>
              <a:t>· 打印 X-RateLimit-Remaining 看剩余次数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★ 给自己常看的语言拉一份 TOP 20 仓库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89 节 · GitHub API 与速率限制</a:t>
            </a:r>
          </a:p>
          <a:p>
            <a:r>
              <a:rPr lang="zh-CN" dirty="0"/>
              <a:t>单元 17 · 使用 API 与 Plotly · W21–W22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学习目标：会调 GitHub search API 提取仓库信息；知道未认证每小时 60 次的限制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提取前 5 个热门仓库的 name / stars / url</a:t>
            </a:r>
          </a:p>
          <a:p>
            <a:r>
              <a:rPr lang="zh-CN" dirty="0"/>
              <a:t>· 打印 X-RateLimit-Remaining 看剩余次数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★ 给自己常看的语言拉一份 TOP 20 仓库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89 节 · 核心知识点：GitHub API 与速率限制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本节目标：会调 GitHub search API 提取仓库信息；知道未认证每小时 60 次的限制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89 节 · 核心知识点：GitHub API 与速率限制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本节目标：会调 GitHub search API 提取仓库信息；知道未认证每小时 60 次的限制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90 节 · Plotly 可视化与可点击链接</a:t>
            </a:r>
          </a:p>
          <a:p>
            <a:r>
              <a:rPr lang="zh-CN" dirty="0"/>
              <a:t>单元 17 · 使用 API 与 Plotly · W22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学习目标：会用 px.bar 可视化；会用 customdata + hovertemplate 做可点击链接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画出仓库条形图并加悬停内容</a:t>
            </a:r>
          </a:p>
          <a:p>
            <a:r>
              <a:rPr lang="zh-CN" dirty="0"/>
              <a:t>· 让图表里的仓库名能点击跳转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完成教材 17.2 全部动手练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90 节 · Plotly 可视化与可点击链接</a:t>
            </a:r>
          </a:p>
          <a:p>
            <a:r>
              <a:rPr lang="zh-CN" dirty="0"/>
              <a:t>单元 17 · 使用 API 与 Plotly · W22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学习目标：会用 px.bar 可视化；会用 customdata + hovertemplate 做可点击链接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画出仓库条形图并加悬停内容</a:t>
            </a:r>
          </a:p>
          <a:p>
            <a:r>
              <a:rPr lang="zh-CN" dirty="0"/>
              <a:t>· 让图表里的仓库名能点击跳转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完成教材 17.2 全部动手练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90 节 · 核心知识点：Plotly 可视化与可点击链接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本节目标：会用 px.bar 可视化；会用 customdata + hovertemplate 做可点击链接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90 节 · 核心知识点：Plotly 可视化与可点击链接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本节目标：会用 px.bar 可视化；会用 customdata + hovertemplate 做可点击链接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91 节 · Hacker News API 与动手实战</a:t>
            </a:r>
          </a:p>
          <a:p>
            <a:r>
              <a:rPr lang="zh-CN" dirty="0"/>
              <a:t>单元 17 · 使用 API 与 Plotly · W22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学习目标：掌握「先拿列表再取详情」的两段式调用；给 API 调用加容错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实现 Hacker News 抓取</a:t>
            </a:r>
          </a:p>
          <a:p>
            <a:r>
              <a:rPr lang="zh-CN" dirty="0"/>
              <a:t>· 故意让某个 id 请求失败，看程序会不会崩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★ 产出：能拉 GitHub 数据并出交互图的脚本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91 节 · Hacker News API 与动手实战</a:t>
            </a:r>
          </a:p>
          <a:p>
            <a:r>
              <a:rPr lang="zh-CN" dirty="0"/>
              <a:t>单元 17 · 使用 API 与 Plotly · W22</a:t>
            </a:r>
          </a:p>
          <a:p>
            <a:r>
              <a:rPr lang="zh-CN" dirty="0"/>
              <a:t/>
            </a:r>
          </a:p>
          <a:p>
            <a:r>
              <a:rPr lang="zh-CN" dirty="0"/>
              <a:t>学习目标：掌握「先拿列表再取详情」的两段式调用；给 API 调用加容错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课堂实操（40 分钟，不看答案）：</a:t>
            </a:r>
          </a:p>
          <a:p>
            <a:r>
              <a:rPr lang="zh-CN" dirty="0"/>
              <a:t>· 实现 Hacker News 抓取</a:t>
            </a:r>
          </a:p>
          <a:p>
            <a:r>
              <a:rPr lang="zh-CN" dirty="0"/>
              <a:t>· 故意让某个 id 请求失败，看程序会不会崩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课后作业：</a:t>
            </a:r>
          </a:p>
          <a:p>
            <a:r>
              <a:rPr lang="zh-CN" dirty="0"/>
              <a:t>· ★ 产出：能拉 GitHub 数据并出交互图的脚本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节奏：讲 20 分钟 → 学员自己敲 40 分钟（不看答案）→ 对讲评自查 20 分钟 → 写作业 10 分钟。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91 节 · 核心知识点：Hacker News API 与动手实战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本节目标：掌握「先拿列表再取详情」的两段式调用；给 API 调用加容错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第 91 节 · 核心知识点：Hacker News API 与动手实战</a:t>
            </a:r>
          </a:p>
          <a:p>
            <a:r>
              <a:rPr lang="zh-CN" dirty="0"/>
              <a:t/>
            </a:r>
          </a:p>
          <a:p>
            <a:r>
              <a:rPr lang="zh-CN" dirty="0"/>
              <a:t>讲这一页时：先让学生说出上节课的结论，再逐块讲要点。</a:t>
            </a:r>
          </a:p>
          <a:p>
            <a:r>
              <a:rPr lang="zh-CN" dirty="0"/>
              <a:t>每讲完一块，问一句「这一步如果写错了，报错会长什么样？」——把错误提前讲。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本节目标：掌握「先拿列表再取详情」的两段式调用；给 API 调用加容错</a:t>
            </a:r>
          </a:p>
          <a:p>
            <a:r>
              <a:rPr lang="zh-CN" dirty="0"/>
              <a:t/>
            </a:r>
          </a:p>
          <a:p>
            <a:r>
              <a:rPr lang="zh-CN" dirty="0"/>
              <a:t>看不到懂的地方，回讲义对应小节读一遍，再回来对着这页复述一次——能讲出来才算真懂。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17 小结 · 单元 17 · 小结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收尾动作：让学生合上讲义，口述本单元三个最重要的结论；说不出来的，回对应课节。</a:t>
            </a:r>
          </a:p>
          <a:p>
            <a:r>
              <a:rPr lang="zh-CN" dirty="0"/>
              <a:t>然后当场勾一遍本单元课节的「已完成」，没打勾的进下一单元前补掉。</a:t>
            </a:r>
          </a:p>
        </p:txBody>
      </p:sp>
      <p:sp>
        <p:nvSpPr>
          <p:cNvPr id="2" name="讲课提示"/>
          <p:cNvSpPr txBox="1"/>
          <p:nvPr/>
        </p:nvSpPr>
        <p:spPr>
          <a:xfrm>
            <a:off x="457200" y="457200"/>
            <a:ext cx="6858000" cy="4800600"/>
          </a:xfrm>
          <a:prstGeom prst="rect">
            <a:avLst/>
          </a:prstGeom>
        </p:spPr>
        <p:txBody>
          <a:bodyPr wrap="square"/>
          <a:lstStyle/>
          <a:p>
            <a:r>
              <a:rPr lang="zh-CN" dirty="0"/>
              <a:t>单元 17 小结 · 单元 17 · 小结</a:t>
            </a:r>
          </a:p>
          <a:p>
            <a:r>
              <a:rPr lang="zh-CN" dirty="0"/>
              <a:t/>
            </a:r>
          </a:p>
          <a:p>
            <a:r>
              <a:rPr lang="zh-CN" dirty="0"/>
              <a:t>收尾动作：让学生合上讲义，口述本单元三个最重要的结论；说不出来的，回对应课节。</a:t>
            </a:r>
          </a:p>
          <a:p>
            <a:r>
              <a:rPr lang="zh-CN" dirty="0"/>
              <a:t>然后当场勾一遍本单元课节的「已完成」，没打勾的进下一单元前补掉。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.sv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3.sv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4.sv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5.sv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6.sv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7.sv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8.sv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9.sv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10.sv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0" Type="http://schemas.openxmlformats.org/officeDocument/2006/relationships/slideLayout" Target="../slideLayouts/slideLayout1.xml"/><Relationship Id="rId1" Type="http://schemas.openxmlformats.org/officeDocument/2006/relationships/image" Target="media/image2.svg"/><Relationship Id="rId3" Type="http://schemas.openxmlformats.org/officeDocument/2006/relationships/notesSlide" Target="../notesSlides/notesSlide10.xml"/></Relationships>
</file>

<file path=ppt/slides/slide1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1" name="" descr="&lt;Slide style={{ width: '1280px', height: '720px', backgroundColor: '#FAFCFE', padding: 0, position: 'relative', overflow: 'hidden' }}&gt;&#13;&#10;    &lt;Box style={{ position: 'absolute', left: 0, top: 0, width: '1280px', height: '150px', background: '#1F5FA8' }} /&gt;&#13;&#10;    &lt;Box style={{ position: 'absolute', left: 64, top: 34, width: '1152px', flexDirection: 'column' }}&gt;&#13;&#10;        &lt;Text style={{ fontSize: 15, fontWeight: 'bold', color: '#BFD9F2', letterSpacing: 2 }}&gt;阶段 2 · 单元 17&lt;/Text&gt;&#13;&#10;        &lt;Text style={{ fontSize: 38, fontWeight: 'bold', color: '#FFFFFF', marginTop: 6 }}&gt;使用 API 与 Plotly&lt;/Text&gt;&#13;&#10;    &lt;/Box&gt;&#13;&#10;    &lt;Box style={{ position: 'absolute', left: 64, top: 168, width: '1152px', height: 470 }}&gt;&#13;&#10;        &lt;svg width='1152' height='470' viewBox='0 0 1152 470'&gt;&#13;&#10;            &lt;text x='0' y='18' fontSize='15' fontWeight='bold' fill='#16232E' fontFamily='Microsoft YaHei'&gt;本单元共 4 节课&lt;/text&gt;&#13;&#10;            &lt;rect x='0' y='196' width='1152' height='38' rx='7' fill='#FFFFFF' /&gt;&lt;text x='16' y='221' fontSize='15' fontWeight='bold' fill='#1F5FA8' fontFamily='Microsoft YaHei'&gt;第 88 节&lt;/text&gt;&lt;text x='96' y='221' fontSize='15' fill='#16232E' fontFamily='Microsoft YaHei'&gt;API 概念与 Requests&lt;/text&gt;&lt;text x='1080' y='221' fontSize='13' fill='#5A6B7A' textAnchor='end' fontFamily='Microsoft YaHei'&gt;W21&lt;/text&gt;&lt;rect x='0' y='238' width='1152' height='38' rx='7' fill='#F2F7FD' /&gt;&lt;text x='16' y='263' fontSize='15' fontWeight='bold' fill='#1F5FA8' fontFamily='Microsoft YaHei'&gt;第 89 节&lt;/text&gt;&lt;text x='96' y='263' fontSize='15' fill='#16232E' fontFamily='Microsoft YaHei'&gt;GitHub API 与速率限制&lt;/text&gt;&lt;text x='1080' y='263' fontSize='13' fill='#5A6B7A' textAnchor='end' fontFamily='Microsoft YaHei'&gt;W21&lt;/text&gt;&lt;rect x='0' y='280' width='1152' height='38' rx='7' fill='#FFFFFF' /&gt;&lt;text x='16' y='305' fontSize='15' fontWeight='bold' fill='#1F5FA8' fontFamily='Microsoft YaHei'&gt;第 90 节&lt;/text&gt;&lt;text x='96' y='305' fontSize='15' fill='#16232E' fontFamily='Microsoft YaHei'&gt;Plotly 可视化与可点击链接&lt;/text&gt;&lt;text x='1080' y='305' fontSize='13' fill='#5A6B7A' textAnchor='end' fontFamily='Microsoft YaHei'&gt;W21&lt;/text&gt;&lt;rect x='0' y='322' width='1152' height='38' rx='7' fill='#F2F7FD' /&gt;&lt;text x='16' y='347' fontSize='15' fontWeight='bold' fill='#1F5FA8' fontFamily='Microsoft YaHei'&gt;第 91 节&lt;/text&gt;&lt;text x='96' y='347' fontSize='15' fill='#16232E' fontFamily='Microsoft YaHei'&gt;Hacker News API 与动手实战&lt;/text&gt;&lt;text x='1080' y='347' fontSize='13' fill='#5A6B7A' textAnchor='end' fontFamily='Microsoft YaHei'&gt;W21&lt;/text&gt;&#13;&#10;        &lt;/svg&gt;&#13;&#10;    &lt;/Box&gt;&#13;&#10;    &lt;Box style={{ position: 'absolute', left: 64, bottom: 22, width: '1152px', flexDirection: 'row', justifyContent: 'space-between' }}&gt;&#13;&#10;        &lt;Text style={{ fontSize: 13, color: '#8A9AAA' }}&gt;Python 讲授课件 · 逐节版&lt;/Text&gt;&#13;&#10;        &lt;Text style={{ fontSize: 13, color: '#8A9AAA' }}&gt;单元 17 · 封面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0" y="0"/>
            <a:ext cx="12192000" cy="1428750"/>
          </a:xfrm>
          <a:prstGeom prst="rect">
            <a:avLst/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609600" y="323850"/>
            <a:ext cx="109728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阶段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2 · </a:t>
            </a:r>
            <a:r>
              <a:rPr lang="zh-CN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>单元</a:t>
            </a:r>
            <a:r>
              <a:rPr lang="en-US" sz="1125" b="1" spc="150">
                <a:solidFill>
                  <a:srgbClr val="BFD9F2"/>
                </a:solidFill>
                <a:latin typeface="Microsoft YaHei"/>
                <a:ea typeface="Microsoft YaHei"/>
              </a:rPr>
              <a:t xml:space="preserve"> 17</a:t>
            </a:r>
            <a:endParaRPr/>
          </a:p>
        </p:txBody>
      </p:sp>
      <p:sp>
        <p:nvSpPr>
          <p:cNvPr id="5" name="" descr="{&quot;isTemplate&quot;:true,&quot;type&quot;:&quot;text&quot;}"/>
          <p:cNvSpPr txBox="1"/>
          <p:nvPr/>
        </p:nvSpPr>
        <p:spPr>
          <a:xfrm rot="0" flipH="0" flipV="0">
            <a:off x="609600" y="552450"/>
            <a:ext cx="10972800" cy="4381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使用</a:t>
            </a: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2850" b="1">
                <a:solidFill>
                  <a:srgbClr val="FFFFFF"/>
                </a:solidFill>
                <a:latin typeface="Microsoft YaHei"/>
                <a:ea typeface="Microsoft YaHei"/>
              </a:rPr>
              <a:t>与</a:t>
            </a:r>
            <a:r>
              <a:rPr lang="en-US" sz="28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Plotly</a:t>
            </a:r>
            <a:endParaRPr/>
          </a:p>
        </p:txBody>
      </p:sp>
      <p:pic>
        <p:nvPicPr>
          <p:cNvPr id="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609600" y="1600200"/>
            <a:ext cx="10972800" cy="4476750"/>
          </a:xfrm>
          <a:prstGeom prst="rect">
            <a:avLst/>
          </a:prstGeom>
          <a:ln/>
        </p:spPr>
      </p:pic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10801350" y="64960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17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封面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3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88 / 111 节&lt;/Text&gt;&#13;&#10;        &lt;/Box&gt;&#13;&#10;        &lt;Text style={{ fontSize: 30, fontWeight: 'bold', color: '#16232E' }}&gt;API 概念与 Requests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理解 API 是什么；会用 requests.get 并检查 status_code、用 .json() 拿字典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发一次请求并打印 status_code 与响应前 200 字符&lt;/text&gt;&lt;text x='84' y='338.75' fontSize='14.5' fill='#3A4A58' textAnchor='start' fontFamily='Microsoft YaHei'&gt;· 故意请求一个不存在的 URL 看 404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装好 requests 并跑通第一个 API 调用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7 · 第 88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25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88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28289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API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概念与</a:t>
            </a: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Requests</a:t>
            </a:r>
            <a:endParaRPr/>
          </a:p>
        </p:txBody>
      </p:sp>
      <p:pic>
        <p:nvPicPr>
          <p:cNvPr id="2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2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88 节&lt;/Text&gt;&#13;&#10;        &lt;/Box&gt;&#13;&#10;        &lt;Text style={{ fontSize: 30, fontWeight: 'bold', color: '#16232E' }}&gt;核心知识点&lt;/Text&gt;&#13;&#10;        &lt;Text style={{ fontSize: 15, color: '#5A6B7A', marginTop: 10 }}&gt;· API 概念与 Requests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2.1 API 是什么：餐厅服务员的类比&lt;/text&gt;&lt;text x='82' y='169.0' fontSize='13' fill='#3A4A58' textAnchor='start' fontFamily='Microsoft YaHei'&gt;· API（Application Programming Interface，应用程&lt;/text&gt;&lt;text x='82' y='188.5' fontSize='13' fill='#3A4A58' textAnchor='start' fontFamily='Microsoft YaHei'&gt;序编程接口） 是一种…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2.2 requests.get() 与响应对象：先看 s…&lt;/text&gt;&lt;text x='486' y='169.0' fontSize='13' fill='#3A4A58' textAnchor='start' fontFamily='Microsoft YaHei'&gt;· status_code 必须先看，200 和 403 后面接的操作完&lt;/text&gt;&lt;text x='486' y='188.5' fontSize='13' fill='#3A4A58' textAnchor='start' fontFamily='Microsoft YaHei'&gt;全不同：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2.3 .json()：把响应体变成字典 ★&lt;/text&gt;&lt;text x='890' y='169.0' fontSize='13' fill='#3A4A58' textAnchor='start' fontFamily='Microsoft YaHei'&gt;· 这是 API 调用最关键的一步：把 JSON 文本解析成 Py&lt;/text&gt;&lt;text x='890' y='188.5' fontSize='13' fill='#3A4A58' textAnchor='start' fontFamily='Microsoft YaHei'&gt;thon 的字典和列表，从此你就能用单元…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7 · 第 88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1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88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438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API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概念与</a:t>
            </a: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 Requests</a:t>
            </a:r>
            <a:endParaRPr/>
          </a:p>
        </p:txBody>
      </p:sp>
      <p:pic>
        <p:nvPicPr>
          <p:cNvPr id="35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4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6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89 / 111 节&lt;/Text&gt;&#13;&#10;        &lt;/Box&gt;&#13;&#10;        &lt;Text style={{ fontSize: 30, fontWeight: 'bold', color: '#16232E' }}&gt;GitHub API 与速率限制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会调 GitHub search API 提取仓库信息；知道未认证每小时 60 次的限制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提取前 5 个热门仓库的 name / stars / url&lt;/text&gt;&lt;text x='84' y='338.75' fontSize='14.5' fill='#3A4A58' textAnchor='start' fontFamily='Microsoft YaHei'&gt;· 打印 X-RateLimit-Remaining 看剩余次数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★ 给自己常看的语言拉一份 TOP 20 仓库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7 · 第 89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38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89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31337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GitHub API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与速率限制</a:t>
            </a:r>
            <a:endParaRPr/>
          </a:p>
        </p:txBody>
      </p:sp>
      <p:pic>
        <p:nvPicPr>
          <p:cNvPr id="4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5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89 节&lt;/Text&gt;&#13;&#10;        &lt;/Box&gt;&#13;&#10;        &lt;Text style={{ fontSize: 30, fontWeight: 'bold', color: '#16232E' }}&gt;核心知识点&lt;/Text&gt;&#13;&#10;        &lt;Text style={{ fontSize: 15, color: '#5A6B7A', marginTop: 10 }}&gt;· GitHub API 与速率限制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4 GitHub search API：请求头与速率限…&lt;/text&gt;&lt;text x='82' y='169.0' fontSize='13' fill='#3A4A58' textAnchor='start' fontFamily='Microsoft YaHei'&gt;· 请求头（headers）是 API 的另一半。 教材这一步要求带上 headers = ｛&quot;Accep…&lt;/text&gt;&lt;text x='82' y='197.5' fontSize='13' fill='#3A4A58' textAnchor='start' fontFamily='Microsoft YaHei'&gt;· 速率限制。 任何正经 API 都有速率限制——服务器资源有限，人人每秒请求 1000 次&lt;/text&gt;&lt;text x='82' y='217.0' fontSize='13' fill='#3A4A58' textAnchor='start' fontFamily='Microsoft YaHei'&gt;网站就垮了。G…&lt;/text&gt;&lt;text x='82' y='245.5' fontSize='13' fill='#3A4A58' textAnchor='start' fontFamily='Microsoft YaHei'&gt;· 四条必须养成的工程习惯（教材 17.1 反复强调的）：请求包 try/except（否则断网&lt;/text&gt;&lt;text x='82' y='265.0' fontSize='13' fill='#3A4A58' textAnchor='start' fontFamily='Microsoft YaHei'&gt;就崩）、检…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5 Plotly 可视化仓库：悬停提示与颜色&lt;/text&gt;&lt;text x='686' y='169.0' fontSize='13' fill='#3A4A58' textAnchor='start' fontFamily='Microsoft YaHei'&gt;· 数据齐了，进入 17.2。上一单元你用过 px.scatter_geo，这里换 px.bar——横向柱&lt;/text&gt;&lt;text x='686' y='188.5' fontSize='13' fill='#3A4A58' textAnchor='start' fontFamily='Microsoft YaHei'&gt;…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7 · 第 89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44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89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600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GitHub API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与速率限制</a:t>
            </a:r>
            <a:endParaRPr/>
          </a:p>
        </p:txBody>
      </p:sp>
      <p:pic>
        <p:nvPicPr>
          <p:cNvPr id="48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6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49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90 / 111 节&lt;/Text&gt;&#13;&#10;        &lt;/Box&gt;&#13;&#10;        &lt;Text style={{ fontSize: 30, fontWeight: 'bold', color: '#16232E' }}&gt;Plotly 可视化与可点击链接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会用 px.bar 可视化；会用 customdata + hovertemplate 做可点击链接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画出仓库条形图并加悬停内容&lt;/text&gt;&lt;text x='84' y='338.75' fontSize='14.5' fill='#3A4A58' textAnchor='start' fontFamily='Microsoft YaHei'&gt;· 让图表里的仓库名能点击跳转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完成教材 17.2 全部动手练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7 · 第 90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1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90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3486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Plotly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可视化与可点击链接</a:t>
            </a:r>
            <a:endParaRPr/>
          </a:p>
        </p:txBody>
      </p:sp>
      <p:pic>
        <p:nvPicPr>
          <p:cNvPr id="5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7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55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90 节&lt;/Text&gt;&#13;&#10;        &lt;/Box&gt;&#13;&#10;        &lt;Text style={{ fontSize: 30, fontWeight: 'bold', color: '#16232E' }}&gt;核心知识点&lt;/Text&gt;&#13;&#10;        &lt;Text style={{ fontSize: 15, color: '#5A6B7A', marginTop: 10 }}&gt;· Plotly 可视化与可点击链接&lt;/Text&gt;&#13;&#10;    &lt;/Box&gt;&#13;&#10;    &lt;Box style={{ position: 'absolute', left: 0, top: 0, width: '1280px', height: '720px' }}&gt;&#13;&#10;        &lt;svg width='1280' height='720' viewBox='0 0 1280 720'&gt;&#13;&#10;            &lt;rect x='64' y='96' width='548' height='330' rx='12' fill='#FFFFFF' stroke='#D8E3EE' /&gt;&lt;rect x='64' y='96' width='548' height='4' rx='2' fill='#1F5FA8' /&gt;&lt;text x='82' y='130' fontSize='15.5' fontWeight='bold' fill='#1F5FA8' textAnchor='start' fontFamily='Microsoft YaHei'&gt;2.6 ★ 可单击链接：custom_data 与 hov…&lt;/text&gt;&lt;text x='82' y='169.0' fontSize='13' fill='#3A4A58' textAnchor='start' fontFamily='Microsoft YaHei'&gt;· 问题在哪？ Plotly 默认只把数据当纯文本显示。URL 看着像网址，但点不动。解法两&lt;/text&gt;&lt;text x='82' y='188.5' fontSize='13' fill='#3A4A58' textAnchor='start' fontFamily='Microsoft YaHei'&gt;步：custo…&lt;/text&gt;&lt;text x='82' y='217.0' fontSize='13' fill='#3A4A58' textAnchor='start' fontFamily='Microsoft YaHei'&gt;· 为什么链接文字是写死的？ HTML 的 ＜a href='地址'＞显示文字＜/a＞ 里地址和文&lt;/text&gt;&lt;text x='82' y='236.5' fontSize='13' fill='#3A4A58' textAnchor='start' fontFamily='Microsoft YaHei'&gt;字是两个…&lt;/text&gt;&lt;text x='82' y='265.0' fontSize='13' fill='#3A4A58' textAnchor='start' fontFamily='Microsoft YaHei'&gt;· 链接点了没反应？三个必查项： ① custom_data 的列名写错了（写 url 但 DataFra&lt;/text&gt;&lt;text x='82' y='284.5' fontSize='13' fill='#3A4A58' textAnchor='start' fontFamily='Microsoft YaHei'&gt;…&lt;/text&gt;&lt;rect x='668' y='96' width='548' height='330' rx='12' fill='#FFFFFF' stroke='#D8E3EE' /&gt;&lt;rect x='668' y='96' width='548' height='4' rx='2' fill='#1F5FA8' /&gt;&lt;text x='686' y='130' fontSize='15.5' fontWeight='bold' fill='#1F5FA8' textAnchor='start' fontFamily='Microsoft YaHei'&gt;2.7 Hacker News API：先拿列表、再取详情…&lt;/text&gt;&lt;text x='686' y='169.0' fontSize='13' fill='#3A4A58' textAnchor='start' fontFamily='Microsoft YaHei'&gt;· 为什么这么设计？ 因为它通用又省流量：一份 id 列表能配不同详情查询，组合出「当&lt;/text&gt;&lt;text x='686' y='188.5' fontSize='13' fill='#3A4A58' textAnchor='start' fontFamily='Microsoft YaHei'&gt;前最热」「某作者的帖…&lt;/text&gt;&lt;text x='64' y='470' fontSize='14.5' fontWeight='bold' fill='#0E9B78' textAnchor='start' fontFamily='Microsoft YaHei'&gt;本节的代码示例&lt;/text&gt;&lt;text x='64' y='500' fontSize='13' fill='#3A4A58' textAnchor='start' fontFamily='Microsoft YaHei'&gt;· 认识 API 网址的结构 + 第一次调用&lt;/text&gt;&lt;text x='468' y='500' fontSize='13' fill='#3A4A58' textAnchor='start' fontFamily='Microsoft YaHei'&gt;· 处理响应字典——提取平行列表&lt;/text&gt;&lt;text x='872' y='500' fontSize='13' fill='#3A4A58' textAnchor='start' fontFamily='Microsoft YaHei'&gt;· 速率限制守门员 + 缓存响应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7 · 第 90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57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90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17907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Plotly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可视化与可点击链接</a:t>
            </a:r>
            <a:endParaRPr/>
          </a:p>
        </p:txBody>
      </p:sp>
      <p:pic>
        <p:nvPicPr>
          <p:cNvPr id="61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8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2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1F5FA8', borderRadius: 5, padding: '3px 11px' }}&gt;&#13;&#10;            &lt;Text style={{ fontSize: 14, fontWeight: 'bold', color: '#FFFFFF' }}&gt;第 91 / 111 节&lt;/Text&gt;&#13;&#10;        &lt;/Box&gt;&#13;&#10;        &lt;Text style={{ fontSize: 30, fontWeight: 'bold', color: '#16232E' }}&gt;Hacker News API 与动手实战&lt;/Text&gt;&#13;&#10;    &lt;/Box&gt;&#13;&#10;    &lt;Box style={{ position: 'absolute', left: 0, top: 0, width: '1280px', height: '720px' }}&gt;&#13;&#10;        &lt;svg width='1280' height='720' viewBox='0 0 1280 720'&gt;&#13;&#10;            &lt;rect x='64' y='104' width='1152' height='112' rx='12' fill='#EEF5FB' /&gt;&lt;text x='84' y='134' fontSize='15' fontWeight='bold' fill='#1F5FA8' textAnchor='start' fontFamily='Microsoft YaHei'&gt;学习目标&lt;/text&gt;&lt;text x='84' y='164' fontSize='16' fill='#243444' textAnchor='start' fontFamily='Microsoft YaHei'&gt;掌握「先拿列表再取详情」的两段式调用；给 API 调用加容错&lt;/text&gt;&lt;rect x='64' y='240' width='562' height='248' rx='12' fill='#FFFFFF' stroke='#D8E3EE' /&gt;&lt;text x='84' y='274' fontSize='15' fontWeight='bold' fill='#0E9B78' textAnchor='start' fontFamily='Microsoft YaHei'&gt;课堂实操（40 分钟 · 不看答案）&lt;/text&gt;&lt;text x='84' y='308.0' fontSize='14.5' fill='#3A4A58' textAnchor='start' fontFamily='Microsoft YaHei'&gt;· 实现 Hacker News 抓取&lt;/text&gt;&lt;text x='84' y='338.75' fontSize='14.5' fill='#3A4A58' textAnchor='start' fontFamily='Microsoft YaHei'&gt;· 故意让某个 id 请求失败，看程序会不会崩&lt;/text&gt;&lt;rect x='654' y='240' width='562' height='248' rx='12' fill='#FDF3E2' stroke='none' /&gt;&lt;text x='674' y='274' fontSize='15' fontWeight='bold' fill='#E08A15' textAnchor='start' fontFamily='Microsoft YaHei'&gt;课后作业&lt;/text&gt;&lt;text x='674' y='308.0' fontSize='14.5' fill='#3A4A58' textAnchor='start' fontFamily='Microsoft YaHei'&gt;· ★ 产出：能拉 GitHub 数据并出交互图的脚本&lt;/text&gt;&lt;rect x='64' y='508' width='1152' height='92' rx='12' fill='#16232E' /&gt;&lt;text x='84' y='540' fontSize='14.5' fontWeight='bold' fill='#FFFFFF' textAnchor='start' fontFamily='Microsoft YaHei'&gt;这节课的节奏&lt;/text&gt;&lt;text x='84' y='570' fontSize='14' fill='#A8C4DE' textAnchor='start' fontFamily='Microsoft YaHei'&gt;先读讲义 20 分钟 → 自己敲 40 分钟（报错先自己读） → 对着讲评自查 20 分钟 → 写作业 10 分钟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7 · 第 91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64" name=""/>
          <p:cNvSpPr/>
          <p:nvPr/>
        </p:nvSpPr>
        <p:spPr>
          <a:xfrm rot="0" flipH="0" flipV="0">
            <a:off x="609600" y="409575"/>
            <a:ext cx="1114425" cy="219075"/>
          </a:xfrm>
          <a:prstGeom prst="roundRect">
            <a:avLst>
              <a:gd name="adj" fmla="val 21739"/>
            </a:avLst>
          </a:prstGeom>
          <a:solidFill>
            <a:srgbClr val="1F5FA8"/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904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91 / 111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1838325" y="342900"/>
            <a:ext cx="39814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Hacker News API </a:t>
            </a: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与动手实战</a:t>
            </a:r>
            <a:endParaRPr/>
          </a:p>
        </p:txBody>
      </p:sp>
      <p:pic>
        <p:nvPicPr>
          <p:cNvPr id="67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9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68" name="" descr="&lt;Slide style={{ width: '1280px', height: '720px', backgroundColor: '#FAFCFE', padding: 0, position: 'relative', overflow: 'hidden' }}&gt;&#13;&#10;    &lt;Box style={{ position: 'absolute', left: 64, top: 36, width: '1152px', flexDirection: 'row', alignItems: 'center', gap: 12 }}&gt;&#13;&#10;        &lt;Box style={{ background: '#0E9B78', borderRadius: 5, padding: '3px 11px' }}&gt;&#13;&#10;            &lt;Text style={{ fontSize: 14, fontWeight: 'bold', color: '#FFFFFF' }}&gt;第 91 节&lt;/Text&gt;&#13;&#10;        &lt;/Box&gt;&#13;&#10;        &lt;Text style={{ fontSize: 30, fontWeight: 'bold', color: '#16232E' }}&gt;核心知识点&lt;/Text&gt;&#13;&#10;        &lt;Text style={{ fontSize: 15, color: '#5A6B7A', marginTop: 10 }}&gt;· Hacker News API 与动手实战&lt;/Text&gt;&#13;&#10;    &lt;/Box&gt;&#13;&#10;    &lt;Box style={{ position: 'absolute', left: 0, top: 0, width: '1280px', height: '720px' }}&gt;&#13;&#10;        &lt;svg width='1280' height='720' viewBox='0 0 1280 720'&gt;&#13;&#10;            &lt;rect x='64' y='96' width='368' height='330' rx='12' fill='#FFFFFF' stroke='#D8E3EE' /&gt;&lt;rect x='64' y='96' width='368' height='4' rx='2' fill='#1F5FA8' /&gt;&lt;text x='82' y='130' fontSize='15.5' fontWeight='bold' fill='#1F5FA8' textAnchor='start' fontFamily='Microsoft YaHei'&gt;基础档&lt;/text&gt;&lt;text x='82' y='169.0' fontSize='13' fill='#3A4A58' textAnchor='start' fontFamily='Microsoft YaHei'&gt;· 练习 17-1【API 网址解析器与响应字典解剖】&lt;/text&gt;&lt;text x='82' y='197.5' fontSize='13' fill='#3A4A58' textAnchor='start' fontFamily='Microsoft YaHei'&gt;· 练习 17-2【API 观测台】&lt;/text&gt;&lt;rect x='468' y='96' width='368' height='330' rx='12' fill='#FFFFFF' stroke='#D8E3EE' /&gt;&lt;rect x='468' y='96' width='368' height='4' rx='2' fill='#1F5FA8' /&gt;&lt;text x='486' y='130' fontSize='15.5' fontWeight='bold' fill='#1F5FA8' textAnchor='start' fontFamily='Microsoft YaHei'&gt;进阶档&lt;/text&gt;&lt;text x='486' y='169.0' fontSize='13' fill='#3A4A58' textAnchor='start' fontFamily='Microsoft YaHei'&gt;· 练习 17-3【★ 可点击的仓库榜（带缓存与兜底）】&lt;/text&gt;&lt;text x='486' y='197.5' fontSize='13' fill='#3A4A58' textAnchor='start' fontFamily='Microsoft YaHei'&gt;· 练习 17-4【Hacker News 摘要机】&lt;/text&gt;&lt;rect x='872' y='96' width='368' height='330' rx='12' fill='#FFFFFF' stroke='#D8E3EE' /&gt;&lt;rect x='872' y='96' width='368' height='4' rx='2' fill='#1F5FA8' /&gt;&lt;text x='890' y='130' fontSize='15.5' fontWeight='bold' fill='#1F5FA8' textAnchor='start' fontFamily='Microsoft YaHei'&gt;参考答案 17-1&lt;/text&gt;&lt;text x='890' y='169.0' fontSize='13' fill='#3A4A58' textAnchor='start' fontFamily='Microsoft YaHei'&gt;· import requests&lt;/text&gt;&lt;rect x='64' y='574' width='1152' height='66' rx='12' fill='#EEF5FB' /&gt;&lt;text x='84' y='616' fontSize='14' fill='#243444' textAnchor='start' fontFamily='Microsoft YaHei'&gt;看不懂的地方先回讲义对应小节读一遍，再回来对着这页复述一次——能讲出来才算真懂。&lt;/text&gt;&#13;&#10;            &lt;text x='64' y='684' fontSize='13' fill='#8A9AAA' fontFamily='Microsoft YaHei'&gt;Python 讲授课件 · 逐节版&lt;/text&gt;&#13;&#10;            &lt;text x='1216' y='684' fontSize='13' fill='#8A9AAA' textAnchor='end' fontFamily='Microsoft YaHei'&gt;单元 17 · 第 91 节&lt;/text&gt;&#13;&#10;        &lt;/svg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70" name=""/>
          <p:cNvSpPr/>
          <p:nvPr/>
        </p:nvSpPr>
        <p:spPr>
          <a:xfrm rot="0" flipH="0" flipV="0">
            <a:off x="609600" y="409575"/>
            <a:ext cx="723900" cy="219075"/>
          </a:xfrm>
          <a:prstGeom prst="roundRect">
            <a:avLst>
              <a:gd name="adj" fmla="val 21739"/>
            </a:avLst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714375" y="438150"/>
            <a:ext cx="514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第</a:t>
            </a:r>
            <a:r>
              <a:rPr lang="en-US" sz="10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91 </a:t>
            </a: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节</a:t>
            </a:r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447800" y="342900"/>
            <a:ext cx="1428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16232E"/>
                </a:solidFill>
                <a:latin typeface="Microsoft YaHei"/>
                <a:ea typeface="Microsoft YaHei"/>
              </a:rPr>
              <a:t>核心知识点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2990850" y="476250"/>
            <a:ext cx="2000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5A6B7A"/>
                </a:solidFill>
                <a:latin typeface="Microsoft YaHei"/>
                <a:ea typeface="Microsoft YaHei"/>
              </a:rPr>
              <a:t xml:space="preserve">· Hacker News API </a:t>
            </a:r>
            <a:r>
              <a:rPr lang="zh-CN" sz="1125">
                <a:solidFill>
                  <a:srgbClr val="5A6B7A"/>
                </a:solidFill>
                <a:latin typeface="Microsoft YaHei"/>
                <a:ea typeface="Microsoft YaHei"/>
              </a:rPr>
              <a:t>与动手实战</a:t>
            </a:r>
            <a:endParaRPr/>
          </a:p>
        </p:txBody>
      </p:sp>
      <p:pic>
        <p:nvPicPr>
          <p:cNvPr id="74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</p:spTree>
  </p:cSld>
</p:sld>
</file>

<file path=ppt/slides/slide10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9" name="" descr="&lt;Slide style={{ width: '1280px', height: '720px', backgroundColor: '#FAFCFE', padding: 0, position: 'relative', overflow: 'hidden' }}&gt;&#13;&#10;    &lt;Box style={{ position: 'absolute', left: 0, top: 0, width: '12px', height: '720px', background: '#0E9B78' }} /&gt;&#13;&#10;    &lt;Box style={{ position: 'absolute', left: 72, top: 44, width: '1144px', flexDirection: 'column' }}&gt;&#13;&#10;        &lt;Text style={{ fontSize: 34, fontWeight: 'bold', color: '#16232E' }}&gt;单元 17 · 小结与验收&lt;/Text&gt;&#13;&#10;        &lt;Text style={{ fontSize: 16, color: '#5A6B7A', marginTop: 6 }}&gt;使用 API 与 Plotly&lt;/Text&gt;&#13;&#10;    &lt;/Box&gt;&#13;&#10;    &lt;Box style={{ position: 'absolute', left: 72, top: 148, width: '552px', height: 400, background: '#FFFFFF', border: '1px solid #D8E3EE', borderRadius: 12, padding: 18, flexDirection: 'column' }}&gt;&#13;&#10;        &lt;Text style={{ fontSize: 16, fontWeight: 'bold', color: '#1F5FA8' }}&gt;本单元课节回顾&lt;/Text&gt;&#13;&#10;        &lt;Box style={{ marginTop: 10, position: 'relative', height: 330 }}&gt;&#13;&#10;            &lt;svg width='516' height='330' viewBox='0 0 516 330'&gt;&lt;text x='0' y='34' fontSize='14.5' fill='#3A4A58' fontFamily='Microsoft YaHei'&gt;· 第 88 节 · API 概念与 Requests&lt;/text&gt;&lt;text x='0' y='64' fontSize='14.5' fill='#3A4A58' fontFamily='Microsoft YaHei'&gt;· 第 89 节 · GitHub API 与速率限制&lt;/text&gt;&lt;text x='0' y='94' fontSize='14.5' fill='#3A4A58' fontFamily='Microsoft YaHei'&gt;· 第 90 节 · Plotly 可视化与可点击链接&lt;/text&gt;&lt;text x='0' y='124' fontSize='14.5' fill='#3A4A58' fontFamily='Microsoft YaHei'&gt;· 第 91 节 · Hacker News API 与动手实战&lt;/text&gt;&lt;/svg&gt;&#13;&#10;        &lt;/Box&gt;&#13;&#10;    &lt;/Box&gt;&#13;&#10;    &lt;Box style={{ position: 'absolute', left: 656, top: 148, width: '560px', height: 400, background: '#FDF3E2', borderRadius: 12, padding: 20, flexDirection: 'column' }}&gt;&#13;&#10;        &lt;Text style={{ fontSize: 16, fontWeight: 'bold', color: '#E08A15' }}&gt;过关标准&lt;/Text&gt;&#13;&#10;        &lt;Text style={{ fontSize: 15, color: '#3A4A58', marginTop: 12, lineHeight: 1.9 }}&gt;&#13;&#10;            1. 本单元每一节的课后作业都做完并自己验收过&#13;&#10;&#13;&#10;            2. 不看讲义能独立重写一遍本单元的示例代码&#13;&#10;&#13;&#10;            3. 讲义最后「本单元验收自测」全部答对&#13;&#10;&#13;&#10;            4. 产出物已经写进笔记或提交到 Git&#13;&#10;        &lt;/Text&gt;&#13;&#10;        &lt;Text style={{ fontSize: 14, color: '#8A6A2A', marginTop: 16, lineHeight: 1.7 }}&gt;&#13;&#10;            没过关的项回到对应那一节重做，不要整体重学。&#13;&#10;        &lt;/Text&gt;&#13;&#10;    &lt;/Box&gt;&#13;&#10;    &lt;Box style={{ position: 'absolute', left: 72, bottom: 26, width: '1144px', flexDirection: 'row', justifyContent: 'space-between' }}&gt;&#13;&#10;        &lt;Text style={{ fontSize: 13, color: '#8A9AAA' }}&gt;Python 讲授课件 · 逐节版&lt;/Text&gt;&#13;&#10;        &lt;Text style={{ fontSize: 13, color: '#8A9AAA' }}&gt;单元 17 · 小结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AFCFE"/>
          </a:solidFill>
          <a:ln/>
        </p:spPr>
        <p:txBody>
          <a:bodyPr/>
          <a:p/>
        </p:txBody>
      </p:sp>
      <p:sp>
        <p:nvSpPr>
          <p:cNvPr id="11" name=""/>
          <p:cNvSpPr/>
          <p:nvPr/>
        </p:nvSpPr>
        <p:spPr>
          <a:xfrm rot="0" flipH="0" flipV="0">
            <a:off x="0" y="0"/>
            <a:ext cx="114300" cy="6858000"/>
          </a:xfrm>
          <a:prstGeom prst="rect">
            <a:avLst/>
          </a:prstGeom>
          <a:solidFill>
            <a:srgbClr val="0E9B78"/>
          </a:solidFill>
          <a:ln/>
        </p:spPr>
        <p:txBody>
          <a:bodyPr/>
          <a:p/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85800" y="419100"/>
            <a:ext cx="10896600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单元</a:t>
            </a:r>
            <a:r>
              <a:rPr lang="en-US" sz="2550" b="1">
                <a:solidFill>
                  <a:srgbClr val="16232E"/>
                </a:solidFill>
                <a:latin typeface="Microsoft YaHei"/>
                <a:ea typeface="Microsoft YaHei"/>
              </a:rPr>
              <a:t xml:space="preserve"> 17 · </a:t>
            </a:r>
            <a:r>
              <a:rPr lang="zh-CN" sz="2550" b="1">
                <a:solidFill>
                  <a:srgbClr val="16232E"/>
                </a:solidFill>
                <a:latin typeface="Microsoft YaHei"/>
                <a:ea typeface="Microsoft YaHei"/>
              </a:rPr>
              <a:t>小结与验收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85800" y="866775"/>
            <a:ext cx="10896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使用</a:t>
            </a: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200">
                <a:solidFill>
                  <a:srgbClr val="5A6B7A"/>
                </a:solidFill>
                <a:latin typeface="Microsoft YaHei"/>
                <a:ea typeface="Microsoft YaHei"/>
              </a:rPr>
              <a:t>与</a:t>
            </a:r>
            <a:r>
              <a:rPr lang="en-US" sz="1200">
                <a:solidFill>
                  <a:srgbClr val="5A6B7A"/>
                </a:solidFill>
                <a:latin typeface="Microsoft YaHei"/>
                <a:ea typeface="Microsoft YaHei"/>
              </a:rPr>
              <a:t xml:space="preserve"> Plotly</a:t>
            </a:r>
            <a:endParaRPr/>
          </a:p>
        </p:txBody>
      </p:sp>
      <p:sp>
        <p:nvSpPr>
          <p:cNvPr id="14" name=""/>
          <p:cNvSpPr/>
          <p:nvPr/>
        </p:nvSpPr>
        <p:spPr>
          <a:xfrm rot="0" flipH="0" flipV="0">
            <a:off x="685800" y="1409700"/>
            <a:ext cx="5257800" cy="38100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D8E3EE"/>
            </a:solidFill>
            <a:prstDash val="solid"/>
          </a:ln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857250" y="1581150"/>
            <a:ext cx="49149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1F5FA8"/>
                </a:solidFill>
                <a:latin typeface="Microsoft YaHei"/>
                <a:ea typeface="Microsoft YaHei"/>
              </a:rPr>
              <a:t>本单元课节回顾</a:t>
            </a:r>
            <a:endParaRPr/>
          </a:p>
        </p:txBody>
      </p:sp>
      <p:pic>
        <p:nvPicPr>
          <p:cNvPr id="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857250" y="1866900"/>
            <a:ext cx="4914900" cy="3143250"/>
          </a:xfrm>
          <a:prstGeom prst="rect">
            <a:avLst/>
          </a:prstGeom>
          <a:ln/>
        </p:spPr>
      </p:pic>
      <p:sp>
        <p:nvSpPr>
          <p:cNvPr id="17" name=""/>
          <p:cNvSpPr/>
          <p:nvPr/>
        </p:nvSpPr>
        <p:spPr>
          <a:xfrm rot="0" flipH="0" flipV="0">
            <a:off x="6248400" y="1409700"/>
            <a:ext cx="5334000" cy="3810000"/>
          </a:xfrm>
          <a:prstGeom prst="roundRect">
            <a:avLst>
              <a:gd name="adj" fmla="val 3000"/>
            </a:avLst>
          </a:prstGeom>
          <a:solidFill>
            <a:srgbClr val="FDF3E2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6438900" y="1600200"/>
            <a:ext cx="4953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E08A15"/>
                </a:solidFill>
                <a:latin typeface="Microsoft YaHei"/>
                <a:ea typeface="Microsoft YaHei"/>
              </a:rPr>
              <a:t>过关标准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438900" y="1905000"/>
            <a:ext cx="4953000" cy="9810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90000"/>
              </a:lnSpc>
            </a:pP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1.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本单元每一节的课后作业都做完并自己验收过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2.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不看讲义能独立重写一遍本单元的示例代码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3.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讲义最后「本单元验收自测」全部答对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4. </a:t>
            </a:r>
            <a:r>
              <a:rPr lang="zh-CN" sz="1125">
                <a:solidFill>
                  <a:srgbClr val="3A4A58"/>
                </a:solidFill>
                <a:latin typeface="Microsoft YaHei"/>
                <a:ea typeface="Microsoft YaHei"/>
              </a:rPr>
              <a:t>产出物已经写进笔记或提交到</a:t>
            </a:r>
            <a:r>
              <a:rPr lang="en-US" sz="1125">
                <a:solidFill>
                  <a:srgbClr val="3A4A58"/>
                </a:solidFill>
                <a:latin typeface="Microsoft YaHei"/>
                <a:ea typeface="Microsoft YaHei"/>
              </a:rPr>
              <a:t xml:space="preserve"> Git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438900" y="3038475"/>
            <a:ext cx="4953000" cy="2762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050">
                <a:solidFill>
                  <a:srgbClr val="8A6A2A"/>
                </a:solidFill>
                <a:latin typeface="Microsoft YaHei"/>
                <a:ea typeface="Microsoft YaHei"/>
              </a:rPr>
              <a:t>没过关的项回到对应那一节重做，不要整体重学。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685800" y="6457950"/>
            <a:ext cx="14287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Python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讲授课件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逐节版</a:t>
            </a:r>
            <a:endParaRPr/>
          </a:p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10801350" y="6457950"/>
            <a:ext cx="7810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单元</a:t>
            </a:r>
            <a:r>
              <a:rPr lang="en-US" sz="975">
                <a:solidFill>
                  <a:srgbClr val="8A9AAA"/>
                </a:solidFill>
                <a:latin typeface="Microsoft YaHei"/>
                <a:ea typeface="Microsoft YaHei"/>
              </a:rPr>
              <a:t xml:space="preserve"> 17 · </a:t>
            </a:r>
            <a:r>
              <a:rPr lang="zh-CN" sz="975">
                <a:solidFill>
                  <a:srgbClr val="8A9AAA"/>
                </a:solidFill>
                <a:latin typeface="Microsoft YaHei"/>
                <a:ea typeface="Microsoft YaHei"/>
              </a:rPr>
              <a:t>小结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2026-10-16T00:47:56Z</dcterms:created>
  <dcterms:modified xsi:type="dcterms:W3CDTF">2026-10-16T00:47:56Z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{"AIGC":{"Label":"1","ContentProducer":"00119111010856365494821B355","ProduceID":"01a140606b8e78a9a7f16f4a35ab0244","ReservedCode1":"","ContentPropagator":"00119111010856365494821B355","PropagateID":"01a140606b8e78a9a7f16f4a35ab0244","ReservedCode2":""}}</vt:lpwstr>
  </property>
</Properties>
</file>