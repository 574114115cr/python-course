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media/image1.svg" ContentType="image/svg+xml"/>
  <Override PartName="/ppt/slides/media/image10.svg" ContentType="image/svg+xml"/>
  <Override PartName="/ppt/slides/media/image11.svg" ContentType="image/svg+xml"/>
  <Override PartName="/ppt/slides/media/image12.svg" ContentType="image/svg+xml"/>
  <Override PartName="/ppt/slides/media/image2.svg" ContentType="image/svg+xml"/>
  <Override PartName="/ppt/slides/media/image3.svg" ContentType="image/svg+xml"/>
  <Override PartName="/ppt/slides/media/image4.svg" ContentType="image/svg+xml"/>
  <Override PartName="/ppt/slides/media/image5.svg" ContentType="image/svg+xml"/>
  <Override PartName="/ppt/slides/media/image6.svg" ContentType="image/svg+xml"/>
  <Override PartName="/ppt/slides/media/image7.svg" ContentType="image/svg+xml"/>
  <Override PartName="/ppt/slides/media/image8.svg" ContentType="image/svg+xml"/>
  <Override PartName="/ppt/slides/media/image9.svg" ContentType="image/svg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0" Type="http://schemas.openxmlformats.org/officeDocument/2006/relationships/officeDocument" Target="ppt/presentation.xml"/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3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0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tableStyles" Target="tableStyles.xml"/><Relationship Id="rId16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0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单元 15 · 单元 15 · Matplotlib 生成数据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本单元包含以下课节：</a:t>
            </a:r>
          </a:p>
          <a:p>
            <a:r>
              <a:rPr lang="zh-CN" dirty="0"/>
              <a:t>· 第 79 节 Matplotlib 入门与折线图</a:t>
            </a:r>
          </a:p>
          <a:p>
            <a:r>
              <a:rPr lang="zh-CN" dirty="0"/>
              <a:t>· 第 80 节 散点图与自动计算数据</a:t>
            </a:r>
          </a:p>
          <a:p>
            <a:r>
              <a:rPr lang="zh-CN" dirty="0"/>
              <a:t>· 第 81 节 ★ 校正绘图、刻度与颜色映射</a:t>
            </a:r>
          </a:p>
          <a:p>
            <a:r>
              <a:rPr lang="zh-CN" dirty="0"/>
              <a:t>· 第 82 节 随机游走 RandomWalk 类</a:t>
            </a:r>
          </a:p>
          <a:p>
            <a:r>
              <a:rPr lang="zh-CN" dirty="0"/>
              <a:t>· 第 83 节 Plotly 掷骰子与动手实战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开场用 3 分钟讲清：这个单元学完能做出什么，最后会被关卡怎么验。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79 节 · Matplotlib 入门与折线图</a:t>
            </a:r>
          </a:p>
          <a:p>
            <a:r>
              <a:rPr lang="zh-CN" dirty="0"/>
              <a:t>单元 15 · Matplotlib 生成数据 · W18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学习目标：会用 `fig, ax = plt.subplots()` 画折线图；知道为什么该用面向对象写法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画出第一条折线图并加标签</a:t>
            </a:r>
          </a:p>
          <a:p>
            <a:r>
              <a:rPr lang="zh-CN" dirty="0"/>
              <a:t>· 把 plt.plot() 写法改成 fig, ax 写法对比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装好 matplotlib 并画出第一张图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79 节 · 核心知识点：Matplotlib 入门与折线图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本节目标：会用 `fig, ax = plt.subplots()` 画折线图；知道为什么该用面向对象写法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80 节 · 散点图与自动计算数据</a:t>
            </a:r>
          </a:p>
          <a:p>
            <a:r>
              <a:rPr lang="zh-CN" dirty="0"/>
              <a:t>单元 15 · Matplotlib 生成数据 · W18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学习目标：掌握 scatter 的 s / c 两件套；会生成随机数据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画一张散点图并设置点大小</a:t>
            </a:r>
          </a:p>
          <a:p>
            <a:r>
              <a:rPr lang="zh-CN" dirty="0"/>
              <a:t>· 故意不设 s，看点为什么看起来一样大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完成教材 15.2.4–15.2.6 动手练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80 节 · 核心知识点：散点图与自动计算数据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本节目标：掌握 scatter 的 s / c 两件套；会生成随机数据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81 节 · ★ 校正绘图、刻度与颜色映射</a:t>
            </a:r>
          </a:p>
          <a:p>
            <a:r>
              <a:rPr lang="zh-CN" dirty="0"/>
              <a:t>单元 15 · Matplotlib 生成数据 · W18–W19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学习目标：会用 `axis()` 留边距（最高频的坑）；会定制刻度、颜色与颜色映射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★ 现场演示不调 axis() 时点被裁掉</a:t>
            </a:r>
          </a:p>
          <a:p>
            <a:r>
              <a:rPr lang="zh-CN" dirty="0"/>
              <a:t>· 用 Blues 渐变画散点图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完成教材 15.2.7–15.2.10 动手练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81 节 · 核心知识点：★ 校正绘图、刻度与颜色映射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本节目标：会用 `axis()` 留边距（最高频的坑）；会定制刻度、颜色与颜色映射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82 节 · 随机游走 RandomWalk 类</a:t>
            </a:r>
          </a:p>
          <a:p>
            <a:r>
              <a:rPr lang="zh-CN" dirty="0"/>
              <a:t>单元 15 · Matplotlib 生成数据 · W19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学习目标：能写 RandomWalk 类并模拟多次游走；理解 fill_walk 拒绝原地不动的逻辑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实现 fill_walk 并画一条路径</a:t>
            </a:r>
          </a:p>
          <a:p>
            <a:r>
              <a:rPr lang="zh-CN" dirty="0"/>
              <a:t>· 模拟 5000 条路径，保存成 PNG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★ 产出：随机游走图脚本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82 节 · 核心知识点：随机游走 RandomWalk 类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本节目标：能写 RandomWalk 类并模拟多次游走；理解 fill_walk 拒绝原地不动的逻辑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83 节 · Plotly 掷骰子与动手实战</a:t>
            </a:r>
          </a:p>
          <a:p>
            <a:r>
              <a:rPr lang="zh-CN" dirty="0"/>
              <a:t>单元 15 · Matplotlib 生成数据 · W19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学习目标：会用 Plotly 的 Die 类与 px.bar 画直方图；能比较两个骰子的分布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实现 Die 类并掷 1000 次</a:t>
            </a:r>
          </a:p>
          <a:p>
            <a:r>
              <a:rPr lang="zh-CN" dirty="0"/>
              <a:t>· 同时掷两个面数不同的骰子，对比分布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★ 产出：掷骰子分布图（可交互 HTML）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83 节 · 核心知识点：Plotly 掷骰子与动手实战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本节目标：会用 Plotly 的 Die 类与 px.bar 画直方图；能比较两个骰子的分布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单元 15 小结 · 单元 15 · 小结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收尾动作：让学生合上讲义，口述本单元三个最重要的结论；说不出来的，回对应课节。</a:t>
            </a:r>
          </a:p>
          <a:p>
            <a:r>
              <a:rPr lang="zh-CN" dirty="0"/>
              <a:t>然后当场勾一遍本单元课节的「已完成」，没打勾的进下一单元前补掉。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.sv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5.sv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6.sv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7.sv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8.sv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9.sv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0.sv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1.sv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2.sv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2.sv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3.sv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4.svg"/><Relationship Id="rId3" Type="http://schemas.openxmlformats.org/officeDocument/2006/relationships/notesSlide" Target="../notesSlides/notesSlide12.xml"/></Relationships>
</file>

<file path=ppt/slides/slide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" name="" descr="&lt;Slide style={{ width: '1280px', height: '720px', backgroundColor: '#FAFCFE', padding: 0, position: 'relative', overflow: 'hidden' }}&gt;&#13;&#10;    &lt;Box style={{ position: 'absolute', left: 0, top: 0, width: '1280px', height: '150px', background: '#1F5FA8' }} /&gt;&#13;&#10;    &lt;Box style={{ position: 'absolute', left: 64, top: 34, width: '1152px', flexDirection: 'column' }}&gt;&#13;&#10;        &lt;Text style={{ fontSize: 15, fontWeight: 'bold', color: '#BFD9F2', letterSpacing: 2 }}&gt;阶段 2 · 单元 15&lt;/Text&gt;&#13;&#10;        &lt;Text style={{ fontSize: 38, fontWeight: 'bold', color: '#FFFFFF', marginTop: 6 }}&gt;Matplotlib 生成数据&lt;/Text&gt;&#13;&#10;    &lt;/Box&gt;&#13;&#10;    &lt;Box style={{ position: 'absolute', left: 64, top: 168, width: '1152px', height: 470 }}&gt;&#13;&#10;        &lt;svg width='1152' height='470' viewBox='0 0 1152 470'&gt;&#13;&#10;            &lt;text x='0' y='18' fontSize='15' fontWeight='bold' fill='#16232E' fontFamily='Microsoft YaHei'&gt;本单元共 5 节课&lt;/text&gt;&#13;&#10;            &lt;rect x='0' y='56.0' width='1152' height='48.0' rx='7' fill='#FFFFFF' /&gt;&lt;text x='16' y='85.0' fontSize='15' fontWeight='bold' fill='#1F5FA8' fontFamily='Microsoft YaHei'&gt;第 79 节&lt;/text&gt;&lt;text x='96' y='85.0' fontSize='15' fill='#16232E' fontFamily='Microsoft YaHei'&gt;Matplotlib 入门与折线图&lt;/text&gt;&lt;text x='1080' y='85.0' fontSize='13' fill='#5A6B7A' textAnchor='end' fontFamily='Microsoft YaHei'&gt;W18&lt;/text&gt;&lt;rect x='0' y='135.2' width='1152' height='48.0' rx='7' fill='#F2F7FD' /&gt;&lt;text x='16' y='164.2' fontSize='15' fontWeight='bold' fill='#1F5FA8' fontFamily='Microsoft YaHei'&gt;第 80 节&lt;/text&gt;&lt;text x='96' y='164.2' fontSize='15' fill='#16232E' fontFamily='Microsoft YaHei'&gt;散点图与自动计算数据&lt;/text&gt;&lt;text x='1080' y='164.2' fontSize='13' fill='#5A6B7A' textAnchor='end' fontFamily='Microsoft YaHei'&gt;W18&lt;/text&gt;&lt;rect x='0' y='214.4' width='1152' height='48.0' rx='7' fill='#FFFFFF' /&gt;&lt;text x='16' y='243.4' fontSize='15' fontWeight='bold' fill='#1F5FA8' fontFamily='Microsoft YaHei'&gt;第 81 节&lt;/text&gt;&lt;text x='96' y='243.4' fontSize='15' fill='#16232E' fontFamily='Microsoft YaHei'&gt;★ 校正绘图、刻度与颜色映射&lt;/text&gt;&lt;text x='1080' y='243.4' fontSize='13' fill='#5A6B7A' textAnchor='end' fontFamily='Microsoft YaHei'&gt;W18&lt;/text&gt;&lt;rect x='0' y='293.6' width='1152' height='48.0' rx='7' fill='#F2F7FD' /&gt;&lt;text x='16' y='322.6' fontSize='15' fontWeight='bold' fill='#1F5FA8' fontFamily='Microsoft YaHei'&gt;第 82 节&lt;/text&gt;&lt;text x='96' y='322.6' fontSize='15' fill='#16232E' fontFamily='Microsoft YaHei'&gt;随机游走 RandomWalk 类&lt;/text&gt;&lt;text x='1080' y='322.6' fontSize='13' fill='#5A6B7A' textAnchor='end' fontFamily='Microsoft YaHei'&gt;W18&lt;/text&gt;&lt;rect x='0' y='372.8' width='1152' height='48.0' rx='7' fill='#FFFFFF' /&gt;&lt;text x='16' y='401.8' fontSize='15' fontWeight='bold' fill='#1F5FA8' fontFamily='Microsoft YaHei'&gt;第 83 节&lt;/text&gt;&lt;text x='96' y='401.8' fontSize='15' fill='#16232E' fontFamily='Microsoft YaHei'&gt;Plotly 掷骰子与动手实战&lt;/text&gt;&lt;text x='1080' y='401.8' fontSize='13' fill='#5A6B7A' textAnchor='end' fontFamily='Microsoft YaHei'&gt;W18&lt;/text&gt;&#13;&#10;        &lt;/svg&gt;&#13;&#10;    &lt;/Box&gt;&#13;&#10;    &lt;Box style={{ position: 'absolute', left: 64, bottom: 22, width: '1152px', flexDirection: 'row', justifyContent: 'space-between' }}&gt;&#13;&#10;        &lt;Text style={{ fontSize: 13, color: '#8A9AAA' }}&gt;Python 讲授课件 · 逐节版&lt;/Text&gt;&#13;&#10;        &lt;Text style={{ fontSize: 13, color: '#8A9AAA' }}&gt;单元 15 · 封面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12192000" cy="1428750"/>
          </a:xfrm>
          <a:prstGeom prst="rect">
            <a:avLst/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609600" y="32385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>阶段</a:t>
            </a:r>
            <a:r>
              <a:rPr lang="en-US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 xml:space="preserve"> 2 · </a:t>
            </a:r>
            <a:r>
              <a:rPr lang="zh-CN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>单元</a:t>
            </a:r>
            <a:r>
              <a:rPr lang="en-US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 xml:space="preserve"> 15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552450"/>
            <a:ext cx="1097280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Matplotlib </a:t>
            </a:r>
            <a:r>
              <a:rPr lang="zh-CN" sz="2850" b="1">
                <a:solidFill>
                  <a:srgbClr val="FFFFFF"/>
                </a:solidFill>
                <a:latin typeface="Microsoft YaHei"/>
                <a:ea typeface="Microsoft YaHei"/>
              </a:rPr>
              <a:t>生成数据</a:t>
            </a:r>
            <a:endParaRPr/>
          </a:p>
        </p:txBody>
      </p:sp>
      <p:pic>
        <p:nvPicPr>
          <p:cNvPr id="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1600200"/>
            <a:ext cx="10972800" cy="4476750"/>
          </a:xfrm>
          <a:prstGeom prst="rect">
            <a:avLst/>
          </a:prstGeom>
          <a:ln/>
        </p:spPr>
      </p:pic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讲授课件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逐节版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10801350" y="6496050"/>
            <a:ext cx="781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单元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15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封面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6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79 / 111 节&lt;/Text&gt;&#13;&#10;        &lt;/Box&gt;&#13;&#10;        &lt;Text style={{ fontSize: 30, fontWeight: 'bold', color: '#16232E' }}&gt;Matplotlib 入门与折线图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会用 fig, ax = plt.subplots() 画折线图；知道为什么该用面向对象写法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画出第一条折线图并加标签&lt;/text&gt;&lt;text x='84' y='338.75' fontSize='14.5' fill='#3A4A58' textAnchor='start' fontFamily='Microsoft YaHei'&gt;· 把 plt.plot() 写法改成 fig, ax 写法对比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装好 matplotlib 并画出第一张图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5 · 第 79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38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79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33242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Matplotlib </a:t>
            </a: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入门与折线图</a:t>
            </a:r>
            <a:endParaRPr/>
          </a:p>
        </p:txBody>
      </p:sp>
      <p:pic>
        <p:nvPicPr>
          <p:cNvPr id="4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2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79 节&lt;/Text&gt;&#13;&#10;        &lt;/Box&gt;&#13;&#10;        &lt;Text style={{ fontSize: 30, fontWeight: 'bold', color: '#16232E' }}&gt;核心知识点&lt;/Text&gt;&#13;&#10;        &lt;Text style={{ fontSize: 15, color: '#5A6B7A', marginTop: 10 }}&gt;· Matplotlib 入门与折线图&lt;/Text&gt;&#13;&#10;    &lt;/Box&gt;&#13;&#10;    &lt;Box style={{ position: 'absolute', left: 0, top: 0, width: '1280px', height: '720px' }}&gt;&#13;&#10;        &lt;svg width='1280' height='720' viewBox='0 0 1280 720'&gt;&#13;&#10;            &lt;rect x='64' y='96' width='548' height='330' rx='12' fill='#FFFFFF' stroke='#D8E3EE' /&gt;&lt;rect x='64' y='96' width='548' height='4' rx='2' fill='#1F5FA8' /&gt;&lt;text x='82' y='130' fontSize='15.5' fontWeight='bold' fill='#1F5FA8' textAnchor='start' fontFamily='Microsoft YaHei'&gt;2.1 选型：静态图还是交互图&lt;/text&gt;&lt;text x='82' y='169.0' fontSize='13' fill='#3A4A58' textAnchor='start' fontFamily='Microsoft YaHei'&gt;· ★ 无图形界面的环境怎么办。&lt;/text&gt;&lt;rect x='668' y='96' width='548' height='330' rx='12' fill='#FFFFFF' stroke='#D8E3EE' /&gt;&lt;rect x='668' y='96' width='548' height='4' rx='2' fill='#1F5FA8' /&gt;&lt;text x='686' y='130' fontSize='15.5' fontWeight='bold' fill='#1F5FA8' textAnchor='start' fontFamily='Microsoft YaHei'&gt;2.2 面向对象：fig, ax = plt.subplo…&lt;/text&gt;&lt;text x='686' y='169.0' fontSize='13' fill='#3A4A58' textAnchor='start' fontFamily='Microsoft YaHei'&gt;· fig 是画板，ax 是画板上贴好的一张白纸。&lt;/text&gt;&lt;text x='686' y='197.5' fontSize='13' fill='#3A4A58' textAnchor='start' fontFamily='Microsoft YaHei'&gt;· 中间的逗号叫解包：函数返回元组 (figure, axes)，一句话拆成两个变量。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5 · 第 79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44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79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695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Matplotlib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入门与折线图</a:t>
            </a:r>
            <a:endParaRPr/>
          </a:p>
        </p:txBody>
      </p:sp>
      <p:pic>
        <p:nvPicPr>
          <p:cNvPr id="4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9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80 / 111 节&lt;/Text&gt;&#13;&#10;        &lt;/Box&gt;&#13;&#10;        &lt;Text style={{ fontSize: 30, fontWeight: 'bold', color: '#16232E' }}&gt;散点图与自动计算数据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掌握 scatter 的 s / c 两件套；会生成随机数据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画一张散点图并设置点大小&lt;/text&gt;&lt;text x='84' y='338.75' fontSize='14.5' fill='#3A4A58' textAnchor='start' fontFamily='Microsoft YaHei'&gt;· 故意不设 s，看点为什么看起来一样大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完成教材 15.2.4–15.2.6 动手练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5 · 第 80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51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80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28575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散点图与自动计算数据</a:t>
            </a:r>
            <a:endParaRPr/>
          </a:p>
        </p:txBody>
      </p:sp>
      <p:pic>
        <p:nvPicPr>
          <p:cNvPr id="5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55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80 节&lt;/Text&gt;&#13;&#10;        &lt;/Box&gt;&#13;&#10;        &lt;Text style={{ fontSize: 30, fontWeight: 'bold', color: '#16232E' }}&gt;核心知识点&lt;/Text&gt;&#13;&#10;        &lt;Text style={{ fontSize: 15, color: '#5A6B7A', marginTop: 10 }}&gt;· 散点图与自动计算数据&lt;/Text&gt;&#13;&#10;    &lt;/Box&gt;&#13;&#10;    &lt;Box style={{ position: 'absolute', left: 0, top: 0, width: '1280px', height: '720px' }}&gt;&#13;&#10;        &lt;svg width='1280' height='720' viewBox='0 0 1280 720'&gt;&#13;&#10;            &lt;rect x='64' y='96' width='548' height='330' rx='12' fill='#FFFFFF' stroke='#D8E3EE' /&gt;&lt;rect x='64' y='96' width='548' height='4' rx='2' fill='#1F5FA8' /&gt;&lt;text x='82' y='130' fontSize='15.5' fontWeight='bold' fill='#1F5FA8' textAnchor='start' fontFamily='Microsoft YaHei'&gt;2.3 折线图细节：线宽、标签、样式&lt;/text&gt;&lt;text x='82' y='169.0' fontSize='13' fill='#3A4A58' textAnchor='start' fontFamily='Microsoft YaHei'&gt;· 内置样式&lt;/text&gt;&lt;text x='82' y='197.5' fontSize='13' fill='#3A4A58' textAnchor='start' fontFamily='Microsoft YaHei'&gt;· ★ figsize 与 dpi&lt;/text&gt;&lt;rect x='668' y='96' width='548' height='330' rx='12' fill='#FFFFFF' stroke='#D8E3EE' /&gt;&lt;rect x='668' y='96' width='548' height='4' rx='2' fill='#1F5FA8' /&gt;&lt;text x='686' y='130' fontSize='15.5' fontWeight='bold' fill='#1F5FA8' textAnchor='start' fontFamily='Microsoft YaHei'&gt;2.4 散点图三件套：s=、c=、cmap=&lt;/text&gt;&lt;text x='686' y='169.0' fontSize='13' fill='#3A4A58' textAnchor='start' fontFamily='Microsoft YaHei'&gt;· s=（size）控制面积，单位是「点」。教材里 s=x_values 2 就是为了看得清。&lt;/text&gt;&lt;text x='686' y='197.5' fontSize='13' fill='#3A4A58' textAnchor='start' fontFamily='Microsoft YaHei'&gt;· c=（color）可以传颜色名字（分类），也可以传数值（必须配 cmap=）。&lt;/text&gt;&lt;text x='686' y='226.0' fontSize='13' fill='#3A4A58' textAnchor='start' fontFamily='Microsoft YaHei'&gt;· cmap=（color map）规定「数值怎么翻译成颜色」…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5 · 第 80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57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80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514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散点图与自动计算数据</a:t>
            </a:r>
            <a:endParaRPr/>
          </a:p>
        </p:txBody>
      </p:sp>
      <p:pic>
        <p:nvPicPr>
          <p:cNvPr id="6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62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81 / 111 节&lt;/Text&gt;&#13;&#10;        &lt;/Box&gt;&#13;&#10;        &lt;Text style={{ fontSize: 30, fontWeight: 'bold', color: '#16232E' }}&gt;★ 校正绘图、刻度与颜色映射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会用 axis() 留边距（最高频的坑）；会定制刻度、颜色与颜色映射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★ 现场演示不调 axis() 时点被裁掉&lt;/text&gt;&lt;text x='84' y='338.75' fontSize='14.5' fill='#3A4A58' textAnchor='start' fontFamily='Microsoft YaHei'&gt;· 用 Blues 渐变画散点图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完成教材 15.2.7–15.2.10 动手练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5 · 第 81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64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81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37528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★ </a:t>
            </a: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校正绘图、刻度与颜色映射</a:t>
            </a:r>
            <a:endParaRPr/>
          </a:p>
        </p:txBody>
      </p:sp>
      <p:pic>
        <p:nvPicPr>
          <p:cNvPr id="6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68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81 节&lt;/Text&gt;&#13;&#10;        &lt;/Box&gt;&#13;&#10;        &lt;Text style={{ fontSize: 30, fontWeight: 'bold', color: '#16232E' }}&gt;核心知识点&lt;/Text&gt;&#13;&#10;        &lt;Text style={{ fontSize: 15, color: '#5A6B7A', marginTop: 10 }}&gt;· ★ 校正绘图、刻度与颜色映射&lt;/Text&gt;&#13;&#10;    &lt;/Box&gt;&#13;&#10;    &lt;Box style={{ position: 'absolute', left: 0, top: 0, width: '1280px', height: '720px' }}&gt;&#13;&#10;        &lt;svg width='1280' height='720' viewBox='0 0 1280 720'&gt;&#13;&#10;            &lt;rect x='64' y='96' width='368' height='330' rx='12' fill='#FFFFFF' stroke='#D8E3EE' /&gt;&lt;rect x='64' y='96' width='368' height='4' rx='2' fill='#1F5FA8' /&gt;&lt;text x='82' y='130' fontSize='15.5' fontWeight='bold' fill='#1F5FA8' textAnchor='start' fontFamily='Microsoft YaHei'&gt;2.5 ★ 校正绘图：给坐标轴留边距&lt;/text&gt;&lt;text x='82' y='169.0' fontSize='13' fill='#3A4A58' textAnchor='start' fontFamily='Microsoft YaHei'&gt;· 解决办法是手动指定范围&lt;/text&gt;&lt;text x='82' y='197.5' fontSize='13' fill='#3A4A58' textAnchor='start' fontFamily='Microsoft YaHei'&gt;· 定制刻度标记。&lt;/text&gt;&lt;text x='82' y='226.0' fontSize='13' fill='#3A4A58' textAnchor='start' fontFamily='Microsoft YaHei'&gt;· ★ set_xticks 与 set_xticklabels 必须配套调用。&lt;/text&gt;&lt;rect x='468' y='96' width='368' height='330' rx='12' fill='#FFFFFF' stroke='#D8E3EE' /&gt;&lt;rect x='468' y='96' width='368' height='4' rx='2' fill='#1F5FA8' /&gt;&lt;text x='486' y='130' fontSize='15.5' fontWeight='bold' fill='#1F5FA8' textAnchor='start' fontFamily='Microsoft YaHei'&gt;2.6 随机游走：RandomWalk 类&lt;/text&gt;&lt;text x='486' y='169.0' fontSize='13' fill='#3A4A58' textAnchor='start' fontFamily='Microsoft YaHei'&gt;· 随机游走&lt;/text&gt;&lt;text x='486' y='197.5' fontSize='13' fill='#3A4A58' textAnchor='start' fontFamily='Microsoft YaHei'&gt;· ★ 这里最容易错：为什么要「拒绝原地不动」？&lt;/text&gt;&lt;text x='486' y='226.0' fontSize='13' fill='#3A4A58' textAnchor='start' fontFamily='Microsoft YaHei'&gt;· ★ random.seed(42) 是这一章最有工程价值的一行。&lt;/text&gt;&lt;rect x='872' y='96' width='368' height='330' rx='12' fill='#FFFFFF' stroke='#D8E3EE' /&gt;&lt;rect x='872' y='96' width='368' height='4' rx='2' fill='#1F5FA8' /&gt;&lt;text x='890' y='130' fontSize='15.5' fontWeight='bold' fill='#1F5FA8' textAnchor='start' fontFamily='Microsoft YaHei'&gt;2.7 Plotly 掷骰子：Die 类&lt;/text&gt;&lt;text x='890' y='169.0' fontSize='13' fill='#3A4A58' textAnchor='start' fontFamily='Microsoft YaHei'&gt;· Die 类的设计&lt;/text&gt;&lt;text x='890' y='197.5' fontSize='13' fill='#3A4A58' textAnchor='start' fontFamily='Microsoft YaHei'&gt;· ★ results.count(value) 是本节的关键一招。&lt;/text&gt;&lt;text x='890' y='226.0' fontSize='13' fill='#3A4A58' textAnchor='start' fontFamily='Microsoft YaHei'&gt;· 画分布图。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5 · 第 81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70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81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952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★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校正绘图、刻度与颜色映射</a:t>
            </a:r>
            <a:endParaRPr/>
          </a:p>
        </p:txBody>
      </p:sp>
      <p:pic>
        <p:nvPicPr>
          <p:cNvPr id="7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8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75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82 / 111 节&lt;/Text&gt;&#13;&#10;        &lt;/Box&gt;&#13;&#10;        &lt;Text style={{ fontSize: 30, fontWeight: 'bold', color: '#16232E' }}&gt;随机游走 RandomWalk 类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能写 RandomWalk 类并模拟多次游走；理解 fill_walk 拒绝原地不动的逻辑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实现 fill_walk 并画一条路径&lt;/text&gt;&lt;text x='84' y='338.75' fontSize='14.5' fill='#3A4A58' textAnchor='start' fontFamily='Microsoft YaHei'&gt;· 模拟 5000 条路径，保存成 PNG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★ 产出：随机游走图脚本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5 · 第 82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77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82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35242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随机游走</a:t>
            </a:r>
            <a:r>
              <a:rPr lang="en-US" sz="22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RandomWalk </a:t>
            </a: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类</a:t>
            </a:r>
            <a:endParaRPr/>
          </a:p>
        </p:txBody>
      </p:sp>
      <p:pic>
        <p:nvPicPr>
          <p:cNvPr id="8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9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81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82 节&lt;/Text&gt;&#13;&#10;        &lt;/Box&gt;&#13;&#10;        &lt;Text style={{ fontSize: 30, fontWeight: 'bold', color: '#16232E' }}&gt;核心知识点&lt;/Text&gt;&#13;&#10;        &lt;Text style={{ fontSize: 15, color: '#5A6B7A', marginTop: 10 }}&gt;· 随机游走 RandomWalk 类&lt;/Text&gt;&#13;&#10;    &lt;/Box&gt;&#13;&#10;    &lt;Box style={{ position: 'absolute', left: 0, top: 0, width: '1280px', height: '720px' }}&gt;&#13;&#10;        &lt;svg width='1280' height='720' viewBox='0 0 1280 720'&gt;&#13;&#10;            &lt;text x='64' y='470' fontSize='14.5' fontWeight='bold' fill='#0E9B78' textAnchor='start' fontFamily='Microsoft YaHei'&gt;本节的代码示例&lt;/text&gt;&lt;text x='64' y='500' fontSize='13' fill='#3A4A58' textAnchor='start' fontFamily='Microsoft YaHei'&gt;· 折线图三连（默认 → 加粗改标签 → 换内置样式）&lt;/text&gt;&lt;text x='468' y='500' fontSize='13' fill='#3A4A58' textAnchor='start' fontFamily='Microsoft YaHei'&gt;· 散点图三件套 + 绘制一系列点&lt;/text&gt;&lt;text x='872' y='500' fontSize='13' fill='#3A4A58' textAnchor='start' fontFamily='Microsoft YaHei'&gt;· ★ 校正绘图与定制刻度（新手最高频的坑）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5 · 第 82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83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82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790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随机游走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RandomWalk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类</a:t>
            </a:r>
            <a:endParaRPr/>
          </a:p>
        </p:txBody>
      </p:sp>
      <p:pic>
        <p:nvPicPr>
          <p:cNvPr id="8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10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9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83 / 111 节&lt;/Text&gt;&#13;&#10;        &lt;/Box&gt;&#13;&#10;        &lt;Text style={{ fontSize: 30, fontWeight: 'bold', color: '#16232E' }}&gt;Plotly 掷骰子与动手实战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会用 Plotly 的 Die 类与 px.bar 画直方图；能比较两个骰子的分布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实现 Die 类并掷 1000 次&lt;/text&gt;&lt;text x='84' y='338.75' fontSize='14.5' fill='#3A4A58' textAnchor='start' fontFamily='Microsoft YaHei'&gt;· 同时掷两个面数不同的骰子，对比分布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★ 产出：掷骰子分布图（可交互 HTML）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5 · 第 83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11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83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3200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Plotly </a:t>
            </a: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掷骰子与动手实战</a:t>
            </a:r>
            <a:endParaRPr/>
          </a:p>
        </p:txBody>
      </p:sp>
      <p:pic>
        <p:nvPicPr>
          <p:cNvPr id="1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1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5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83 节&lt;/Text&gt;&#13;&#10;        &lt;/Box&gt;&#13;&#10;        &lt;Text style={{ fontSize: 30, fontWeight: 'bold', color: '#16232E' }}&gt;核心知识点&lt;/Text&gt;&#13;&#10;        &lt;Text style={{ fontSize: 15, color: '#5A6B7A', marginTop: 10 }}&gt;· Plotly 掷骰子与动手实战&lt;/Text&gt;&#13;&#10;    &lt;/Box&gt;&#13;&#10;    &lt;Box style={{ position: 'absolute', left: 0, top: 0, width: '1280px', height: '720px' }}&gt;&#13;&#10;        &lt;svg width='1280' height='720' viewBox='0 0 1280 720'&gt;&#13;&#10;            &lt;rect x='64' y='96' width='368' height='330' rx='12' fill='#FFFFFF' stroke='#D8E3EE' /&gt;&lt;rect x='64' y='96' width='368' height='4' rx='2' fill='#1F5FA8' /&gt;&lt;text x='82' y='130' fontSize='15.5' fontWeight='bold' fill='#1F5FA8' textAnchor='start' fontFamily='Microsoft YaHei'&gt;基础档&lt;/text&gt;&lt;text x='82' y='169.0' fontSize='13' fill='#3A4A58' textAnchor='start' fontFamily='Microsoft YaHei'&gt;· 练习 15-1【折线图三连】&lt;/text&gt;&lt;text x='82' y='197.5' fontSize='13' fill='#3A4A58' textAnchor='start' fontFamily='Microsoft YaHei'&gt;· 练习 15-2【散点三件套】&lt;/text&gt;&lt;text x='82' y='226.0' fontSize='13' fill='#3A4A58' textAnchor='start' fontFamily='Microsoft YaHei'&gt;· 练习 15-3【校正绘图演练】&lt;/text&gt;&lt;rect x='468' y='96' width='368' height='330' rx='12' fill='#FFFFFF' stroke='#D8E3EE' /&gt;&lt;rect x='468' y='96' width='368' height='4' rx='2' fill='#1F5FA8' /&gt;&lt;text x='486' y='130' fontSize='15.5' fontWeight='bold' fill='#1F5FA8' textAnchor='start' fontFamily='Microsoft YaHei'&gt;进阶档&lt;/text&gt;&lt;text x='486' y='169.0' fontSize='13' fill='#3A4A58' textAnchor='start' fontFamily='Microsoft YaHei'&gt;· 练习 15-4【可复现的随机游走】&lt;/text&gt;&lt;text x='486' y='197.5' fontSize='13' fill='#3A4A58' textAnchor='start' fontFamily='Microsoft YaHei'&gt;· 练习 15-5【多系列随机游走对照】&lt;/text&gt;&lt;text x='486' y='226.0' fontSize='13' fill='#3A4A58' textAnchor='start' fontFamily='Microsoft YaHei'&gt;· 练习 15-6【骰子实验台】&lt;/text&gt;&lt;rect x='872' y='96' width='368' height='330' rx='12' fill='#FFFFFF' stroke='#D8E3EE' /&gt;&lt;rect x='872' y='96' width='368' height='4' rx='2' fill='#1F5FA8' /&gt;&lt;text x='890' y='130' fontSize='15.5' fontWeight='bold' fill='#1F5FA8' textAnchor='start' fontFamily='Microsoft YaHei'&gt;错误 1：★ 忘记校正绘图，点被边框切掉&lt;/text&gt;&lt;text x='890' y='169.0' fontSize='13' fill='#3A4A58' textAnchor='start' fontFamily='Microsoft YaHei'&gt;· 数据范围正好等于坐标轴范围时，&lt;/text&gt;&lt;text x='890' y='188.5' fontSize='13' fill='#3A4A58' textAnchor='start' fontFamily='Microsoft YaHei'&gt;最边缘的点被裁掉一半，像「数据少了两头」。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5 · 第 83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17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83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6478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Plotly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掷骰子与动手实战</a:t>
            </a:r>
            <a:endParaRPr/>
          </a:p>
        </p:txBody>
      </p:sp>
      <p:pic>
        <p:nvPicPr>
          <p:cNvPr id="2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1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2" name="" descr="&lt;Slide style={{ width: '1280px', height: '720px', backgroundColor: '#FAFCFE', padding: 0, position: 'relative', overflow: 'hidden' }}&gt;&#13;&#10;    &lt;Box style={{ position: 'absolute', left: 0, top: 0, width: '12px', height: '720px', background: '#0E9B78' }} /&gt;&#13;&#10;    &lt;Box style={{ position: 'absolute', left: 72, top: 44, width: '1144px', flexDirection: 'column' }}&gt;&#13;&#10;        &lt;Text style={{ fontSize: 34, fontWeight: 'bold', color: '#16232E' }}&gt;单元 15 · 小结与验收&lt;/Text&gt;&#13;&#10;        &lt;Text style={{ fontSize: 16, color: '#5A6B7A', marginTop: 6 }}&gt;Matplotlib 生成数据&lt;/Text&gt;&#13;&#10;    &lt;/Box&gt;&#13;&#10;    &lt;Box style={{ position: 'absolute', left: 72, top: 148, width: '552px', height: 400, background: '#FFFFFF', border: '1px solid #D8E3EE', borderRadius: 12, padding: 18, flexDirection: 'column' }}&gt;&#13;&#10;        &lt;Text style={{ fontSize: 16, fontWeight: 'bold', color: '#1F5FA8' }}&gt;本单元课节回顾&lt;/Text&gt;&#13;&#10;        &lt;Box style={{ marginTop: 10, position: 'relative', height: 330 }}&gt;&#13;&#10;            &lt;svg width='516' height='330' viewBox='0 0 516 330'&gt;&lt;text x='0' y='34' fontSize='14.5' fill='#3A4A58' fontFamily='Microsoft YaHei'&gt;· 第 79 节 · Matplotlib 入门与折线图&lt;/text&gt;&lt;text x='0' y='64' fontSize='14.5' fill='#3A4A58' fontFamily='Microsoft YaHei'&gt;· 第 80 节 · 散点图与自动计算数据&lt;/text&gt;&lt;text x='0' y='94' fontSize='14.5' fill='#3A4A58' fontFamily='Microsoft YaHei'&gt;· 第 81 节 · ★ 校正绘图、刻度与颜色映射&lt;/text&gt;&lt;text x='0' y='124' fontSize='14.5' fill='#3A4A58' fontFamily='Microsoft YaHei'&gt;· 第 82 节 · 随机游走 RandomWalk 类&lt;/text&gt;&lt;text x='0' y='154' fontSize='14.5' fill='#3A4A58' fontFamily='Microsoft YaHei'&gt;· 第 83 节 · Plotly 掷骰子与动手实战&lt;/text&gt;&lt;/svg&gt;&#13;&#10;        &lt;/Box&gt;&#13;&#10;    &lt;/Box&gt;&#13;&#10;    &lt;Box style={{ position: 'absolute', left: 656, top: 148, width: '560px', height: 400, background: '#FDF3E2', borderRadius: 12, padding: 20, flexDirection: 'column' }}&gt;&#13;&#10;        &lt;Text style={{ fontSize: 16, fontWeight: 'bold', color: '#E08A15' }}&gt;过关标准&lt;/Text&gt;&#13;&#10;        &lt;Text style={{ fontSize: 15, color: '#3A4A58', marginTop: 12, lineHeight: 1.9 }}&gt;&#13;&#10;            1. 本单元每一节的课后作业都做完并自己验收过&#13;&#10;&#13;&#10;            2. 不看讲义能独立重写一遍本单元的示例代码&#13;&#10;&#13;&#10;            3. 讲义最后「本单元验收自测」全部答对&#13;&#10;&#13;&#10;            4. 产出物已经写进笔记或提交到 Git&#13;&#10;        &lt;/Text&gt;&#13;&#10;        &lt;Text style={{ fontSize: 14, color: '#8A6A2A', marginTop: 16, lineHeight: 1.7 }}&gt;&#13;&#10;            没过关的项回到对应那一节重做，不要整体重学。&#13;&#10;        &lt;/Text&gt;&#13;&#10;    &lt;/Box&gt;&#13;&#10;    &lt;Box style={{ position: 'absolute', left: 72, bottom: 26, width: '1144px', flexDirection: 'row', justifyContent: 'space-between' }}&gt;&#13;&#10;        &lt;Text style={{ fontSize: 13, color: '#8A9AAA' }}&gt;Python 讲授课件 · 逐节版&lt;/Text&gt;&#13;&#10;        &lt;Text style={{ fontSize: 13, color: '#8A9AAA' }}&gt;单元 15 · 小结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24" name=""/>
          <p:cNvSpPr/>
          <p:nvPr/>
        </p:nvSpPr>
        <p:spPr>
          <a:xfrm rot="0" flipH="0" flipV="0">
            <a:off x="0" y="0"/>
            <a:ext cx="114300" cy="6858000"/>
          </a:xfrm>
          <a:prstGeom prst="rect">
            <a:avLst/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685800" y="419100"/>
            <a:ext cx="108966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232E"/>
                </a:solidFill>
                <a:latin typeface="Microsoft YaHei"/>
                <a:ea typeface="Microsoft YaHei"/>
              </a:rPr>
              <a:t>单元</a:t>
            </a:r>
            <a:r>
              <a:rPr lang="en-US" sz="25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15 · </a:t>
            </a:r>
            <a:r>
              <a:rPr lang="zh-CN" sz="2550" b="1">
                <a:solidFill>
                  <a:srgbClr val="16232E"/>
                </a:solidFill>
                <a:latin typeface="Microsoft YaHei"/>
                <a:ea typeface="Microsoft YaHei"/>
              </a:rPr>
              <a:t>小结与验收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685800" y="866775"/>
            <a:ext cx="10896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A6B7A"/>
                </a:solidFill>
                <a:latin typeface="Microsoft YaHei"/>
                <a:ea typeface="Microsoft YaHei"/>
              </a:rPr>
              <a:t xml:space="preserve">Matplotlib </a:t>
            </a:r>
            <a:r>
              <a:rPr lang="zh-CN" sz="1200">
                <a:solidFill>
                  <a:srgbClr val="5A6B7A"/>
                </a:solidFill>
                <a:latin typeface="Microsoft YaHei"/>
                <a:ea typeface="Microsoft YaHei"/>
              </a:rPr>
              <a:t>生成数据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685800" y="1409700"/>
            <a:ext cx="5257800" cy="381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857250" y="1581150"/>
            <a:ext cx="4914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5FA8"/>
                </a:solidFill>
                <a:latin typeface="Microsoft YaHei"/>
                <a:ea typeface="Microsoft YaHei"/>
              </a:rPr>
              <a:t>本单元课节回顾</a:t>
            </a:r>
            <a:endParaRPr/>
          </a:p>
        </p:txBody>
      </p:sp>
      <p:pic>
        <p:nvPicPr>
          <p:cNvPr id="2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57250" y="1866900"/>
            <a:ext cx="4914900" cy="3143250"/>
          </a:xfrm>
          <a:prstGeom prst="rect">
            <a:avLst/>
          </a:prstGeom>
          <a:ln/>
        </p:spPr>
      </p:pic>
      <p:sp>
        <p:nvSpPr>
          <p:cNvPr id="30" name=""/>
          <p:cNvSpPr/>
          <p:nvPr/>
        </p:nvSpPr>
        <p:spPr>
          <a:xfrm rot="0" flipH="0" flipV="0">
            <a:off x="6248400" y="1409700"/>
            <a:ext cx="5334000" cy="3810000"/>
          </a:xfrm>
          <a:prstGeom prst="roundRect">
            <a:avLst>
              <a:gd name="adj" fmla="val 3000"/>
            </a:avLst>
          </a:prstGeom>
          <a:solidFill>
            <a:srgbClr val="FDF3E2"/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6438900" y="1600200"/>
            <a:ext cx="495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08A15"/>
                </a:solidFill>
                <a:latin typeface="Microsoft YaHei"/>
                <a:ea typeface="Microsoft YaHei"/>
              </a:rPr>
              <a:t>过关标准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6438900" y="1905000"/>
            <a:ext cx="4953000" cy="981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90000"/>
              </a:lnSpc>
            </a:pP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1.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本单元每一节的课后作业都做完并自己验收过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2.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不看讲义能独立重写一遍本单元的示例代码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3.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讲义最后「本单元验收自测」全部答对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4.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产出物已经写进笔记或提交到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Git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6438900" y="3038475"/>
            <a:ext cx="4953000" cy="2762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8A6A2A"/>
                </a:solidFill>
                <a:latin typeface="Microsoft YaHei"/>
                <a:ea typeface="Microsoft YaHei"/>
              </a:rPr>
              <a:t>没过关的项回到对应那一节重做，不要整体重学。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685800" y="645795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讲授课件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逐节版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10801350" y="6457950"/>
            <a:ext cx="781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单元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15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小结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2026-10-29T00:39:34Z</dcterms:created>
  <dcterms:modified xsi:type="dcterms:W3CDTF">2026-10-29T00:39:34Z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{"AIGC":{"Label":"1","ContentProducer":"00119111010856365494821B355","ProduceID":"01a183579b68743e9c290638234d6294","ReservedCode1":"","ContentPropagator":"00119111010856365494821B355","PropagateID":"01a183579b68743e9c290638234d6294","ReservedCode2":""}}</vt:lpwstr>
  </property>
</Properties>
</file>