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.svg" ContentType="image/svg+xml"/>
  <Override PartName="/ppt/slides/media/image10.svg" ContentType="image/svg+xml"/>
  <Override PartName="/ppt/slides/media/image11.svg" ContentType="image/svg+xml"/>
  <Override PartName="/ppt/slides/media/image12.svg" ContentType="image/svg+xml"/>
  <Override PartName="/ppt/slides/media/image13.svg" ContentType="image/svg+xml"/>
  <Override PartName="/ppt/slides/media/image14.svg" ContentType="image/svg+xml"/>
  <Override PartName="/ppt/slides/media/image2.svg" ContentType="image/svg+xml"/>
  <Override PartName="/ppt/slides/media/image3.svg" ContentType="image/svg+xml"/>
  <Override PartName="/ppt/slides/media/image4.svg" ContentType="image/svg+xml"/>
  <Override PartName="/ppt/slides/media/image5.svg" ContentType="image/svg+xml"/>
  <Override PartName="/ppt/slides/media/image6.svg" ContentType="image/svg+xml"/>
  <Override PartName="/ppt/slides/media/image7.svg" ContentType="image/svg+xml"/>
  <Override PartName="/ppt/slides/media/image8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tableStyles" Target="tableStyles.xml"/><Relationship Id="rId1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18 · 单元 18 · Django 入门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本单元包含以下课节：</a:t>
            </a:r>
          </a:p>
          <a:p>
            <a:r>
              <a:rPr lang="zh-CN" dirty="0"/>
              <a:t>· 第 92 节 ★ 虚拟环境与 Django 项目</a:t>
            </a:r>
          </a:p>
          <a:p>
            <a:r>
              <a:rPr lang="zh-CN" dirty="0"/>
              <a:t>· 第 93 节 ★ 应用、模型与迁移三步曲</a:t>
            </a:r>
          </a:p>
          <a:p>
            <a:r>
              <a:rPr lang="zh-CN" dirty="0"/>
              <a:t>· 第 94 节 ★ 一次请求的旅程：URL → 视图 → 模板</a:t>
            </a:r>
          </a:p>
          <a:p>
            <a:r>
              <a:rPr lang="zh-CN" dirty="0"/>
              <a:t>· 第 95 节 模板语法与模板继承</a:t>
            </a:r>
          </a:p>
          <a:p>
            <a:r>
              <a:rPr lang="zh-CN" dirty="0"/>
              <a:t>· 第 96 节 Django shell 与 404</a:t>
            </a:r>
          </a:p>
          <a:p>
            <a:r>
              <a:rPr lang="zh-CN" dirty="0"/>
              <a:t>· 第 97 节 实战、答案与验收复盘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开场用 3 分钟讲清：这个单元学完能做出什么，最后会被关卡怎么验。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92 节 · ★ 虚拟环境与 Django 项目</a:t>
            </a:r>
          </a:p>
          <a:p>
            <a:r>
              <a:rPr lang="zh-CN" dirty="0"/>
              <a:t>单元 18 · Django 入门 · W22–W23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学习目标：说清为什么必须用虚拟环境；能建项目、跑起来、看清目录结构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建 ll_env 并激活，确认命令行出现 (ll_env)</a:t>
            </a:r>
          </a:p>
          <a:p>
            <a:r>
              <a:rPr lang="zh-CN" dirty="0"/>
              <a:t>· 跑 startserver 打开首页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产出：能跑起来的空 Django 项目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92 节 · 核心知识点：★ 虚拟环境与 Django 项目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本节目标：说清为什么必须用虚拟环境；能建项目、跑起来、看清目录结构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93 节 · ★ 应用、模型与迁移三步曲</a:t>
            </a:r>
          </a:p>
          <a:p>
            <a:r>
              <a:rPr lang="zh-CN" dirty="0"/>
              <a:t>单元 18 · Django 入门 · W23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学习目标：定义 Topic / Entry 模型；掌握「改模型 → makemigrations → migrate」三步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改一次模型跑一遍三步曲</a:t>
            </a:r>
          </a:p>
          <a:p>
            <a:r>
              <a:rPr lang="zh-CN" dirty="0"/>
              <a:t>· 故意改错 on_delete 看报错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产出：能进管理后台看到 Topic 和 Entry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93 节 · 核心知识点：★ 应用、模型与迁移三步曲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本节目标：定义 Topic / Entry 模型；掌握「改模型 → makemigrations → migrate」三步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94 节 · ★ 一次请求的旅程：URL → 视图 → 模板</a:t>
            </a:r>
          </a:p>
          <a:p>
            <a:r>
              <a:rPr lang="zh-CN" dirty="0"/>
              <a:t>单元 18 · Django 入门 · W23–W24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学习目标：能画完整请求链路图；会映射 URL、写视图、渲染模板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现场加一条 URL 并访问它</a:t>
            </a:r>
          </a:p>
          <a:p>
            <a:r>
              <a:rPr lang="zh-CN" dirty="0"/>
              <a:t>· 故意把视图里的 context 删掉，看模板报什么错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★ 产出：一张自己画的请求链路图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94 节 · 核心知识点：★ 一次请求的旅程：URL → 视图 → 模板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本节目标：能画完整请求链路图；会映射 URL、写视图、渲染模板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95 节 · 模板语法与模板继承</a:t>
            </a:r>
          </a:p>
          <a:p>
            <a:r>
              <a:rPr lang="zh-CN" dirty="0"/>
              <a:t>单元 18 · Django 入门 · W24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学习目标：会用 `{{ }}`、`{% for %}`、`{% url %}`；会用 base.html 做模板继承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把重复的导航栏抽进 base.html</a:t>
            </a:r>
          </a:p>
          <a:p>
            <a:r>
              <a:rPr lang="zh-CN" dirty="0"/>
              <a:t>· 故意写错 url 名字看 NoReverseMatch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完成教材 18.4 全部动手练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95 节 · 核心知识点：模板语法与模板继承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本节目标：会用 `{{ }}`、`{% for %}`、`{% url %}`；会用 base.html 做模板继承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96 节 · Django shell 与 404</a:t>
            </a:r>
          </a:p>
          <a:p>
            <a:r>
              <a:rPr lang="zh-CN" dirty="0"/>
              <a:t>单元 18 · Django 入门 · W24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学习目标：会用 shell 直接查数据库；理解 get_object_or_404 的意义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用 shell 造三条 Entry</a:t>
            </a:r>
          </a:p>
          <a:p>
            <a:r>
              <a:rPr lang="zh-CN" dirty="0"/>
              <a:t>· 访问一个不存在的 topic_id，看 404 页面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产出：能浏览主题与条目的本地网站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96 节 · 核心知识点：Django shell 与 404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本节目标：会用 shell 直接查数据库；理解 get_object_or_404 的意义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97 节 · 实战、答案与验收复盘</a:t>
            </a:r>
          </a:p>
          <a:p>
            <a:r>
              <a:rPr lang="zh-CN" dirty="0"/>
              <a:t>单元 18 · Django 入门 · W24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学习目标：独立完成单元 18 练习，画得出项目结构图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限时 40 分钟独立完成基础档</a:t>
            </a:r>
          </a:p>
          <a:p>
            <a:r>
              <a:rPr lang="zh-CN" dirty="0"/>
              <a:t>· 互相检查对方的 settings.py 配置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★ 产出：学习笔记本地网站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97 节 · 核心知识点：实战、答案与验收复盘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本节目标：独立完成单元 18 练习，画得出项目结构图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18 小结 · 单元 18 · 小结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收尾动作：让学生合上讲义，口述本单元三个最重要的结论；说不出来的，回对应课节。</a:t>
            </a:r>
          </a:p>
          <a:p>
            <a:r>
              <a:rPr lang="zh-CN" dirty="0"/>
              <a:t>然后当场勾一遍本单元课节的「已完成」，没打勾的进下一单元前补掉。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sv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7.sv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8.sv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9.sv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0.sv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1.sv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2.sv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3.sv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4.sv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sv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sv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.sv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.svg"/><Relationship Id="rId3" Type="http://schemas.openxmlformats.org/officeDocument/2006/relationships/notesSlide" Target="../notesSlides/notesSlide14.xml"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'1280px', height: '720px', backgroundColor: '#FAFCFE', padding: 0, position: 'relative', overflow: 'hidden' }}&gt;&#13;&#10;    &lt;Box style={{ position: 'absolute', left: 0, top: 0, width: '1280px', height: '150px', background: '#1F5FA8' }} /&gt;&#13;&#10;    &lt;Box style={{ position: 'absolute', left: 64, top: 34, width: '1152px', flexDirection: 'column' }}&gt;&#13;&#10;        &lt;Text style={{ fontSize: 15, fontWeight: 'bold', color: '#BFD9F2', letterSpacing: 2 }}&gt;阶段 2 · 单元 18&lt;/Text&gt;&#13;&#10;        &lt;Text style={{ fontSize: 38, fontWeight: 'bold', color: '#FFFFFF', marginTop: 6 }}&gt;Django 入门&lt;/Text&gt;&#13;&#10;    &lt;/Box&gt;&#13;&#10;    &lt;Box style={{ position: 'absolute', left: 64, top: 168, width: '1152px', height: 470 }}&gt;&#13;&#10;        &lt;svg width='1152' height='470' viewBox='0 0 1152 470'&gt;&#13;&#10;            &lt;text x='0' y='18' fontSize='15' fontWeight='bold' fill='#16232E' fontFamily='Microsoft YaHei'&gt;本单元共 6 节课&lt;/text&gt;&#13;&#10;            &lt;rect x='0' y='196' width='1152' height='38' rx='7' fill='#FFFFFF' /&gt;&lt;text x='16' y='221' fontSize='15' fontWeight='bold' fill='#1F5FA8' fontFamily='Microsoft YaHei'&gt;第 92 节&lt;/text&gt;&lt;text x='96' y='221' fontSize='15' fill='#16232E' fontFamily='Microsoft YaHei'&gt;★ 虚拟环境与 Django 项目&lt;/text&gt;&lt;text x='1080' y='221' fontSize='13' fill='#5A6B7A' textAnchor='end' fontFamily='Microsoft YaHei'&gt;W22–W23&lt;/text&gt;&lt;rect x='0' y='238' width='1152' height='38' rx='7' fill='#F2F7FD' /&gt;&lt;text x='16' y='263' fontSize='15' fontWeight='bold' fill='#1F5FA8' fontFamily='Microsoft YaHei'&gt;第 93 节&lt;/text&gt;&lt;text x='96' y='263' fontSize='15' fill='#16232E' fontFamily='Microsoft YaHei'&gt;★ 应用、模型与迁移三步曲&lt;/text&gt;&lt;text x='1080' y='263' fontSize='13' fill='#5A6B7A' textAnchor='end' fontFamily='Microsoft YaHei'&gt;W22–W23&lt;/text&gt;&lt;rect x='0' y='280' width='1152' height='38' rx='7' fill='#FFFFFF' /&gt;&lt;text x='16' y='305' fontSize='15' fontWeight='bold' fill='#1F5FA8' fontFamily='Microsoft YaHei'&gt;第 94 节&lt;/text&gt;&lt;text x='96' y='305' fontSize='15' fill='#16232E' fontFamily='Microsoft YaHei'&gt;★ 一次请求的旅程：URL → 视图 → 模板&lt;/text&gt;&lt;text x='1080' y='305' fontSize='13' fill='#5A6B7A' textAnchor='end' fontFamily='Microsoft YaHei'&gt;W22–W23&lt;/text&gt;&lt;rect x='0' y='322' width='1152' height='38' rx='7' fill='#F2F7FD' /&gt;&lt;text x='16' y='347' fontSize='15' fontWeight='bold' fill='#1F5FA8' fontFamily='Microsoft YaHei'&gt;第 95 节&lt;/text&gt;&lt;text x='96' y='347' fontSize='15' fill='#16232E' fontFamily='Microsoft YaHei'&gt;模板语法与模板继承&lt;/text&gt;&lt;text x='1080' y='347' fontSize='13' fill='#5A6B7A' textAnchor='end' fontFamily='Microsoft YaHei'&gt;W22–W23&lt;/text&gt;&lt;rect x='0' y='364' width='1152' height='38' rx='7' fill='#FFFFFF' /&gt;&lt;text x='16' y='389' fontSize='15' fontWeight='bold' fill='#1F5FA8' fontFamily='Microsoft YaHei'&gt;第 96 节&lt;/text&gt;&lt;text x='96' y='389' fontSize='15' fill='#16232E' fontFamily='Microsoft YaHei'&gt;Django shell 与 404&lt;/text&gt;&lt;text x='1080' y='389' fontSize='13' fill='#5A6B7A' textAnchor='end' fontFamily='Microsoft YaHei'&gt;W22–W23&lt;/text&gt;&lt;rect x='0' y='406' width='1152' height='38' rx='7' fill='#F2F7FD' /&gt;&lt;text x='16' y='431' fontSize='15' fontWeight='bold' fill='#1F5FA8' fontFamily='Microsoft YaHei'&gt;第 97 节&lt;/text&gt;&lt;text x='96' y='431' fontSize='15' fill='#16232E' fontFamily='Microsoft YaHei'&gt;实战、答案与验收复盘&lt;/text&gt;&lt;text x='1080' y='431' fontSize='13' fill='#5A6B7A' textAnchor='end' fontFamily='Microsoft YaHei'&gt;W22–W23&lt;/text&gt;&#13;&#10;        &lt;/svg&gt;&#13;&#10;    &lt;/Box&gt;&#13;&#10;    &lt;Box style={{ position: 'absolute', left: 64, bottom: 22, width: '1152px', flexDirection: 'row', justifyContent: 'space-between' }}&gt;&#13;&#10;        &lt;Text style={{ fontSize: 13, color: '#8A9AAA' }}&gt;Python 讲授课件 · 逐节版&lt;/Text&gt;&#13;&#10;        &lt;Text style={{ fontSize: 13, color: '#8A9AAA' }}&gt;单元 18 · 封面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428750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阶段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2 · </a:t>
            </a: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单元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18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552450"/>
            <a:ext cx="10972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Django </a:t>
            </a: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入门</a:t>
            </a:r>
            <a:endParaRPr/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600200"/>
            <a:ext cx="10972800" cy="447675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801350" y="64960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18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封面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92 / 111 节&lt;/Text&gt;&#13;&#10;        &lt;/Box&gt;&#13;&#10;        &lt;Text style={{ fontSize: 30, fontWeight: 'bold', color: '#16232E' }}&gt;★ 虚拟环境与 Django 项目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说清为什么必须用虚拟环境；能建项目、跑起来、看清目录结构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建 ll_env 并激活，确认命令行出现 (ll_env)&lt;/text&gt;&lt;text x='84' y='338.75' fontSize='14.5' fill='#3A4A58' textAnchor='start' fontFamily='Microsoft YaHei'&gt;· 跑 startserver 打开首页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产出：能跑起来的空 Django 项目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8 · 第 92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92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533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虚拟环境与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Django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项目</a:t>
            </a:r>
            <a:endParaRPr/>
          </a:p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92 节&lt;/Text&gt;&#13;&#10;        &lt;/Box&gt;&#13;&#10;        &lt;Text style={{ fontSize: 30, fontWeight: 'bold', color: '#16232E' }}&gt;核心知识点&lt;/Text&gt;&#13;&#10;        &lt;Text style={{ fontSize: 15, color: '#5A6B7A', marginTop: 10 }}&gt;· ★ 虚拟环境与 Django 项目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1 虚拟环境：给每个项目一间独立的「工具间」★&lt;/text&gt;&lt;text x='82' y='169.0' fontSize='13' fill='#3A4A58' textAnchor='start' fontFamily='Microsoft YaHei'&gt;· ll_env 是两个小写的 L 加 env，不是数字 1。教材特意提醒过这一点。&lt;/text&gt;&lt;text x='82' y='197.5' fontSize='13' fill='#3A4A58' textAnchor='start' fontFamily='Microsoft YaHei'&gt;· pip install 前一定看一眼有没有 (ll_env)。没有它，Django 会被装到全局 Py…&lt;/text&gt;&lt;text x='82' y='226.0' fontSize='13' fill='#3A4A58' textAnchor='start' fontFamily='Microsoft YaHei'&gt;· 关闭终端 = 虚拟环境自动失效，下次开工要重新激活。这是新手最常犯的错，没有之一&lt;/text&gt;&lt;text x='82' y='245.5' fontSize='13' fill='#3A4A58' textAnchor='start' fontFamily='Microsoft YaHei'&gt;：昨天明明跑得好好的…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2 Django 的三个层次：项目、应用程序、MVT ★&lt;/text&gt;&lt;text x='686' y='169.0' fontSize='13' fill='#3A4A58' textAnchor='start' fontFamily='Microsoft YaHei'&gt;· 项目（project）= 餐厅的营业执照和规章制度。全项目一份，规定「本店用什么灶、账&lt;/text&gt;&lt;text x='686' y='188.5' fontSize='13' fill='#3A4A58' textAnchor='start' fontFamily='Microsoft YaHei'&gt;记在哪」。&lt;/text&gt;&lt;text x='686' y='217.0' fontSize='13' fill='#3A4A58' textAnchor='start' fontFamily='Microsoft YaHei'&gt;· 应用程序（app）= 厨房、收银台、库房。可以有很多个，各干各的活；它们协同工作，&lt;/text&gt;&lt;text x='686' y='236.5' fontSize='13' fill='#3A4A58' textAnchor='start' fontFamily='Microsoft YaHei'&gt;让项目成为一个整体…&lt;/text&gt;&lt;text x='686' y='265.0' fontSize='13' fill='#3A4A58' textAnchor='start' fontFamily='Microsoft YaHei'&gt;· settings.py 里的 INSTALLED_APPS：每新建一个 app，都要来这里「注册学籍」…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8 · 第 92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92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819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★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虚拟环境与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Django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项目</a:t>
            </a:r>
            <a:endParaRPr/>
          </a:p>
        </p:txBody>
      </p:sp>
      <p:pic>
        <p:nvPicPr>
          <p:cNvPr id="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93 / 111 节&lt;/Text&gt;&#13;&#10;        &lt;/Box&gt;&#13;&#10;        &lt;Text style={{ fontSize: 30, fontWeight: 'bold', color: '#16232E' }}&gt;★ 应用、模型与迁移三步曲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定义 Topic / Entry 模型；掌握「改模型 → makemigrations → migrate」三步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改一次模型跑一遍三步曲&lt;/text&gt;&lt;text x='84' y='338.75' fontSize='14.5' fill='#3A4A58' textAnchor='start' fontFamily='Microsoft YaHei'&gt;· 故意改错 on_delete 看报错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产出：能进管理后台看到 Topic 和 Entry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8 · 第 93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93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4671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应用、模型与迁移三步曲</a:t>
            </a:r>
            <a:endParaRPr/>
          </a:p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8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93 节&lt;/Text&gt;&#13;&#10;        &lt;/Box&gt;&#13;&#10;        &lt;Text style={{ fontSize: 30, fontWeight: 'bold', color: '#16232E' }}&gt;核心知识点&lt;/Text&gt;&#13;&#10;        &lt;Text style={{ fontSize: 15, color: '#5A6B7A', marginTop: 10 }}&gt;· ★ 应用、模型与迁移三步曲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3 模型 → 迁移 → 数据库：改数据的「三步曲」★&lt;/text&gt;&lt;text x='82' y='169.0' fontSize='13' fill='#3A4A58' textAnchor='start' fontFamily='Microsoft YaHei'&gt;· 迁移文件就是数据库的施工图纸——它记录「上次数据库长这样，这次要加一张表 / 加&lt;/text&gt;&lt;text x='82' y='188.5' fontSize='13' fill='#3A4A58' textAnchor='start' fontFamily='Microsoft YaHei'&gt;一列」。有了它，数据库…&lt;/text&gt;&lt;text x='82' y='217.0' fontSize='13' fill='#3A4A58' textAnchor='start' fontFamily='Microsoft YaHei'&gt;· 管理网站 /admin/ 是 Django 白送的后台：先建一个超级用户（相当于总经理，手握&lt;/text&gt;&lt;text x='82' y='236.5' fontSize='13' fill='#3A4A58' textAnchor='start' fontFamily='Microsoft YaHei'&gt;所有房间的…&lt;/text&gt;&lt;text x='82' y='265.0' fontSize='13' fill='#3A4A58' textAnchor='start' fontFamily='Microsoft YaHei'&gt;· Django shell（python manage.py shell）是调试神器：它启动一个带项目环…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4 一对多：Topic 和 Entry 的外键 ★&lt;/text&gt;&lt;text x='686' y='169.0' fontSize='13' fill='#3A4A58' textAnchor='start' fontFamily='Microsoft YaHei'&gt;· 学习笔记的数据长这样：一个主题（比如「Python」）下面挂着很多条目（今天学的一&lt;/text&gt;&lt;text x='686' y='188.5' fontSize='13' fill='#3A4A58' textAnchor='start' fontFamily='Microsoft YaHei'&gt;点、明天学的一点）…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8 · 第 93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93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★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应用、模型与迁移三步曲</a:t>
            </a:r>
            <a:endParaRPr/>
          </a:p>
        </p:txBody>
      </p:sp>
      <p:pic>
        <p:nvPicPr>
          <p:cNvPr id="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94 / 111 节&lt;/Text&gt;&#13;&#10;        &lt;/Box&gt;&#13;&#10;        &lt;Text style={{ fontSize: 30, fontWeight: 'bold', color: '#16232E' }}&gt;★ 一次请求的旅程：URL → 视图 → 模板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能画完整请求链路图；会映射 URL、写视图、渲染模板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现场加一条 URL 并访问它&lt;/text&gt;&lt;text x='84' y='338.75' fontSize='14.5' fill='#3A4A58' textAnchor='start' fontFamily='Microsoft YaHei'&gt;· 故意把视图里的 context 删掉，看模板报什么错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★ 产出：一张自己画的请求链路图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8 · 第 94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94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523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一次请求的旅程：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URL →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视图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模板</a:t>
            </a:r>
            <a:endParaRPr/>
          </a:p>
        </p:txBody>
      </p:sp>
      <p:pic>
        <p:nvPicPr>
          <p:cNvPr id="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1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94 节&lt;/Text&gt;&#13;&#10;        &lt;/Box&gt;&#13;&#10;        &lt;Text style={{ fontSize: 30, fontWeight: 'bold', color: '#16232E' }}&gt;核心知识点&lt;/Text&gt;&#13;&#10;        &lt;Text style={{ fontSize: 15, color: '#5A6B7A', marginTop: 10 }}&gt;· ★ 一次请求的旅程：URL → 视图 →…&lt;/Text&gt;&#13;&#10;    &lt;/Box&gt;&#13;&#10;    &lt;Box style={{ position: 'absolute', left: 0, top: 0, width: '1280px', height: '720px' }}&gt;&#13;&#10;        &lt;svg width='1280' height='720' viewBox='0 0 1280 720'&gt;&#13;&#10;            &lt;rect x='64' y='96' width='1152' height='330' rx='12' fill='#FFFFFF' stroke='#D8E3EE' /&gt;&lt;rect x='64' y='96' width='1152' height='4' rx='2' fill='#1F5FA8' /&gt;&lt;text x='82' y='130' fontSize='15.5' fontWeight='bold' fill='#1F5FA8' textAnchor='start' fontFamily='Microsoft YaHei'&gt;2.5 一次请求的旅程：URL → 视图 → 模板 ★&lt;/text&gt;&lt;text x='82' y='169.0' fontSize='13' fill='#3A4A58' textAnchor='start' fontFamily='Microsoft YaHei'&gt;· 这是本单元最难的部分，也是 Django 的命脉。用户每敲一次网址，都发生下面这一串事：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8 · 第 94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94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2466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★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一次请求的旅程：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URL →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视图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→…</a:t>
            </a:r>
            <a:endParaRPr/>
          </a:p>
        </p:txBody>
      </p:sp>
      <p:pic>
        <p:nvPicPr>
          <p:cNvPr id="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8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95 / 111 节&lt;/Text&gt;&#13;&#10;        &lt;/Box&gt;&#13;&#10;        &lt;Text style={{ fontSize: 30, fontWeight: 'bold', color: '#16232E' }}&gt;模板语法与模板继承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会用 ｛｛ ｝｝、｛% for %｝、｛% url %｝；会用 base.html 做模板继承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把重复的导航栏抽进 base.html&lt;/text&gt;&lt;text x='84' y='338.75' fontSize='14.5' fill='#3A4A58' textAnchor='start' fontFamily='Microsoft YaHei'&gt;· 故意写错 url 名字看 NoReverseMatch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教材 18.4 全部动手练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8 · 第 95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95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模板语法与模板继承</a:t>
            </a:r>
            <a:endParaRPr/>
          </a:p>
        </p:txBody>
      </p:sp>
      <p:pic>
        <p:nvPicPr>
          <p:cNvPr id="9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4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95 节&lt;/Text&gt;&#13;&#10;        &lt;/Box&gt;&#13;&#10;        &lt;Text style={{ fontSize: 30, fontWeight: 'bold', color: '#16232E' }}&gt;核心知识点&lt;/Text&gt;&#13;&#10;        &lt;Text style={{ fontSize: 15, color: '#5A6B7A', marginTop: 10 }}&gt;· 模板语法与模板继承&lt;/Text&gt;&#13;&#10;    &lt;/Box&gt;&#13;&#10;    &lt;Box style={{ position: 'absolute', left: 0, top: 0, width: '1280px', height: '720px' }}&gt;&#13;&#10;        &lt;svg width='1280' height='720' viewBox='0 0 1280 720'&gt;&#13;&#10;            &lt;rect x='64' y='96' width='1152' height='330' rx='12' fill='#FFFFFF' stroke='#D8E3EE' /&gt;&lt;rect x='64' y='96' width='1152' height='4' rx='2' fill='#1F5FA8' /&gt;&lt;text x='82' y='130' fontSize='15.5' fontWeight='bold' fill='#1F5FA8' textAnchor='start' fontFamily='Microsoft YaHei'&gt;2.6 模板语法：｛｛ ｝｝、｛% for %｝ 与 ｛%…&lt;/text&gt;&lt;text x='82' y='169.0' fontSize='13' fill='#3A4A58' textAnchor='start' fontFamily='Microsoft YaHei'&gt;· 模板里只有三样东西要记：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8 · 第 95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96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95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37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模板语法与模板继承</a:t>
            </a:r>
            <a:endParaRPr/>
          </a:p>
        </p:txBody>
      </p:sp>
      <p:pic>
        <p:nvPicPr>
          <p:cNvPr id="1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96 / 111 节&lt;/Text&gt;&#13;&#10;        &lt;/Box&gt;&#13;&#10;        &lt;Text style={{ fontSize: 30, fontWeight: 'bold', color: '#16232E' }}&gt;Django shell 与 404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会用 shell 直接查数据库；理解 get_object_or_404 的意义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用 shell 造三条 Entry&lt;/text&gt;&lt;text x='84' y='338.75' fontSize='14.5' fill='#3A4A58' textAnchor='start' fontFamily='Microsoft YaHei'&gt;· 访问一个不存在的 topic_id，看 404 页面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产出：能浏览主题与条目的本地网站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8 · 第 96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96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771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Django shell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与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404</a:t>
            </a:r>
            <a:endParaRPr/>
          </a:p>
        </p:txBody>
      </p:sp>
      <p:pic>
        <p:nvPicPr>
          <p:cNvPr id="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96 节&lt;/Text&gt;&#13;&#10;        &lt;/Box&gt;&#13;&#10;        &lt;Text style={{ fontSize: 30, fontWeight: 'bold', color: '#16232E' }}&gt;核心知识点&lt;/Text&gt;&#13;&#10;        &lt;Text style={{ fontSize: 15, color: '#5A6B7A', marginTop: 10 }}&gt;· Django shell 与 404&lt;/Text&gt;&#13;&#10;    &lt;/Box&gt;&#13;&#10;    &lt;Box style={{ position: 'absolute', left: 0, top: 0, width: '1280px', height: '720px' }}&gt;&#13;&#10;        &lt;svg width='1280' height='720' viewBox='0 0 1280 720'&gt;&#13;&#10;            &lt;rect x='64' y='96' width='1152' height='330' rx='12' fill='#FFFFFF' stroke='#D8E3EE' /&gt;&lt;rect x='64' y='96' width='1152' height='4' rx='2' fill='#1F5FA8' /&gt;&lt;text x='82' y='130' fontSize='15.5' fontWeight='bold' fill='#1F5FA8' textAnchor='start' fontFamily='Microsoft YaHei'&gt;2.7 模板继承与 404：别每个页面重复写导航栏 ★&lt;/text&gt;&lt;text x='82' y='169.0' fontSize='13' fill='#3A4A58' textAnchor='start' fontFamily='Microsoft YaHei'&gt;· 404 处理：视图里 Topic.objects.get(id=topic_id) 遇到不存在的 ID…&lt;/text&gt;&lt;text x='64' y='470' fontSize='14.5' fontWeight='bold' fill='#0E9B78' textAnchor='start' fontFamily='Microsoft YaHei'&gt;本节的代码示例&lt;/text&gt;&lt;text x='64' y='500' fontSize='13' fill='#3A4A58' textAnchor='start' fontFamily='Microsoft YaHei'&gt;· 用纯 Python 看懂外键和级联删除&lt;/text&gt;&lt;text x='468' y='500' fontSize='13' fill='#3A4A58' textAnchor='start' fontFamily='Microsoft YaHei'&gt;· 用纯 Python 模拟「URL → 视图 → 模板」请求链路&lt;/text&gt;&lt;text x='872' y='500' fontSize='13' fill='#3A4A58' textAnchor='start' fontFamily='Microsoft YaHei'&gt;· 用纯 Python 模拟模板继承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8 · 第 96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96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409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Django shell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404</a:t>
            </a:r>
            <a:endParaRPr/>
          </a:p>
        </p:txBody>
      </p:sp>
      <p:pic>
        <p:nvPicPr>
          <p:cNvPr id="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97 / 111 节&lt;/Text&gt;&#13;&#10;        &lt;/Box&gt;&#13;&#10;        &lt;Text style={{ fontSize: 30, fontWeight: 'bold', color: '#16232E' }}&gt;实战、答案与验收复盘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独立完成单元 18 练习，画得出项目结构图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限时 40 分钟独立完成基础档&lt;/text&gt;&lt;text x='84' y='338.75' fontSize='14.5' fill='#3A4A58' textAnchor='start' fontFamily='Microsoft YaHei'&gt;· 互相检查对方的 settings.py 配置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★ 产出：学习笔记本地网站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8 · 第 97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97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857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实战、答案与验收复盘</a:t>
            </a:r>
            <a:endParaRPr/>
          </a:p>
        </p:txBody>
      </p:sp>
      <p:pic>
        <p:nvPicPr>
          <p:cNvPr id="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8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97 节&lt;/Text&gt;&#13;&#10;        &lt;/Box&gt;&#13;&#10;        &lt;Text style={{ fontSize: 30, fontWeight: 'bold', color: '#16232E' }}&gt;核心知识点&lt;/Text&gt;&#13;&#10;        &lt;Text style={{ fontSize: 15, color: '#5A6B7A', marginTop: 10 }}&gt;· 实战、答案与验收复盘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基础档&lt;/text&gt;&lt;text x='82' y='169.0' fontSize='13' fill='#3A4A58' textAnchor='start' fontFamily='Microsoft YaHei'&gt;· 练习 18-1【从零跑通第一个页面】&lt;/text&gt;&lt;text x='82' y='197.5' fontSize='13' fill='#3A4A58' textAnchor='start' fontFamily='Microsoft YaHei'&gt;· 练习 18-2【教材练习 18.2：简短的条目】&lt;/text&gt;&lt;text x='82' y='226.0' fontSize='13' fill='#3A4A58' textAnchor='start' fontFamily='Microsoft YaHei'&gt;· 练习 18-3【教材练习 18.4：比萨与配料】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进阶档&lt;/text&gt;&lt;text x='486' y='169.0' fontSize='13' fill='#3A4A58' textAnchor='start' fontFamily='Microsoft YaHei'&gt;· 练习 18-4【手写迷你模板引擎】&lt;/text&gt;&lt;text x='486' y='197.5' fontSize='13' fill='#3A4A58' textAnchor='start' fontFamily='Microsoft YaHei'&gt;· 练习 18-5【给学习笔记加「关于」页面】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参考答案 18-1&lt;/text&gt;&lt;text x='890' y='169.0' fontSize='13' fill='#3A4A58' textAnchor='start' fontFamily='Microsoft YaHei'&gt;· mkdir learning_log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8 · 第 97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0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97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514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实战、答案与验收复盘</a:t>
            </a:r>
            <a:endParaRPr/>
          </a:p>
        </p:txBody>
      </p:sp>
      <p:pic>
        <p:nvPicPr>
          <p:cNvPr id="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5" name="" descr="&lt;Slide style={{ width: '1280px', height: '720px', backgroundColor: '#FAFCFE', padding: 0, position: 'relative', overflow: 'hidden' }}&gt;&#13;&#10;    &lt;Box style={{ position: 'absolute', left: 0, top: 0, width: '12px', height: '720px', background: '#0E9B78' }} /&gt;&#13;&#10;    &lt;Box style={{ position: 'absolute', left: 72, top: 44, width: '1144px', flexDirection: 'column' }}&gt;&#13;&#10;        &lt;Text style={{ fontSize: 34, fontWeight: 'bold', color: '#16232E' }}&gt;单元 18 · 小结与验收&lt;/Text&gt;&#13;&#10;        &lt;Text style={{ fontSize: 16, color: '#5A6B7A', marginTop: 6 }}&gt;Django 入门&lt;/Text&gt;&#13;&#10;    &lt;/Box&gt;&#13;&#10;    &lt;Box style={{ position: 'absolute', left: 72, top: 148, width: '552px', height: 400, background: '#FFFFFF', border: '1px solid #D8E3EE', borderRadius: 12, padding: 18, flexDirection: 'column' }}&gt;&#13;&#10;        &lt;Text style={{ fontSize: 16, fontWeight: 'bold', color: '#1F5FA8' }}&gt;本单元课节回顾&lt;/Text&gt;&#13;&#10;        &lt;Box style={{ marginTop: 10, position: 'relative', height: 330 }}&gt;&#13;&#10;            &lt;svg width='516' height='330' viewBox='0 0 516 330'&gt;&lt;text x='0' y='34' fontSize='14.5' fill='#3A4A58' fontFamily='Microsoft YaHei'&gt;· 第 92 节 · ★ 虚拟环境与 Django 项目&lt;/text&gt;&lt;text x='0' y='64' fontSize='14.5' fill='#3A4A58' fontFamily='Microsoft YaHei'&gt;· 第 93 节 · ★ 应用、模型与迁移三步曲&lt;/text&gt;&lt;text x='0' y='94' fontSize='14.5' fill='#3A4A58' fontFamily='Microsoft YaHei'&gt;· 第 94 节 · ★ 一次请求的旅程：URL → 视图 → 模板&lt;/text&gt;&lt;text x='0' y='124' fontSize='14.5' fill='#3A4A58' fontFamily='Microsoft YaHei'&gt;· 第 95 节 · 模板语法与模板继承&lt;/text&gt;&lt;text x='0' y='154' fontSize='14.5' fill='#3A4A58' fontFamily='Microsoft YaHei'&gt;· 第 96 节 · Django shell 与 404&lt;/text&gt;&lt;text x='0' y='184' fontSize='14.5' fill='#3A4A58' fontFamily='Microsoft YaHei'&gt;· 第 97 节 · 实战、答案与验收复盘&lt;/text&gt;&lt;/svg&gt;&#13;&#10;        &lt;/Box&gt;&#13;&#10;    &lt;/Box&gt;&#13;&#10;    &lt;Box style={{ position: 'absolute', left: 656, top: 148, width: '560px', height: 400, background: '#FDF3E2', borderRadius: 12, padding: 20, flexDirection: 'column' }}&gt;&#13;&#10;        &lt;Text style={{ fontSize: 16, fontWeight: 'bold', color: '#E08A15' }}&gt;过关标准&lt;/Text&gt;&#13;&#10;        &lt;Text style={{ fontSize: 15, color: '#3A4A58', marginTop: 12, lineHeight: 1.9 }}&gt;&#13;&#10;            1. 本单元每一节的课后作业都做完并自己验收过&#13;&#10;&#13;&#10;            2. 不看讲义能独立重写一遍本单元的示例代码&#13;&#10;&#13;&#10;            3. 讲义最后「本单元验收自测」全部答对&#13;&#10;&#13;&#10;            4. 产出物已经写进笔记或提交到 Git&#13;&#10;        &lt;/Text&gt;&#13;&#10;        &lt;Text style={{ fontSize: 14, color: '#8A6A2A', marginTop: 16, lineHeight: 1.7 }}&gt;&#13;&#10;            没过关的项回到对应那一节重做，不要整体重学。&#13;&#10;        &lt;/Text&gt;&#13;&#10;    &lt;/Box&gt;&#13;&#10;    &lt;Box style={{ position: 'absolute', left: 72, bottom: 26, width: '1144px', flexDirection: 'row', justifyContent: 'space-between' }}&gt;&#13;&#10;        &lt;Text style={{ fontSize: 13, color: '#8A9AAA' }}&gt;Python 讲授课件 · 逐节版&lt;/Text&gt;&#13;&#10;        &lt;Text style={{ fontSize: 13, color: '#8A9AAA' }}&gt;单元 18 · 小结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0" y="0"/>
            <a:ext cx="114300" cy="6858000"/>
          </a:xfrm>
          <a:prstGeom prst="rect">
            <a:avLst/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10896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18 · </a:t>
            </a: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小结与验收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9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Django 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入门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85800" y="1409700"/>
            <a:ext cx="52578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857250" y="1581150"/>
            <a:ext cx="491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5FA8"/>
                </a:solidFill>
                <a:latin typeface="Microsoft YaHei"/>
                <a:ea typeface="Microsoft YaHei"/>
              </a:rPr>
              <a:t>本单元课节回顾</a:t>
            </a:r>
            <a:endParaRPr/>
          </a:p>
        </p:txBody>
      </p:sp>
      <p:pic>
        <p:nvPicPr>
          <p:cNvPr id="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866900"/>
            <a:ext cx="4914900" cy="3143250"/>
          </a:xfrm>
          <a:prstGeom prst="rect">
            <a:avLst/>
          </a:prstGeom>
          <a:ln/>
        </p:spPr>
      </p:pic>
      <p:sp>
        <p:nvSpPr>
          <p:cNvPr id="43" name=""/>
          <p:cNvSpPr/>
          <p:nvPr/>
        </p:nvSpPr>
        <p:spPr>
          <a:xfrm rot="0" flipH="0" flipV="0">
            <a:off x="6248400" y="1409700"/>
            <a:ext cx="5334000" cy="3810000"/>
          </a:xfrm>
          <a:prstGeom prst="roundRect">
            <a:avLst>
              <a:gd name="adj" fmla="val 3000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438900" y="1600200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08A15"/>
                </a:solidFill>
                <a:latin typeface="Microsoft YaHei"/>
                <a:ea typeface="Microsoft YaHei"/>
              </a:rPr>
              <a:t>过关标准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438900" y="1905000"/>
            <a:ext cx="49530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1.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本单元每一节的课后作业都做完并自己验收过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2.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不看讲义能独立重写一遍本单元的示例代码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3.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讲义最后「本单元验收自测」全部答对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4.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产出物已经写进笔记或提交到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Git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438900" y="3038475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8A6A2A"/>
                </a:solidFill>
                <a:latin typeface="Microsoft YaHei"/>
                <a:ea typeface="Microsoft YaHei"/>
              </a:rPr>
              <a:t>没过关的项回到对应那一节重做，不要整体重学。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0801350" y="64579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18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2026-10-16T01:09:29Z</dcterms:created>
  <dcterms:modified xsi:type="dcterms:W3CDTF">2026-10-16T01:09:29Z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{"AIGC":{"Label":"1","ContentProducer":"00119111010856365494821B355","ProduceID":"01a140606b8e78a9a7f16f4a35ab0244","ReservedCode1":"","ContentPropagator":"00119111010856365494821B355","PropagateID":"01a140606b8e78a9a7f16f4a35ab0244","ReservedCode2":""}}</vt:lpwstr>
  </property>
</Properties>
</file>