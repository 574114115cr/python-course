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13.svg" ContentType="image/svg+xml"/>
  <Override PartName="/ppt/slides/media/image14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5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tableStyles" Target="tableStyles.xml"/><Relationship Id="rId1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18 · 单元 18 · Django 入门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92 节 ★ 虚拟环境与 Django 项目</a:t>
            </a:r>
          </a:p>
          <a:p>
            <a:r>
              <a:rPr lang="zh-CN" dirty="0"/>
              <a:t>· 第 93 节 ★ 应用、模型与迁移三步曲</a:t>
            </a:r>
          </a:p>
          <a:p>
            <a:r>
              <a:rPr lang="zh-CN" dirty="0"/>
              <a:t>· 第 94 节 ★ 一次请求的旅程：URL → 视图 → 模板</a:t>
            </a:r>
          </a:p>
          <a:p>
            <a:r>
              <a:rPr lang="zh-CN" dirty="0"/>
              <a:t>· 第 95 节 模板语法与模板继承</a:t>
            </a:r>
          </a:p>
          <a:p>
            <a:r>
              <a:rPr lang="zh-CN" dirty="0"/>
              <a:t>· 第 96 节 Django shell 与 404</a:t>
            </a:r>
          </a:p>
          <a:p>
            <a:r>
              <a:rPr lang="zh-CN" dirty="0"/>
              <a:t>· 第 97 节 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18 · 单元 18 · Django 入门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92 节 ★ 虚拟环境与 Django 项目</a:t>
            </a:r>
          </a:p>
          <a:p>
            <a:r>
              <a:rPr lang="zh-CN" dirty="0"/>
              <a:t>· 第 93 节 ★ 应用、模型与迁移三步曲</a:t>
            </a:r>
          </a:p>
          <a:p>
            <a:r>
              <a:rPr lang="zh-CN" dirty="0"/>
              <a:t>· 第 94 节 ★ 一次请求的旅程：URL → 视图 → 模板</a:t>
            </a:r>
          </a:p>
          <a:p>
            <a:r>
              <a:rPr lang="zh-CN" dirty="0"/>
              <a:t>· 第 95 节 模板语法与模板继承</a:t>
            </a:r>
          </a:p>
          <a:p>
            <a:r>
              <a:rPr lang="zh-CN" dirty="0"/>
              <a:t>· 第 96 节 Django shell 与 404</a:t>
            </a:r>
          </a:p>
          <a:p>
            <a:r>
              <a:rPr lang="zh-CN" dirty="0"/>
              <a:t>· 第 97 节 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92 节 · ★ 虚拟环境与 Django 项目</a:t>
            </a:r>
          </a:p>
          <a:p>
            <a:r>
              <a:rPr lang="zh-CN" dirty="0"/>
              <a:t>单元 18 · Django 入门 · W22–W23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学习目标：说清为什么必须用虚拟环境；能建项目、跑起来、看清目录结构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建 ll_env 并激活，确认命令行出现 (ll_env)</a:t>
            </a:r>
          </a:p>
          <a:p>
            <a:r>
              <a:rPr lang="zh-CN" dirty="0"/>
              <a:t>· 跑 startserver 打开首页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产出：能跑起来的空 Django 项目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92 节 · ★ 虚拟环境与 Django 项目</a:t>
            </a:r>
          </a:p>
          <a:p>
            <a:r>
              <a:rPr lang="zh-CN" dirty="0"/>
              <a:t>单元 18 · Django 入门 · W22–W23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学习目标：说清为什么必须用虚拟环境；能建项目、跑起来、看清目录结构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建 ll_env 并激活，确认命令行出现 (ll_env)</a:t>
            </a:r>
          </a:p>
          <a:p>
            <a:r>
              <a:rPr lang="zh-CN" dirty="0"/>
              <a:t>· 跑 startserver 打开首页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产出：能跑起来的空 Django 项目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92 节 · 核心知识点：★ 虚拟环境与 Django 项目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本节目标：说清为什么必须用虚拟环境；能建项目、跑起来、看清目录结构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92 节 · 核心知识点：★ 虚拟环境与 Django 项目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本节目标：说清为什么必须用虚拟环境；能建项目、跑起来、看清目录结构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93 节 · ★ 应用、模型与迁移三步曲</a:t>
            </a:r>
          </a:p>
          <a:p>
            <a:r>
              <a:rPr lang="zh-CN" dirty="0"/>
              <a:t>单元 18 · Django 入门 · W23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学习目标：定义 Topic / Entry 模型；掌握「改模型 → makemigrations → migrate」三步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改一次模型跑一遍三步曲</a:t>
            </a:r>
          </a:p>
          <a:p>
            <a:r>
              <a:rPr lang="zh-CN" dirty="0"/>
              <a:t>· 故意改错 on_delete 看报错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产出：能进管理后台看到 Topic 和 Entry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93 节 · ★ 应用、模型与迁移三步曲</a:t>
            </a:r>
          </a:p>
          <a:p>
            <a:r>
              <a:rPr lang="zh-CN" dirty="0"/>
              <a:t>单元 18 · Django 入门 · W23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学习目标：定义 Topic / Entry 模型；掌握「改模型 → makemigrations → migrate」三步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改一次模型跑一遍三步曲</a:t>
            </a:r>
          </a:p>
          <a:p>
            <a:r>
              <a:rPr lang="zh-CN" dirty="0"/>
              <a:t>· 故意改错 on_delete 看报错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产出：能进管理后台看到 Topic 和 Entry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93 节 · 核心知识点：★ 应用、模型与迁移三步曲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本节目标：定义 Topic / Entry 模型；掌握「改模型 → makemigrations → migrate」三步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93 节 · 核心知识点：★ 应用、模型与迁移三步曲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本节目标：定义 Topic / Entry 模型；掌握「改模型 → makemigrations → migrate」三步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94 节 · ★ 一次请求的旅程：URL → 视图 → 模板</a:t>
            </a:r>
          </a:p>
          <a:p>
            <a:r>
              <a:rPr lang="zh-CN" dirty="0"/>
              <a:t>单元 18 · Django 入门 · W23–W24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学习目标：能画完整请求链路图；会映射 URL、写视图、渲染模板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现场加一条 URL 并访问它</a:t>
            </a:r>
          </a:p>
          <a:p>
            <a:r>
              <a:rPr lang="zh-CN" dirty="0"/>
              <a:t>· 故意把视图里的 context 删掉，看模板报什么错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产出：一张自己画的请求链路图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94 节 · ★ 一次请求的旅程：URL → 视图 → 模板</a:t>
            </a:r>
          </a:p>
          <a:p>
            <a:r>
              <a:rPr lang="zh-CN" dirty="0"/>
              <a:t>单元 18 · Django 入门 · W23–W24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学习目标：能画完整请求链路图；会映射 URL、写视图、渲染模板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现场加一条 URL 并访问它</a:t>
            </a:r>
          </a:p>
          <a:p>
            <a:r>
              <a:rPr lang="zh-CN" dirty="0"/>
              <a:t>· 故意把视图里的 context 删掉，看模板报什么错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产出：一张自己画的请求链路图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94 节 · 核心知识点：★ 一次请求的旅程：URL → 视图 → 模板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本节目标：能画完整请求链路图；会映射 URL、写视图、渲染模板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94 节 · 核心知识点：★ 一次请求的旅程：URL → 视图 → 模板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本节目标：能画完整请求链路图；会映射 URL、写视图、渲染模板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95 节 · 模板语法与模板继承</a:t>
            </a:r>
          </a:p>
          <a:p>
            <a:r>
              <a:rPr lang="zh-CN" dirty="0"/>
              <a:t>单元 18 · Django 入门 · W24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`{{ }}`、`{% for %}`、`{% url %}`；会用 base.html 做模板继承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把重复的导航栏抽进 base.html</a:t>
            </a:r>
          </a:p>
          <a:p>
            <a:r>
              <a:rPr lang="zh-CN" dirty="0"/>
              <a:t>· 故意写错 url 名字看 NoReverseMatch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18.4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95 节 · 模板语法与模板继承</a:t>
            </a:r>
          </a:p>
          <a:p>
            <a:r>
              <a:rPr lang="zh-CN" dirty="0"/>
              <a:t>单元 18 · Django 入门 · W24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`{{ }}`、`{% for %}`、`{% url %}`；会用 base.html 做模板继承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把重复的导航栏抽进 base.html</a:t>
            </a:r>
          </a:p>
          <a:p>
            <a:r>
              <a:rPr lang="zh-CN" dirty="0"/>
              <a:t>· 故意写错 url 名字看 NoReverseMatch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18.4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95 节 · 核心知识点：模板语法与模板继承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`{{ }}`、`{% for %}`、`{% url %}`；会用 base.html 做模板继承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95 节 · 核心知识点：模板语法与模板继承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`{{ }}`、`{% for %}`、`{% url %}`；会用 base.html 做模板继承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96 节 · Django shell 与 404</a:t>
            </a:r>
          </a:p>
          <a:p>
            <a:r>
              <a:rPr lang="zh-CN" dirty="0"/>
              <a:t>单元 18 · Django 入门 · W24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shell 直接查数据库；理解 get_object_or_404 的意义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用 shell 造三条 Entry</a:t>
            </a:r>
          </a:p>
          <a:p>
            <a:r>
              <a:rPr lang="zh-CN" dirty="0"/>
              <a:t>· 访问一个不存在的 topic_id，看 404 页面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产出：能浏览主题与条目的本地网站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96 节 · Django shell 与 404</a:t>
            </a:r>
          </a:p>
          <a:p>
            <a:r>
              <a:rPr lang="zh-CN" dirty="0"/>
              <a:t>单元 18 · Django 入门 · W24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shell 直接查数据库；理解 get_object_or_404 的意义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用 shell 造三条 Entry</a:t>
            </a:r>
          </a:p>
          <a:p>
            <a:r>
              <a:rPr lang="zh-CN" dirty="0"/>
              <a:t>· 访问一个不存在的 topic_id，看 404 页面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产出：能浏览主题与条目的本地网站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96 节 · 核心知识点：Django shell 与 404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shell 直接查数据库；理解 get_object_or_404 的意义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96 节 · 核心知识点：Django shell 与 404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shell 直接查数据库；理解 get_object_or_404 的意义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97 节 · 实战、答案与验收复盘</a:t>
            </a:r>
          </a:p>
          <a:p>
            <a:r>
              <a:rPr lang="zh-CN" dirty="0"/>
              <a:t>单元 18 · Django 入门 · W24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18 练习，画得出项目结构图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40 分钟独立完成基础档</a:t>
            </a:r>
          </a:p>
          <a:p>
            <a:r>
              <a:rPr lang="zh-CN" dirty="0"/>
              <a:t>· 互相检查对方的 settings.py 配置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产出：学习笔记本地网站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97 节 · 实战、答案与验收复盘</a:t>
            </a:r>
          </a:p>
          <a:p>
            <a:r>
              <a:rPr lang="zh-CN" dirty="0"/>
              <a:t>单元 18 · Django 入门 · W24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18 练习，画得出项目结构图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40 分钟独立完成基础档</a:t>
            </a:r>
          </a:p>
          <a:p>
            <a:r>
              <a:rPr lang="zh-CN" dirty="0"/>
              <a:t>· 互相检查对方的 settings.py 配置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产出：学习笔记本地网站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97 节 · 核心知识点：实战、答案与验收复盘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18 练习，画得出项目结构图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97 节 · 核心知识点：实战、答案与验收复盘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18 练习，画得出项目结构图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18 小结 · 单元 18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18 小结 · 单元 18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3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4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14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8&lt;/Text&gt;&#13;&#10;        &lt;Text style={{ fontSize: 38, fontWeight: 'bold', color: '#FFFFFF', marginTop: 6 }}&gt;Django 入门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6 节课&lt;/text&gt;&#13;&#10;            &lt;rect x='0' y='196' width='1152' height='38' rx='7' fill='#FFFFFF' /&gt;&lt;text x='16' y='221' fontSize='15' fontWeight='bold' fill='#1F5FA8' fontFamily='Microsoft YaHei'&gt;第 92 节&lt;/text&gt;&lt;text x='96' y='221' fontSize='15' fill='#16232E' fontFamily='Microsoft YaHei'&gt;★ 虚拟环境与 Django 项目&lt;/text&gt;&lt;text x='1080' y='221' fontSize='13' fill='#5A6B7A' textAnchor='end' fontFamily='Microsoft YaHei'&gt;W22–W23&lt;/text&gt;&lt;rect x='0' y='238' width='1152' height='38' rx='7' fill='#F2F7FD' /&gt;&lt;text x='16' y='263' fontSize='15' fontWeight='bold' fill='#1F5FA8' fontFamily='Microsoft YaHei'&gt;第 93 节&lt;/text&gt;&lt;text x='96' y='263' fontSize='15' fill='#16232E' fontFamily='Microsoft YaHei'&gt;★ 应用、模型与迁移三步曲&lt;/text&gt;&lt;text x='1080' y='263' fontSize='13' fill='#5A6B7A' textAnchor='end' fontFamily='Microsoft YaHei'&gt;W22–W23&lt;/text&gt;&lt;rect x='0' y='280' width='1152' height='38' rx='7' fill='#FFFFFF' /&gt;&lt;text x='16' y='305' fontSize='15' fontWeight='bold' fill='#1F5FA8' fontFamily='Microsoft YaHei'&gt;第 94 节&lt;/text&gt;&lt;text x='96' y='305' fontSize='15' fill='#16232E' fontFamily='Microsoft YaHei'&gt;★ 一次请求的旅程：URL → 视图 → 模板&lt;/text&gt;&lt;text x='1080' y='305' fontSize='13' fill='#5A6B7A' textAnchor='end' fontFamily='Microsoft YaHei'&gt;W22–W23&lt;/text&gt;&lt;rect x='0' y='322' width='1152' height='38' rx='7' fill='#F2F7FD' /&gt;&lt;text x='16' y='347' fontSize='15' fontWeight='bold' fill='#1F5FA8' fontFamily='Microsoft YaHei'&gt;第 95 节&lt;/text&gt;&lt;text x='96' y='347' fontSize='15' fill='#16232E' fontFamily='Microsoft YaHei'&gt;模板语法与模板继承&lt;/text&gt;&lt;text x='1080' y='347' fontSize='13' fill='#5A6B7A' textAnchor='end' fontFamily='Microsoft YaHei'&gt;W22–W23&lt;/text&gt;&lt;rect x='0' y='364' width='1152' height='38' rx='7' fill='#FFFFFF' /&gt;&lt;text x='16' y='389' fontSize='15' fontWeight='bold' fill='#1F5FA8' fontFamily='Microsoft YaHei'&gt;第 96 节&lt;/text&gt;&lt;text x='96' y='389' fontSize='15' fill='#16232E' fontFamily='Microsoft YaHei'&gt;Django shell 与 404&lt;/text&gt;&lt;text x='1080' y='389' fontSize='13' fill='#5A6B7A' textAnchor='end' fontFamily='Microsoft YaHei'&gt;W22–W23&lt;/text&gt;&lt;rect x='0' y='406' width='1152' height='38' rx='7' fill='#F2F7FD' /&gt;&lt;text x='16' y='431' fontSize='15' fontWeight='bold' fill='#1F5FA8' fontFamily='Microsoft YaHei'&gt;第 97 节&lt;/text&gt;&lt;text x='96' y='431' fontSize='15' fill='#16232E' fontFamily='Microsoft YaHei'&gt;实战、答案与验收复盘&lt;/text&gt;&lt;text x='1080' y='431' fontSize='13' fill='#5A6B7A' textAnchor='end' fontFamily='Microsoft YaHei'&gt;W22–W23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8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18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Django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入门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18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2 / 111 节&lt;/Text&gt;&#13;&#10;        &lt;/Box&gt;&#13;&#10;        &lt;Text style={{ fontSize: 30, fontWeight: 'bold', color: '#16232E' }}&gt;★ 虚拟环境与 Django 项目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说清为什么必须用虚拟环境；能建项目、跑起来、看清目录结构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建 ll_env 并激活，确认命令行出现 (ll_env)&lt;/text&gt;&lt;text x='84' y='338.75' fontSize='14.5' fill='#3A4A58' textAnchor='start' fontFamily='Microsoft YaHei'&gt;· 跑 startserver 打开首页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能跑起来的空 Django 项目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5337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虚拟环境与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Django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项目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2 节&lt;/Text&gt;&#13;&#10;        &lt;/Box&gt;&#13;&#10;        &lt;Text style={{ fontSize: 30, fontWeight: 'bold', color: '#16232E' }}&gt;核心知识点&lt;/Text&gt;&#13;&#10;        &lt;Text style={{ fontSize: 15, color: '#5A6B7A', marginTop: 10 }}&gt;· ★ 虚拟环境与 Django 项目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虚拟环境：给每个项目一间独立的「工具间」★&lt;/text&gt;&lt;text x='82' y='169.0' fontSize='13' fill='#3A4A58' textAnchor='start' fontFamily='Microsoft YaHei'&gt;· ll_env 是两个小写的 L 加 env，不是数字 1。教材特意提醒过这一点。&lt;/text&gt;&lt;text x='82' y='197.5' fontSize='13' fill='#3A4A58' textAnchor='start' fontFamily='Microsoft YaHei'&gt;· pip install 前一定看一眼有没有 (ll_env)。没有它，Django 会被装到全局 Py…&lt;/text&gt;&lt;text x='82' y='226.0' fontSize='13' fill='#3A4A58' textAnchor='start' fontFamily='Microsoft YaHei'&gt;· 关闭终端 = 虚拟环境自动失效，下次开工要重新激活。这是新手最常犯的错，没有之一&lt;/text&gt;&lt;text x='82' y='245.5' fontSize='13' fill='#3A4A58' textAnchor='start' fontFamily='Microsoft YaHei'&gt;：昨天明明跑得好好的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Django 的三个层次：项目、应用程序、MVT ★&lt;/text&gt;&lt;text x='686' y='169.0' fontSize='13' fill='#3A4A58' textAnchor='start' fontFamily='Microsoft YaHei'&gt;· 项目（project）= 餐厅的营业执照和规章制度。全项目一份，规定「本店用什么灶、账&lt;/text&gt;&lt;text x='686' y='188.5' fontSize='13' fill='#3A4A58' textAnchor='start' fontFamily='Microsoft YaHei'&gt;记在哪」。&lt;/text&gt;&lt;text x='686' y='217.0' fontSize='13' fill='#3A4A58' textAnchor='start' fontFamily='Microsoft YaHei'&gt;· 应用程序（app）= 厨房、收银台、库房。可以有很多个，各干各的活；它们协同工作，&lt;/text&gt;&lt;text x='686' y='236.5' fontSize='13' fill='#3A4A58' textAnchor='start' fontFamily='Microsoft YaHei'&gt;让项目成为一个整体…&lt;/text&gt;&lt;text x='686' y='265.0' fontSize='13' fill='#3A4A58' textAnchor='start' fontFamily='Microsoft YaHei'&gt;· settings.py 里的 INSTALLED_APPS：每新建一个 app，都要来这里「注册学籍」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19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虚拟环境与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Django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项目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3 / 111 节&lt;/Text&gt;&#13;&#10;        &lt;/Box&gt;&#13;&#10;        &lt;Text style={{ fontSize: 30, fontWeight: 'bold', color: '#16232E' }}&gt;★ 应用、模型与迁移三步曲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定义 Topic / Entry 模型；掌握「改模型 → makemigrations → migrate」三步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改一次模型跑一遍三步曲&lt;/text&gt;&lt;text x='84' y='338.75' fontSize='14.5' fill='#3A4A58' textAnchor='start' fontFamily='Microsoft YaHei'&gt;· 故意改错 on_delete 看报错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能进管理后台看到 Topic 和 Entry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671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应用、模型与迁移三步曲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3 节&lt;/Text&gt;&#13;&#10;        &lt;/Box&gt;&#13;&#10;        &lt;Text style={{ fontSize: 30, fontWeight: 'bold', color: '#16232E' }}&gt;核心知识点&lt;/Text&gt;&#13;&#10;        &lt;Text style={{ fontSize: 15, color: '#5A6B7A', marginTop: 10 }}&gt;· ★ 应用、模型与迁移三步曲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模型 → 迁移 → 数据库：改数据的「三步曲」★&lt;/text&gt;&lt;text x='82' y='169.0' fontSize='13' fill='#3A4A58' textAnchor='start' fontFamily='Microsoft YaHei'&gt;· 迁移文件就是数据库的施工图纸——它记录「上次数据库长这样，这次要加一张表 / 加&lt;/text&gt;&lt;text x='82' y='188.5' fontSize='13' fill='#3A4A58' textAnchor='start' fontFamily='Microsoft YaHei'&gt;一列」。有了它，数据库…&lt;/text&gt;&lt;text x='82' y='217.0' fontSize='13' fill='#3A4A58' textAnchor='start' fontFamily='Microsoft YaHei'&gt;· 管理网站 /admin/ 是 Django 白送的后台：先建一个超级用户（相当于总经理，手握&lt;/text&gt;&lt;text x='82' y='236.5' fontSize='13' fill='#3A4A58' textAnchor='start' fontFamily='Microsoft YaHei'&gt;所有房间的…&lt;/text&gt;&lt;text x='82' y='265.0' fontSize='13' fill='#3A4A58' textAnchor='start' fontFamily='Microsoft YaHei'&gt;· Django shell（python manage.py shell）是调试神器：它启动一个带项目环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一对多：Topic 和 Entry 的外键 ★&lt;/text&gt;&lt;text x='686' y='169.0' fontSize='13' fill='#3A4A58' textAnchor='start' fontFamily='Microsoft YaHei'&gt;· 学习笔记的数据长这样：一个主题（比如「Python」）下面挂着很多条目（今天学的一&lt;/text&gt;&lt;text x='686' y='188.5' fontSize='13' fill='#3A4A58' textAnchor='start' fontFamily='Microsoft YaHei'&gt;点、明天学的一点）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应用、模型与迁移三步曲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4 / 111 节&lt;/Text&gt;&#13;&#10;        &lt;/Box&gt;&#13;&#10;        &lt;Text style={{ fontSize: 30, fontWeight: 'bold', color: '#16232E' }}&gt;★ 一次请求的旅程：URL → 视图 → 模板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画完整请求链路图；会映射 URL、写视图、渲染模板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加一条 URL 并访问它&lt;/text&gt;&lt;text x='84' y='338.75' fontSize='14.5' fill='#3A4A58' textAnchor='start' fontFamily='Microsoft YaHei'&gt;· 故意把视图里的 context 删掉，看模板报什么错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一张自己画的请求链路图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523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一次请求的旅程：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URL →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视图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模板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4 节&lt;/Text&gt;&#13;&#10;        &lt;/Box&gt;&#13;&#10;        &lt;Text style={{ fontSize: 30, fontWeight: 'bold', color: '#16232E' }}&gt;核心知识点&lt;/Text&gt;&#13;&#10;        &lt;Text style={{ fontSize: 15, color: '#5A6B7A', marginTop: 10 }}&gt;· ★ 一次请求的旅程：URL → 视图 →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5 一次请求的旅程：URL → 视图 → 模板 ★&lt;/text&gt;&lt;text x='82' y='169.0' fontSize='13' fill='#3A4A58' textAnchor='start' fontFamily='Microsoft YaHei'&gt;· 这是本单元最难的部分，也是 Django 的命脉。用户每敲一次网址，都发生下面这一串事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466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一次请求的旅程：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URL →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视图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→…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5 / 111 节&lt;/Text&gt;&#13;&#10;        &lt;/Box&gt;&#13;&#10;        &lt;Text style={{ fontSize: 30, fontWeight: 'bold', color: '#16232E' }}&gt;模板语法与模板继承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｛｛ ｝｝、｛% for %｝、｛% url %｝；会用 base.html 做模板继承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重复的导航栏抽进 base.html&lt;/text&gt;&lt;text x='84' y='338.75' fontSize='14.5' fill='#3A4A58' textAnchor='start' fontFamily='Microsoft YaHei'&gt;· 故意写错 url 名字看 NoReverseMatch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8.4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模板语法与模板继承</a:t>
            </a:r>
            <a:endParaRPr/>
          </a:p>
        </p:txBody>
      </p:sp>
      <p:pic>
        <p:nvPicPr>
          <p:cNvPr id="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5 节&lt;/Text&gt;&#13;&#10;        &lt;/Box&gt;&#13;&#10;        &lt;Text style={{ fontSize: 30, fontWeight: 'bold', color: '#16232E' }}&gt;核心知识点&lt;/Text&gt;&#13;&#10;        &lt;Text style={{ fontSize: 15, color: '#5A6B7A', marginTop: 10 }}&gt;· 模板语法与模板继承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6 模板语法：｛｛ ｝｝、｛% for %｝ 与 ｛%…&lt;/text&gt;&lt;text x='82' y='169.0' fontSize='13' fill='#3A4A58' textAnchor='start' fontFamily='Microsoft YaHei'&gt;· 模板里只有三样东西要记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模板语法与模板继承</a:t>
            </a:r>
            <a:endParaRPr/>
          </a:p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6 / 111 节&lt;/Text&gt;&#13;&#10;        &lt;/Box&gt;&#13;&#10;        &lt;Text style={{ fontSize: 30, fontWeight: 'bold', color: '#16232E' }}&gt;Django shell 与 404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shell 直接查数据库；理解 get_object_or_404 的意义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用 shell 造三条 Entry&lt;/text&gt;&lt;text x='84' y='338.75' fontSize='14.5' fill='#3A4A58' textAnchor='start' fontFamily='Microsoft YaHei'&gt;· 访问一个不存在的 topic_id，看 404 页面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能浏览主题与条目的本地网站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7717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Django shell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404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6 节&lt;/Text&gt;&#13;&#10;        &lt;/Box&gt;&#13;&#10;        &lt;Text style={{ fontSize: 30, fontWeight: 'bold', color: '#16232E' }}&gt;核心知识点&lt;/Text&gt;&#13;&#10;        &lt;Text style={{ fontSize: 15, color: '#5A6B7A', marginTop: 10 }}&gt;· Django shell 与 404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7 模板继承与 404：别每个页面重复写导航栏 ★&lt;/text&gt;&lt;text x='82' y='169.0' fontSize='13' fill='#3A4A58' textAnchor='start' fontFamily='Microsoft YaHei'&gt;· 404 处理：视图里 Topic.objects.get(id=topic_id) 遇到不存在的 ID…&lt;/text&gt;&lt;text x='64' y='470' fontSize='14.5' fontWeight='bold' fill='#0E9B78' textAnchor='start' fontFamily='Microsoft YaHei'&gt;本节的代码示例&lt;/text&gt;&lt;text x='64' y='500' fontSize='13' fill='#3A4A58' textAnchor='start' fontFamily='Microsoft YaHei'&gt;· 用纯 Python 看懂外键和级联删除&lt;/text&gt;&lt;text x='468' y='500' fontSize='13' fill='#3A4A58' textAnchor='start' fontFamily='Microsoft YaHei'&gt;· 用纯 Python 模拟「URL → 视图 → 模板」请求链路&lt;/text&gt;&lt;text x='872' y='500' fontSize='13' fill='#3A4A58' textAnchor='start' fontFamily='Microsoft YaHei'&gt;· 用纯 Python 模拟模板继承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409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Django shell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404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7 / 111 节&lt;/Text&gt;&#13;&#10;        &lt;/Box&gt;&#13;&#10;        &lt;Text style={{ fontSize: 30, fontWeight: 'bold', color: '#16232E' }}&gt;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8 练习，画得出项目结构图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40 分钟独立完成基础档&lt;/text&gt;&lt;text x='84' y='338.75' fontSize='14.5' fill='#3A4A58' textAnchor='start' fontFamily='Microsoft YaHei'&gt;· 互相检查对方的 settings.py 配置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学习笔记本地网站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7 节&lt;/Text&gt;&#13;&#10;        &lt;/Box&gt;&#13;&#10;        &lt;Text style={{ fontSize: 30, fontWeight: 'bold', color: '#16232E' }}&gt;核心知识点&lt;/Text&gt;&#13;&#10;        &lt;Text style={{ fontSize: 15, color: '#5A6B7A', marginTop: 10 }}&gt;· 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8-1【从零跑通第一个页面】&lt;/text&gt;&lt;text x='82' y='197.5' fontSize='13' fill='#3A4A58' textAnchor='start' fontFamily='Microsoft YaHei'&gt;· 练习 18-2【教材练习 18.2：简短的条目】&lt;/text&gt;&lt;text x='82' y='226.0' fontSize='13' fill='#3A4A58' textAnchor='start' fontFamily='Microsoft YaHei'&gt;· 练习 18-3【教材练习 18.4：比萨与配料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8-4【手写迷你模板引擎】&lt;/text&gt;&lt;text x='486' y='197.5' fontSize='13' fill='#3A4A58' textAnchor='start' fontFamily='Microsoft YaHei'&gt;· 练习 18-5【给学习笔记加「关于」页面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8-1&lt;/text&gt;&lt;text x='890' y='169.0' fontSize='13' fill='#3A4A58' textAnchor='start' fontFamily='Microsoft YaHei'&gt;· mkdir learning_log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8 · 小结与验收&lt;/Text&gt;&#13;&#10;        &lt;Text style={{ fontSize: 16, color: '#5A6B7A', marginTop: 6 }}&gt;Django 入门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92 节 · ★ 虚拟环境与 Django 项目&lt;/text&gt;&lt;text x='0' y='64' fontSize='14.5' fill='#3A4A58' fontFamily='Microsoft YaHei'&gt;· 第 93 节 · ★ 应用、模型与迁移三步曲&lt;/text&gt;&lt;text x='0' y='94' fontSize='14.5' fill='#3A4A58' fontFamily='Microsoft YaHei'&gt;· 第 94 节 · ★ 一次请求的旅程：URL → 视图 → 模板&lt;/text&gt;&lt;text x='0' y='124' fontSize='14.5' fill='#3A4A58' fontFamily='Microsoft YaHei'&gt;· 第 95 节 · 模板语法与模板继承&lt;/text&gt;&lt;text x='0' y='154' fontSize='14.5' fill='#3A4A58' fontFamily='Microsoft YaHei'&gt;· 第 96 节 · Django shell 与 404&lt;/text&gt;&lt;text x='0' y='184' fontSize='14.5' fill='#3A4A58' fontFamily='Microsoft YaHei'&gt;· 第 97 节 · 实战、答案与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8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7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18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Django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入门</a:t>
            </a:r>
            <a:endParaRPr/>
          </a:p>
        </p:txBody>
      </p:sp>
      <p:sp>
        <p:nvSpPr>
          <p:cNvPr id="40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43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18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2026-10-16T01:09:29Z</dcterms:created>
  <dcterms:modified xsi:type="dcterms:W3CDTF">2026-10-16T01:09:29Z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