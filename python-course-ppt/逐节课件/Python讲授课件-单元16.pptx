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tableStyles" Target="tableStyles.xml"/><Relationship Id="rId1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16 · 单元 16 · 下载真实数据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84 节 CSV 与 datetime</a:t>
            </a:r>
          </a:p>
          <a:p>
            <a:r>
              <a:rPr lang="zh-CN" dirty="0"/>
              <a:t>· 第 85 节 缺失值与温度图</a:t>
            </a:r>
          </a:p>
          <a:p>
            <a:r>
              <a:rPr lang="zh-CN" dirty="0"/>
              <a:t>· 第 86 节 GeoJSON 与地震散点图</a:t>
            </a:r>
          </a:p>
          <a:p>
            <a:r>
              <a:rPr lang="zh-CN" dirty="0"/>
              <a:t>· 第 87 节 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84 节 · CSV 与 datetime</a:t>
            </a:r>
          </a:p>
          <a:p>
            <a:r>
              <a:rPr lang="zh-CN" dirty="0"/>
              <a:t>单元 16 · 下载真实数据 · W19–W20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csv 模块读表头与数据；会用 strptime 把字符串变日期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打印表头及其位置并解释为什么不能硬编码列号</a:t>
            </a:r>
          </a:p>
          <a:p>
            <a:r>
              <a:rPr lang="zh-CN" dirty="0"/>
              <a:t>· 把日期字符串转成 datetime 对象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下载教材配套 CSV 数据并跑通第一个例子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84 节 · 核心知识点：CSV 与 datetime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csv 模块读表头与数据；会用 strptime 把字符串变日期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85 节 · 缺失值与温度图</a:t>
            </a:r>
          </a:p>
          <a:p>
            <a:r>
              <a:rPr lang="zh-CN" dirty="0"/>
              <a:t>单元 16 · 下载真实数据 · W20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学习目标：知道真实数据的三个坑；会用 try/except 处理缺失值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把缺失那行去掉，看图变形</a:t>
            </a:r>
          </a:p>
          <a:p>
            <a:r>
              <a:rPr lang="zh-CN" dirty="0"/>
              <a:t>· 用 fill_between 画出温度区间带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完成练习：给自己的城市画一个月气温图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85 节 · 核心知识点：缺失值与温度图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本节目标：知道真实数据的三个坑；会用 try/except 处理缺失值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86 节 · GeoJSON 与地震散点图</a:t>
            </a:r>
          </a:p>
          <a:p>
            <a:r>
              <a:rPr lang="zh-CN" dirty="0"/>
              <a:t>单元 16 · 下载真实数据 · W20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学习目标：读懂 GeoJSON 结构；用 scatter_geo 画全球散点图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打印第一条地震的 mag 与 coordinates</a:t>
            </a:r>
          </a:p>
          <a:p>
            <a:r>
              <a:rPr lang="zh-CN" dirty="0"/>
              <a:t>· 故意把经纬度顺序写反，看图错在哪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去 USGS 下载最新一天数据重画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86 节 · 核心知识点：GeoJSON 与地震散点图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本节目标：读懂 GeoJSON 结构；用 scatter_geo 画全球散点图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87 节 · 实战、答案与验收复盘</a:t>
            </a:r>
          </a:p>
          <a:p>
            <a:r>
              <a:rPr lang="zh-CN" dirty="0"/>
              <a:t>单元 16 · 下载真实数据 · W20–W21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16 练习，处理真实脏数据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30 分钟独立完成基础档</a:t>
            </a:r>
          </a:p>
          <a:p>
            <a:r>
              <a:rPr lang="zh-CN" dirty="0"/>
              <a:t>· 逐题对照答案讲评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产出：气温图 + 全球地震散点图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87 节 · 核心知识点：实战、答案与验收复盘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16 练习，处理真实脏数据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16 小结 · 单元 16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16&lt;/Text&gt;&#13;&#10;        &lt;Text style={{ fontSize: 38, fontWeight: 'bold', color: '#FFFFFF', marginTop: 6 }}&gt;下载真实数据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4 节课&lt;/text&gt;&#13;&#10;            &lt;rect x='0' y='56.0' width='1152' height='48.0' rx='7' fill='#FFFFFF' /&gt;&lt;text x='16' y='85.0' fontSize='15' fontWeight='bold' fill='#1F5FA8' fontFamily='Microsoft YaHei'&gt;第 84 节&lt;/text&gt;&lt;text x='96' y='85.0' fontSize='15' fill='#16232E' fontFamily='Microsoft YaHei'&gt;CSV 与 datetime&lt;/text&gt;&lt;text x='1080' y='85.0' fontSize='13' fill='#5A6B7A' textAnchor='end' fontFamily='Microsoft YaHei'&gt;W19–W20&lt;/text&gt;&lt;rect x='0' y='155.0' width='1152' height='48.0' rx='7' fill='#F2F7FD' /&gt;&lt;text x='16' y='184.0' fontSize='15' fontWeight='bold' fill='#1F5FA8' fontFamily='Microsoft YaHei'&gt;第 85 节&lt;/text&gt;&lt;text x='96' y='184.0' fontSize='15' fill='#16232E' fontFamily='Microsoft YaHei'&gt;缺失值与温度图&lt;/text&gt;&lt;text x='1080' y='184.0' fontSize='13' fill='#5A6B7A' textAnchor='end' fontFamily='Microsoft YaHei'&gt;W19–W20&lt;/text&gt;&lt;rect x='0' y='254.0' width='1152' height='48.0' rx='7' fill='#FFFFFF' /&gt;&lt;text x='16' y='283.0' fontSize='15' fontWeight='bold' fill='#1F5FA8' fontFamily='Microsoft YaHei'&gt;第 86 节&lt;/text&gt;&lt;text x='96' y='283.0' fontSize='15' fill='#16232E' fontFamily='Microsoft YaHei'&gt;GeoJSON 与地震散点图&lt;/text&gt;&lt;text x='1080' y='283.0' fontSize='13' fill='#5A6B7A' textAnchor='end' fontFamily='Microsoft YaHei'&gt;W19–W20&lt;/text&gt;&lt;rect x='0' y='353.0' width='1152' height='48.0' rx='7' fill='#F2F7FD' /&gt;&lt;text x='16' y='382.0' fontSize='15' fontWeight='bold' fill='#1F5FA8' fontFamily='Microsoft YaHei'&gt;第 87 节&lt;/text&gt;&lt;text x='96' y='382.0' fontSize='15' fill='#16232E' fontFamily='Microsoft YaHei'&gt;实战、答案与验收复盘&lt;/text&gt;&lt;text x='1080' y='382.0' fontSize='13' fill='#5A6B7A' textAnchor='end' fontFamily='Microsoft YaHei'&gt;W19–W20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6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16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下载真实数据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16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4 / 111 节&lt;/Text&gt;&#13;&#10;        &lt;/Box&gt;&#13;&#10;        &lt;Text style={{ fontSize: 30, fontWeight: 'bold', color: '#16232E' }}&gt;CSV 与 datetime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csv 模块读表头与数据；会用 strptime 把字符串变日期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打印表头及其位置并解释为什么不能硬编码列号&lt;/text&gt;&lt;text x='84' y='338.75' fontSize='14.5' fill='#3A4A58' textAnchor='start' fontFamily='Microsoft YaHei'&gt;· 把日期字符串转成 datetime 对象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下载教材配套 CSV 数据并跑通第一个例子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6 · 第 8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314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CSV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datetime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4 节&lt;/Text&gt;&#13;&#10;        &lt;/Box&gt;&#13;&#10;        &lt;Text style={{ fontSize: 30, fontWeight: 'bold', color: '#16232E' }}&gt;核心知识点&lt;/Text&gt;&#13;&#10;        &lt;Text style={{ fontSize: 15, color: '#5A6B7A', marginTop: 10 }}&gt;· CSV 与 datetime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真实数据长什么样，去哪下载&lt;/text&gt;&lt;text x='82' y='169.0' fontSize='13' fill='#3A4A58' textAnchor='start' fontFamily='Microsoft YaHei'&gt;· 教材数据去哪了。&lt;/text&gt;&lt;text x='82' y='197.5' fontSize='13' fill='#3A4A58' textAnchor='start' fontFamily='Microsoft YaHei'&gt;· 数据的真正来源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CSV：三件套读表头&lt;/text&gt;&lt;text x='686' y='169.0' fontSize='13' fill='#3A4A58' textAnchor='start' fontFamily='Microsoft YaHei'&gt;· 为什么先取表头？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6 · 第 8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190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CSV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datetime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5 / 111 节&lt;/Text&gt;&#13;&#10;        &lt;/Box&gt;&#13;&#10;        &lt;Text style={{ fontSize: 30, fontWeight: 'bold', color: '#16232E' }}&gt;缺失值与温度图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知道真实数据的三个坑；会用 try/except 处理缺失值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缺失那行去掉，看图变形&lt;/text&gt;&lt;text x='84' y='338.75' fontSize='14.5' fill='#3A4A58' textAnchor='start' fontFamily='Microsoft YaHei'&gt;· 用 fill_between 画出温度区间带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完成练习：给自己的城市画一个月气温图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6 · 第 8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000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缺失值与温度图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5 节&lt;/Text&gt;&#13;&#10;        &lt;/Box&gt;&#13;&#10;        &lt;Text style={{ fontSize: 30, fontWeight: 'bold', color: '#16232E' }}&gt;核心知识点&lt;/Text&gt;&#13;&#10;        &lt;Text style={{ fontSize: 15, color: '#5A6B7A', marginTop: 10 }}&gt;· 缺失值与温度图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3 datetime：把字符串变成日期 ★&lt;/text&gt;&lt;text x='82' y='169.0' fontSize='13' fill='#3A4A58' textAnchor='start' fontFamily='Microsoft YaHei'&gt;· 记忆口诀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4 缺失值：真实数据的第一课&lt;/text&gt;&lt;text x='486' y='169.0' fontSize='13' fill='#3A4A58' textAnchor='start' fontFamily='Microsoft YaHei'&gt;· 1. try 只包住可能出错的两行转换——strptime&lt;/text&gt;&lt;text x='486' y='188.5' fontSize='13' fill='#3A4A58' textAnchor='start' fontFamily='Microsoft YaHei'&gt;放在外面，日期格式是稳定的…&lt;/text&gt;&lt;text x='486' y='217.0' fontSize='13' fill='#3A4A58' textAnchor='start' fontFamily='Microsoft YaHei'&gt;· 2. else 是灵魂：转换成功才把三个值分别 append。&lt;/text&gt;&lt;text x='486' y='245.5' fontSize='13' fill='#3A4A58' textAnchor='start' fontFamily='Microsoft YaHei'&gt;· 3. 警告要打印出来：print(f&quot;Missing data for&lt;/text&gt;&lt;text x='486' y='265.0' fontSize='13' fill='#3A4A58' textAnchor='start' fontFamily='Microsoft YaHei'&gt;｛current_date｝&quot;…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5 画温度图：plot + fill_between&lt;/text&gt;&lt;text x='890' y='169.0' fontSize='13' fill='#3A4A58' textAnchor='start' fontFamily='Microsoft YaHei'&gt;· alpha 是透明度（0 全透明 ~ 1 全不透明）。&lt;/text&gt;&lt;text x='890' y='188.5' fontSize='13' fill='#3A4A58' textAnchor='start' fontFamily='Microsoft YaHei'&gt;两条线都半透明，重叠处颜色更深，信息不互相遮挡。&lt;/text&gt;&lt;text x='890' y='217.0' fontSize='13' fill='#3A4A58' textAnchor='start' fontFamily='Microsoft YaHei'&gt;· fill_between 把两条线之间的区域涂上颜色——温度&lt;/text&gt;&lt;text x='890' y='236.5' fontSize='13' fill='#3A4A58' textAnchor='start' fontFamily='Microsoft YaHei'&gt;区间带。一眼看出「这天的温差大不大」…&lt;/text&gt;&lt;text x='890' y='265.0' fontSize='13' fill='#3A4A58' textAnchor='start' fontFamily='Microsoft YaHei'&gt;· fig.autofmt_xdate() 让日期标签斜着排，365&lt;/text&gt;&lt;text x='890' y='284.5' fontSize='13' fill='#3A4A58' textAnchor='start' fontFamily='Microsoft YaHei'&gt;天也不糊成一团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6 · 第 8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缺失值与温度图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6 / 111 节&lt;/Text&gt;&#13;&#10;        &lt;/Box&gt;&#13;&#10;        &lt;Text style={{ fontSize: 30, fontWeight: 'bold', color: '#16232E' }}&gt;GeoJSON 与地震散点图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读懂 GeoJSON 结构；用 scatter_geo 画全球散点图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打印第一条地震的 mag 与 coordinates&lt;/text&gt;&lt;text x='84' y='338.75' fontSize='14.5' fill='#3A4A58' textAnchor='start' fontFamily='Microsoft YaHei'&gt;· 故意把经纬度顺序写反，看图错在哪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去 USGS 下载最新一天数据重画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6 · 第 8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GeoJSON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与地震散点图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6 节&lt;/Text&gt;&#13;&#10;        &lt;/Box&gt;&#13;&#10;        &lt;Text style={{ fontSize: 30, fontWeight: 'bold', color: '#16232E' }}&gt;核心知识点&lt;/Text&gt;&#13;&#10;        &lt;Text style={{ fontSize: 15, color: '#5A6B7A', marginTop: 10 }}&gt;· GeoJSON 与地震散点图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6 GeoJSON：带地理位置的 JSON&lt;/text&gt;&lt;text x='82' y='169.0' fontSize='13' fill='#3A4A58' textAnchor='start' fontFamily='Microsoft YaHei'&gt;· ★ 经纬度顺序是中国新手的高频错误，必须单独强调：&lt;/text&gt;&lt;text x='82' y='197.5' fontSize='13' fill='#3A4A58' textAnchor='start' fontFamily='Microsoft YaHei'&gt;· GeoJSON 的 coordinates 是 [经度, 纬度, 深度]——经度在前，纬度在后。&lt;/text&gt;&lt;text x='82' y='226.0' fontSize='13' fill='#3A4A58' textAnchor='start' fontFamily='Microsoft YaHei'&gt;· 不报错，只是静默地错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7 Plotly 画全球地震散点图&lt;/text&gt;&lt;text x='686' y='169.0' fontSize='13' fill='#3A4A58' textAnchor='start' fontFamily='Microsoft YaHei'&gt;· 指定数据的另一种方式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6 · 第 8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GeoJSON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与地震散点图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7 / 111 节&lt;/Text&gt;&#13;&#10;        &lt;/Box&gt;&#13;&#10;        &lt;Text style={{ fontSize: 30, fontWeight: 'bold', color: '#16232E' }}&gt;实战、答案与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16 练习，处理真实脏数据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30 分钟独立完成基础档&lt;/text&gt;&lt;text x='84' y='338.75' fontSize='14.5' fill='#3A4A58' textAnchor='start' fontFamily='Microsoft YaHei'&gt;· 逐题对照答案讲评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气温图 + 全球地震散点图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6 · 第 8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实战、答案与验收复盘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7 节&lt;/Text&gt;&#13;&#10;        &lt;/Box&gt;&#13;&#10;        &lt;Text style={{ fontSize: 30, fontWeight: 'bold', color: '#16232E' }}&gt;核心知识点&lt;/Text&gt;&#13;&#10;        &lt;Text style={{ fontSize: 15, color: '#5A6B7A', marginTop: 10 }}&gt;· 实战、答案与验收复盘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6-1【表头定位器】&lt;/text&gt;&lt;text x='82' y='197.5' fontSize='13' fill='#3A4A58' textAnchor='start' fontFamily='Microsoft YaHei'&gt;· 练习 16-2【日期格式转换器】&lt;/text&gt;&lt;text x='82' y='226.0' fontSize='13' fill='#3A4A58' textAnchor='start' fontFamily='Microsoft YaHei'&gt;· 练习 16-3【缺失值统计员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6-4【死亡谷全年温度图】&lt;/text&gt;&lt;text x='486' y='197.5' fontSize='13' fill='#3A4A58' textAnchor='start' fontFamily='Microsoft YaHei'&gt;· 练习 16-5【地震数据探索器】&lt;/text&gt;&lt;text x='486' y='226.0' fontSize='13' fill='#3A4A58' textAnchor='start' fontFamily='Microsoft YaHei'&gt;· 练习 16-6【可交互地震地图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错误 1：★ 把 coordinates[1]&lt;/text&gt;&lt;text x='890' y='153' fontSize='15.5' fontWeight='bold' fill='#1F5FA8' textAnchor='start' fontFamily='Microsoft YaHei'&gt;当成经度（…&lt;/text&gt;&lt;text x='890' y='192.0' fontSize='13' fill='#3A4A58' textAnchor='start' fontFamily='Microsoft YaHei'&gt;· GeoJSON 的坐标是 [经度, 纬度, 深度]。&lt;/text&gt;&lt;text x='64' y='470' fontSize='14.5' fontWeight='bold' fill='#0E9B78' textAnchor='start' fontFamily='Microsoft YaHei'&gt;本节的代码示例&lt;/text&gt;&lt;text x='64' y='500' fontSize='13' fill='#3A4A58' textAnchor='start' fontFamily='Microsoft YaHei'&gt;· 造一份教材同款 CSV，并打印表头&lt;/text&gt;&lt;text x='468' y='500' fontSize='13' fill='#3A4A58' textAnchor='start' fontFamily='Microsoft YaHei'&gt;· datetime 解析与格式化&lt;/text&gt;&lt;text x='872' y='500' fontSize='13' fill='#3A4A58' textAnchor='start' fontFamily='Microsoft YaHei'&gt;· 提取数据并处理缺失值（死亡谷风格）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6 · 第 8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实战、答案与验收复盘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6 · 小结与验收&lt;/Text&gt;&#13;&#10;        &lt;Text style={{ fontSize: 16, color: '#5A6B7A', marginTop: 6 }}&gt;下载真实数据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84 节 · CSV 与 datetime&lt;/text&gt;&lt;text x='0' y='64' fontSize='14.5' fill='#3A4A58' fontFamily='Microsoft YaHei'&gt;· 第 85 节 · 缺失值与温度图&lt;/text&gt;&lt;text x='0' y='94' fontSize='14.5' fill='#3A4A58' fontFamily='Microsoft YaHei'&gt;· 第 86 节 · GeoJSON 与地震散点图&lt;/text&gt;&lt;text x='0' y='124' fontSize='14.5' fill='#3A4A58' fontFamily='Microsoft YaHei'&gt;· 第 87 节 · 实战、答案与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6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16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下载真实数据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16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2026-10-29T00:40:11Z</dcterms:created>
  <dcterms:modified xsi:type="dcterms:W3CDTF">2026-10-29T00:40:11Z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{"AIGC":{"Label":"1","ContentProducer":"00119111010856365494821B355","ProduceID":"01a183579b68743e9c290638234d6294","ReservedCode1":"","ContentPropagator":"00119111010856365494821B355","PropagateID":"01a183579b68743e9c290638234d6294","ReservedCode2":""}}</vt:lpwstr>
  </property>
</Properties>
</file>