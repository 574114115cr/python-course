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16 · 单元 16 · 下载真实数据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84 节 CSV 与 datetime</a:t>
            </a:r>
          </a:p>
          <a:p>
            <a:r>
              <a:rPr lang="zh-CN" dirty="0"/>
              <a:t>· 第 85 节 缺失值与温度图</a:t>
            </a:r>
          </a:p>
          <a:p>
            <a:r>
              <a:rPr lang="zh-CN" dirty="0"/>
              <a:t>· 第 86 节 GeoJSON 与地震散点图</a:t>
            </a:r>
          </a:p>
          <a:p>
            <a:r>
              <a:rPr lang="zh-CN" dirty="0"/>
              <a:t>· 第 87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16 · 单元 16 · 下载真实数据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84 节 CSV 与 datetime</a:t>
            </a:r>
          </a:p>
          <a:p>
            <a:r>
              <a:rPr lang="zh-CN" dirty="0"/>
              <a:t>· 第 85 节 缺失值与温度图</a:t>
            </a:r>
          </a:p>
          <a:p>
            <a:r>
              <a:rPr lang="zh-CN" dirty="0"/>
              <a:t>· 第 86 节 GeoJSON 与地震散点图</a:t>
            </a:r>
          </a:p>
          <a:p>
            <a:r>
              <a:rPr lang="zh-CN" dirty="0"/>
              <a:t>· 第 87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84 节 · CSV 与 datetime</a:t>
            </a:r>
          </a:p>
          <a:p>
            <a:r>
              <a:rPr lang="zh-CN" dirty="0"/>
              <a:t>单元 16 · 下载真实数据 · W19–W20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csv 模块读表头与数据；会用 strptime 把字符串变日期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打印表头及其位置并解释为什么不能硬编码列号</a:t>
            </a:r>
          </a:p>
          <a:p>
            <a:r>
              <a:rPr lang="zh-CN" dirty="0"/>
              <a:t>· 把日期字符串转成 datetime 对象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下载教材配套 CSV 数据并跑通第一个例子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84 节 · CSV 与 datetime</a:t>
            </a:r>
          </a:p>
          <a:p>
            <a:r>
              <a:rPr lang="zh-CN" dirty="0"/>
              <a:t>单元 16 · 下载真实数据 · W19–W20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csv 模块读表头与数据；会用 strptime 把字符串变日期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打印表头及其位置并解释为什么不能硬编码列号</a:t>
            </a:r>
          </a:p>
          <a:p>
            <a:r>
              <a:rPr lang="zh-CN" dirty="0"/>
              <a:t>· 把日期字符串转成 datetime 对象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下载教材配套 CSV 数据并跑通第一个例子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84 节 · 核心知识点：CSV 与 datetime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csv 模块读表头与数据；会用 strptime 把字符串变日期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84 节 · 核心知识点：CSV 与 datetime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csv 模块读表头与数据；会用 strptime 把字符串变日期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85 节 · 缺失值与温度图</a:t>
            </a:r>
          </a:p>
          <a:p>
            <a:r>
              <a:rPr lang="zh-CN" dirty="0"/>
              <a:t>单元 16 · 下载真实数据 · 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学习目标：知道真实数据的三个坑；会用 try/except 处理缺失值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把缺失那行去掉，看图变形</a:t>
            </a:r>
          </a:p>
          <a:p>
            <a:r>
              <a:rPr lang="zh-CN" dirty="0"/>
              <a:t>· 用 fill_between 画出温度区间带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完成练习：给自己的城市画一个月气温图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85 节 · 缺失值与温度图</a:t>
            </a:r>
          </a:p>
          <a:p>
            <a:r>
              <a:rPr lang="zh-CN" dirty="0"/>
              <a:t>单元 16 · 下载真实数据 · 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学习目标：知道真实数据的三个坑；会用 try/except 处理缺失值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把缺失那行去掉，看图变形</a:t>
            </a:r>
          </a:p>
          <a:p>
            <a:r>
              <a:rPr lang="zh-CN" dirty="0"/>
              <a:t>· 用 fill_between 画出温度区间带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完成练习：给自己的城市画一个月气温图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85 节 · 核心知识点：缺失值与温度图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本节目标：知道真实数据的三个坑；会用 try/except 处理缺失值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85 节 · 核心知识点：缺失值与温度图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本节目标：知道真实数据的三个坑；会用 try/except 处理缺失值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86 节 · GeoJSON 与地震散点图</a:t>
            </a:r>
          </a:p>
          <a:p>
            <a:r>
              <a:rPr lang="zh-CN" dirty="0"/>
              <a:t>单元 16 · 下载真实数据 · 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学习目标：读懂 GeoJSON 结构；用 scatter_geo 画全球散点图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打印第一条地震的 mag 与 coordinates</a:t>
            </a:r>
          </a:p>
          <a:p>
            <a:r>
              <a:rPr lang="zh-CN" dirty="0"/>
              <a:t>· 故意把经纬度顺序写反，看图错在哪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去 USGS 下载最新一天数据重画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86 节 · GeoJSON 与地震散点图</a:t>
            </a:r>
          </a:p>
          <a:p>
            <a:r>
              <a:rPr lang="zh-CN" dirty="0"/>
              <a:t>单元 16 · 下载真实数据 · W20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学习目标：读懂 GeoJSON 结构；用 scatter_geo 画全球散点图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打印第一条地震的 mag 与 coordinates</a:t>
            </a:r>
          </a:p>
          <a:p>
            <a:r>
              <a:rPr lang="zh-CN" dirty="0"/>
              <a:t>· 故意把经纬度顺序写反，看图错在哪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去 USGS 下载最新一天数据重画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86 节 · 核心知识点：GeoJSON 与地震散点图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本节目标：读懂 GeoJSON 结构；用 scatter_geo 画全球散点图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86 节 · 核心知识点：GeoJSON 与地震散点图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本节目标：读懂 GeoJSON 结构；用 scatter_geo 画全球散点图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87 节 · 实战、答案与验收复盘</a:t>
            </a:r>
          </a:p>
          <a:p>
            <a:r>
              <a:rPr lang="zh-CN" dirty="0"/>
              <a:t>单元 16 · 下载真实数据 · W20–W21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16 练习，处理真实脏数据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产出：气温图 + 全球地震散点图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87 节 · 实战、答案与验收复盘</a:t>
            </a:r>
          </a:p>
          <a:p>
            <a:r>
              <a:rPr lang="zh-CN" dirty="0"/>
              <a:t>单元 16 · 下载真实数据 · W20–W21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16 练习，处理真实脏数据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产出：气温图 + 全球地震散点图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87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16 练习，处理真实脏数据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87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16 练习，处理真实脏数据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16 小结 · 单元 16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16 小结 · 单元 16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6&lt;/Text&gt;&#13;&#10;        &lt;Text style={{ fontSize: 38, fontWeight: 'bold', color: '#FFFFFF', marginTop: 6 }}&gt;下载真实数据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84 节&lt;/text&gt;&lt;text x='96' y='221' fontSize='15' fill='#16232E' fontFamily='Microsoft YaHei'&gt;CSV 与 datetime&lt;/text&gt;&lt;text x='1080' y='221' fontSize='13' fill='#5A6B7A' textAnchor='end' fontFamily='Microsoft YaHei'&gt;W19–W20&lt;/text&gt;&lt;rect x='0' y='238' width='1152' height='38' rx='7' fill='#F2F7FD' /&gt;&lt;text x='16' y='263' fontSize='15' fontWeight='bold' fill='#1F5FA8' fontFamily='Microsoft YaHei'&gt;第 85 节&lt;/text&gt;&lt;text x='96' y='263' fontSize='15' fill='#16232E' fontFamily='Microsoft YaHei'&gt;缺失值与温度图&lt;/text&gt;&lt;text x='1080' y='263' fontSize='13' fill='#5A6B7A' textAnchor='end' fontFamily='Microsoft YaHei'&gt;W19–W20&lt;/text&gt;&lt;rect x='0' y='280' width='1152' height='38' rx='7' fill='#FFFFFF' /&gt;&lt;text x='16' y='305' fontSize='15' fontWeight='bold' fill='#1F5FA8' fontFamily='Microsoft YaHei'&gt;第 86 节&lt;/text&gt;&lt;text x='96' y='305' fontSize='15' fill='#16232E' fontFamily='Microsoft YaHei'&gt;GeoJSON 与地震散点图&lt;/text&gt;&lt;text x='1080' y='305' fontSize='13' fill='#5A6B7A' textAnchor='end' fontFamily='Microsoft YaHei'&gt;W19–W20&lt;/text&gt;&lt;rect x='0' y='322' width='1152' height='38' rx='7' fill='#F2F7FD' /&gt;&lt;text x='16' y='347' fontSize='15' fontWeight='bold' fill='#1F5FA8' fontFamily='Microsoft YaHei'&gt;第 87 节&lt;/text&gt;&lt;text x='96' y='347' fontSize='15' fill='#16232E' fontFamily='Microsoft YaHei'&gt;实战、答案与验收复盘&lt;/text&gt;&lt;text x='1080' y='347' fontSize='13' fill='#5A6B7A' textAnchor='end' fontFamily='Microsoft YaHei'&gt;W19–W20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6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16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下载真实数据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4 / 111 节&lt;/Text&gt;&#13;&#10;        &lt;/Box&gt;&#13;&#10;        &lt;Text style={{ fontSize: 30, fontWeight: 'bold', color: '#16232E' }}&gt;CSV 与 datetim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csv 模块读表头与数据；会用 strptime 把字符串变日期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打印表头及其位置并解释为什么不能硬编码列号&lt;/text&gt;&lt;text x='84' y='338.75' fontSize='14.5' fill='#3A4A58' textAnchor='start' fontFamily='Microsoft YaHei'&gt;· 把日期字符串转成 datetime 对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下载教材配套 CSV 数据并跑通第一个例子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314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CSV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datetime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4 节&lt;/Text&gt;&#13;&#10;        &lt;/Box&gt;&#13;&#10;        &lt;Text style={{ fontSize: 30, fontWeight: 'bold', color: '#16232E' }}&gt;核心知识点&lt;/Text&gt;&#13;&#10;        &lt;Text style={{ fontSize: 15, color: '#5A6B7A', marginTop: 10 }}&gt;· CSV 与 datetim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真实数据长什么样，去哪下载&lt;/text&gt;&lt;text x='82' y='169.0' fontSize='13' fill='#3A4A58' textAnchor='start' fontFamily='Microsoft YaHei'&gt;· 教材数据去哪了。 第 16 章的代码会读这几个文件：&lt;/text&gt;&lt;text x='82' y='197.5' fontSize='13' fill='#3A4A58' textAnchor='start' fontFamily='Microsoft YaHei'&gt;· 数据的真正来源。 气象数据来自美国 NOAA（国家海洋和大气管理局）的观测站网络；&lt;/text&gt;&lt;text x='82' y='217.0' fontSize='13' fill='#3A4A58' textAnchor='start' fontFamily='Microsoft YaHei'&gt;地震数据来自美国地质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CSV：三件套读表头&lt;/text&gt;&lt;text x='686' y='169.0' fontSize='13' fill='#3A4A58' textAnchor='start' fontFamily='Microsoft YaHei'&gt;· 为什么先取表头？ 表头告诉你每列是什么，但列的顺序不保证——今天 DATE 在第 2 &lt;/text&gt;&lt;text x='686' y='188.5' fontSize='13' fill='#3A4A58' textAnchor='start' fontFamily='Microsoft YaHei'&gt;列，明年 NOA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CSV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datetime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5 / 111 节&lt;/Text&gt;&#13;&#10;        &lt;/Box&gt;&#13;&#10;        &lt;Text style={{ fontSize: 30, fontWeight: 'bold', color: '#16232E' }}&gt;缺失值与温度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真实数据的三个坑；会用 try/except 处理缺失值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缺失那行去掉，看图变形&lt;/text&gt;&lt;text x='84' y='338.75' fontSize='14.5' fill='#3A4A58' textAnchor='start' fontFamily='Microsoft YaHei'&gt;· 用 fill_between 画出温度区间带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练习：给自己的城市画一个月气温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缺失值与温度图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5 节&lt;/Text&gt;&#13;&#10;        &lt;/Box&gt;&#13;&#10;        &lt;Text style={{ fontSize: 30, fontWeight: 'bold', color: '#16232E' }}&gt;核心知识点&lt;/Text&gt;&#13;&#10;        &lt;Text style={{ fontSize: 15, color: '#5A6B7A', marginTop: 10 }}&gt;· 缺失值与温度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datetime：把字符串变成日期 ★&lt;/text&gt;&lt;text x='82' y='169.0' fontSize='13' fill='#3A4A58' textAnchor='start' fontFamily='Microsoft YaHei'&gt;· 记忆口诀：p 是 parse（解析），字符串 → 日期对象&lt;/text&gt;&lt;text x='82' y='188.5' fontSize='13' fill='#3A4A58' textAnchor='start' fontFamily='Microsoft YaHei'&gt;；反过来 f 是 format（格式），日期…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缺失值：真实数据的第一课&lt;/text&gt;&lt;text x='486' y='169.0' fontSize='13' fill='#3A4A58' textAnchor='start' fontFamily='Microsoft YaHei'&gt;· 死亡谷的数据里有几天没测最高温，CSV 里对应字段是&lt;/text&gt;&lt;text x='486' y='188.5' fontSize='13' fill='#3A4A58' textAnchor='start' fontFamily='Microsoft YaHei'&gt;空的。int(&quot;&quot;) 会抛 ValueError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画温度图：plot + fill_between&lt;/text&gt;&lt;text x='890' y='169.0' fontSize='13' fill='#3A4A58' textAnchor='start' fontFamily='Microsoft YaHei'&gt;· alpha 是透明度（0 全透明 ~ 1 全不透明）。两条线&lt;/text&gt;&lt;text x='890' y='188.5' fontSize='13' fill='#3A4A58' textAnchor='start' fontFamily='Microsoft YaHei'&gt;都半透明，重叠处颜色更深，信息不互相遮挡。&lt;/text&gt;&lt;text x='890' y='217.0' fontSize='13' fill='#3A4A58' textAnchor='start' fontFamily='Microsoft YaHei'&gt;· fill_between 把两条线之间的区域涂上颜色——温度&lt;/text&gt;&lt;text x='890' y='236.5' fontSize='13' fill='#3A4A58' textAnchor='start' fontFamily='Microsoft YaHei'&gt;区间带。一眼看出「这天的温差大不大」，比两…&lt;/text&gt;&lt;text x='890' y='265.0' fontSize='13' fill='#3A4A58' textAnchor='start' fontFamily='Microsoft YaHei'&gt;· fig.autofmt_xdate() 让日期标签斜着排，365 天也&lt;/text&gt;&lt;text x='890' y='284.5' fontSize='13' fill='#3A4A58' textAnchor='start' fontFamily='Microsoft YaHei'&gt;不糊成一团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缺失值与温度图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6 / 111 节&lt;/Text&gt;&#13;&#10;        &lt;/Box&gt;&#13;&#10;        &lt;Text style={{ fontSize: 30, fontWeight: 'bold', color: '#16232E' }}&gt;GeoJSON 与地震散点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读懂 GeoJSON 结构；用 scatter_geo 画全球散点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打印第一条地震的 mag 与 coordinates&lt;/text&gt;&lt;text x='84' y='338.75' fontSize='14.5' fill='#3A4A58' textAnchor='start' fontFamily='Microsoft YaHei'&gt;· 故意把经纬度顺序写反，看图错在哪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去 USGS 下载最新一天数据重画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GeoJSON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与地震散点图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6 节&lt;/Text&gt;&#13;&#10;        &lt;/Box&gt;&#13;&#10;        &lt;Text style={{ fontSize: 30, fontWeight: 'bold', color: '#16232E' }}&gt;核心知识点&lt;/Text&gt;&#13;&#10;        &lt;Text style={{ fontSize: 15, color: '#5A6B7A', marginTop: 10 }}&gt;· GeoJSON 与地震散点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GeoJSON：带地理位置的 JSON&lt;/text&gt;&lt;text x='82' y='169.0' fontSize='13' fill='#3A4A58' textAnchor='start' fontFamily='Microsoft YaHei'&gt;· ★ 经纬度顺序是中国新手的高频错误，必须单独强调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Plotly 画全球地震散点图&lt;/text&gt;&lt;text x='686' y='169.0' fontSize='13' fill='#3A4A58' textAnchor='start' fontFamily='Microsoft YaHei'&gt;· 指定数据的另一种方式。 px.scatter_geo() 是「快捷函数」，一条龙服务；Plotly &lt;/text&gt;&lt;text x='686' y='188.5' fontSize='13' fill='#3A4A58' textAnchor='start' fontFamily='Microsoft YaHei'&gt;也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GeoJSON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与地震散点图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7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6 练习，处理真实脏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气温图 + 全球地震散点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7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6-1【表头定位器】&lt;/text&gt;&lt;text x='82' y='197.5' fontSize='13' fill='#3A4A58' textAnchor='start' fontFamily='Microsoft YaHei'&gt;· 练习 16-2【日期格式转换器】&lt;/text&gt;&lt;text x='82' y='226.0' fontSize='13' fill='#3A4A58' textAnchor='start' fontFamily='Microsoft YaHei'&gt;· 练习 16-3【缺失值统计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6-4【死亡谷全年温度图】&lt;/text&gt;&lt;text x='486' y='197.5' fontSize='13' fill='#3A4A58' textAnchor='start' fontFamily='Microsoft YaHei'&gt;· 练习 16-5【地震数据探索器】&lt;/text&gt;&lt;text x='486' y='226.0' fontSize='13' fill='#3A4A58' textAnchor='start' fontFamily='Microsoft YaHei'&gt;· 练习 16-6【可交互地震地图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6-1&lt;/text&gt;&lt;text x='890' y='169.0' fontSize='13' fill='#3A4A58' textAnchor='start' fontFamily='Microsoft YaHei'&gt;· import csv&lt;/text&gt;&lt;text x='64' y='470' fontSize='14.5' fontWeight='bold' fill='#0E9B78' textAnchor='start' fontFamily='Microsoft YaHei'&gt;本节的代码示例&lt;/text&gt;&lt;text x='64' y='500' fontSize='13' fill='#3A4A58' textAnchor='start' fontFamily='Microsoft YaHei'&gt;· 造一份教材同款 CSV，并打印表头&lt;/text&gt;&lt;text x='468' y='500' fontSize='13' fill='#3A4A58' textAnchor='start' fontFamily='Microsoft YaHei'&gt;· datetime 解析与格式化&lt;/text&gt;&lt;text x='872' y='500' fontSize='13' fill='#3A4A58' textAnchor='start' fontFamily='Microsoft YaHei'&gt;· 提取数据并处理缺失值（死亡谷风格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6 · 小结与验收&lt;/Text&gt;&#13;&#10;        &lt;Text style={{ fontSize: 16, color: '#5A6B7A', marginTop: 6 }}&gt;下载真实数据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84 节 · CSV 与 datetime&lt;/text&gt;&lt;text x='0' y='64' fontSize='14.5' fill='#3A4A58' fontFamily='Microsoft YaHei'&gt;· 第 85 节 · 缺失值与温度图&lt;/text&gt;&lt;text x='0' y='94' fontSize='14.5' fill='#3A4A58' fontFamily='Microsoft YaHei'&gt;· 第 86 节 · GeoJSON 与地震散点图&lt;/text&gt;&lt;text x='0' y='124' fontSize='14.5' fill='#3A4A58' fontFamily='Microsoft YaHei'&gt;· 第 87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6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下载真实数据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2026-10-16T00:47:20Z</dcterms:created>
  <dcterms:modified xsi:type="dcterms:W3CDTF">2026-10-16T00:47:20Z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