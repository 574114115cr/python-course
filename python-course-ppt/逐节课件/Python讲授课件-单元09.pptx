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9 · 单元 9 · 文件与异常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47 节 open() 与三种模式</a:t>
            </a:r>
          </a:p>
          <a:p>
            <a:r>
              <a:rPr lang="zh-CN" dirty="0"/>
              <a:t>· 第 48 节 with 语句与四种读取方式</a:t>
            </a:r>
          </a:p>
          <a:p>
            <a:r>
              <a:rPr lang="zh-CN" dirty="0"/>
              <a:t>· 第 49 节 写文件与异常处理</a:t>
            </a:r>
          </a:p>
          <a:p>
            <a:r>
              <a:rPr lang="zh-CN" dirty="0"/>
              <a:t>· 第 50 节 JSON / CSV 与持久化实战</a:t>
            </a:r>
          </a:p>
          <a:p>
            <a:r>
              <a:rPr lang="zh-CN" dirty="0"/>
              <a:t>· 第 51 节 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47 节 · open() 与三种模式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r / w / a 三种模式，理解变量活不过程序结束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现场演示 r / w / a 三种模式的效果</a:t>
            </a:r>
          </a:p>
          <a:p>
            <a:r>
              <a:rPr lang="zh-CN" dirty="0"/>
              <a:t>· 对比读同一个文件两次的差别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9-1 ~ 9-2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47 节 · 核心知识点：open() 与三种模式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r / w / a 三种模式，理解变量活不过程序结束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48 节 · with 语句与四种读取方式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with 的真实作用与read / readline / readlines 的区别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故意不写 with，让程序中途崩溃观察文件句柄泄漏</a:t>
            </a:r>
          </a:p>
          <a:p>
            <a:r>
              <a:rPr lang="zh-CN" dirty="0"/>
              <a:t>· 对比四种读取方式的返回类型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48 节 · 核心知识点：with 语句与四种读取方式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with 的真实作用与read / readline / readlines 的区别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49 节 · 写文件与异常处理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学习目标：掌握写文件与 try / except / else / finally，知道 else 的真正用法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故意触发 ValueError 和 FileNotFoundError 并处理</a:t>
            </a:r>
          </a:p>
          <a:p>
            <a:r>
              <a:rPr lang="zh-CN" dirty="0"/>
              <a:t>· 写一个「只在成功时保存文件」的函数演示 else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9-4 ~ 9-6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49 节 · 核心知识点：写文件与异常处理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本节目标：掌握写文件与 try / except / else / finally，知道 else 的真正用法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50 节 · JSON / CSV 与持久化实战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学习目标：能用 JSON 让数据被记住，理解它和嵌套结构的关系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把嵌套字典存成 JSON 再读回来</a:t>
            </a:r>
          </a:p>
          <a:p>
            <a:r>
              <a:rPr lang="zh-CN" dirty="0"/>
              <a:t>· 读写一个 CSV 表格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10.1–10.13 学习笔记管理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50 节 · 核心知识点：JSON / CSV 与持久化实战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本节目标：能用 JSON 让数据被记住，理解它和嵌套结构的关系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51 节 · 动手实战、答案与验收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9 练习，确认文件与异常都过关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逐题对照答案并打勾验收自测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产出：能存到 JSON 的学习笔记程序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51 节 · 核心知识点：动手实战、答案与验收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9 练习，确认文件与异常都过关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9 小结 · 单元 9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9&lt;/Text&gt;&#13;&#10;        &lt;Text style={{ fontSize: 38, fontWeight: 'bold', color: '#FFFFFF', marginTop: 6 }}&gt;文件与异常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47 节&lt;/text&gt;&lt;text x='96' y='221' fontSize='15' fill='#16232E' fontFamily='Microsoft YaHei'&gt;open() 与三种模式&lt;/text&gt;&lt;text x='1080' y='221' fontSize='13' fill='#5A6B7A' textAnchor='end' fontFamily='Microsoft YaHei'&gt;W11&lt;/text&gt;&lt;rect x='0' y='238' width='1152' height='38' rx='7' fill='#F2F7FD' /&gt;&lt;text x='16' y='263' fontSize='15' fontWeight='bold' fill='#1F5FA8' fontFamily='Microsoft YaHei'&gt;第 48 节&lt;/text&gt;&lt;text x='96' y='263' fontSize='15' fill='#16232E' fontFamily='Microsoft YaHei'&gt;with 语句与四种读取方式&lt;/text&gt;&lt;text x='1080' y='263' fontSize='13' fill='#5A6B7A' textAnchor='end' fontFamily='Microsoft YaHei'&gt;W11&lt;/text&gt;&lt;rect x='0' y='280' width='1152' height='38' rx='7' fill='#FFFFFF' /&gt;&lt;text x='16' y='305' fontSize='15' fontWeight='bold' fill='#1F5FA8' fontFamily='Microsoft YaHei'&gt;第 49 节&lt;/text&gt;&lt;text x='96' y='305' fontSize='15' fill='#16232E' fontFamily='Microsoft YaHei'&gt;写文件与异常处理&lt;/text&gt;&lt;text x='1080' y='305' fontSize='13' fill='#5A6B7A' textAnchor='end' fontFamily='Microsoft YaHei'&gt;W11&lt;/text&gt;&lt;rect x='0' y='322' width='1152' height='38' rx='7' fill='#F2F7FD' /&gt;&lt;text x='16' y='347' fontSize='15' fontWeight='bold' fill='#1F5FA8' fontFamily='Microsoft YaHei'&gt;第 50 节&lt;/text&gt;&lt;text x='96' y='347' fontSize='15' fill='#16232E' fontFamily='Microsoft YaHei'&gt;JSON / CSV 与持久化实战&lt;/text&gt;&lt;text x='1080' y='347' fontSize='13' fill='#5A6B7A' textAnchor='end' fontFamily='Microsoft YaHei'&gt;W11&lt;/text&gt;&lt;rect x='0' y='364' width='1152' height='38' rx='7' fill='#FFFFFF' /&gt;&lt;text x='16' y='389' fontSize='15' fontWeight='bold' fill='#1F5FA8' fontFamily='Microsoft YaHei'&gt;第 51 节&lt;/text&gt;&lt;text x='96' y='389' fontSize='15' fill='#16232E' fontFamily='Microsoft YaHei'&gt;动手实战、答案与验收&lt;/text&gt;&lt;text x='1080' y='389' fontSize='13' fill='#5A6B7A' textAnchor='end' fontFamily='Microsoft YaHei'&gt;W1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9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9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文件与异常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7 / 111 节&lt;/Text&gt;&#13;&#10;        &lt;/Box&gt;&#13;&#10;        &lt;Text style={{ fontSize: 30, fontWeight: 'bold', color: '#16232E' }}&gt;open() 与三种模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r / w / a 三种模式，理解变量活不过程序结束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演示 r / w / a 三种模式的效果&lt;/text&gt;&lt;text x='84' y='338.75' fontSize='14.5' fill='#3A4A58' textAnchor='start' fontFamily='Microsoft YaHei'&gt;· 对比读同一个文件两次的差别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9-1 ~ 9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466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open()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与三种模式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7 节&lt;/Text&gt;&#13;&#10;        &lt;/Box&gt;&#13;&#10;        &lt;Text style={{ fontSize: 30, fontWeight: 'bold', color: '#16232E' }}&gt;核心知识点&lt;/Text&gt;&#13;&#10;        &lt;Text style={{ fontSize: 15, color: '#5A6B7A', marginTop: 10 }}&gt;· open() 与三种模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为什么需要文件：变量活不过程序结束&lt;/text&gt;&lt;text x='82' y='169.0' fontSize='13' fill='#3A4A58' textAnchor='start' fontFamily='Microsoft YaHei'&gt;· 变量 = 草稿纸上的字——写完一扔就没了。&lt;/text&gt;&lt;text x='82' y='197.5' fontSize='13' fill='#3A4A58' textAnchor='start' fontFamily='Microsoft YaHei'&gt;· 文件 = 写在笔记本上的字——合上本子，明天还在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open() 与三种模式&lt;/text&gt;&lt;text x='486' y='169.0' fontSize='13' fill='#3A4A58' textAnchor='start' fontFamily='Microsoft YaHei'&gt;· w 模式的陷阱必须重点记住：它不是&quot;写进文件&quot;，而是&quot;&lt;/text&gt;&lt;text x='486' y='188.5' fontSize='13' fill='#3A4A58' textAnchor='start' fontFamily='Microsoft YaHei'&gt;把文件清空，然后从零开始写&quot;。如果你只是想往文件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with open(...)：不只是语法糖&lt;/text&gt;&lt;text x='890' y='169.0' fontSize='13' fill='#3A4A58' textAnchor='start' fontFamily='Microsoft YaHei'&gt;· with 做了两件普通写法做不到的事：&lt;/text&gt;&lt;text x='890' y='197.5' fontSize='13' fill='#3A4A58' textAnchor='start' fontFamily='Microsoft YaHei'&gt;· ① 自动关闭文件，而且保证一定会关。&lt;/text&gt;&lt;text x='890' y='226.0' fontSize='13' fill='#3A4A58' textAnchor='start' fontFamily='Microsoft YaHei'&gt;· ② 出块后 f 变量本身失效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open()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与三种模式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8 / 111 节&lt;/Text&gt;&#13;&#10;        &lt;/Box&gt;&#13;&#10;        &lt;Text style={{ fontSize: 30, fontWeight: 'bold', color: '#16232E' }}&gt;with 语句与四种读取方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with 的真实作用与read / readline / readlines 的区别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写 with，让程序中途崩溃观察文件句柄泄漏&lt;/text&gt;&lt;text x='84' y='338.75' fontSize='14.5' fill='#3A4A58' textAnchor='start' fontFamily='Microsoft YaHei'&gt;· 对比四种读取方式的返回类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9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956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with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语句与四种读取方式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8 节&lt;/Text&gt;&#13;&#10;        &lt;/Box&gt;&#13;&#10;        &lt;Text style={{ fontSize: 30, fontWeight: 'bold', color: '#16232E' }}&gt;核心知识点&lt;/Text&gt;&#13;&#10;        &lt;Text style={{ fontSize: 15, color: '#5A6B7A', marginTop: 10 }}&gt;· with 语句与四种读取方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四种读取方式&lt;/text&gt;&lt;text x='82' y='169.0' fontSize='13' fill='#3A4A58' textAnchor='start' fontFamily='Microsoft YaHei'&gt;· readline() 的两个细节：&lt;/text&gt;&lt;text x='82' y='197.5' fontSize='13' fill='#3A4A58' textAnchor='start' fontFamily='Microsoft YaHei'&gt;· 读到的行末尾带换行符 \n（除非是文件最后一行）。所以经常要 line.strip() 或 li&lt;/text&gt;&lt;text x='82' y='217.0' fontSize='13' fill='#3A4A58' textAnchor='start' fontFamily='Microsoft YaHei'&gt;ne.…&lt;/text&gt;&lt;text x='82' y='245.5' fontSize='13' fill='#3A4A58' textAnchor='start' fontFamily='Microsoft YaHei'&gt;· 文件末尾没有换行符时，最后一行就不带 \n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写文件&lt;/text&gt;&lt;text x='686' y='169.0' fontSize='13' fill='#3A4A58' textAnchor='start' fontFamily='Microsoft YaHei'&gt;· 关键：自己写 \n。 write() 不会自动换行。想写表格那样的多行内容，必须在每行末&lt;/text&gt;&lt;text x='686' y='188.5' fontSize='13' fill='#3A4A58' textAnchor='start' fontFamily='Microsoft YaHei'&gt;尾加上 \n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04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with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语句与四种读取方式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9 / 111 节&lt;/Text&gt;&#13;&#10;        &lt;/Box&gt;&#13;&#10;        &lt;Text style={{ fontSize: 30, fontWeight: 'bold', color: '#16232E' }}&gt;写文件与异常处理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写文件与 try / except / else / finally，知道 else 的真正用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触发 ValueError 和 FileNotFoundError 并处理&lt;/text&gt;&lt;text x='84' y='338.75' fontSize='14.5' fill='#3A4A58' textAnchor='start' fontFamily='Microsoft YaHei'&gt;· 写一个「只在成功时保存文件」的函数演示 else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9-4 ~ 9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28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写文件与异常处理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9 节&lt;/Text&gt;&#13;&#10;        &lt;/Box&gt;&#13;&#10;        &lt;Text style={{ fontSize: 30, fontWeight: 'bold', color: '#16232E' }}&gt;核心知识点&lt;/Text&gt;&#13;&#10;        &lt;Text style={{ fontSize: 15, color: '#5A6B7A', marginTop: 10 }}&gt;· 写文件与异常处理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异常：让程序优雅地摔倒而不是死掉&lt;/text&gt;&lt;text x='82' y='169.0' fontSize='13' fill='#3A4A58' textAnchor='start' fontFamily='Microsoft YaHei'&gt;· 异常处理的骨架：&lt;/text&gt;&lt;text x='82' y='197.5' fontSize='13' fill='#3A4A58' textAnchor='start' fontFamily='Microsoft YaHei'&gt;· 为什么不要用裸 except: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异常处理的实用模式&lt;/text&gt;&lt;text x='686' y='169.0' fontSize='13' fill='#3A4A58' textAnchor='start' fontFamily='Microsoft YaHei'&gt;· 模式一：输入重试（单元 6 用过，现在正式理解它）&lt;/text&gt;&lt;text x='686' y='197.5' fontSize='13' fill='#3A4A58' textAnchor='start' fontFamily='Microsoft YaHei'&gt;· 模式二：多个异常分别处理&lt;/text&gt;&lt;text x='686' y='226.0' fontSize='13' fill='#3A4A58' textAnchor='start' fontFamily='Microsoft YaHei'&gt;· 模式三：获取异常信息（用 as 接收异常对象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写文件与异常处理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0 / 111 节&lt;/Text&gt;&#13;&#10;        &lt;/Box&gt;&#13;&#10;        &lt;Text style={{ fontSize: 30, fontWeight: 'bold', color: '#16232E' }}&gt;JSON / CSV 与持久化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 JSON 让数据被记住，理解它和嵌套结构的关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嵌套字典存成 JSON 再读回来&lt;/text&gt;&lt;text x='84' y='338.75' fontSize='14.5' fill='#3A4A58' textAnchor='start' fontFamily='Microsoft YaHei'&gt;· 读写一个 CSV 表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10.1–10.13 学习笔记管理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JSON / CSV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与持久化实战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0 节&lt;/Text&gt;&#13;&#10;        &lt;/Box&gt;&#13;&#10;        &lt;Text style={{ fontSize: 30, fontWeight: 'bold', color: '#16232E' }}&gt;核心知识点&lt;/Text&gt;&#13;&#10;        &lt;Text style={{ fontSize: 15, color: '#5A6B7A', marginTop: 10 }}&gt;· JSON / CSV 与持久化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8 JSON：让数据能被记住&lt;/text&gt;&lt;text x='82' y='169.0' fontSize='13' fill='#3A4A58' textAnchor='start' fontFamily='Microsoft YaHei'&gt;· JSON 与 Python 的对应关系（这张表要背下来）：&lt;/text&gt;&lt;text x='82' y='197.5' fontSize='13' fill='#3A4A58' textAnchor='start' fontFamily='Microsoft YaHei'&gt;· 注意一个坑：JSON 的 true/false 和 Python 的 True/False 大小写不同…&lt;/text&gt;&lt;text x='82' y='226.0' fontSize='13' fill='#3A4A58' textAnchor='start' fontFamily='Microsoft YaHei'&gt;· 读写 JSON 文件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9 CSV：读写表格&lt;/text&gt;&lt;text x='686' y='169.0' fontSize='13' fill='#3A4A58' textAnchor='start' fontFamily='Microsoft YaHei'&gt;· 两个必写的参数：&lt;/text&gt;&lt;text x='686' y='197.5' fontSize='13' fill='#3A4A58' textAnchor='start' fontFamily='Microsoft YaHei'&gt;· newline=&quot;&quot;：没有它，Windows 上会写出空行（Python 会在 \r\n 之间再加一个…&lt;/text&gt;&lt;text x='686' y='226.0' fontSize='13' fill='#3A4A58' textAnchor='start' fontFamily='Microsoft YaHei'&gt;· encoding=&quot;utf-8&quot;：同上，中文必需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with open 读写&lt;/text&gt;&lt;text x='468' y='500' fontSize='13' fill='#3A4A58' textAnchor='start' fontFamily='Microsoft YaHei'&gt;· 三种模式的区别&lt;/text&gt;&lt;text x='872' y='500' fontSize='13' fill='#3A4A58' textAnchor='start' fontFamily='Microsoft YaHei'&gt;· 四种读取方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JSON / CSV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与持久化实战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1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9 练习，确认文件与异常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并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存到 JSON 的学习笔记程序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1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9-1【记事本程序】&lt;/text&gt;&lt;text x='82' y='197.5' fontSize='13' fill='#3A4A58' textAnchor='start' fontFamily='Microsoft YaHei'&gt;· 练习 9-2【四种读取方式对比】&lt;/text&gt;&lt;text x='82' y='226.0' fontSize='13' fill='#3A4A58' textAnchor='start' fontFamily='Microsoft YaHei'&gt;· .read() 的结果类型是 _，.readlines() 的结果是 _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9-5【JSON 配置文件】&lt;/text&gt;&lt;text x='486' y='197.5' fontSize='13' fill='#3A4A58' textAnchor='start' fontFamily='Microsoft YaHei'&gt;· 练习 9-6【CSV 成绩管理】&lt;/text&gt;&lt;text x='486' y='226.0' fontSize='13' fill='#3A4A58' textAnchor='start' fontFamily='Microsoft YaHei'&gt;· 练习 9-7【健壮的用户交互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9-1&lt;/text&gt;&lt;text x='890' y='169.0' fontSize='13' fill='#3A4A58' textAnchor='start' fontFamily='Microsoft YaHei'&gt;· NOTES_FILE = &quot;notes.txt&quot;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9 · 小结与验收&lt;/Text&gt;&#13;&#10;        &lt;Text style={{ fontSize: 16, color: '#5A6B7A', marginTop: 6 }}&gt;文件与异常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47 节 · open() 与三种模式&lt;/text&gt;&lt;text x='0' y='64' fontSize='14.5' fill='#3A4A58' fontFamily='Microsoft YaHei'&gt;· 第 48 节 · with 语句与四种读取方式&lt;/text&gt;&lt;text x='0' y='94' fontSize='14.5' fill='#3A4A58' fontFamily='Microsoft YaHei'&gt;· 第 49 节 · 写文件与异常处理&lt;/text&gt;&lt;text x='0' y='124' fontSize='14.5' fill='#3A4A58' fontFamily='Microsoft YaHei'&gt;· 第 50 节 · JSON / CSV 与持久化实战&lt;/text&gt;&lt;text x='0' y='154' fontSize='14.5' fill='#3A4A58' fontFamily='Microsoft YaHei'&gt;· 第 51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9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9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文件与异常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2026-10-16T00:42:06Z</dcterms:created>
  <dcterms:modified xsi:type="dcterms:W3CDTF">2026-10-16T00:42:06Z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