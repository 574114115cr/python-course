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7&lt;/Text&gt;&#13;&#10;        &lt;Text style={{ fontSize: 38, fontWeight: 'bold', color: '#FFFFFF', marginTop: 6 }}&gt;函数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7 节课&lt;/text&gt;&#13;&#10;            &lt;rect x='0' y='56.0' width='1152' height='46.6' rx='7' fill='#FFFFFF' /&gt;&lt;text x='16' y='84.3' fontSize='15' fontWeight='bold' fill='#1F5FA8' fontFamily='Microsoft YaHei'&gt;第 33 节&lt;/text&gt;&lt;text x='96' y='84.3' fontSize='15' fill='#16232E' fontFamily='Microsoft YaHei'&gt;定义函数与 return&lt;/text&gt;&lt;text x='1080' y='84.3' fontSize='13' fill='#5A6B7A' textAnchor='end' fontFamily='Microsoft YaHei'&gt;W7&lt;/text&gt;&lt;rect x='0' y='112.6' width='1152' height='46.6' rx='7' fill='#F2F7FD' /&gt;&lt;text x='16' y='140.9' fontSize='15' fontWeight='bold' fill='#1F5FA8' fontFamily='Microsoft YaHei'&gt;第 34 节&lt;/text&gt;&lt;text x='96' y='140.9' fontSize='15' fill='#16232E' fontFamily='Microsoft YaHei'&gt;三种参数写法与★ 参数传递的副本语义&lt;/text&gt;&lt;text x='1080' y='140.9' fontSize='13' fill='#5A6B7A' textAnchor='end' fontFamily='Microsoft YaHei'&gt;W7&lt;/text&gt;&lt;rect x='0' y='169.1' width='1152' height='46.6' rx='7' fill='#FFFFFF' /&gt;&lt;text x='16' y='197.4' fontSize='15' fontWeight='bold' fill='#1F5FA8' fontFamily='Microsoft YaHei'&gt;第 35 节&lt;/text&gt;&lt;text x='96' y='197.4' fontSize='15' fill='#16232E' fontFamily='Microsoft YaHei'&gt;作用域与函数是一等公民&lt;/text&gt;&lt;text x='1080' y='197.4' fontSize='13' fill='#5A6B7A' textAnchor='end' fontFamily='Microsoft YaHei'&gt;W7&lt;/text&gt;&lt;rect x='0' y='225.7' width='1152' height='46.6' rx='7' fill='#F2F7FD' /&gt;&lt;text x='16' y='254.0' fontSize='15' fontWeight='bold' fill='#1F5FA8' fontFamily='Microsoft YaHei'&gt;第 36 节&lt;/text&gt;&lt;text x='96' y='254.0' fontSize='15' fill='#16232E' fontFamily='Microsoft YaHei'&gt;七个示例串讲与拆模块&lt;/text&gt;&lt;text x='1080' y='254.0' fontSize='13' fill='#5A6B7A' textAnchor='end' fontFamily='Microsoft YaHei'&gt;W7&lt;/text&gt;&lt;rect x='0' y='282.3' width='1152' height='46.6' rx='7' fill='#FFFFFF' /&gt;&lt;text x='16' y='310.6' fontSize='15' fontWeight='bold' fill='#1F5FA8' fontFamily='Microsoft YaHei'&gt;第 37 节&lt;/text&gt;&lt;text x='96' y='310.6' fontSize='15' fill='#16232E' fontFamily='Microsoft YaHei'&gt;动手实战与答案讲评&lt;/text&gt;&lt;text x='1080' y='310.6' fontSize='13' fill='#5A6B7A' textAnchor='end' fontFamily='Microsoft YaHei'&gt;W7&lt;/text&gt;&lt;rect x='0' y='338.9' width='1152' height='46.6' rx='7' fill='#F2F7FD' /&gt;&lt;text x='16' y='367.1' fontSize='15' fontWeight='bold' fill='#1F5FA8' fontFamily='Microsoft YaHei'&gt;第 38 节&lt;/text&gt;&lt;text x='96' y='367.1' fontSize='15' fill='#16232E' fontFamily='Microsoft YaHei'&gt;★ 六个常见错误逐条自查&lt;/text&gt;&lt;text x='1080' y='367.1' fontSize='13' fill='#5A6B7A' textAnchor='end' fontFamily='Microsoft YaHei'&gt;W7&lt;/text&gt;&lt;rect x='0' y='395.4' width='1152' height='46.6' rx='7' fill='#FFFFFF' /&gt;&lt;text x='16' y='423.7' fontSize='15' fontWeight='bold' fill='#1F5FA8' fontFamily='Microsoft YaHei'&gt;第 39 节&lt;/text&gt;&lt;text x='96' y='423.7' fontSize='15' fill='#16232E' fontFamily='Microsoft YaHei'&gt;单元 7 验收复盘&lt;/text&gt;&lt;text x='1080' y='423.7' fontSize='13' fill='#5A6B7A' textAnchor='end' fontFamily='Microsoft YaHei'&gt;W7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7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7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7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3 / 111 节&lt;/Text&gt;&#13;&#10;        &lt;/Box&gt;&#13;&#10;        &lt;Text style={{ fontSize: 30, fontWeight: 'bold', color: '#16232E' }}&gt;定义函数与 return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函数是「给一段代码起名字」，知道 return 才是真正的输出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一段 10 行重复代码抽成一个函数&lt;/text&gt;&lt;text x='84' y='338.75' fontSize='14.5' fill='#3A4A58' textAnchor='start' fontFamily='Microsoft YaHei'&gt;· 故意忘记 return，看函数返回什么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7-1 ~ 7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419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定义函数与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return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3 节&lt;/Text&gt;&#13;&#10;        &lt;/Box&gt;&#13;&#10;        &lt;Text style={{ fontSize: 30, fontWeight: 'bold', color: '#16232E' }}&gt;核心知识点&lt;/Text&gt;&#13;&#10;        &lt;Text style={{ fontSize: 15, color: '#5A6B7A', marginTop: 10 }}&gt;· 定义函数与 return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函数：给一段代码起个名字&lt;/text&gt;&lt;text x='82' y='169.0' fontSize='13' fill='#3A4A58' textAnchor='start' fontFamily='Microsoft YaHei'&gt;· 函数就像「饺子机」——你把原料（参数）放进去，按下按钮（调用），&lt;/text&gt;&lt;text x='82' y='188.5' fontSize='13' fill='#3A4A58' textAnchor='start' fontFamily='Microsoft YaHei'&gt;机器产出饺子（返回值）。&lt;/text&gt;&lt;text x='82' y='217.0' fontSize='13' fill='#3A4A58' textAnchor='start' fontFamily='Microsoft YaHei'&gt;· 1. def 和函数名之间有空格（def 函数名，不是 def函数名）&lt;/text&gt;&lt;text x='82' y='245.5' fontSize='13' fill='#3A4A58' textAnchor='start' fontFamily='Microsoft YaHei'&gt;· 2. 括号后面必须有冒号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return：把结果&quot;递出窗口&quot;&lt;/text&gt;&lt;text x='686' y='169.0' fontSize='13' fill='#3A4A58' textAnchor='start' fontFamily='Microsoft YaHei'&gt;· 有 return 和没 return 的本质区别&lt;/text&gt;&lt;text x='686' y='197.5' fontSize='13' fill='#3A4A58' textAnchor='start' fontFamily='Microsoft YaHei'&gt;· 两条极重要的规则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定义函数与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return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4 / 111 节&lt;/Text&gt;&#13;&#10;        &lt;/Box&gt;&#13;&#10;        &lt;Text style={{ fontSize: 30, fontWeight: 'bold', color: '#16232E' }}&gt;三种参数写法与★ 参数传递的副本语义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位置 / 关键字 / 默认值三种写法；理解传列表会改到原列表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同一函数用三种方式调用并比较&lt;/text&gt;&lt;text x='84' y='338.75' fontSize='14.5' fill='#3A4A58' textAnchor='start' fontFamily='Microsoft YaHei'&gt;· ★ A/B 对照：函数改列表 vs 返回新列表&lt;/text&gt;&lt;text x='84' y='369.5' fontSize='14.5' fill='#3A4A58' textAnchor='start' fontFamily='Microsoft YaHei'&gt;· ★ B/C/D 对照：传列表 / 传切片 / 传副本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题库 L3-3（改与不改）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895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三种参数写法与★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参数传递的副本语义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4 节&lt;/Text&gt;&#13;&#10;        &lt;/Box&gt;&#13;&#10;        &lt;Text style={{ fontSize: 30, fontWeight: 'bold', color: '#16232E' }}&gt;核心知识点&lt;/Text&gt;&#13;&#10;        &lt;Text style={{ fontSize: 15, color: '#5A6B7A', marginTop: 10 }}&gt;· 三种参数写法与★ 参数传递的副本语义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三种参数写法&lt;/text&gt;&lt;text x='82' y='169.0' fontSize='13' fill='#3A4A58' textAnchor='start' fontFamily='Microsoft YaHei'&gt;· Python 的强制规则：有默认值的参数必须放在没有默认值的参数后面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★ 参数传递的副本语义（本单元最重要的概念）&lt;/text&gt;&lt;text x='686' y='169.0' fontSize='13' fill='#3A4A58' textAnchor='start' fontFamily='Microsoft YaHei'&gt;· Python 传递参数时，传递的永远是&quot;指向数据的地址&quot;。&lt;/text&gt;&lt;text x='686' y='197.5' fontSize='13' fill='#3A4A58' textAnchor='start' fontFamily='Microsoft YaHei'&gt;· 三种正确的应对方式&lt;/text&gt;&lt;text x='686' y='226.0' fontSize='13' fill='#3A4A58' textAnchor='start' fontFamily='Microsoft YaHei'&gt;· 判断原则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52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三种参数写法与★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参数传递的副本语义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5 / 111 节&lt;/Text&gt;&#13;&#10;        &lt;/Box&gt;&#13;&#10;        &lt;Text style={{ fontSize: 30, fontWeight: 'bold', color: '#16232E' }}&gt;作用域与函数是一等公民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局部与全局，知道函数能赋值给变量、能传进别的函数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触发一次 NameError&lt;/text&gt;&lt;text x='84' y='338.75' fontSize='14.5' fill='#3A4A58' textAnchor='start' fontFamily='Microsoft YaHei'&gt;· 把函数赋给变量再调用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7-3 ~ 7-4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35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作用域与函数是一等公民</a:t>
            </a:r>
            <a:endParaRPr/>
          </a:p>
        </p:txBody>
      </p:sp>
      <p:pic>
        <p:nvPicPr>
          <p:cNvPr id="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4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5 节&lt;/Text&gt;&#13;&#10;        &lt;/Box&gt;&#13;&#10;        &lt;Text style={{ fontSize: 30, fontWeight: 'bold', color: '#16232E' }}&gt;核心知识点&lt;/Text&gt;&#13;&#10;        &lt;Text style={{ fontSize: 15, color: '#5A6B7A', marginTop: 10 }}&gt;· 作用域与函数是一等公民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5 作用域：谁能看见谁&lt;/text&gt;&lt;text x='82' y='169.0' fontSize='13' fill='#3A4A58' textAnchor='start' fontFamily='Microsoft YaHei'&gt;· 函数内定义的变量是局部变量，只在函数内可见，&lt;/text&gt;&lt;text x='82' y='188.5' fontSize='13' fill='#3A4A58' textAnchor='start' fontFamily='Microsoft YaHei'&gt;函数结束就消失。&lt;/text&gt;&lt;text x='82' y='217.0' fontSize='13' fill='#3A4A58' textAnchor='start' fontFamily='Microsoft YaHei'&gt;· 函数可以读取全局变量，但不推荐修改全局变量。&lt;/text&gt;&lt;text x='82' y='245.5' fontSize='13' fill='#3A4A58' textAnchor='start' fontFamily='Microsoft YaHei'&gt;· 函数内如果要给一个名字赋值，Python&lt;/text&gt;&lt;text x='82' y='265.0' fontSize='13' fill='#3A4A58' textAnchor='start' fontFamily='Microsoft YaHei'&gt;就认为它是局部的（不会去改全局的那个）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6 函数是&quot;一等公民&quot;&lt;/text&gt;&lt;text x='486' y='169.0' fontSize='13' fill='#3A4A58' textAnchor='start' fontFamily='Microsoft YaHei'&gt;· 赋给变量：double = lambda x: x 2（lambda&lt;/text&gt;&lt;text x='486' y='188.5' fontSize='13' fill='#3A4A58' textAnchor='start' fontFamily='Microsoft YaHei'&gt;就是&quot;一次性小函数&quot;）&lt;/text&gt;&lt;text x='486' y='217.0' fontSize='13' fill='#3A4A58' textAnchor='start' fontFamily='Microsoft YaHei'&gt;· 当参数传给别的函数：sorted(scores,&lt;/text&gt;&lt;text x='486' y='236.5' fontSize='13' fill='#3A4A58' textAnchor='start' fontFamily='Microsoft YaHei'&gt;key=scores.get)&lt;/text&gt;&lt;text x='486' y='265.0' fontSize='13' fill='#3A4A58' textAnchor='start' fontFamily='Microsoft YaHei'&gt;· 放进列表：operations = [加, 减, 乘]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7 把函数存进模块（教材 8.6）&lt;/text&gt;&lt;text x='890' y='169.0' fontSize='13' fill='#3A4A58' textAnchor='start' fontFamily='Microsoft YaHei'&gt;· 最小的模块就是两个文件。&lt;/text&gt;&lt;text x='890' y='197.5' fontSize='13' fill='#3A4A58' textAnchor='start' fontFamily='Microsoft YaHei'&gt;· if __name__ == &quot;__main__&quot;: 到底在防什么？&lt;/text&gt;&lt;text x='890' y='226.0' fontSize='13' fill='#3A4A58' textAnchor='start' fontFamily='Microsoft YaHei'&gt;· 直接运行这个文件时，__name__ 的值是&lt;/text&gt;&lt;text x='890' y='245.5' fontSize='13' fill='#3A4A58' textAnchor='start' fontFamily='Microsoft YaHei'&gt;&quot;__main__&quot;；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5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35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作用域与函数是一等公民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6 / 111 节&lt;/Text&gt;&#13;&#10;        &lt;/Box&gt;&#13;&#10;        &lt;Text style={{ fontSize: 30, fontWeight: 'bold', color: '#16232E' }}&gt;七个示例串讲与拆模块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把课堂示例改成自己的模块，理解导入的四种写法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三个函数拆到两个模块里并 import&lt;/text&gt;&lt;text x='84' y='338.75' fontSize='14.5' fill='#3A4A58' textAnchor='start' fontFamily='Microsoft YaHei'&gt;· 对照示例讲清每段的意图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进阶档 7-5 ~ 7-8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七个示例串讲与拆模块</a:t>
            </a:r>
            <a:endParaRPr/>
          </a:p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7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6 节&lt;/Text&gt;&#13;&#10;        &lt;/Box&gt;&#13;&#10;        &lt;Text style={{ fontSize: 30, fontWeight: 'bold', color: '#16232E' }}&gt;核心知识点&lt;/Text&gt;&#13;&#10;        &lt;Text style={{ fontSize: 15, color: '#5A6B7A', marginTop: 10 }}&gt;· 七个示例串讲与拆模块&lt;/Text&gt;&#13;&#10;    &lt;/Box&gt;&#13;&#10;    &lt;Box style={{ position: 'absolute', left: 0, top: 0, width: '1280px', height: '720px' }}&gt;&#13;&#10;        &lt;svg width='1280' height='720' viewBox='0 0 1280 720'&gt;&#13;&#10;            &lt;text x='64' y='470' fontSize='14.5' fontWeight='bold' fill='#0E9B78' textAnchor='start' fontFamily='Microsoft YaHei'&gt;本节的代码示例&lt;/text&gt;&lt;text x='64' y='500' fontSize='13' fill='#3A4A58' textAnchor='start' fontFamily='Microsoft YaHei'&gt;· 定义与调用函数&lt;/text&gt;&lt;text x='468' y='500' fontSize='13' fill='#3A4A58' textAnchor='start' fontFamily='Microsoft YaHei'&gt;· return 与 None&lt;/text&gt;&lt;text x='872' y='500' fontSize='13' fill='#3A4A58' textAnchor='start' fontFamily='Microsoft YaHei'&gt;· 三种参数写法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七个示例串讲与拆模块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7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7 练习，掌握用函数重构代码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讲评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动手项目 8.1–8.3 魔方消息 + 8.4–8.6 星际争霸 + 8.7 鸡尾酒&lt;/text&gt;&lt;text x='674' y='338.75' fontSize='14.5' fill='#3A4A58' textAnchor='start' fontFamily='Microsoft YaHei'&gt;· 产出：3 个可复用函数 + 2 个自定义模块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7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7-1【温度转换函数】&lt;/text&gt;&lt;text x='82' y='197.5' fontSize='13' fill='#3A4A58' textAnchor='start' fontFamily='Microsoft YaHei'&gt;· 练习 7-2【带默认参数的函数】&lt;/text&gt;&lt;text x='82' y='226.0' fontSize='13' fill='#3A4A58' textAnchor='start' fontFamily='Microsoft YaHei'&gt;· 必填项是 name、age、city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7-5【★ 副本语义验证实验】&lt;/text&gt;&lt;text x='486' y='197.5' fontSize='13' fill='#3A4A58' textAnchor='start' fontFamily='Microsoft YaHei'&gt;· 练习 7-6【文本统计器】&lt;/text&gt;&lt;text x='486' y='226.0' fontSize='13' fill='#3A4A58' textAnchor='start' fontFamily='Microsoft YaHei'&gt;· &quot;字符数&quot;：总长度（不含空格）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7-9&lt;/text&gt;&lt;text x='890' y='169.0' fontSize='13' fill='#3A4A58' textAnchor='start' fontFamily='Microsoft YaHei'&gt;· geometry.py 里一个 print 都没有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8 / 111 节&lt;/Text&gt;&#13;&#10;        &lt;/Box&gt;&#13;&#10;        &lt;Text style={{ fontSize: 30, fontWeight: 'bold', color: '#16232E' }}&gt;★ 六个常见错误逐条自查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对照错误清单逐条自查，把函数相关的坑全部避开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现场制造并修复 6 个错误&lt;/text&gt;&lt;text x='84' y='338.75' fontSize='14.5' fill='#3A4A58' textAnchor='start' fontFamily='Microsoft YaHei'&gt;· 重点讲透「默认参数用了可变对象」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把 6 个错误各写一个最小复现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81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六个常见错误逐条自查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8 节&lt;/Text&gt;&#13;&#10;        &lt;/Box&gt;&#13;&#10;        &lt;Text style={{ fontSize: 30, fontWeight: 'bold', color: '#16232E' }}&gt;核心知识点&lt;/Text&gt;&#13;&#10;        &lt;Text style={{ fontSize: 15, color: '#5A6B7A', marginTop: 10 }}&gt;· ★ 六个常见错误逐条自查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错误 1：忘记写冒号，或缩进错误&lt;/text&gt;&lt;text x='82' y='169.0' fontSize='13' fill='#3A4A58' textAnchor='start' fontFamily='Microsoft YaHei'&gt;· SyntaxError: expected ':' /&lt;/text&gt;&lt;text x='82' y='188.5' fontSize='13' fill='#3A4A58' textAnchor='start' fontFamily='Microsoft YaHei'&gt;IndentationError…&lt;/text&gt;&lt;text x='82' y='217.0' fontSize='13' fill='#3A4A58' textAnchor='start' fontFamily='Microsoft YaHei'&gt;· def 行末必须有 :；函数体所有行必须用一致的 4&lt;/text&gt;&lt;text x='82' y='236.5' fontSize='13' fill='#3A4A58' textAnchor='start' fontFamily='Microsoft YaHei'&gt;个空格缩进。&lt;/text&gt;&lt;text x='82' y='265.0' fontSize='13' fill='#3A4A58' textAnchor='start' fontFamily='Microsoft YaHei'&gt;· VS Code 里按 Tab 会自动插入 4 空格，不要混用&lt;/text&gt;&lt;text x='82' y='284.5' fontSize='13' fill='#3A4A58' textAnchor='start' fontFamily='Microsoft YaHei'&gt;Tab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错误 2：★ 函数修改列表，会改到原列表&lt;/text&gt;&lt;text x='486' y='169.0' fontSize='13' fill='#3A4A58' textAnchor='start' fontFamily='Microsoft YaHei'&gt;· 函数返回后，原列表莫名其妙多了东西；&lt;/text&gt;&lt;text x='486' y='188.5' fontSize='13' fill='#3A4A58' textAnchor='start' fontFamily='Microsoft YaHei'&gt;或者多个函数调用之间数据互相串味。&lt;/text&gt;&lt;text x='486' y='217.0' fontSize='13' fill='#3A4A58' textAnchor='start' fontFamily='Microsoft YaHei'&gt;· 列表是可变对象，Python 传的是&quot;地址&quot;，&lt;/text&gt;&lt;text x='486' y='236.5' fontSize='13' fill='#3A4A58' textAnchor='start' fontFamily='Microsoft YaHei'&gt;函数里改的就是原件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错误 3：默认参数用了可变对象&lt;/text&gt;&lt;text x='890' y='169.0' fontSize='13' fill='#3A4A58' textAnchor='start' fontFamily='Microsoft YaHei'&gt;· 单独调用正常，反复调用时结果里出现了前面调用的数据。&lt;/text&gt;&lt;text x='890' y='197.5' fontSize='13' fill='#3A4A58' textAnchor='start' fontFamily='Microsoft YaHei'&gt;· 默认参数在函数定义时只求值一次，&lt;/text&gt;&lt;text x='890' y='217.0' fontSize='13' fill='#3A4A58' textAnchor='start' fontFamily='Microsoft YaHei'&gt;那个列表被所有调用共享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六个常见错误逐条自查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9 / 111 节&lt;/Text&gt;&#13;&#10;        &lt;/Box&gt;&#13;&#10;        &lt;Text style={{ fontSize: 30, fontWeight: 'bold', color: '#16232E' }}&gt;单元 7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函数定义、参数、返回值、作用域、导入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现场把一段 30 行代码拆成 3 个函数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9 节&lt;/Text&gt;&#13;&#10;        &lt;/Box&gt;&#13;&#10;        &lt;Text style={{ fontSize: 30, fontWeight: 'bold', color: '#16232E' }}&gt;核心知识点&lt;/Text&gt;&#13;&#10;        &lt;Text style={{ fontSize: 15, color: '#5A6B7A', marginTop: 10 }}&gt;· 单元 7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7 · 第 3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7 · 小结与验收&lt;/Text&gt;&#13;&#10;        &lt;Text style={{ fontSize: 16, color: '#5A6B7A', marginTop: 6 }}&gt;函数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33 节 · 定义函数与 return&lt;/text&gt;&lt;text x='0' y='64' fontSize='14.5' fill='#3A4A58' fontFamily='Microsoft YaHei'&gt;· 第 34 节 · 三种参数写法与★ 参数传递的副本语义&lt;/text&gt;&lt;text x='0' y='94' fontSize='14.5' fill='#3A4A58' fontFamily='Microsoft YaHei'&gt;· 第 35 节 · 作用域与函数是一等公民&lt;/text&gt;&lt;text x='0' y='124' fontSize='14.5' fill='#3A4A58' fontFamily='Microsoft YaHei'&gt;· 第 36 节 · 七个示例串讲与拆模块&lt;/text&gt;&lt;text x='0' y='154' fontSize='14.5' fill='#3A4A58' fontFamily='Microsoft YaHei'&gt;· 第 37 节 · 动手实战与答案讲评&lt;/text&gt;&lt;text x='0' y='184' fontSize='14.5' fill='#3A4A58' fontFamily='Microsoft YaHei'&gt;· 第 38 节 · ★ 六个常见错误逐条自查&lt;/text&gt;&lt;text x='0' y='214' fontSize='14.5' fill='#3A4A58' fontFamily='Microsoft YaHei'&gt;· 第 39 节 · 单元 7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7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7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7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2026-10-29T00:33:45Z</dcterms:created>
  <dcterms:modified xsi:type="dcterms:W3CDTF">2026-10-29T00:33:45Z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