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2" Type="http://schemas.openxmlformats.org/officeDocument/2006/relationships/slide" Target="slides/slide22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30" Type="http://schemas.openxmlformats.org/officeDocument/2006/relationships/viewProps" Target="viewProps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presProps" Target="presProps.xml" /><Relationship Id="rId27" Type="http://schemas.openxmlformats.org/officeDocument/2006/relationships/notesMaster" Target="notesMasters/notesMaster1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&#10;    width: '1280px', height: '720px', backgroundColor: '#FAFCFE',&#10;    padding: 0, position: 'relative', overflow: 'hidden',&#10;}}&gt;&#10;    &lt;Box style={{&#10;        position: 'absolute', left: 0, top: 0, width: '1280px', height: '720px',&#10;        background: 'linear-gradient(135deg, #1F5FA8 0%, #0E9B78 100%)',&#10;        opacity: 0.95,&#10;    }} /&gt;&#10;    &lt;Box style={{&#10;        position: 'absolute', left: 0, top: 470, width: '1280px', height: '250px',&#10;        background: '#0B1F33', opacity: 0.28,&#10;    }} /&gt;&#10;&#10;    &lt;Box style={{&#10;        position: 'absolute', left: 72, top: 96, width: '900px',&#10;        flexDirection: 'column', gap: 26,&#10;    }}&gt;&#10;        &lt;Box style={{&#10;            alignSelf: 'flex-start', background: '#E08A15', borderRadius: 6,&#10;            padding: '7px 18px',&#10;        }}&gt;&#10;            &lt;Text style={{ fontSize: 17, fontWeight: 'bold', color: '#FFFFFF', letterSpacing: 3 }}&gt;&#10;                零基础 · 每周 1 单元&#10;            &lt;/Text&gt;&#10;        &lt;/Box&gt;&#10;&#10;        &lt;Text style={{ fontSize: 88, fontWeight: 'bold', color: '#FFFFFF', lineHeight: 1.15 }}&gt;&#10;            Python 课程大纲&#10;        &lt;/Text&gt;&#10;&#10;        &lt;Box style={{ width: 140, height: 5, background: '#E08A15' }} /&gt;&#10;&#10;        &lt;Text style={{ fontSize: 26, color: '#E8F1FA', lineHeight: 1.55, width: '860px' }}&gt;&#10;            从第 1 行的 print 到能交付完整项目&lt;br /&gt;&#10;            依据《Python 编程：从入门到实践（第 3 版）》上篇第 1–11 章&#10;        &lt;/Text&gt;&#10;&#10;        &lt;Box style={{ flexDirection: 'row', gap: 40, marginTop: 8 }}&gt;&#10;            &lt;Box style={{ flexDirection: 'column' }}&gt;&#10;                &lt;Text style={{ fontSize: 40, fontWeight: 'bold', color: '#FFFFFF' }}&gt;12&lt;/Text&gt;&#10;                &lt;Text style={{ fontSize: 16, color: '#BBD6EA' }}&gt;单元&lt;/Text&gt;&#10;            &lt;/Box&gt;&#10;            &lt;Box style={{ flexDirection: 'column' }}&gt;&#10;                &lt;Text style={{ fontSize: 40, fontWeight: 'bold', color: '#FFFFFF' }}&gt;13&lt;/Text&gt;&#10;                &lt;Text style={{ fontSize: 16, color: '#BBD6EA' }}&gt;周&lt;/Text&gt;&#10;            &lt;/Box&gt;&#10;            &lt;Box style={{ flexDirection: 'column' }}&gt;&#10;                &lt;Text style={{ fontSize: 40, fontWeight: 'bold', color: '#FFFFFF' }}&gt;52&lt;/Text&gt;&#10;                &lt;Text style={{ fontSize: 16, color: '#BBD6EA' }}&gt;道练习题&lt;/Text&gt;&#10;            &lt;/Box&gt;&#10;            &lt;Box style={{ flexDirection: 'column' }}&gt;&#10;                &lt;Text style={{ fontSize: 40, fontWeight: 'bold', color: '#E08A15' }}&gt;2&lt;/Text&gt;&#10;                &lt;Text style={{ fontSize: 16, color: '#BBD6EA' }}&gt;道关卡&lt;/Text&gt;&#10;            &lt;/Box&gt;&#10;        &lt;/Box&gt;&#10;    &lt;/Box&gt;&#10;&#10;    &lt;Box style={{&#10;        position: 'absolute', right: 72, bottom: 56,&#10;        flexDirection: 'row', alignItems: 'center', gap: 12,&#10;    }}&gt;&#10;        &lt;Box style={{ width: 8, height: 8, borderRadius: 4, background: '#E08A15' }} /&gt;&#10;        &lt;Text style={{ fontSize: 15, color: '#C9DEEE' }}&gt;Python 阶段 0–1 课程大纲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F5FA8">
                  <a:alpha val="95000"/>
                </a:srgbClr>
              </a:gs>
              <a:gs pos="100000">
                <a:srgbClr val="0E9B78">
                  <a:alpha val="9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0" y="4476750"/>
            <a:ext cx="12192000" cy="2381250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85800" y="914400"/>
            <a:ext cx="2219325" cy="333375"/>
          </a:xfrm>
          <a:prstGeom prst="roundRect">
            <a:avLst>
              <a:gd name="adj" fmla="val 17143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981075"/>
            <a:ext cx="1876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>零基础</a:t>
            </a:r>
            <a:r>
              <a:rPr lang="en-US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>每周</a:t>
            </a:r>
            <a:r>
              <a:rPr lang="en-US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>单元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1495425"/>
            <a:ext cx="85725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66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6600" b="1">
                <a:solidFill>
                  <a:srgbClr val="FFFFFF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85800" y="2905125"/>
            <a:ext cx="133350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3200400"/>
            <a:ext cx="81915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E8F1FA"/>
                </a:solidFill>
                <a:latin typeface="Microsoft YaHei"/>
                <a:ea typeface="Microsoft YaHei"/>
              </a:rPr>
              <a:t>从第</a:t>
            </a:r>
            <a:r>
              <a:rPr lang="en-US" sz="1950">
                <a:solidFill>
                  <a:srgbClr val="E8F1F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950">
                <a:solidFill>
                  <a:srgbClr val="E8F1FA"/>
                </a:solidFill>
                <a:latin typeface="Microsoft YaHei"/>
                <a:ea typeface="Microsoft YaHei"/>
              </a:rPr>
              <a:t>行的</a:t>
            </a:r>
            <a:r>
              <a:rPr lang="en-US" sz="1950">
                <a:solidFill>
                  <a:srgbClr val="E8F1FA"/>
                </a:solidFill>
                <a:latin typeface="Microsoft YaHei"/>
                <a:ea typeface="Microsoft YaHei"/>
              </a:rPr>
              <a:t xml:space="preserve"> print </a:t>
            </a:r>
            <a:r>
              <a:rPr lang="zh-CN" sz="1950">
                <a:solidFill>
                  <a:srgbClr val="E8F1FA"/>
                </a:solidFill>
                <a:latin typeface="Microsoft YaHei"/>
                <a:ea typeface="Microsoft YaHei"/>
              </a:rPr>
              <a:t>到能交付完整项目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E8F1FA"/>
                </a:solidFill>
                <a:latin typeface="Microsoft YaHei"/>
                <a:ea typeface="Microsoft YaHei"/>
              </a:rPr>
              <a:t>依据《</a:t>
            </a:r>
            <a:r>
              <a:rPr lang="en-US" sz="1950">
                <a:solidFill>
                  <a:srgbClr val="E8F1F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950">
                <a:solidFill>
                  <a:srgbClr val="E8F1FA"/>
                </a:solidFill>
                <a:latin typeface="Microsoft YaHei"/>
                <a:ea typeface="Microsoft YaHei"/>
              </a:rPr>
              <a:t>编程：从入门到实践（第</a:t>
            </a:r>
            <a:r>
              <a:rPr lang="en-US" sz="1950">
                <a:solidFill>
                  <a:srgbClr val="E8F1F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950">
                <a:solidFill>
                  <a:srgbClr val="E8F1FA"/>
                </a:solidFill>
                <a:latin typeface="Microsoft YaHei"/>
                <a:ea typeface="Microsoft YaHei"/>
              </a:rPr>
              <a:t>版）》上篇第</a:t>
            </a:r>
            <a:r>
              <a:rPr lang="en-US" sz="1950">
                <a:solidFill>
                  <a:srgbClr val="E8F1FA"/>
                </a:solidFill>
                <a:latin typeface="Microsoft YaHei"/>
                <a:ea typeface="Microsoft YaHei"/>
              </a:rPr>
              <a:t xml:space="preserve"> 1–11 </a:t>
            </a:r>
            <a:r>
              <a:rPr lang="zh-CN" sz="1950">
                <a:solidFill>
                  <a:srgbClr val="E8F1FA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4448175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4905375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单元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543050" y="4448175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543050" y="4905375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400300" y="4448175"/>
            <a:ext cx="609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52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400300" y="49053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道练习题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390900" y="4448175"/>
            <a:ext cx="457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08A15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390900" y="490537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道关卡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9601200" y="6200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791700" y="61531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DEEE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125">
                <a:solidFill>
                  <a:srgbClr val="C9DEEE"/>
                </a:solidFill>
                <a:latin typeface="Microsoft YaHei"/>
                <a:ea typeface="Microsoft YaHei"/>
              </a:rPr>
              <a:t>阶段</a:t>
            </a:r>
            <a:r>
              <a:rPr lang="en-US" sz="1125">
                <a:solidFill>
                  <a:srgbClr val="C9DEEE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125">
                <a:solidFill>
                  <a:srgbClr val="C9DEEE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课程坐标&lt;/Text&gt;&#10;        &lt;Text style={{ fontSize: 18, color: '#5A6B7A', marginTop: 6 }}&gt;&#10;            这门课要把你从「从没写过代码」送到「能独立交付一个完整项目」&#10;        &lt;/Text&gt;&#10;    &lt;/Box&gt;&#10;&#10;    &lt;Box style={{&#10;        position: 'absolute', left: 64, top: 150, width: '1152px', height: 420,&#10;        flexDirection: 'row', gap: 16,&#10;    }}&gt;&#10;        &lt;Box style={{&#10;            flex: 1, background: '#FFFFFF', border: '1px solid #D8E3EE', borderRadius: 12,&#10;            padding: 24, flexDirection: 'column', justifyContent: 'space-between',&#10;        }}&gt;&#10;            &lt;Text style={{ fontSize: 84, fontWeight: 'bold', color: '#1F5FA8', lineHeight: 1 }}&gt;12&lt;/Text&gt;&#10;            &lt;Box style={{ flexDirection: 'column', gap: 8 }}&gt;&#10;                &lt;Text style={{ fontSize: 21, fontWeight: 'bold', color: '#16232E' }}&gt;个单元&lt;/Text&gt;&#10;                &lt;Text style={{ fontSize: 16, color: '#5A6B7A', lineHeight: 1.6 }}&gt;&#10;                    单元 0 是环境搭建，单元 1–10 对应教材第 1–11 章，单元 11 是复习与关卡&#10;                &lt;/Text&gt;&#10;            &lt;/Box&gt;&#10;        &lt;/Box&gt;&#10;&#10;        &lt;Box style={{&#10;            flex: 1, background: '#FFFFFF', border: '1px solid #D8E3EE', borderRadius: 12,&#10;            padding: 24, flexDirection: 'column', justifyContent: 'space-between',&#10;        }}&gt;&#10;            &lt;Text style={{ fontSize: 84, fontWeight: 'bold', color: '#0E9B78', lineHeight: 1 }}&gt;13&lt;/Text&gt;&#10;            &lt;Box style={{ flexDirection: 'column', gap: 8 }}&gt;&#10;                &lt;Text style={{ fontSize: 21, fontWeight: 'bold', color: '#16232E' }}&gt;周周期&lt;/Text&gt;&#10;                &lt;Text style={{ fontSize: 16, color: '#5A6B7A', lineHeight: 1.6 }}&gt;&#10;                    每周 3 次课，每次 90 分钟，加课余作业约 6–10 小时。单元 3、6、7、8 可各加 1 周&#10;                &lt;/Text&gt;&#10;            &lt;/Box&gt;&#10;        &lt;/Box&gt;&#10;&#10;        &lt;Box style={{&#10;            flex: 1, background: '#FFFFFF', border: '1px solid #D8E3EE', borderRadius: 12,&#10;            padding: 24, flexDirection: 'column', justifyContent: 'space-between',&#10;        }}&gt;&#10;            &lt;Text style={{ fontSize: 84, fontWeight: 'bold', color: '#1F5FA8', lineHeight: 1 }}&gt;52&lt;/Text&gt;&#10;            &lt;Box style={{ flexDirection: 'column', gap: 8 }}&gt;&#10;                &lt;Text style={{ fontSize: 21, fontWeight: 'bold', color: '#16232E' }}&gt;道练习题&lt;/Text&gt;&#10;                &lt;Text style={{ fontSize: 16, color: '#5A6B7A', lineHeight: 1.6 }}&gt;&#10;                    分五档递进，每题都有参考答案与解析。卡 15 分钟再看答案，看完必须关掉重写&#10;                &lt;/Text&gt;&#10;            &lt;/Box&gt;&#10;        &lt;/Box&gt;&#10;&#10;        &lt;Box style={{&#10;            flex: 1, background: '#FFFFFF', border: '1px solid #D8E3EE', borderRadius: 12,&#10;            padding: 24, flexDirection: 'column', justifyContent: 'space-between',&#10;        }}&gt;&#10;            &lt;Text style={{ fontSize: 84, fontWeight: 'bold', color: '#E08A15', lineHeight: 1 }}&gt;11&lt;/Text&gt;&#10;            &lt;Box style={{ flexDirection: 'column', gap: 8 }}&gt;&#10;                &lt;Text style={{ fontSize: 21, fontWeight: 'bold', color: '#16232E' }}&gt;个动手项目&lt;/Text&gt;&#10;                &lt;Text style={{ fontSize: 16, color: '#5A6B7A', lineHeight: 1.6 }}&gt;&#10;                    教材原项目 8 个（偏好调查、忘记密码清单、生日调查、投票统计、魔方消息、学习笔记管理、投票分析器测试），另加综合项目 3 个&#10;                &lt;/Text&gt;&#10;            &lt;/Box&gt;&#10;        &lt;/Box&gt;&#10;    &lt;/Box&gt;&#10;&#10;    &lt;Box style={{&#10;        position: 'absolute', left: 64, top: 596, width: '1152px', height: 66,&#10;        background: '#EEF5FB', borderLeft: '5px solid #1F5FA8', borderRadius: 8,&#10;        flexDirection: 'row', alignItems: 'center', padding: '0 22px', gap: 16,&#10;    }}&gt;&#10;        &lt;Text style={{ fontSize: 17, color: '#1F5FA8', fontWeight: 'bold' }}&gt;出口&lt;/Text&gt;&#10;        &lt;Text style={{ fontSize: 17, color: '#3A4A58' }}&gt;&#10;            通过关卡 1 的四项验收，才准进入阶段 2（pygame 游戏 → 数据可视化 → Django 学习笔记）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02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课程坐标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这门课要把你从「从没写过代码」送到「能独立交付一个完整项目」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9600" y="1428750"/>
            <a:ext cx="2628900" cy="4000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38200" y="1657350"/>
            <a:ext cx="21717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1F5FA8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38200" y="3990975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个单元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21717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是环境搭建，单元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1–10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对应教材第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1–11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章，单元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是复习与关卡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3390900" y="1428750"/>
            <a:ext cx="2628900" cy="4000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619500" y="1657350"/>
            <a:ext cx="21717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0E9B78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3619500" y="3990975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周周期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619500" y="4314825"/>
            <a:ext cx="21717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每周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次课，每次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分钟，加课余作业约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6–10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小时。单元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>6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>7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可各加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172200" y="1428750"/>
            <a:ext cx="2628900" cy="4000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400800" y="1657350"/>
            <a:ext cx="21717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1F5FA8"/>
                </a:solidFill>
                <a:latin typeface="Microsoft YaHei"/>
                <a:ea typeface="Microsoft YaHei"/>
              </a:rPr>
              <a:t>52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400800" y="3990975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道练习题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400800" y="4314825"/>
            <a:ext cx="21717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分五档递进，每题都有参考答案与解析。卡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分钟再看答案，看完必须关掉重写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8953500" y="1428750"/>
            <a:ext cx="2628900" cy="4000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9182100" y="1657350"/>
            <a:ext cx="21717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E08A15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9182100" y="340995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个动手项目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182100" y="3733800"/>
            <a:ext cx="21717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教材原项目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个（偏好调查、忘记密码清单、生日调查、投票统计、魔方消息、学习笔记管理、投票分析器测试），另加综合项目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57225" y="5676900"/>
            <a:ext cx="10925175" cy="628650"/>
          </a:xfrm>
          <a:prstGeom prst="roundRect">
            <a:avLst>
              <a:gd name="adj" fmla="val 12121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657225" y="5676900"/>
            <a:ext cx="10925175" cy="628650"/>
          </a:xfrm>
          <a:custGeom>
            <a:pathLst>
              <a:path w="1147" h="6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63"/>
                </a:lnTo>
                <a:cubicBezTo>
                  <a:pt x="5" y="65"/>
                  <a:pt x="6" y="66"/>
                  <a:pt x="8" y="66"/>
                </a:cubicBezTo>
                <a:cubicBezTo>
                  <a:pt x="3" y="66"/>
                  <a:pt x="0" y="62"/>
                  <a:pt x="0" y="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66775" y="58959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出口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343025" y="5895975"/>
            <a:ext cx="6829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通过关卡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的四项验收，才准进入阶段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pygame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游戏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数据可视化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→ Django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学习笔记）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02 / 17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34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12 个单元全景&lt;/Text&gt;&#10;        &lt;Text style={{ fontSize: 18, color: '#5A6B7A', marginTop: 6 }}&gt;&#10;            每周一个单元，横轴是周次，颜色从入门蓝过渡到关卡橙&#10;        &lt;/Text&gt;&#10;    &lt;/Box&gt;&#10;&#10;    &lt;Box style={{ position: 'absolute', left: 64, top: 148, width: '1152px', height: 300 }}&gt;&#10;        &lt;svg width='1152' height='300' viewBox='0 0 1152 300'&gt;&#10;            &lt;rect x='0' y='238' width='1152' height='4' rx='2' fill='#D8E3EE' /&gt;&#10;&#10;            &lt;rect x='12' y='150' width='88' height='92' rx='8' fill='#0E9B78' /&gt;&#10;            &lt;text x='56' y='184' fontSize='30' fontWeight='bold' fill='#FFFFFF' textAnchor='middle' fontFamily='Inter'&gt;0&lt;/text&gt;&#10;            &lt;text x='56' y='212' fontSize='13' fill='#D7F0E7' textAnchor='middle' fontFamily='Inter'&gt;环境&lt;/text&gt;&#10;            &lt;text x='56' y='272' fontSize='13' fill='#5A6B7A' textAnchor='middle' fontFamily='Inter'&gt;W0&lt;/text&gt;&#10;&#10;            &lt;rect x='108' y='150' width='88' height='92' rx='8' fill='#1F5FA8' /&gt;&#10;            &lt;text x='152' y='184' fontSize='30' fontWeight='bold' fill='#FFFFFF' textAnchor='middle' fontFamily='Inter'&gt;1&lt;/text&gt;&#10;            &lt;text x='152' y='212' fontSize='13' fill='#CFE2F5' textAnchor='middle' fontFamily='Inter'&gt;变量&lt;/text&gt;&#10;            &lt;text x='152' y='272' fontSize='13' fill='#5A6B7A' textAnchor='middle' fontFamily='Inter'&gt;W1&lt;/text&gt;&#10;&#10;            &lt;rect x='204' y='150' width='88' height='92' rx='8' fill='#1F5FA8' /&gt;&#10;            &lt;text x='248' y='184' fontSize='30' fontWeight='bold' fill='#FFFFFF' textAnchor='middle' fontFamily='Inter'&gt;2&lt;/text&gt;&#10;            &lt;text x='248' y='212' fontSize='13' fill='#CFE2F5' textAnchor='middle' fontFamily='Inter'&gt;列表&lt;/text&gt;&#10;            &lt;text x='248' y='272' fontSize='13' fill='#5A6B7A' textAnchor='middle' fontFamily='Inter'&gt;W2&lt;/text&gt;&#10;&#10;            &lt;rect x='300' y='150' width='88' height='92' rx='8' fill='#1F5FA8' /&gt;&#10;            &lt;text x='344' y='184' fontSize='30' fontWeight='bold' fill='#FFFFFF' textAnchor='middle' fontFamily='Inter'&gt;3&lt;/text&gt;&#10;            &lt;text x='344' y='212' fontSize='13' fill='#CFE2F5' textAnchor='middle' fontFamily='Inter'&gt;循环&lt;/text&gt;&#10;            &lt;text x='344' y='272' fontSize='13' fill='#D9820F' fontWeight='bold' textAnchor='middle' fontFamily='Inter'&gt;W3 难&lt;/text&gt;&#10;&#10;            &lt;rect x='396' y='150' width='88' height='92' rx='8' fill='#1F5FA8' /&gt;&#10;            &lt;text x='440' y='184' fontSize='30' fontWeight='bold' fill='#FFFFFF' textAnchor='middle' fontFamily='Inter'&gt;4&lt;/text&gt;&#10;            &lt;text x='440' y='212' fontSize='13' fill='#CFE2F5' textAnchor='middle' fontFamily='Inter'&gt;if&lt;/text&gt;&#10;            &lt;text x='440' y='272' fontSize='13' fill='#5A6B7A' textAnchor='middle' fontFamily='Inter'&gt;W4&lt;/text&gt;&#10;&#10;            &lt;rect x='492' y='150' width='88' height='92' rx='8' fill='#1F5FA8' /&gt;&#10;            &lt;text x='536' y='184' fontSize='30' fontWeight='bold' fill='#FFFFFF' textAnchor='middle' fontFamily='Inter'&gt;5&lt;/text&gt;&#10;            &lt;text x='536' y='212' fontSize='13' fill='#CFE2F5' textAnchor='middle' fontFamily='Inter'&gt;字典&lt;/text&gt;&#10;            &lt;text x='536' y='272' fontSize='13' fill='#5A6B7A' textAnchor='middle' fontFamily='Inter'&gt;W5&lt;/text&gt;&#10;&#10;            &lt;rect x='588' y='150' width='88' height='92' rx='8' fill='#1F5FA8' /&gt;&#10;            &lt;text x='632' y='184' fontSize='30' fontWeight='bold' fill='#FFFFFF' textAnchor='middle' fontFamily='Inter'&gt;6&lt;/text&gt;&#10;            &lt;text x='632' y='212' fontSize='13' fill='#CFE2F5' textAnchor='middle' fontFamily='Inter'&gt;while&lt;/text&gt;&#10;            &lt;text x='632' y='272' fontSize='13' fill='#D9820F' fontWeight='bold' textAnchor='middle' fontFamily='Inter'&gt;W6 难&lt;/text&gt;&#10;&#10;            &lt;rect x='684' y='110' width='88' height='132' rx='8' fill='#2F7BC8' /&gt;&#10;            &lt;text x='728' y='150' fontSize='34' fontWeight='bold' fill='#FFFFFF' textAnchor='middle' fontFamily='Inter'&gt;7&lt;/text&gt;&#10;            &lt;text x='728' y='180' fontSize='13' fill='#FFFFFF' textAnchor='middle' fontFamily='Inter'&gt;函数&lt;/text&gt;&#10;            &lt;text x='728' y='200' fontSize='12' fill='#BBD6EA' textAnchor='middle' fontFamily='Inter'&gt;分水岭&lt;/text&gt;&#10;            &lt;text x='728' y='272' fontSize='13' fill='#D9820F' fontWeight='bold' textAnchor='middle' fontFamily='Inter'&gt;W7-8&lt;/text&gt;&#10;&#10;            &lt;rect x='780' y='110' width='88' height='132' rx='8' fill='#2F7BC8' /&gt;&#10;            &lt;text x='824' y='150' fontSize='34' fontWeight='bold' fill='#FFFFFF' textAnchor='middle' fontFamily='Inter'&gt;8&lt;/text&gt;&#10;            &lt;text x='824' y='180' fontSize='13' fill='#FFFFFF' textAnchor='middle' fontFamily='Inter'&gt;类&lt;/text&gt;&#10;            &lt;text x='824' y='200' fontSize='12' fill='#BBD6EA' textAnchor='middle' fontFamily='Inter'&gt;最劝退&lt;/text&gt;&#10;            &lt;text x='824' y='272' fontSize='13' fill='#D9820F' fontWeight='bold' textAnchor='middle' fontFamily='Inter'&gt;W9-10&lt;/text&gt;&#10;&#10;            &lt;rect x='876' y='150' width='88' height='92' rx='8' fill='#1F5FA8' /&gt;&#10;            &lt;text x='920' y='184' fontSize='30' fontWeight='bold' fill='#FFFFFF' textAnchor='middle' fontFamily='Inter'&gt;9&lt;/text&gt;&#10;            &lt;text x='920' y='212' fontSize='13' fill='#CFE2F5' textAnchor='middle' fontFamily='Inter'&gt;文件&lt;/text&gt;&#10;            &lt;text x='920' y='272' fontSize='13' fill='#5A6B7A' textAnchor='middle' fontFamily='Inter'&gt;W11&lt;/text&gt;&#10;&#10;            &lt;rect x='972' y='150' width='88' height='92' rx='8' fill='#1F5FA8' /&gt;&#10;            &lt;text x='1016' y='184' fontSize='30' fontWeight='bold' fill='#FFFFFF' textAnchor='middle' fontFamily='Inter'&gt;10&lt;/text&gt;&#10;            &lt;text x='1016' y='212' fontSize='13' fill='#CFE2F5' textAnchor='middle' fontFamily='Inter'&gt;测试&lt;/text&gt;&#10;            &lt;text x='1016' y='272' fontSize='13' fill='#5A6B7A' textAnchor='middle' fontFamily='Inter'&gt;W12&lt;/text&gt;&#10;&#10;            &lt;rect x='1068' y='110' width='84' height='132' rx='8' fill='#E08A15' /&gt;&#10;            &lt;text x='1110' y='150' fontSize='34' fontWeight='bold' fill='#FFFFFF' textAnchor='middle' fontFamily='Inter'&gt;11&lt;/text&gt;&#10;            &lt;text x='1110' y='180' fontSize='13' fill='#FFFFFF' textAnchor='middle' fontFamily='Inter'&gt;复习&lt;/text&gt;&#10;            &lt;text x='1110' y='200' fontSize='12' fill='#FCEBD0' textAnchor='middle' fontFamily='Inter'&gt;关卡&lt;/text&gt;&#10;            &lt;text x='1110' y='272' fontSize='13' fill='#D9820F' fontWeight='bold' textAnchor='middle' fontFamily='Inter'&gt;W13&lt;/text&gt;&#10;&#10;            &lt;path d='M690 78 L 778 78' stroke='#E08A15' strokeWidth='2' fill='none' /&gt;&#10;            &lt;path d='M876 78 L 964 78' stroke='#E08A15' strokeWidth='2' fill='none' /&gt;&#10;        &lt;/svg&gt;&#10;    &lt;/Box&gt;&#10;&#10;    &lt;Box style={{&#10;        position: 'absolute', left: 64, top: 470, width: '1152px', height: 172,&#10;        flexDirection: 'row', gap: 16,&#10;    }}&gt;&#10;        &lt;Box style={{&#10;            flex: 1.2, background: '#FFFFFF', border: '1px solid #D8E3EE', borderRadius: 12,&#10;            padding: 20, flexDirection: 'column', gap: 10,&#10;        }}&gt;&#10;            &lt;Text style={{ fontSize: 18, fontWeight: 'bold', color: '#1F5FA8' }}&gt;难度走势&lt;/Text&gt;&#10;            &lt;Text style={{ fontSize: 16, color: '#5A6B7A', lineHeight: 1.65 }}&gt;&#10;                单元 0–2 是地基，语法简单但决定习惯。单元 3、6、7、8 是四个陡坡，柱子被拉高就是这个意思。&#10;                单元 7 函数是分水岭：从这里开始，代码不再是「从上往下写」，而是「拆成可复用的块」。&#10;            &lt;/Text&gt;&#10;        &lt;/Box&gt;&#10;&#10;        &lt;Box style={{&#10;            flex: 1, background: '#EEF5FB', borderRadius: 12, padding: 20,&#10;            flexDirection: 'column', gap: 10, justifyContent: 'space-between',&#10;        }}&gt;&#10;            &lt;Text style={{ fontSize: 18, fontWeight: 'bold', color: '#1F5FA8' }}&gt;教材对应&lt;/Text&gt;&#10;            &lt;Text style={{ fontSize: 16, color: '#3A4A58', lineHeight: 1.65 }}&gt;&#10;                单元 1–10 一一对应上篇第 1–11 章；单元 0 对应附录 A（安装）、B（VS Code）、D（Git）。&#10;                第 11–20 章属于阶段 2 项目篇，本课程不含。&#10;            &lt;/Text&gt;&#10;        &lt;/Box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03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个单元全景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每周一个单元，横轴是周次，颜色从入门蓝过渡到关卡橙</a:t>
            </a:r>
            <a:endParaRPr/>
          </a:p>
        </p:txBody>
      </p:sp>
      <p:pic>
        <p:nvPicPr>
          <p:cNvPr id="5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409700"/>
            <a:ext cx="10972800" cy="2857500"/>
          </a:xfrm>
          <a:prstGeom prst="rect">
            <a:avLst/>
          </a:prstGeom>
          <a:ln/>
        </p:spPr>
      </p:pic>
      <p:sp>
        <p:nvSpPr>
          <p:cNvPr id="539" name=""/>
          <p:cNvSpPr/>
          <p:nvPr/>
        </p:nvSpPr>
        <p:spPr>
          <a:xfrm rot="0" flipH="0" flipV="0">
            <a:off x="609600" y="4476750"/>
            <a:ext cx="59055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00100" y="4667250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难度走势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00100" y="4972050"/>
            <a:ext cx="55245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是地基，语法简单但决定习惯。单元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>6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>7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是四个陡坡，柱子被拉高就是这个意思。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函数是分水岭：从这里开始，代码不再是「从上往下写」，而是「拆成可复用的块」。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667500" y="4476750"/>
            <a:ext cx="4914900" cy="1638300"/>
          </a:xfrm>
          <a:prstGeom prst="roundRect">
            <a:avLst>
              <a:gd name="adj" fmla="val 6977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858000" y="4667250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教材对应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858000" y="5010150"/>
            <a:ext cx="45339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单元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1–10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一一对应上篇第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1–11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章；单元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对应附录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（安装）、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>B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>VS Code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）、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>D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>Git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）。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11–20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章属于阶段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项目篇，本课程不含。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03 / 17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47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每周一次的课，90 分钟怎么花&lt;/Text&gt;&#10;        &lt;Text style={{ fontSize: 18, color: '#5A6B7A', marginTop: 6 }}&gt;&#10;            固定四段式。零基础最怕的是「听懂了就以为会了」，所以实操时长必须压过讲解时长&#10;        &lt;/Text&gt;&#10;    &lt;/Box&gt;&#10;&#10;    &lt;Box style={{&#10;        position: 'absolute', left: 64, top: 152, width: '1152px', height: 440,&#10;        flexDirection: 'row', gap: 14,&#10;    }}&gt;&#10;        &lt;Box style={{&#10;            flex: 1, background: '#FFFFFF', border: '1px solid #D8E3EE', borderTop: '4px solid #1F5FA8',&#10;            borderRadius: 12, padding: 22, flexDirection: 'column', justifyContent: 'space-between',&#10;        }}&gt;&#10;            &lt;Box style={{ flexDirection: 'column', gap: 8 }}&gt;&#10;                &lt;Text style={{ fontSize: 56, fontWeight: 'bold', color: '#1F5FA8', lineHeight: 1 }}&gt;10&lt;/Text&gt;&#10;                &lt;Text style={{ fontSize: 19, fontWeight: 'bold', color: '#16232E' }}&gt;复盘&lt;/Text&gt;&#10;                &lt;Text style={{ fontSize: 13, color: '#8A9AAA' }}&gt;分钟&lt;/Text&gt;&#10;            &lt;/Box&gt;&#10;            &lt;Box style={{ flexDirection: 'column', gap: 9 }}&gt;&#10;                &lt;Text style={{ fontSize: 15, color: '#3A4A58', lineHeight: 1.65 }}&gt;&#10;                    上次作业逐题讲评，投屏三份典型答案对比。上次遗留的错误当场改对，&#10;                    不接受「我看懂了」当过关。&#10;                &lt;/Text&gt;&#10;                &lt;Text style={{ fontSize: 15, color: '#3A4A58', lineHeight: 1.65 }}&gt;&#10;                    同一个题至少给两种写法，当场讲清哪种更该用。&#10;                &lt;/Text&gt;&#10;            &lt;/Box&gt;&#10;        &lt;/Box&gt;&#10;&#10;        &lt;Box style={{&#10;            flex: 1, background: '#FFFFFF', border: '1px solid #D8E3EE', borderTop: '4px solid #1F5FA8',&#10;            borderRadius: 12, padding: 22, flexDirection: 'column', justifyContent: 'space-between',&#10;        }}&gt;&#10;            &lt;Box style={{ flexDirection: 'column', gap: 8 }}&gt;&#10;                &lt;Text style={{ fontSize: 56, fontWeight: 'bold', color: '#1F5FA8', lineHeight: 1 }}&gt;30&lt;/Text&gt;&#10;                &lt;Text style={{ fontSize: 19, fontWeight: 'bold', color: '#16232E' }}&gt;讲解&lt;/Text&gt;&#10;                &lt;Text style={{ fontSize: 13, color: '#8A9AAA' }}&gt;分钟&lt;/Text&gt;&#10;            &lt;/Box&gt;&#10;            &lt;Box style={{ flexDirection: 'column', gap: 9 }}&gt;&#10;                &lt;Text style={{ fontSize: 15, color: '#3A4A58', lineHeight: 1.65 }}&gt;&#10;                    本单元核心知识点，边讲边在编辑器里敲一遍。&#10;                    每讲完一个概念，立刻问一句「这个能出什么错」。&#10;                &lt;/Text&gt;&#10;                &lt;Text style={{ fontSize: 15, color: '#3A4A58', lineHeight: 1.65 }}&gt;&#10;                    讲解不超过 10 分钟就必须让学员自己敲一次。&#10;                &lt;/Text&gt;&#10;            &lt;/Box&gt;&#10;        &lt;/Box&gt;&#10;&#10;        &lt;Box style={{&#10;            flex: 1, background: '#FFFFFF', border: '1px solid #D8E3EE', borderTop: '4px solid #0E9B78',&#10;            borderRadius: 12, padding: 22, flexDirection: 'column', justifyContent: 'space-between',&#10;        }}&gt;&#10;            &lt;Box style={{ flexDirection: 'column', gap: 8 }}&gt;&#10;                &lt;Text style={{ fontSize: 56, fontWeight: 'bold', color: '#0E9B78', lineHeight: 1 }}&gt;40&lt;/Text&gt;&#10;                &lt;Text style={{ fontSize: 19, fontWeight: 'bold', color: '#16232E' }}&gt;现场实操&lt;/Text&gt;&#10;                &lt;Text style={{ fontSize: 13, color: '#8A9AAA' }}&gt;分钟 · 本节最长&lt;/Text&gt;&#10;            &lt;/Box&gt;&#10;            &lt;Box style={{ flexDirection: 'column', gap: 9 }}&gt;&#10;                &lt;Text style={{ fontSize: 15, color: '#3A4A58', lineHeight: 1.65 }}&gt;&#10;                    教师故意敲错，展示报错怎么读。学员同步敲，禁止看答案。&#10;                &lt;/Text&gt;&#10;                &lt;Text style={{ fontSize: 15, color: '#3A4A58', lineHeight: 1.65 }}&gt;&#10;                    每 10 分钟必须确认所有人都跑出了预期输出。&#10;                    报错信息留在屏幕上，不要擦掉。&#10;                &lt;/Text&gt;&#10;            &lt;/Box&gt;&#10;        &lt;/Box&gt;&#10;&#10;        &lt;Box style={{&#10;            flex: 1, background: '#FFFFFF', border: '1px solid #D8E3EE', borderTop: '4px solid #0E9B78',&#10;            borderRadius: 12, padding: 22, flexDirection: 'column', justifyContent: 'space-between',&#10;        }}&gt;&#10;            &lt;Box style={{ flexDirection: 'column', gap: 8 }}&gt;&#10;                &lt;Text style={{ fontSize: 56, fontWeight: 'bold', color: '#0E9B78', lineHeight: 1 }}&gt;20&lt;/Text&gt;&#10;                &lt;Text style={{ fontSize: 19, fontWeight: 'bold', color: '#16232E' }}&gt;讲评&lt;/Text&gt;&#10;                &lt;Text style={{ fontSize: 13, color: '#8A9AAA' }}&gt;分钟&lt;/Text&gt;&#10;            &lt;/Box&gt;&#10;            &lt;Box style={{ flexDirection: 'column', gap: 9 }}&gt;&#10;                &lt;Text style={{ fontSize: 15, color: '#3A4A58', lineHeight: 1.65 }}&gt;&#10;                    三份作业投屏对比，讲清差异在哪。&#10;                    布置作业时必须说清楚验收标准是什么。&#10;                &lt;/Text&gt;&#10;                &lt;Text style={{ fontSize: 15, color: '#3A4A58', lineHeight: 1.65 }}&gt;&#10;                    作业量：基础 3 题 + 进阶 3 题 + 动手项目 1 个。&#10;                &lt;/Text&gt;&#10;            &lt;/Box&gt;&#10;        &lt;/Box&gt;&#10;    &lt;/Box&gt;&#10;&#10;    &lt;Box style={{&#10;        position: 'absolute', left: 64, top: 612, width: '1152px', height: 52,&#10;        background: '#EEF5FB', borderRadius: 8, flexDirection: 'row',&#10;        alignItems: 'center', padding: '0 22px', gap: 14,&#10;    }}&gt;&#10;        &lt;Box style={{ width: 8, height: 8, borderRadius: 4, background: '#E08A15' }} /&gt;&#10;        &lt;Text style={{ fontSize: 17, color: '#1F5FA8', fontWeight: 'bold' }}&gt;原则&lt;/Text&gt;&#10;        &lt;Text style={{ fontSize: 17, color: '#3A4A58' }}&gt;&#10;            实操 40 分钟必须大于讲解 30 分钟。讲得多不等于学得多，跑出输出才算。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04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每周一次的课，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90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分钟怎么花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固定四段式。零基础最怕的是「听懂了就以为会了」，所以实操时长必须压过讲解时长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09600" y="1485900"/>
            <a:ext cx="2647950" cy="41910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609600" y="1485900"/>
            <a:ext cx="2647950" cy="4191000"/>
          </a:xfrm>
          <a:custGeom>
            <a:pathLst>
              <a:path w="278" h="440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6"/>
                  <a:pt x="274" y="4"/>
                  <a:pt x="27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2228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F5FA8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819150" y="24193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复盘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19150" y="271462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19150" y="3914775"/>
            <a:ext cx="22288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上次作业逐题讲评，投屏三份典型答案对比。上次遗留的错误当场改对，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不接受「我看懂了」当过关。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819150" y="4857750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同一个题至少给两种写法，当场讲清哪种更该用。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3390900" y="1485900"/>
            <a:ext cx="2638425" cy="41910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3390900" y="1485900"/>
            <a:ext cx="2638425" cy="4191000"/>
          </a:xfrm>
          <a:custGeom>
            <a:pathLst>
              <a:path w="277" h="440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6"/>
                  <a:pt x="273" y="4"/>
                  <a:pt x="269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600450" y="1695450"/>
            <a:ext cx="2219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F5FA8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600450" y="24193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讲解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3600450" y="271462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3600450" y="3914775"/>
            <a:ext cx="22193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本单元核心知识点，边讲边在编辑器里敲一遍。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每讲完一个概念，立刻问一句「这个能出什么错」。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3600450" y="4857750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讲解不超过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分钟就必须让学员自己敲一次。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162675" y="1485900"/>
            <a:ext cx="2647950" cy="41910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6" name=""/>
          <p:cNvSpPr/>
          <p:nvPr/>
        </p:nvSpPr>
        <p:spPr>
          <a:xfrm rot="0" flipH="0" flipV="0">
            <a:off x="6162675" y="1485900"/>
            <a:ext cx="2647950" cy="4191000"/>
          </a:xfrm>
          <a:custGeom>
            <a:pathLst>
              <a:path w="278" h="440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6"/>
                  <a:pt x="274" y="4"/>
                  <a:pt x="27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0E9B78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372225" y="1695450"/>
            <a:ext cx="2228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E9B78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372225" y="24193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现场实操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372225" y="271462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本节最长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372225" y="391477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教师故意敲错，展示报错怎么读。学员同步敲，禁止看答案。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372225" y="4572000"/>
            <a:ext cx="22288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每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分钟必须确认所有人都跑出了预期输出。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报错信息留在屏幕上，不要擦掉。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8943975" y="1485900"/>
            <a:ext cx="2638425" cy="41910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8943975" y="1485900"/>
            <a:ext cx="2638425" cy="4191000"/>
          </a:xfrm>
          <a:custGeom>
            <a:pathLst>
              <a:path w="277" h="440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6"/>
                  <a:pt x="273" y="4"/>
                  <a:pt x="269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0E9B78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9153525" y="1695450"/>
            <a:ext cx="2219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E9B78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9153525" y="24193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讲评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9153525" y="271462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153525" y="3914775"/>
            <a:ext cx="22193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三份作业投屏对比，讲清差异在哪。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布置作业时必须说清楚验收标准是什么。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9153525" y="4857750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作业量：基础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题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进阶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题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动手项目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个。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5829300"/>
            <a:ext cx="10972800" cy="495300"/>
          </a:xfrm>
          <a:prstGeom prst="roundRect">
            <a:avLst>
              <a:gd name="adj" fmla="val 15385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819150" y="6038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028700" y="59817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原则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485900" y="598170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实操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分钟必须大于讲解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分钟。讲得多不等于学得多，跑出输出才算。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04 / 17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85" name="" descr="&lt;Slide style={{&#10;    width: '1280px', height: '720px', backgroundColor: '#FAFCFE',&#10;    padding: 0, position: 'relative', overflow: 'hidden',&#10;}}&gt;&#10;    &lt;Box style={{ position: 'absolute', left: 0, top: 0, width: '1280px', height: '720px', background: '#EEF5FB' }} /&gt;&#10;    &lt;Box style={{ position: 'absolute', right: 0, top: 0, width: '440px', height: '720px', background: '#16232E' }} /&gt;&#10;&#10;    &lt;Box style={{ position: 'absolute', left: 64, top: 44, width: '700px', flexDirection: 'column' }}&gt;&#10;        &lt;Text style={{ fontSize: 36, fontWeight: 'bold', color: '#16232E' }}&gt;零基础教学三原则&lt;/Text&gt;&#10;        &lt;Text style={{ fontSize: 18, color: '#5A6B7A', marginTop: 8 }}&gt;&#10;            针对「没有编程习惯」的学员，这三条比讲多少知识点都重要&#10;        &lt;/Text&gt;&#10;    &lt;/Box&gt;&#10;&#10;    &lt;Box style={{ position: 'absolute', left: 64, top: 156, width: '700px', height: 476, flexDirection: 'column', gap: 14 }}&gt;&#10;        &lt;Box style={{&#10;            background: '#FFFFFF', borderRadius: 12, padding: 18,&#10;            flexDirection: 'row', gap: 18, alignItems: 'flex-start', flex: 1,&#10;        }}&gt;&#10;            &lt;Text style={{ fontSize: 44, fontWeight: 'bold', color: '#1F5FA8', lineHeight: 1 }}&gt;01&lt;/Text&gt;&#10;            &lt;Box style={{ flex: 1, flexDirection: 'column', gap: 6 }}&gt;&#10;                &lt;Text style={{ fontSize: 20, fontWeight: 'bold', color: '#16232E' }}&gt;讲完 10 分钟内必须敲一次代码&lt;/Text&gt;&#10;                &lt;Text style={{ fontSize: 15, color: '#5A6B7A', lineHeight: 1.6 }}&gt;&#10;                    报错是教材，不要擦掉。练习顺序固定为：先照抄 → 再改需求 → 最后自己写。&#10;                    跳过照抄就会养成「看懂即会写」的错觉。&#10;                &lt;/Text&gt;&#10;            &lt;/Box&gt;&#10;        &lt;/Box&gt;&#10;&#10;        &lt;Box style={{&#10;            background: '#FFFFFF', borderRadius: 12, padding: 18,&#10;            flexDirection: 'row', gap: 18, alignItems: 'flex-start', flex: 1,&#10;        }}&gt;&#10;            &lt;Text style={{ fontSize: 44, fontWeight: 'bold', color: '#1F5FA8', lineHeight: 1 }}&gt;02&lt;/Text&gt;&#10;            &lt;Box style={{ flex: 1, flexDirection: 'column', gap: 6 }}&gt;&#10;                &lt;Text style={{ fontSize: 20, fontWeight: 'bold', color: '#16232E' }}&gt;单元 3、6、7、8 允许放慢 50%&lt;/Text&gt;&#10;                &lt;Text style={{ fontSize: 15, color: '#5A6B7A', lineHeight: 1.6 }}&gt;&#10;                    这四章是分水岭，课时可加，练习翻倍。允许落后，不允许跳过。&#10;                    后面的 Django 全靠类和函数的地基，地基松了上层必塌。&#10;                &lt;/Text&gt;&#10;            &lt;/Box&gt;&#10;        &lt;/Box&gt;&#10;&#10;        &lt;Box style={{&#10;            background: '#FFFFFF', borderRadius: 12, padding: 18,&#10;            flexDirection: 'row', gap: 18, alignItems: 'flex-start', flex: 1,&#10;        }}&gt;&#10;            &lt;Text style={{ fontSize: 44, fontWeight: 'bold', color: '#0E9B78', lineHeight: 1 }}&gt;03&lt;/Text&gt;&#10;            &lt;Box style={{ flex: 1, flexDirection: 'column', gap: 6 }}&gt;&#10;                &lt;Text style={{ fontSize: 20, fontWeight: 'bold', color: '#16232E' }}&gt;每个单元都有可跑的产出物&lt;/Text&gt;&#10;                &lt;Text style={{ fontSize: 15, color: '#5A6B7A', lineHeight: 1.6 }}&gt;&#10;                    每章留一个能跑起来的小程序 + 一次 git 提交。&#10;                    看得见的产出才是正反馈，否则学三周会怀疑自己在原地踏步。&#10;                &lt;/Text&gt;&#10;            &lt;/Box&gt;&#10;        &lt;/Box&gt;&#10;    &lt;/Box&gt;&#10;&#10;    &lt;Box style={{&#10;        position: 'absolute', right: 56, top: 156, width: '330px', flexDirection: 'column', alignItems: 'flex-end',&#10;    }}&gt;&#10;        &lt;Text style={{ fontSize: 110, fontWeight: 'bold', color: '#E08A15', lineHeight: 1 }}&gt;90%&lt;/Text&gt;&#10;        &lt;Text style={{ fontSize: 19, color: '#FFFFFF', marginTop: 10, textAlign: 'right' }}&gt;学员的卡点不是听不懂&lt;/Text&gt;&#10;        &lt;Text style={{ fontSize: 19, color: '#FFFFFF', marginTop: 8, textAlign: 'right' }}&gt;而是从没自己跑通过一次&lt;/Text&gt;&#10;    &lt;/Box&gt;&#10;&#10;    &lt;Box style={{&#10;        position: 'absolute', right: 56, top: 388, width: '330px',&#10;        background: '#1F2E3C', borderRadius: 12, padding: 22, flexDirection: 'column', gap: 12,&#10;    }}&gt;&#10;        &lt;Text style={{ fontSize: 15, color: '#8FB4D8', fontWeight: 'bold' }}&gt;零基础最常见的假信号&lt;/Text&gt;&#10;        &lt;Text style={{ fontSize: 15, color: '#D6E4F0', lineHeight: 1.7 }}&gt;&#10;            「我好像看懂了」&lt;br /&gt;&#10;            「跟着敲一遍没问题」&lt;br /&gt;&#10;            「这段逻辑很清楚」&#10;        &lt;/Text&gt;&#10;        &lt;Box style={{ width: '60px', height: 3, background: '#E08A15' }} /&gt;&#10;        &lt;Text style={{ fontSize: 15, color: '#E8B36A', lineHeight: 1.7 }}&gt;&#10;            真信号只有一个：不看讲义，从空文件开始敲出来。&#10;        &lt;/Text&gt;&#10;    &lt;/Box&gt;&#10;&#10;    &lt;Box style={{&#10;        position: 'absolute', right: 56, bottom: 32,&#10;        flexDirection: 'row', alignItems: 'center', gap: 12,&#10;    }}&gt;&#10;        &lt;Text style={{ fontSize: 14, color: '#7C93A8' }}&gt;05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8001000" y="0"/>
            <a:ext cx="4191000" cy="68580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6667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零基础教学三原则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针对「没有编程习惯」的学员，这三条比讲多少知识点都重要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09600" y="1485900"/>
            <a:ext cx="6667500" cy="1419225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F5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476375" y="1657350"/>
            <a:ext cx="562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讲完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分钟内必须敲一次代码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476375" y="1943100"/>
            <a:ext cx="5629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报错是教材，不要擦掉。练习顺序固定为：先照抄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再改需求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最后自己写。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跳过照抄就会养成「看懂即会写」的错觉。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3038475"/>
            <a:ext cx="666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81050" y="320992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F5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476375" y="3209925"/>
            <a:ext cx="562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>6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>7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允许放慢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476375" y="3495675"/>
            <a:ext cx="5629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这四章是分水岭，课时可加，练习翻倍。允许落后，不允许跳过。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后面的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Django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全靠类和函数的地基，地基松了上层必塌。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" y="4600575"/>
            <a:ext cx="6667500" cy="1419225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E9B7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476375" y="4772025"/>
            <a:ext cx="562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每个单元都有可跑的产出物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476375" y="5057775"/>
            <a:ext cx="5629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每章留一个能跑起来的小程序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一次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提交。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看得见的产出才是正反馈，否则学三周会怀疑自己在原地踏步。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9382125" y="1485900"/>
            <a:ext cx="2276475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E08A15"/>
                </a:solidFill>
                <a:latin typeface="Microsoft YaHei"/>
                <a:ea typeface="Microsoft YaHei"/>
              </a:rPr>
              <a:t>90%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848850" y="2838450"/>
            <a:ext cx="180975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学员的卡点不是听不懂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667875" y="3133725"/>
            <a:ext cx="1990725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而是从没自己跑通过一次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8515350" y="3695700"/>
            <a:ext cx="3143250" cy="2428875"/>
          </a:xfrm>
          <a:prstGeom prst="roundRect">
            <a:avLst>
              <a:gd name="adj" fmla="val 4706"/>
            </a:avLst>
          </a:prstGeom>
          <a:solidFill>
            <a:srgbClr val="1F2E3C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724900" y="3905250"/>
            <a:ext cx="272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4D8"/>
                </a:solidFill>
                <a:latin typeface="Microsoft YaHei"/>
                <a:ea typeface="Microsoft YaHei"/>
              </a:rPr>
              <a:t>零基础最常见的假信号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724900" y="4191000"/>
            <a:ext cx="272415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「我好像看懂了」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「跟着敲一遍没问题」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「这段逻辑很清楚」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8724900" y="5181600"/>
            <a:ext cx="571500" cy="2857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724900" y="5324475"/>
            <a:ext cx="272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B36A"/>
                </a:solidFill>
                <a:latin typeface="Microsoft YaHei"/>
                <a:ea typeface="Microsoft YaHei"/>
              </a:rPr>
              <a:t>真信号只有一个：不看讲义，从空文件开始敲出来。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12014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93A8"/>
                </a:solidFill>
                <a:latin typeface="Microsoft YaHei"/>
                <a:ea typeface="Microsoft YaHei"/>
              </a:rPr>
              <a:t>05 / 17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12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单元 1–3 · 先把地基拍实&lt;/Text&gt;&#10;        &lt;Text style={{ fontSize: 18, color: '#5A6B7A', marginTop: 6 }}&gt;&#10;            三章都简单，但养成的是「写代码的手感」：命名、缩进、逐步验证&#10;        &lt;/Text&gt;&#10;    &lt;/Box&gt;&#10;&#10;    &lt;Box style={{&#10;        position: 'absolute', left: 64, top: 150, width: '1152px', height: 400,&#10;        flexDirection: 'row', gap: 16,&#10;    }}&gt;&#10;        &lt;Box style={{&#10;            flex: 1, background: '#FFFFFF', border: '1px solid #D8E3EE', borderRadius: 12,&#10;            padding: 22, flexDirection: 'column', gap: 14,&#10;        }}&gt;&#10;            &lt;Box style={{ flexDirection: 'row', alignItems: 'center', gap: 12 }}&gt;&#10;                &lt;Box style={{ width: 46, height: 46, borderRadius: 8, background: '#1F5FA8', alignItems: 'center', justifyContent: 'center' }}&gt;&#10;                    &lt;Text style={{ fontSize: 22, fontWeight: 'bold', color: '#FFFFFF' }}&gt;1&lt;/Text&gt;&#10;                &lt;/Box&gt;&#10;                &lt;Box style={{ flexDirection: 'column' }}&gt;&#10;                    &lt;Text style={{ fontSize: 20, fontWeight: 'bold', color: '#16232E' }}&gt;变量与简单数据类型&lt;/Text&gt;&#10;                    &lt;Text style={{ fontSize: 13, color: '#8A9AAA' }}&gt;教材第 1–2 章 · W1&lt;/Text&gt;&#10;                &lt;/Box&gt;&#10;            &lt;/Box&gt;&#10;            &lt;Box style={{ flex: 1, flexDirection: 'column', gap: 8 }}&gt;&#10;                &lt;Text style={{ fontSize: 15, color: '#3A4A58', lineHeight: 1.65 }}&gt;&#10;                    变量命名规范、字符串全套操作、f-string 格式化、int / float 与注释。&#10;                &lt;/Text&gt;&#10;                &lt;Text style={{ fontSize: 15, color: '#3A4A58', lineHeight: 1.65 }}&gt;&#10;                    必须讲透的点：浮点不能直接比较相等（0.1+0.2 ≠ 0.3）。&#10;                    这是后面数据处理第一个坑。&#10;                &lt;/Text&gt;&#10;            &lt;/Box&gt;&#10;            &lt;Box style={{&#10;                background: '#EEF5FB', borderRadius: 8, padding: '12px 14px',&#10;                marginTop: 'auto', flexDirection: 'column', gap: 3,&#10;            }}&gt;&#10;                &lt;Text style={{ fontSize: 13, color: '#8A9AAA' }}&gt;动手项目&lt;/Text&gt;&#10;                &lt;Text style={{ fontSize: 15, color: '#1F5FA8', fontWeight: 'bold' }}&gt;个人偏好调查 2-1&lt;/Text&gt;&#10;            &lt;/Box&gt;&#10;        &lt;/Box&gt;&#10;&#10;        &lt;Box style={{&#10;            flex: 1, background: '#FFFFFF', border: '1px solid #D8E3EE', borderRadius: 12,&#10;            padding: 22, flexDirection: 'column', gap: 14,&#10;        }}&gt;&#10;            &lt;Box style={{ flexDirection: 'row', alignItems: 'center', gap: 12 }}&gt;&#10;                &lt;Box style={{ width: 46, height: 46, borderRadius: 8, background: '#1F5FA8', alignItems: 'center', justifyContent: 'center' }}&gt;&#10;                    &lt;Text style={{ fontSize: 22, fontWeight: 'bold', color: '#FFFFFF' }}&gt;2&lt;/Text&gt;&#10;                &lt;/Box&gt;&#10;                &lt;Box style={{ flexDirection: 'column' }}&gt;&#10;                    &lt;Text style={{ fontSize: 20, fontWeight: 'bold', color: '#16232E' }}&gt;列表简介&lt;/Text&gt;&#10;                    &lt;Text style={{ fontSize: 13, color: '#8A9AAA' }}&gt;教材第 3 章 · W2&lt;/Text&gt;&#10;                &lt;/Box&gt;&#10;            &lt;/Box&gt;&#10;            &lt;Box style={{ flex: 1, flexDirection: 'column', gap: 8 }}&gt;&#10;                &lt;Text style={{ fontSize: 15, color: '#3A4A58', lineHeight: 1.65 }}&gt;&#10;                    增删改查、索引从 0 开始、sort / sorted / reverse / len 的区别。&#10;                &lt;/Text&gt;&#10;                &lt;Text style={{ fontSize: 15, color: '#3A4A58', lineHeight: 1.65 }}&gt;&#10;                    必须讲透的点：sorted() 返回新列表，.sort() 原地排序返回 None。&#10;                    这是新手最高频的 bug。&#10;                &lt;/Text&gt;&#10;            &lt;/Box&gt;&#10;            &lt;Box style={{&#10;                background: '#EEF5FB', borderRadius: 8, padding: '12px 14px',&#10;                marginTop: 'auto', flexDirection: 'column', gap: 3,&#10;            }}&gt;&#10;                &lt;Text style={{ fontSize: 13, color: '#8A9AAA' }}&gt;练习&lt;/Text&gt;&#10;                &lt;Text style={{ fontSize: 15, color: '#1F5FA8', fontWeight: 'bold' }}&gt;对同一个列表做 20 次操作&lt;/Text&gt;&#10;            &lt;/Box&gt;&#10;        &lt;/Box&gt;&#10;&#10;        &lt;Box style={{&#10;            flex: 1, background: '#FFFFFF', border: '1px solid #F0D9B0', borderLeft: '4px solid #E08A15', borderRadius: 12,&#10;            padding: 22, flexDirection: 'column', gap: 14,&#10;        }}&gt;&#10;            &lt;Box style={{ flexDirection: 'row', alignItems: 'center', gap: 12 }}&gt;&#10;                &lt;Box style={{ width: 46, height: 46, borderRadius: 8, background: '#E08A15', alignItems: 'center', justifyContent: 'center' }}&gt;&#10;                    &lt;Text style={{ fontSize: 22, fontWeight: 'bold', color: '#FFFFFF' }}&gt;3&lt;/Text&gt;&#10;                &lt;/Box&gt;&#10;                &lt;Box style={{ flexDirection: 'column' }}&gt;&#10;                    &lt;Text style={{ fontSize: 20, fontWeight: 'bold', color: '#16232E' }}&gt;操作列表&lt;/Text&gt;&#10;                    &lt;Text style={{ fontSize: 13, color: '#B07A10' }}&gt;教材第 4 章 · W3 · 难点&lt;/Text&gt;&#10;                &lt;/Box&gt;&#10;            &lt;/Box&gt;&#10;            &lt;Box style={{ flex: 1, flexDirection: 'column', gap: 8 }}&gt;&#10;                &lt;Text style={{ fontSize: 15, color: '#3A4A58', lineHeight: 1.65 }}&gt;&#10;                    for 循环、range()、列表推导式、切片、元组、PEP 8 缩进规范。&#10;                &lt;/Text&gt;&#10;                &lt;Text style={{ fontSize: 15, color: '#3A4A58', lineHeight: 1.65 }}&gt;&#10;                    必须讲透的点：赋值是同一对象的别名，切片才是复制。&#10;                    90% 的「我明明复制了怎么变了」都出在这里。&#10;                &lt;/Text&gt;&#10;            &lt;/Box&gt;&#10;            &lt;Box style={{&#10;                background: '#FDF3E2', borderRadius: 8, padding: '12px 14px',&#10;                marginTop: 'auto', flexDirection: 'column', gap: 3,&#10;            }}&gt;&#10;                &lt;Text style={{ fontSize: 13, color: '#B07A10' }}&gt;动手项目&lt;/Text&gt;&#10;                &lt;Text style={{ fontSize: 15, color: '#8A5A08', fontWeight: 'bold' }}&gt;忘记密码清单 3.4–3.8&lt;/Text&gt;&#10;            &lt;/Box&gt;&#10;        &lt;/Box&gt;&#10;    &lt;/Box&gt;&#10;&#10;    &lt;Box style={{&#10;        position: 'absolute', left: 64, top: 578, width: '1152px', height: 82,&#10;        background: '#FFFFFF', border: '1px solid #D8E3EE', borderRadius: 12,&#10;        flexDirection: 'row', alignItems: 'center', padding: '0 26px', gap: 20,&#10;    }}&gt;&#10;        &lt;Text style={{ fontSize: 18, fontWeight: 'bold', color: '#1F5FA8' }}&gt;验收标准&lt;/Text&gt;&#10;        &lt;Text style={{ fontSize: 17, color: '#3A4A58', lineHeight: 1.6 }}&gt;&#10;            能不查资料写出 for 循环完整结构 · 能解释切片第 2、3 个参数的含义 · 能区分 sorted 与 .sort · 能说清列表赋值与切片复制的区别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06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1–3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先把地基拍实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三章都简单，但养成的是「写代码的手感」：命名、缩进、逐步验证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09600" y="1428750"/>
            <a:ext cx="3552825" cy="381000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819150" y="163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71550" y="17335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371600" y="16668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变量与简单数据类型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371600" y="189547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1–2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W1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19150" y="2209800"/>
            <a:ext cx="31337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变量命名规范、字符串全套操作、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f-string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格式化、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int / float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与注释。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19150" y="2857500"/>
            <a:ext cx="31337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必须讲透的点：浮点不能直接比较相等（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0.1+0.2 ≠ 0.3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）。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这是后面数据处理第一个坑。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819150" y="4448175"/>
            <a:ext cx="3133725" cy="581025"/>
          </a:xfrm>
          <a:prstGeom prst="roundRect">
            <a:avLst>
              <a:gd name="adj" fmla="val 13115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952500" y="4562475"/>
            <a:ext cx="2867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952500" y="474345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个人偏好调查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2-1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4314825" y="1428750"/>
            <a:ext cx="3562350" cy="381000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4524375" y="163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4676775" y="17335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076825" y="1666875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列表简介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076825" y="1895475"/>
            <a:ext cx="942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W2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524375" y="2209800"/>
            <a:ext cx="3143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增删改查、索引从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开始、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sort / sorted / reverse / len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的区别。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4524375" y="2857500"/>
            <a:ext cx="3143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必须讲透的点：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sorted()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返回新列表，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.sort()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原地排序返回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None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这是新手最高频的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4524375" y="4448175"/>
            <a:ext cx="3143250" cy="581025"/>
          </a:xfrm>
          <a:prstGeom prst="roundRect">
            <a:avLst>
              <a:gd name="adj" fmla="val 13115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4657725" y="4562475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练习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4657725" y="4743450"/>
            <a:ext cx="2876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对同一个列表做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次操作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8067675" y="1428750"/>
            <a:ext cx="3552825" cy="381000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8067675" y="1428750"/>
            <a:ext cx="3552825" cy="3810000"/>
          </a:xfrm>
          <a:custGeom>
            <a:pathLst>
              <a:path w="373" h="40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392"/>
                </a:lnTo>
                <a:cubicBezTo>
                  <a:pt x="4" y="396"/>
                  <a:pt x="7" y="399"/>
                  <a:pt x="10" y="400"/>
                </a:cubicBezTo>
                <a:cubicBezTo>
                  <a:pt x="4" y="399"/>
                  <a:pt x="0" y="394"/>
                  <a:pt x="0" y="38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08A15"/>
          </a:solidFill>
          <a:ln/>
        </p:spPr>
        <p:txBody>
          <a:bodyPr/>
          <a:p/>
        </p:txBody>
      </p:sp>
      <p:sp>
        <p:nvSpPr>
          <p:cNvPr id="638" name=""/>
          <p:cNvSpPr/>
          <p:nvPr/>
        </p:nvSpPr>
        <p:spPr>
          <a:xfrm rot="0" flipH="0" flipV="0">
            <a:off x="8277225" y="163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429625" y="17335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829675" y="1666875"/>
            <a:ext cx="129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操作列表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829675" y="1895475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B07A1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B07A10"/>
                </a:solidFill>
                <a:latin typeface="Microsoft YaHei"/>
                <a:ea typeface="Microsoft YaHei"/>
              </a:rPr>
              <a:t xml:space="preserve"> · W3 · </a:t>
            </a: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难点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277225" y="2209800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for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循环、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range()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、列表推导式、切片、元组、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PEP 8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缩进规范。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8277225" y="2857500"/>
            <a:ext cx="30956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必须讲透的点：赋值是同一对象的别名，切片才是复制。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90%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的「我明明复制了怎么变了」都出在这里。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8277225" y="4448175"/>
            <a:ext cx="3095625" cy="581025"/>
          </a:xfrm>
          <a:prstGeom prst="roundRect">
            <a:avLst>
              <a:gd name="adj" fmla="val 13115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8410575" y="456247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410575" y="4743450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忘记密码清单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3.4–3.8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09600" y="5505450"/>
            <a:ext cx="109728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57250" y="5791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验收标准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733550" y="5743575"/>
            <a:ext cx="92868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能不查资料写出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for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循环完整结构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能解释切片第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个参数的含义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能区分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sorted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.sort ·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能说清列表赋值与切片复制的区别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06 / 17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52" name="" descr="&lt;Slide style={{&#10;    width: '1280px', height: '720px', backgroundColor: '#FAFCFE',&#10;    padding: 0, position: 'relative', overflow: 'hidden',&#10;}}&gt;&#10;    &lt;Box style={{ position: 'absolute', left: 0, top: 0, width: '1280px', height: '180px', background: '#16232E' }} /&gt;&#10;&#10;    &lt;Box style={{ position: 'absolute', left: 64, top: 44, width: '1152px', flexDirection: 'column' }}&gt;&#10;        &lt;Text style={{ fontSize: 36, fontWeight: 'bold', color: '#FFFFFF' }}&gt;单元 4–6 · 让程序会做判断&lt;/Text&gt;&#10;        &lt;Text style={{ fontSize: 18, color: '#A8C4DE', marginTop: 8 }}&gt;&#10;            从「按顺序执行」到「会分支、会重复、会查表」，这是能写出第一个真程序的前提&#10;        &lt;/Text&gt;&#10;    &lt;/Box&gt;&#10;&#10;    &lt;Box style={{&#10;        position: 'absolute', left: 64, top: 210, width: '1152px', height: 330,&#10;        flexDirection: 'row', gap: 18,&#10;    }}&gt;&#10;        &lt;Box style={{&#10;            flex: 1, background: '#EEF5FB', borderRadius: 12, padding: 24,&#10;            flexDirection: 'column', gap: 12,&#10;        }}&gt;&#10;            &lt;Box style={{ flexDirection: 'row', alignItems: 'baseline', gap: 10 }}&gt;&#10;                &lt;Text style={{ fontSize: 48, fontWeight: 'bold', color: '#1F5FA8', lineHeight: 1 }}&gt;04&lt;/Text&gt;&#10;                &lt;Text style={{ fontSize: 20, fontWeight: 'bold', color: '#16232E' }}&gt;if 语句&lt;/Text&gt;&#10;            &lt;/Box&gt;&#10;            &lt;Text style={{ fontSize: 14, color: '#8A9AAA' }}&gt;教材第 5 章 · W4&lt;/Text&gt;&#10;            &lt;Box style={{ flex: 1, flexDirection: 'column', gap: 8 }}&gt;&#10;                &lt;Text style={{ fontSize: 15, color: '#3A4A58', lineHeight: 1.65 }}&gt;&#10;                    条件测试、比较运算、布尔表达式、in / not in、if-else / elif 链。&#10;                &lt;/Text&gt;&#10;                &lt;Text style={{ fontSize: 15, color: '#3A4A58', lineHeight: 1.65 }}&gt;&#10;                    讲法要点：条件顺序必须从窄到宽，先挡掉非法输入再进业务逻辑。&#10;                    用票价分级当例子最直观。&#10;                &lt;/Text&gt;&#10;            &lt;/Box&gt;&#10;            &lt;Text style={{ fontSize: 15, color: '#1F5FA8', fontWeight: 'bold', marginTop: 'auto' }}&gt;&#10;                产出 3 个条件判断小程序&#10;            &lt;/Text&gt;&#10;        &lt;/Box&gt;&#10;&#10;        &lt;Box style={{&#10;            flex: 1, background: '#EEF5FB', borderRadius: 12, padding: 24,&#10;            flexDirection: 'column', gap: 12,&#10;        }}&gt;&#10;            &lt;Box style={{ flexDirection: 'row', alignItems: 'baseline', gap: 10 }}&gt;&#10;                &lt;Text style={{ fontSize: 48, fontWeight: 'bold', color: '#1F5FA8', lineHeight: 1 }}&gt;05&lt;/Text&gt;&#10;                &lt;Text style={{ fontSize: 20, fontWeight: 'bold', color: '#16232E' }}&gt;字典&lt;/Text&gt;&#10;            &lt;/Box&gt;&#10;            &lt;Text style={{ fontSize: 14, color: '#8A9AAA' }}&gt;教材第 6 章 · W5&lt;/Text&gt;&#10;            &lt;Box style={{ flex: 1, flexDirection: 'column', gap: 8 }}&gt;&#10;                &lt;Text style={{ fontSize: 15, color: '#3A4A58', lineHeight: 1.65 }}&gt;&#10;                    键值对、增删改查、get() 安全取值、三种遍历方式、嵌套结构。&#10;                &lt;/Text&gt;&#10;                &lt;Text style={{ fontSize: 15, color: '#3A4A58', lineHeight: 1.65 }}&gt;&#10;                    讲法要点：用生日调查演示字典列表、列表字典、字典字典三种嵌套。&#10;                    嵌套是后面所有 JSON 数据的入门钥匙。&#10;                &lt;/Text&gt;&#10;            &lt;/Box&gt;&#10;            &lt;Text style={{ fontSize: 15, color: '#1F5FA8', fontWeight: 'bold', marginTop: 'auto' }}&gt;&#10;                产出生日调查字典 6.1–6.3&#10;            &lt;/Text&gt;&#10;        &lt;/Box&gt;&#10;&#10;        &lt;Box style={{&#10;            flex: 1, background: '#FDF3E2', borderRadius: 12, padding: 24,&#10;            flexDirection: 'column', gap: 12,&#10;        }}&gt;&#10;            &lt;Box style={{ flexDirection: 'row', alignItems: 'baseline', gap: 10 }}&gt;&#10;                &lt;Text style={{ fontSize: 48, fontWeight: 'bold', color: '#E08A15', lineHeight: 1 }}&gt;06&lt;/Text&gt;&#10;                &lt;Text style={{ fontSize: 20, fontWeight: 'bold', color: '#16232E' }}&gt;输入与 while&lt;/Text&gt;&#10;            &lt;/Box&gt;&#10;            &lt;Text style={{ fontSize: 14, color: '#B07A10' }}&gt;教材第 7 章 · W6 · 难点&lt;/Text&gt;&#10;            &lt;Box style={{ flex: 1, flexDirection: 'column', gap: 8 }}&gt;&#10;                &lt;Text style={{ fontSize: 15, color: '#3A4A58', lineHeight: 1.65 }}&gt;&#10;                    input() / int() / 求模、while 循环、标志位、break / continue。&#10;                &lt;/Text&gt;&#10;                &lt;Text style={{ fontSize: 15, color: '#3A4A58', lineHeight: 1.65 }}&gt;&#10;                    讲法要点：整节围绕「避免无限循环」展开。非数字输入必须捕获&#10;                    ValueError，否则程序一崩学员就以为自己写错了。&#10;                &lt;/Text&gt;&#10;            &lt;/Box&gt;&#10;            &lt;Text style={{ fontSize: 15, color: '#8A5A08', fontWeight: 'bold', marginTop: 'auto' }}&gt;&#10;                产出投票统计 7.5–7.9 / 收银机 7.10&#10;            &lt;/Text&gt;&#10;        &lt;/Box&gt;&#10;    &lt;/Box&gt;&#10;&#10;    &lt;Box style={{&#10;        position: 'absolute', left: 64, top: 566, width: '1152px', height: 94,&#10;        background: '#16232E', borderRadius: 12,&#10;        flexDirection: 'row', alignItems: 'center', padding: '0 26px', gap: 20,&#10;    }}&gt;&#10;        &lt;Text style={{ fontSize: 18, fontWeight: 'bold', color: '#E8B36A' }}&gt;进入单元 7 的门槛&lt;/Text&gt;&#10;        &lt;Text style={{ fontSize: 17, color: '#D6E4F0', lineHeight: 1.6 }}&gt;&#10;            能写出一个「反复提示输入、直到输入合法为止」的循环程序 · 能解释 break 和 continue 的区别 · 能说出 for 与 while 各自适合什么场景&#10;        &lt;/Text&gt;&#10;    &lt;/Box&gt;&#10;&#10;    &lt;Box style={{&#10;        position: 'absolute', right: 64, bottom: 24,&#10;        flexDirection: 'row', alignItems: 'center', gap: 40,&#10;    }}&gt;&#10;        &lt;Text style={{ fontSize: 14, color: '#8A9AAA' }}&gt;Python 阶段 0–1 课程大纲&lt;/Text&gt;&#10;        &lt;Text style={{ fontSize: 14, color: '#8A9AAA' }}&gt;07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0" y="0"/>
            <a:ext cx="12192000" cy="17145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4–6 ·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让程序会做判断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C4DE"/>
                </a:solidFill>
                <a:latin typeface="Microsoft YaHei"/>
                <a:ea typeface="Microsoft YaHei"/>
              </a:rPr>
              <a:t>从「按顺序执行」到「会分支、会重复、会查表」，这是能写出第一个真程序的前提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2000250"/>
            <a:ext cx="3543300" cy="3143250"/>
          </a:xfrm>
          <a:prstGeom prst="roundRect">
            <a:avLst>
              <a:gd name="adj" fmla="val 3636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38200" y="22288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F5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504950" y="22288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if 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语句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38200" y="28956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W4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38200" y="31718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条件测试、比较运算、布尔表达式、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in / not in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if-else / elif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链。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38200" y="38195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讲法要点：条件顺序必须从窄到宽，先挡掉非法输入再进业务逻辑。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用票价分级当例子最直观。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产出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个条件判断小程序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4324350" y="2000250"/>
            <a:ext cx="3543300" cy="3190875"/>
          </a:xfrm>
          <a:prstGeom prst="roundRect">
            <a:avLst>
              <a:gd name="adj" fmla="val 3582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4552950" y="22288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F5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5219700" y="2228850"/>
            <a:ext cx="381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字典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4552950" y="28956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W5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552950" y="31718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键值对、增删改查、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get()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安全取值、三种遍历方式、嵌套结构。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552950" y="3819525"/>
            <a:ext cx="3086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讲法要点：用生日调查演示字典列表、列表字典、字典字典三种嵌套。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嵌套是后面所有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数据的入门钥匙。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552950" y="479107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产出生日调查字典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6.1–6.3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8039100" y="2000250"/>
            <a:ext cx="3543300" cy="3190875"/>
          </a:xfrm>
          <a:prstGeom prst="roundRect">
            <a:avLst>
              <a:gd name="adj" fmla="val 3582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267700" y="22288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E08A15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934450" y="2228850"/>
            <a:ext cx="1143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输入与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while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8267700" y="28956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B07A10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B07A10"/>
                </a:solidFill>
                <a:latin typeface="Microsoft YaHei"/>
                <a:ea typeface="Microsoft YaHei"/>
              </a:rPr>
              <a:t xml:space="preserve"> · W6 · </a:t>
            </a: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难点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267700" y="31718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input() / int() /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求模、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while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循环、标志位、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break / continue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267700" y="3819525"/>
            <a:ext cx="3086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讲法要点：整节围绕「避免无限循环」展开。非数字输入必须捕获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ValueError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，否则程序一崩学员就以为自己写错了。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267700" y="479107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产出投票统计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7.5–7.9 / </a:t>
            </a: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收银机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7.10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609600" y="5391150"/>
            <a:ext cx="10972800" cy="895350"/>
          </a:xfrm>
          <a:prstGeom prst="roundRect">
            <a:avLst>
              <a:gd name="adj" fmla="val 12766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57250" y="5734050"/>
            <a:ext cx="1285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进入单元</a:t>
            </a:r>
            <a:r>
              <a:rPr lang="en-US" sz="1350" b="1">
                <a:solidFill>
                  <a:srgbClr val="E8B36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的门槛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2333625" y="5686425"/>
            <a:ext cx="90011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能写出一个「反复提示输入、直到输入合法为止」的循环程序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能解释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break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和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continue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的区别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能说出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for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while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各自适合什么场景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91440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07 / 17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83" name="" descr="&lt;Slide style={{&#10;    width: '1280px', height: '720px', backgroundColor: '#FAFCFE',&#10;    padding: 0, position: 'relative', overflow: 'hidden',&#10;}}&gt;&#10;    &lt;Box style={{ position: 'absolute', left: 0, top: 0, width: '1280px', height: '180px', background: '#16232E' }} /&gt;&#10;&#10;    &lt;Box style={{ position: 'absolute', left: 64, top: 44, width: '1152px', flexDirection: 'column' }}&gt;&#10;        &lt;Text style={{ fontSize: 36, fontWeight: 'bold', color: '#FFFFFF' }}&gt;单元 4–6 · 让程序会做判断&lt;/Text&gt;&#10;        &lt;Text style={{ fontSize: 18, color: '#A8C4DE', marginTop: 8 }}&gt;&#10;            从「按顺序执行」到「会分支、会重复、会查表」，这是能写出第一个真程序的前提&#10;        &lt;/Text&gt;&#10;    &lt;/Box&gt;&#10;&#10;    &lt;Box style={{&#10;        position: 'absolute', left: 64, top: 202, width: '1152px', height: 348,&#10;        flexDirection: 'row', gap: 18,&#10;    }}&gt;&#10;        &lt;Box style={{&#10;            flex: 1, background: '#EEF5FB', borderRadius: 12, padding: 24,&#10;            flexDirection: 'column', gap: 12,&#10;        }}&gt;&#10;            &lt;Box style={{ flexDirection: 'row', alignItems: 'baseline', gap: 10 }}&gt;&#10;                &lt;Text style={{ fontSize: 48, fontWeight: 'bold', color: '#1F5FA8', lineHeight: 1 }}&gt;04&lt;/Text&gt;&#10;                &lt;Text style={{ fontSize: 20, fontWeight: 'bold', color: '#16232E' }}&gt;if 语句&lt;/Text&gt;&#10;            &lt;/Box&gt;&#10;            &lt;Text style={{ fontSize: 14, color: '#8A9AAA' }}&gt;教材第 5 章 · W4&lt;/Text&gt;&#10;            &lt;Box style={{ flex: 1, flexDirection: 'column', gap: 8 }}&gt;&#10;                &lt;Text style={{ fontSize: 15, color: '#3A4A58', lineHeight: 1.65 }}&gt;&#10;                    条件测试、比较运算、布尔表达式、in / not in、if-else / elif 链。&#10;                &lt;/Text&gt;&#10;                &lt;Text style={{ fontSize: 15, color: '#3A4A58', lineHeight: 1.65 }}&gt;&#10;                    讲法要点：条件顺序必须从窄到宽，先挡掉非法输入再进业务逻辑。&#10;                    用票价分级当例子最直观。&#10;                &lt;/Text&gt;&#10;            &lt;/Box&gt;&#10;            &lt;Text style={{ fontSize: 15, color: '#1F5FA8', fontWeight: 'bold', marginTop: 'auto' }}&gt;&#10;                产出 3 个条件判断小程序&#10;            &lt;/Text&gt;&#10;        &lt;/Box&gt;&#10;&#10;        &lt;Box style={{&#10;            flex: 1, background: '#EEF5FB', borderRadius: 12, padding: 24,&#10;            flexDirection: 'column', gap: 12,&#10;        }}&gt;&#10;            &lt;Box style={{ flexDirection: 'row', alignItems: 'baseline', gap: 10 }}&gt;&#10;                &lt;Text style={{ fontSize: 48, fontWeight: 'bold', color: '#1F5FA8', lineHeight: 1 }}&gt;05&lt;/Text&gt;&#10;                &lt;Text style={{ fontSize: 20, fontWeight: 'bold', color: '#16232E' }}&gt;字典&lt;/Text&gt;&#10;            &lt;/Box&gt;&#10;            &lt;Text style={{ fontSize: 14, color: '#8A9AAA' }}&gt;教材第 6 章 · W5&lt;/Text&gt;&#10;            &lt;Box style={{ flex: 1, flexDirection: 'column', gap: 8 }}&gt;&#10;                &lt;Text style={{ fontSize: 15, color: '#3A4A58', lineHeight: 1.65 }}&gt;&#10;                    键值对、增删改查、get() 安全取值、三种遍历方式、嵌套结构。&#10;                &lt;/Text&gt;&#10;                &lt;Text style={{ fontSize: 15, color: '#3A4A58', lineHeight: 1.65 }}&gt;&#10;                    讲法要点：用生日调查演示字典列表、列表字典、字典字典三种嵌套。&#10;                    嵌套是后面所有 JSON 数据的入门钥匙。&#10;                &lt;/Text&gt;&#10;            &lt;/Box&gt;&#10;            &lt;Text style={{ fontSize: 15, color: '#1F5FA8', fontWeight: 'bold', marginTop: 'auto' }}&gt;&#10;                产出生日调查字典 6.1–6.3&#10;            &lt;/Text&gt;&#10;        &lt;/Box&gt;&#10;&#10;        &lt;Box style={{&#10;            flex: 1, background: '#FDF3E2', borderRadius: 12, padding: 24,&#10;            flexDirection: 'column', gap: 12,&#10;        }}&gt;&#10;            &lt;Box style={{ flexDirection: 'row', alignItems: 'baseline', gap: 10 }}&gt;&#10;                &lt;Text style={{ fontSize: 48, fontWeight: 'bold', color: '#E08A15', lineHeight: 1 }}&gt;06&lt;/Text&gt;&#10;                &lt;Text style={{ fontSize: 20, fontWeight: 'bold', color: '#16232E' }}&gt;输入与 while&lt;/Text&gt;&#10;            &lt;/Box&gt;&#10;            &lt;Text style={{ fontSize: 14, color: '#B07A10' }}&gt;教材第 7 章 · W6 · 难点&lt;/Text&gt;&#10;            &lt;Box style={{ flex: 1, flexDirection: 'column', gap: 8 }}&gt;&#10;                &lt;Text style={{ fontSize: 15, color: '#3A4A58', lineHeight: 1.65 }}&gt;&#10;                    input() / int() / 求模、while 循环、标志位、break / continue。&#10;                &lt;/Text&gt;&#10;                &lt;Text style={{ fontSize: 15, color: '#3A4A58', lineHeight: 1.65 }}&gt;&#10;                    讲法要点：整节围绕「避免无限循环」展开。非数字输入必须捕获&#10;                    ValueError，否则程序一崩学员就以为自己写错了。&#10;                &lt;/Text&gt;&#10;            &lt;/Box&gt;&#10;            &lt;Text style={{ fontSize: 15, color: '#8A5A08', fontWeight: 'bold', marginTop: 'auto' }}&gt;&#10;                产出投票统计 7.5–7.9 / 收银机 7.10&#10;            &lt;/Text&gt;&#10;        &lt;/Box&gt;&#10;    &lt;/Box&gt;&#10;&#10;    &lt;Box style={{&#10;        position: 'absolute', left: 64, top: 566, width: '1152px', height: 94,&#10;        background: '#16232E', borderRadius: 12,&#10;        flexDirection: 'row', alignItems: 'center', padding: '0 26px', gap: 20,&#10;    }}&gt;&#10;        &lt;Text style={{ fontSize: 18, fontWeight: 'bold', color: '#E8B36A' }}&gt;进入单元 7 的门槛&lt;/Text&gt;&#10;        &lt;Text style={{ fontSize: 17, color: '#D6E4F0', lineHeight: 1.6 }}&gt;&#10;            能写出一个「反复提示输入、直到输入合法为止」的循环程序 · 能解释 break 和 continue 的区别 · 能说出 for 与 while 各自适合什么场景&#10;        &lt;/Text&gt;&#10;    &lt;/Box&gt;&#10;&#10;    &lt;Box style={{&#10;        position: 'absolute', right: 64, bottom: 24,&#10;        flexDirection: 'row', alignItems: 'center', gap: 40,&#10;    }}&gt;&#10;        &lt;Text style={{ fontSize: 14, color: '#8A9AAA' }}&gt;Python 阶段 0–1 课程大纲&lt;/Text&gt;&#10;        &lt;Text style={{ fontSize: 14, color: '#8A9AAA' }}&gt;07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0" y="0"/>
            <a:ext cx="12192000" cy="17145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4–6 ·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让程序会做判断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C4DE"/>
                </a:solidFill>
                <a:latin typeface="Microsoft YaHei"/>
                <a:ea typeface="Microsoft YaHei"/>
              </a:rPr>
              <a:t>从「按顺序执行」到「会分支、会重复、会查表」，这是能写出第一个真程序的前提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09600" y="1924050"/>
            <a:ext cx="3543300" cy="3314700"/>
          </a:xfrm>
          <a:prstGeom prst="roundRect">
            <a:avLst>
              <a:gd name="adj" fmla="val 3448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3820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F5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50495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if 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语句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38200" y="2819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W4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38200" y="30956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条件测试、比较运算、布尔表达式、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in / not in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if-else / elif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链。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838200" y="37433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讲法要点：条件顺序必须从窄到宽，先挡掉非法输入再进业务逻辑。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用票价分级当例子最直观。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产出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个条件判断小程序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4324350" y="1924050"/>
            <a:ext cx="3543300" cy="3314700"/>
          </a:xfrm>
          <a:prstGeom prst="roundRect">
            <a:avLst>
              <a:gd name="adj" fmla="val 3448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455295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F5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5219700" y="2152650"/>
            <a:ext cx="381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字典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4552950" y="2819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W5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4552950" y="30956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键值对、增删改查、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get()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安全取值、三种遍历方式、嵌套结构。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4552950" y="3743325"/>
            <a:ext cx="3086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讲法要点：用生日调查演示字典列表、列表字典、字典字典三种嵌套。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嵌套是后面所有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数据的入门钥匙。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4552950" y="48387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产出生日调查字典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6.1–6.3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8039100" y="1924050"/>
            <a:ext cx="3543300" cy="3314700"/>
          </a:xfrm>
          <a:prstGeom prst="roundRect">
            <a:avLst>
              <a:gd name="adj" fmla="val 3448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26770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E08A15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8934450" y="2152650"/>
            <a:ext cx="1143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输入与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while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267700" y="2819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B07A10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B07A10"/>
                </a:solidFill>
                <a:latin typeface="Microsoft YaHei"/>
                <a:ea typeface="Microsoft YaHei"/>
              </a:rPr>
              <a:t xml:space="preserve"> · W6 · </a:t>
            </a: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难点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8267700" y="30956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input() / int() /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求模、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while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循环、标志位、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break / continue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267700" y="3743325"/>
            <a:ext cx="3086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讲法要点：整节围绕「避免无限循环」展开。非数字输入必须捕获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ValueError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，否则程序一崩学员就以为自己写错了。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267700" y="48387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产出投票统计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7.5–7.9 / </a:t>
            </a: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收银机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7.10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5391150"/>
            <a:ext cx="10972800" cy="895350"/>
          </a:xfrm>
          <a:prstGeom prst="roundRect">
            <a:avLst>
              <a:gd name="adj" fmla="val 12766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857250" y="5734050"/>
            <a:ext cx="1285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进入单元</a:t>
            </a:r>
            <a:r>
              <a:rPr lang="en-US" sz="1350" b="1">
                <a:solidFill>
                  <a:srgbClr val="E8B36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的门槛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2333625" y="5686425"/>
            <a:ext cx="90011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能写出一个「反复提示输入、直到输入合法为止」的循环程序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能解释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break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和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continue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的区别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能说出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for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while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各自适合什么场景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91440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07 / 17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14" name="" descr="&lt;Slide style={{&#10;    width: '1280px', height: '720px', backgroundColor: '#FAFCFE',&#10;    padding: 0, position: 'relative', overflow: 'hidden',&#10;}}&gt;&#10;    &lt;Box style={{ position: 'absolute', left: 0, top: 0, width: '420px', height: '720px', background: '#1F5FA8' }} /&gt;&#10;    &lt;Box style={{ position: 'absolute', left: 0, top: 470, width: '420px', height: '250px', background: '#154477' }} /&gt;&#10;&#10;    &lt;Box style={{ position: 'absolute', left: 56, top: 130, width: '320px', flexDirection: 'column', gap: 16 }}&gt;&#10;        &lt;Text style={{ fontSize: 150, fontWeight: 'bold', color: '#FFFFFF', lineHeight: 0.9 }}&gt;07&lt;/Text&gt;&#10;        &lt;Box style={{ width: 90, height: 5, background: '#E08A15' }} /&gt;&#10;        &lt;Text style={{ fontSize: 30, fontWeight: 'bold', color: '#FFFFFF' }}&gt;函数&lt;/Text&gt;&#10;        &lt;Text style={{ fontSize: 16, color: '#BBD6EA', lineHeight: 1.7 }}&gt;&#10;            教材第 8 章 · W7–W8&lt;br /&gt;&#10;            建议安排 4 次课&#10;        &lt;/Text&gt;&#10;    &lt;/Box&gt;&#10;&#10;    &lt;Box style={{ position: 'absolute', left: 464, top: 48, width: 760, flexDirection: 'column' }}&gt;&#10;        &lt;Text style={{ fontSize: 20, fontWeight: 'bold', color: '#E08A15' }}&gt;分水岭 · 抽象能力的第一次跳跃&lt;/Text&gt;&#10;        &lt;Text style={{ fontSize: 34, fontWeight: 'bold', color: '#16232E', marginTop: 10, lineHeight: 1.35 }}&gt;&#10;            从这里开始，代码不再是&lt;br /&gt;「从上往下写一行算一行」&#10;        &lt;/Text&gt;&#10;    &lt;/Box&gt;&#10;&#10;    &lt;Box style={{ position: 'absolute', left: 464, top: 168, width: 760, height: 352, flexDirection: 'column', gap: 12 }}&gt;&#10;        &lt;Box style={{ background: '#FFFFFF', borderRadius: 12, padding: '14px 20px', flexDirection: 'row', gap: 16, alignItems: 'flex-start', flex: 1 }}&gt;&#10;            &lt;Box style={{ width: 6, height: 6, borderRadius: 3, background: '#E08A15', marginTop: 9 }} /&gt;&#10;            &lt;Box style={{ flex: 1, flexDirection: 'column', gap: 4 }}&gt;&#10;                &lt;Text style={{ fontSize: 17, fontWeight: 'bold', color: '#16232E' }}&gt;四次课的排法&lt;/Text&gt;&#10;                &lt;Text style={{ fontSize: 14, color: '#5A6B7A', lineHeight: 1.55 }}&gt;&#10;                    定义与返回值 → 位置 / 关键字实参与默认值 → 列表传参与 \*args / \*\*kwargs → 模块与导入（4 种写法）+ 函数编写指南&#10;                &lt;/Text&gt;&#10;            &lt;/Box&gt;&#10;        &lt;/Box&gt;&#10;&#10;        &lt;Box style={{ background: '#FFFFFF', borderRadius: 12, padding: '14px 20px', flexDirection: 'row', gap: 16, alignItems: 'flex-start', flex: 1 }}&gt;&#10;            &lt;Box style={{ width: 6, height: 6, borderRadius: 3, background: '#E08A15', marginTop: 9 }} /&gt;&#10;            &lt;Box style={{ flex: 1, flexDirection: 'column', gap: 4 }}&gt;&#10;                &lt;Text style={{ fontSize: 17, fontWeight: 'bold', color: '#16232E' }}&gt;学员真正的卡点&lt;/Text&gt;&#10;                &lt;Text style={{ fontSize: 14, color: '#5A6B7A', lineHeight: 1.55 }}&gt;&#10;                    不是「怎么定义函数」，而是「不知道该拆成几个函数」。&#10;                    对策：先照抄教材 3 个例子，再逐个改需求，最后才自己想拆法。&#10;                &lt;/Text&gt;&#10;            &lt;/Box&gt;&#10;        &lt;/Box&gt;&#10;&#10;        &lt;Box style={{ background: '#FDF3E2', borderRadius: 12, padding: '14px 20px', flexDirection: 'row', gap: 16, alignItems: 'flex-start', flex: 1 }}&gt;&#10;            &lt;Box style={{ width: 6, height: 6, borderRadius: 3, background: '#D9820F', marginTop: 9 }} /&gt;&#10;            &lt;Box style={{ flex: 1, flexDirection: 'column', gap: 4 }}&gt;&#10;                &lt;Text style={{ fontSize: 18, fontWeight: 'bold', color: '#8A5A08' }}&gt;常见错误清单&lt;/Text&gt;&#10;                &lt;Text style={{ fontSize: 14, color: '#5A6B7A', lineHeight: 1.55 }}&gt;&#10;                    函数里改列表会改到原列表 · 默认参数写成可变对象 · 误以为实参被修改就是 bug · 不知道返回值才是函数真正的输出&#10;                &lt;/Text&gt;&#10;            &lt;/Box&gt;&#10;        &lt;/Box&gt;&#10;    &lt;/Box&gt;&#10;&#10;    &lt;Box style={{&#10;        position: 'absolute', left: 464, top: 534, width: 760, height: 84,&#10;        background: '#16232E', borderRadius: 12, padding: '0 24px',&#10;        flexDirection: 'row', alignItems: 'center', gap: 18,&#10;    }}&gt;&#10;        &lt;Text style={{ fontSize: 17, fontWeight: 'bold', color: '#E8B36A' }}&gt;动手项目&lt;/Text&gt;&#10;        &lt;Text style={{ fontSize: 16, color: '#D6E4F0', lineHeight: 1.6 }}&gt;&#10;            魔方消息 8.1–8.3 · 星际争霸 8.4–8.6 · 鸡尾酒 8.7&lt;br /&gt;&#10;            产出 3 个可复用函数 + 2 个自定义模块&#10;        &lt;/Text&gt;&#10;    &lt;/Box&gt;&#10;&#10;    &lt;Box style={{&#10;        position: 'absolute', left: 40, top: 466, width: '340px', height: 186,&#10;        background: '#0F3E6E', borderRadius: 10, padding: '20px 22px',&#10;        flexDirection: 'column', gap: 10, justifyContent: 'space-between',&#10;    }}&gt;&#10;        &lt;Text style={{ fontSize: 14, color: '#8FB4D8', fontWeight: 'bold' }}&gt;为什么这里最难教&lt;/Text&gt;&#10;        &lt;Text style={{ fontSize: 15, color: '#D6E4F0', lineHeight: 1.65 }}&gt;&#10;            前面所有章节都是「想清楚再写」，函数是第一次要求在动手前就决定代码结构。&#10;            这种能力讲不出来，只能靠反复拆解和重构练出来。&#10;        &lt;/Text&gt;&#10;    &lt;/Box&gt;&#10;&#10;    &lt;Box style={{ position: 'absolute', right: 64, bottom: 24, flexDirection: 'row', gap: 40 }}&gt;&#10;        &lt;Text style={{ fontSize: 14, color: '#8A9AAA' }}&gt;Python 阶段 0–1 课程大纲&lt;/Text&gt;&#10;        &lt;Text style={{ fontSize: 14, color: '#8A9AAA' }}&gt;08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16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17" name=""/>
          <p:cNvSpPr/>
          <p:nvPr/>
        </p:nvSpPr>
        <p:spPr>
          <a:xfrm rot="0" flipH="0" flipV="0">
            <a:off x="0" y="4476750"/>
            <a:ext cx="4000500" cy="2381250"/>
          </a:xfrm>
          <a:prstGeom prst="rect">
            <a:avLst/>
          </a:prstGeom>
          <a:solidFill>
            <a:srgbClr val="154477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304800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53340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533400" y="31337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533400" y="3629025"/>
            <a:ext cx="3048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· W7–W8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建议安排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419600" y="457200"/>
            <a:ext cx="723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分水岭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抽象能力的第一次跳跃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4419600" y="781050"/>
            <a:ext cx="723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从这里开始，代码不再是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「从上往下写一行算一行」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4419600" y="1600200"/>
            <a:ext cx="72390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4610100" y="1819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4819650" y="17335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4819650" y="1971675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定义与返回值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位置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关键字实参与默认值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列表传参与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\*args / \*\*kwargs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模块与导入（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种写法）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函数编写指南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4419600" y="2752725"/>
            <a:ext cx="72390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4610100" y="2971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4819650" y="288607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学员真正的卡点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4819650" y="3124200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不是「怎么定义函数」，而是「不知道该拆成几个函数」。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对策：先照抄教材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个例子，再逐个改需求，最后才自己想拆法。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4419600" y="3905250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733" name=""/>
          <p:cNvSpPr/>
          <p:nvPr/>
        </p:nvSpPr>
        <p:spPr>
          <a:xfrm rot="0" flipH="0" flipV="0">
            <a:off x="4610100" y="4124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4819650" y="403860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4819650" y="4286250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函数里改列表会改到原列表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默认参数写成可变对象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误以为实参被修改就是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bug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不知道返回值才是函数真正的输出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4419600" y="5086350"/>
            <a:ext cx="7239000" cy="800100"/>
          </a:xfrm>
          <a:prstGeom prst="roundRect">
            <a:avLst>
              <a:gd name="adj" fmla="val 14286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4648200" y="5391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B36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5467350" y="5191125"/>
            <a:ext cx="33147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魔方消息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8.1–8.3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星际争霸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8.4–8.6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鸡尾酒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8.7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产出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个可复用函数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个自定义模块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381000" y="4438650"/>
            <a:ext cx="3238500" cy="1771650"/>
          </a:xfrm>
          <a:prstGeom prst="roundRect">
            <a:avLst>
              <a:gd name="adj" fmla="val 5376"/>
            </a:avLst>
          </a:prstGeom>
          <a:solidFill>
            <a:srgbClr val="0F3E6E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590550" y="46291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FB4D8"/>
                </a:solidFill>
                <a:latin typeface="Microsoft YaHei"/>
                <a:ea typeface="Microsoft YaHei"/>
              </a:rPr>
              <a:t>为什么这里最难教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590550" y="4886325"/>
            <a:ext cx="28194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前面所有章节都是「想清楚再写」，函数是第一次要求在动手前就决定代码结构。</a:t>
            </a:r>
            <a:r>
              <a:rPr lang="en-US" sz="1125">
                <a:solidFill>
                  <a:srgbClr val="D6E4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这种能力讲不出来，只能靠反复拆解和重构练出来。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91440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08 / 17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0" name="" descr="&lt;Slide style={{&#10;    width: '1280px', height: '720px', backgroundColor: '#FAFCFE',&#10;    padding: 0, position: 'relative', overflow: 'hidden',&#10;}}&gt;&#10;    &lt;Box style={{ position: 'absolute', right: 0, top: 0, width: '420px', height: '720px', background: '#0E9B78' }} /&gt;&#10;    &lt;Box style={{ position: 'absolute', right: 0, top: 470, width: '420px', height: '250px', background: '#0A7A5F' }} /&gt;&#10;&#10;    &lt;Box style={{ position: 'absolute', right: 56, top: 130, width: '320px', flexDirection: 'column', gap: 16, alignItems: 'flex-end' }}&gt;&#10;        &lt;Text style={{ fontSize: 150, fontWeight: 'bold', color: '#FFFFFF', lineHeight: 0.9 }}&gt;08&lt;/Text&gt;&#10;        &lt;Box style={{ width: 90, height: 5, background: '#E08A15' }} /&gt;&#10;        &lt;Text style={{ fontSize: 30, fontWeight: 'bold', color: '#FFFFFF' }}&gt;类&lt;/Text&gt;&#10;        &lt;Text style={{ fontSize: 16, color: '#C6EDE0', lineHeight: 1.7, textAlign: 'right' }}&gt;&#10;            教材第 9 章 · W9–W10&lt;br /&gt;&#10;            允许慢 2 周&#10;        &lt;/Text&gt;&#10;    &lt;/Box&gt;&#10;&#10;    &lt;Box style={{ position: 'absolute', left: 64, top: 48, width: 760, flexDirection: 'column', alignItems: 'flex-start' }}&gt;&#10;        &lt;Text style={{ fontSize: 20, fontWeight: 'bold', color: '#E08A15' }}&gt;最劝退的一章 · 但不能绕开&lt;/Text&gt;&#10;        &lt;Text style={{ fontSize: 34, fontWeight: 'bold', color: '#16232E', marginTop: 10, lineHeight: 1.35 }}&gt;&#10;            Django 的模型、ORM、视图&lt;br /&gt;全部是类，学不会后面必然崩&#10;        &lt;/Text&gt;&#10;    &lt;/Box&gt;&#10;&#10;    &lt;Box style={{ position: 'absolute', left: 64, top: 200, width: 760, height: 250, flexDirection: 'column', gap: 12 }}&gt;&#10;        &lt;Box style={{ background: '#FFFFFF', borderRadius: 12, padding: '18px 22px', flexDirection: 'row', gap: 16, alignItems: 'flex-start' }}&gt;&#10;            &lt;Box style={{ width: 6, height: 6, borderRadius: 3, background: '#0E9B78', marginTop: 9 }} /&gt;&#10;            &lt;Box style={{ flex: 1, flexDirection: 'column', gap: 4 }}&gt;&#10;                &lt;Text style={{ fontSize: 18, fontWeight: 'bold', color: '#16232E' }}&gt;四次课的排法&lt;/Text&gt;&#10;                &lt;Text style={{ fontSize: 15, color: '#5A6B7A', lineHeight: 1.65 }}&gt;&#10;                    类与实例、属性与方法 → __init__ 与默认值属性 → 继承与重写 → 导入类、标准库与类的编程风格&#10;                &lt;/Text&gt;&#10;            &lt;/Box&gt;&#10;        &lt;/Box&gt;&#10;&#10;        &lt;Box style={{ background: '#FFFFFF', borderRadius: 12, padding: '18px 22px', flexDirection: 'row', gap: 16, alignItems: 'flex-start' }}&gt;&#10;            &lt;Box style={{ width: 6, height: 6, borderRadius: 3, background: '#0E9B78', marginTop: 9 }} /&gt;&#10;            &lt;Box style={{ flex: 1, flexDirection: 'column', gap: 4 }}&gt;&#10;                &lt;Text style={{ fontSize: 18, fontWeight: 'bold', color: '#16232E' }}&gt;降低门槛的做法&lt;/Text&gt;&#10;                &lt;Text style={{ fontSize: 15, color: '#5A6B7A', lineHeight: 1.65 }}&gt;&#10;                    自建 3 个类练手：学生记录、购物车、银行账户。不要只跟着教材的 Dog / Car 走。&#10;                    自己造过一遍，下一次才不用想。&#10;                &lt;/Text&gt;&#10;            &lt;/Box&gt;&#10;        &lt;/Box&gt;&#10;&#10;        &lt;Box style={{ background: '#FDF3E2', borderRadius: 12, padding: '18px 22px', flexDirection: 'row', gap: 16, alignItems: 'flex-start' }}&gt;&#10;            &lt;Box style={{ width: 6, height: 6, borderRadius: 3, background: '#D9820F', marginTop: 9 }} /&gt;&#10;            &lt;Box style={{ flex: 1, flexDirection: 'column', gap: 4 }}&gt;&#10;                &lt;Text style={{ fontSize: 18, fontWeight: 'bold', color: '#8A5A08' }}&gt;常见错误清单&lt;/Text&gt;&#10;                &lt;Text style={{ fontSize: 15, color: '#5A6B7A', lineHeight: 1.65 }}&gt;&#10;                    方法忘记写 self · 忘记 super().__init__() 就用父类属性 · 属性名前后不一致 · 把方法当属性调用&#10;                &lt;/Text&gt;&#10;            &lt;/Box&gt;&#10;        &lt;/Box&gt;&#10;    &lt;/Box&gt;&#10;&#10;    &lt;Box style={{&#10;        position: 'absolute', left: 64, top: 470, width: 760, height: 96,&#10;        background: '#16232E', borderRadius: 12, padding: '0 24px',&#10;        flexDirection: 'row', alignItems: 'center', gap: 18,&#10;    }}&gt;&#10;        &lt;Text style={{ fontSize: 17, fontWeight: 'bold', color: '#7FDCC0' }}&gt;过关标准&lt;/Text&gt;&#10;        &lt;Text style={{ fontSize: 16, color: '#D6E4F0', lineHeight: 1.6 }}&gt;&#10;            手写一个含 __init__、实例方法和一个子类的类&lt;br /&gt;&#10;            并能用自己的话解释 self 到底指向什么&#10;        &lt;/Text&gt;&#10;    &lt;/Box&gt;&#10;&#10;    &lt;Box style={{ position: 'absolute', left: 64, bottom: 24, flexDirection: 'row', gap: 40 }}&gt;&#10;        &lt;Text style={{ fontSize: 14, color: '#8A9AAA' }}&gt;Python 阶段 0–1 课程大纲&lt;/Text&gt;&#10;        &lt;Text style={{ fontSize: 14, color: '#8A9AAA' }}&gt;09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8191500" y="0"/>
            <a:ext cx="40005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8191500" y="4476750"/>
            <a:ext cx="4000500" cy="2381250"/>
          </a:xfrm>
          <a:prstGeom prst="rect">
            <a:avLst/>
          </a:prstGeom>
          <a:solidFill>
            <a:srgbClr val="0A7A5F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886950" y="1238250"/>
            <a:ext cx="177165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080135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372850" y="31337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077450" y="3629025"/>
            <a:ext cx="1581150" cy="628650"/>
          </a:xfrm>
          <a:prstGeom prst="rect"/>
        </p:spPr>
        <p:txBody>
          <a:bodyPr wrap="none" lIns="0" tIns="0" rIns="0" bIns="0"/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· W9–W10</a:t>
            </a:r>
            <a:endParaRPr/>
          </a:p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允许慢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最劝退的一章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但不能绕开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4371975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Django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的模型、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>ORM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、视图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全部是类，学不会后面必然崩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905000"/>
            <a:ext cx="7239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819150" y="21621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28700" y="2076450"/>
            <a:ext cx="661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28700" y="2324100"/>
            <a:ext cx="66103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类与实例、属性与方法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__init__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与默认值属性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继承与重写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导入类、标准库与类的编程风格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2895600"/>
            <a:ext cx="72390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819150" y="31527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28700" y="3067050"/>
            <a:ext cx="661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32E"/>
                </a:solidFill>
                <a:latin typeface="Microsoft YaHei"/>
                <a:ea typeface="Microsoft YaHei"/>
              </a:rPr>
              <a:t>降低门槛的做法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28700" y="3314700"/>
            <a:ext cx="6610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自建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个类练手：学生记录、购物车、银行账户。不要只跟着教材的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Dog / Car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走。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自己造过一遍，下一次才不用想。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4171950"/>
            <a:ext cx="7239000" cy="876300"/>
          </a:xfrm>
          <a:prstGeom prst="roundRect">
            <a:avLst>
              <a:gd name="adj" fmla="val 13043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819150" y="44291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28700" y="4343400"/>
            <a:ext cx="661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028700" y="4591050"/>
            <a:ext cx="66103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方法忘记写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self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忘记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super().__init__()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就用父类属性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属性名前后不一致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把方法当属性调用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4476750"/>
            <a:ext cx="7239000" cy="914400"/>
          </a:xfrm>
          <a:prstGeom prst="roundRect">
            <a:avLst>
              <a:gd name="adj" fmla="val 12500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FDCC0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657350" y="4638675"/>
            <a:ext cx="31432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手写一个含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__init__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、实例方法和一个子类的类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并能用自己的话解释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self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到底指向什么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5908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09 / 17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7" name="" descr="&lt;Slide style={{&#10;    width: '1280px', height: '720px', backgroundColor: '#FAFCFE',&#10;    padding: 0, position: 'relative', overflow: 'hidden',&#10;}}&gt;&#10;    &lt;Box style={{ position: 'absolute', left: 0, top: 0, width: '420px', height: '720px', background: '#1F5FA8' }} /&gt;&#10;    &lt;Box style={{ position: 'absolute', left: 0, top: 470, width: '420px', height: '250px', background: '#154477' }} /&gt;&#10;&#10;    &lt;Box style={{ position: 'absolute', left: 56, top: 130, width: '320px', flexDirection: 'column', gap: 16 }}&gt;&#10;        &lt;Text style={{ fontSize: 150, fontWeight: 'bold', color: '#FFFFFF', lineHeight: 0.9 }}&gt;07&lt;/Text&gt;&#10;        &lt;Box style={{ width: 90, height: 5, background: '#E08A15' }} /&gt;&#10;        &lt;Text style={{ fontSize: 30, fontWeight: 'bold', color: '#FFFFFF' }}&gt;函数&lt;/Text&gt;&#10;        &lt;Text style={{ fontSize: 16, color: '#BBD6EA', lineHeight: 1.7 }}&gt;&#10;            教材第 8 章 · W7–W8&lt;br /&gt;&#10;            建议安排 4 次课&#10;        &lt;/Text&gt;&#10;    &lt;/Box&gt;&#10;&#10;    &lt;Box style={{ position: 'absolute', left: 464, top: 48, width: 760, flexDirection: 'column' }}&gt;&#10;        &lt;Text style={{ fontSize: 20, fontWeight: 'bold', color: '#E08A15' }}&gt;分水岭 · 抽象能力的第一次跳跃&lt;/Text&gt;&#10;        &lt;Text style={{ fontSize: 34, fontWeight: 'bold', color: '#16232E', marginTop: 10, lineHeight: 1.35 }}&gt;&#10;            从这里开始，代码不再是&lt;br /&gt;「从上往下写一行算一行」&#10;        &lt;/Text&gt;&#10;    &lt;/Box&gt;&#10;&#10;    &lt;Box style={{ position: 'absolute', left: 464, top: 188, width: 760, height: 278, flexDirection: 'column', gap: 12 }}&gt;&#10;        &lt;Box style={{ background: '#FFFFFF', borderRadius: 12, padding: '16px 20px', flexDirection: 'row', gap: 16, alignItems: 'flex-start' }}&gt;&#10;            &lt;Box style={{ width: 6, height: 6, borderRadius: 3, background: '#E08A15', marginTop: 9 }} /&gt;&#10;            &lt;Box style={{ flex: 1, flexDirection: 'column', gap: 4 }}&gt;&#10;                &lt;Text style={{ fontSize: 18, fontWeight: 'bold', color: '#16232E' }}&gt;四次课的排法&lt;/Text&gt;&#10;                &lt;Text style={{ fontSize: 15, color: '#5A6B7A', lineHeight: 1.65 }}&gt;&#10;                    定义与返回值 → 位置 / 关键字实参与默认值 → 列表传参与 \*args / \*\*kwargs → 模块与导入（4 种写法）+ 函数编写指南&#10;                &lt;/Text&gt;&#10;            &lt;/Box&gt;&#10;        &lt;/Box&gt;&#10;&#10;        &lt;Box style={{ background: '#FFFFFF', borderRadius: 12, padding: '16px 20px', flexDirection: 'row', gap: 16, alignItems: 'flex-start' }}&gt;&#10;            &lt;Box style={{ width: 6, height: 6, borderRadius: 3, background: '#E08A15', marginTop: 9 }} /&gt;&#10;            &lt;Box style={{ flex: 1, flexDirection: 'column', gap: 4 }}&gt;&#10;                &lt;Text style={{ fontSize: 18, fontWeight: 'bold', color: '#16232E' }}&gt;学员真正的卡点&lt;/Text&gt;&#10;                &lt;Text style={{ fontSize: 15, color: '#5A6B7A', lineHeight: 1.65 }}&gt;&#10;                    不是「怎么定义函数」，而是「不知道该拆成几个函数」。&#10;                    对策：先照抄教材 3 个例子，再逐个改需求，最后才自己想拆法。&#10;                &lt;/Text&gt;&#10;            &lt;/Box&gt;&#10;        &lt;/Box&gt;&#10;&#10;        &lt;Box style={{ background: '#FDF3E2', borderRadius: 12, padding: '16px 20px', flexDirection: 'row', gap: 16, alignItems: 'flex-start' }}&gt;&#10;            &lt;Box style={{ width: 6, height: 6, borderRadius: 3, background: '#D9820F', marginTop: 9 }} /&gt;&#10;            &lt;Box style={{ flex: 1, flexDirection: 'column', gap: 4 }}&gt;&#10;                &lt;Text style={{ fontSize: 18, fontWeight: 'bold', color: '#8A5A08' }}&gt;常见错误清单&lt;/Text&gt;&#10;                &lt;Text style={{ fontSize: 15, color: '#5A6B7A', lineHeight: 1.65 }}&gt;&#10;                    函数里改列表会改到原列表 · 默认参数写成可变对象 · 误以为实参被修改就是 bug · 不知道返回值才是函数真正的输出&#10;                &lt;/Text&gt;&#10;            &lt;/Box&gt;&#10;        &lt;/Box&gt;&#10;    &lt;/Box&gt;&#10;&#10;    &lt;Box style={{&#10;        position: 'absolute', left: 464, top: 480, width: 760, height: 92,&#10;        background: '#16232E', borderRadius: 12, padding: '0 24px',&#10;        flexDirection: 'row', alignItems: 'center', gap: 18,&#10;    }}&gt;&#10;        &lt;Text style={{ fontSize: 17, fontWeight: 'bold', color: '#E8B36A' }}&gt;动手项目&lt;/Text&gt;&#10;        &lt;Text style={{ fontSize: 16, color: '#D6E4F0', lineHeight: 1.6 }}&gt;&#10;            魔方消息 8.1–8.3 · 星际争霸 8.4–8.6 · 鸡尾酒 8.7&lt;br /&gt;&#10;            产出 3 个可复用函数 + 2 个自定义模块&#10;        &lt;/Text&gt;&#10;    &lt;/Box&gt;&#10;&#10;    &lt;Box style={{ position: 'absolute', right: 64, bottom: 24, flexDirection: 'row', gap: 40 }}&gt;&#10;        &lt;Text style={{ fontSize: 14, color: '#8A9AAA' }}&gt;Python 阶段 0–1 课程大纲&lt;/Text&gt;&#10;        &lt;Text style={{ fontSize: 14, color: '#8A9AAA' }}&gt;08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0" y="4476750"/>
            <a:ext cx="4000500" cy="2381250"/>
          </a:xfrm>
          <a:prstGeom prst="rect">
            <a:avLst/>
          </a:prstGeom>
          <a:solidFill>
            <a:srgbClr val="154477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304800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3340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33400" y="31337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33400" y="3629025"/>
            <a:ext cx="3048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· W7–W8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建议安排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419600" y="457200"/>
            <a:ext cx="723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分水岭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抽象能力的第一次跳跃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19600" y="781050"/>
            <a:ext cx="723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从这里开始，代码不再是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「从上往下写一行算一行」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419600" y="1790700"/>
            <a:ext cx="7239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610100" y="2028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19650" y="194310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819650" y="2190750"/>
            <a:ext cx="66484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定义与返回值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位置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关键字实参与默认值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列表传参与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\*args / \*\*kwargs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模块与导入（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种写法）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函数编写指南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419600" y="3028950"/>
            <a:ext cx="7239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4610100" y="3267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819650" y="318135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32E"/>
                </a:solidFill>
                <a:latin typeface="Microsoft YaHei"/>
                <a:ea typeface="Microsoft YaHei"/>
              </a:rPr>
              <a:t>学员真正的卡点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819650" y="3429000"/>
            <a:ext cx="66484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不是「怎么定义函数」，而是「不知道该拆成几个函数」。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对策：先照抄教材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个例子，再逐个改需求，最后才自己想拆法。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419600" y="4267200"/>
            <a:ext cx="7239000" cy="1123950"/>
          </a:xfrm>
          <a:prstGeom prst="roundRect">
            <a:avLst>
              <a:gd name="adj" fmla="val 10169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4610100" y="4505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819650" y="441960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819650" y="4667250"/>
            <a:ext cx="66484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函数里改列表会改到原列表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默认参数写成可变对象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误以为实参被修改就是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bug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不知道返回值才是函数真正的输出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419600" y="4572000"/>
            <a:ext cx="7239000" cy="876300"/>
          </a:xfrm>
          <a:prstGeom prst="roundRect">
            <a:avLst>
              <a:gd name="adj" fmla="val 13043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648200" y="49149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B36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467350" y="4714875"/>
            <a:ext cx="33147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魔方消息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8.1–8.3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星际争霸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8.4–8.6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鸡尾酒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8.7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产出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个可复用函数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个自定义模块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1440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08 / 17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style={{&#10;    width: '1280px', height: '720px', backgroundColor: '#FAFCFE',&#10;    padding: 0, position: 'relative', overflow: 'hidden',&#10;}}&gt;&#10;    &lt;Box style={{ position: 'absolute', right: 0, top: 0, width: '420px', height: '720px', background: '#0E9B78' }} /&gt;&#10;    &lt;Box style={{ position: 'absolute', right: 0, top: 470, width: '420px', height: '250px', background: '#0A7A5F' }} /&gt;&#10;&#10;    &lt;Box style={{ position: 'absolute', right: 56, top: 130, width: '320px', flexDirection: 'column', gap: 16, alignItems: 'flex-end' }}&gt;&#10;        &lt;Text style={{ fontSize: 150, fontWeight: 'bold', color: '#FFFFFF', lineHeight: 0.9 }}&gt;08&lt;/Text&gt;&#10;        &lt;Box style={{ width: 90, height: 5, background: '#E08A15' }} /&gt;&#10;        &lt;Text style={{ fontSize: 30, fontWeight: 'bold', color: '#FFFFFF' }}&gt;类&lt;/Text&gt;&#10;        &lt;Text style={{ fontSize: 16, color: '#C6EDE0', lineHeight: 1.7, textAlign: 'right' }}&gt;&#10;            教材第 9 章 · W9–W10&lt;br /&gt;&#10;            允许慢 2 周&#10;        &lt;/Text&gt;&#10;    &lt;/Box&gt;&#10;&#10;    &lt;Box style={{ position: 'absolute', left: 64, top: 48, width: 760, flexDirection: 'column', alignItems: 'flex-start' }}&gt;&#10;        &lt;Text style={{ fontSize: 20, fontWeight: 'bold', color: '#E08A15' }}&gt;最劝退的一章 · 但不能绕开&lt;/Text&gt;&#10;        &lt;Text style={{ fontSize: 34, fontWeight: 'bold', color: '#16232E', marginTop: 10, lineHeight: 1.35 }}&gt;&#10;            Django 的模型、ORM、视图&lt;br /&gt;全部是类，学不会后面必然崩&#10;        &lt;/Text&gt;&#10;    &lt;/Box&gt;&#10;&#10;    &lt;Box style={{ position: 'absolute', left: 64, top: 188, width: 760, height: 278, flexDirection: 'column', gap: 12 }}&gt;&#10;        &lt;Box style={{ background: '#FFFFFF', borderRadius: 12, padding: '16px 20px', flexDirection: 'row', gap: 16, alignItems: 'flex-start' }}&gt;&#10;            &lt;Box style={{ width: 6, height: 6, borderRadius: 3, background: '#0E9B78', marginTop: 9 }} /&gt;&#10;            &lt;Box style={{ flex: 1, flexDirection: 'column', gap: 4 }}&gt;&#10;                &lt;Text style={{ fontSize: 18, fontWeight: 'bold', color: '#16232E' }}&gt;四次课的排法&lt;/Text&gt;&#10;                &lt;Text style={{ fontSize: 15, color: '#5A6B7A', lineHeight: 1.65 }}&gt;&#10;                    类与实例、属性与方法 → __init__ 与默认值属性 → 继承与重写 → 导入类、标准库与类的编程风格&#10;                &lt;/Text&gt;&#10;            &lt;/Box&gt;&#10;        &lt;/Box&gt;&#10;&#10;        &lt;Box style={{ background: '#FFFFFF', borderRadius: 12, padding: '16px 20px', flexDirection: 'row', gap: 16, alignItems: 'flex-start' }}&gt;&#10;            &lt;Box style={{ width: 6, height: 6, borderRadius: 3, background: '#0E9B78', marginTop: 9 }} /&gt;&#10;            &lt;Box style={{ flex: 1, flexDirection: 'column', gap: 4 }}&gt;&#10;                &lt;Text style={{ fontSize: 18, fontWeight: 'bold', color: '#16232E' }}&gt;降低门槛的做法&lt;/Text&gt;&#10;                &lt;Text style={{ fontSize: 15, color: '#5A6B7A', lineHeight: 1.65 }}&gt;&#10;                    自建 3 个类练手：学生记录、购物车、银行账户。不要只跟着教材的 Dog / Car 走。&#10;                    自己造过一遍，下一次才不用想。&#10;                &lt;/Text&gt;&#10;            &lt;/Box&gt;&#10;        &lt;/Box&gt;&#10;&#10;        &lt;Box style={{ background: '#FDF3E2', borderRadius: 12, padding: '16px 20px', flexDirection: 'row', gap: 16, alignItems: 'flex-start' }}&gt;&#10;            &lt;Box style={{ width: 6, height: 6, borderRadius: 3, background: '#D9820F', marginTop: 9 }} /&gt;&#10;            &lt;Box style={{ flex: 1, flexDirection: 'column', gap: 4 }}&gt;&#10;                &lt;Text style={{ fontSize: 18, fontWeight: 'bold', color: '#8A5A08' }}&gt;常见错误清单&lt;/Text&gt;&#10;                &lt;Text style={{ fontSize: 15, color: '#5A6B7A', lineHeight: 1.65 }}&gt;&#10;                    方法忘记写 self · 忘记 super().__init__() 就用父类属性 · 属性名前后不一致 · 把方法当属性调用&#10;                &lt;/Text&gt;&#10;            &lt;/Box&gt;&#10;        &lt;/Box&gt;&#10;    &lt;/Box&gt;&#10;&#10;    &lt;Box style={{&#10;        position: 'absolute', left: 64, top: 480, width: 760, height: 92,&#10;        background: '#16232E', borderRadius: 12, padding: '0 24px',&#10;        flexDirection: 'row', alignItems: 'center', gap: 18,&#10;    }}&gt;&#10;        &lt;Text style={{ fontSize: 17, fontWeight: 'bold', color: '#7FDCC0' }}&gt;过关标准&lt;/Text&gt;&#10;        &lt;Text style={{ fontSize: 16, color: '#D6E4F0', lineHeight: 1.6 }}&gt;&#10;            手写一个含 __init__、实例方法和一个子类的类&lt;br /&gt;&#10;            并能用自己的话解释 self 到底指向什么&#10;        &lt;/Text&gt;&#10;    &lt;/Box&gt;&#10;&#10;    &lt;Box style={{ position: 'absolute', left: 64, bottom: 24, flexDirection: 'row', gap: 40 }}&gt;&#10;        &lt;Text style={{ fontSize: 14, color: '#8A9AAA' }}&gt;Python 阶段 0–1 课程大纲&lt;/Text&gt;&#10;        &lt;Text style={{ fontSize: 14, color: '#8A9AAA' }}&gt;09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8191500" y="0"/>
            <a:ext cx="40005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8191500" y="4476750"/>
            <a:ext cx="4000500" cy="2381250"/>
          </a:xfrm>
          <a:prstGeom prst="rect">
            <a:avLst/>
          </a:prstGeom>
          <a:solidFill>
            <a:srgbClr val="0A7A5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886950" y="1238250"/>
            <a:ext cx="177165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080135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372850" y="31337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077450" y="3629025"/>
            <a:ext cx="1581150" cy="628650"/>
          </a:xfrm>
          <a:prstGeom prst="rect"/>
        </p:spPr>
        <p:txBody>
          <a:bodyPr wrap="none" lIns="0" tIns="0" rIns="0" bIns="0"/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· W9–W10</a:t>
            </a:r>
            <a:endParaRPr/>
          </a:p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允许慢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最劝退的一章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但不能绕开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4371975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Django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的模型、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>ORM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、视图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全部是类，学不会后面必然崩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1790700"/>
            <a:ext cx="7239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00100" y="2028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09650" y="194310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09650" y="2190750"/>
            <a:ext cx="66484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类与实例、属性与方法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__init__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与默认值属性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继承与重写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导入类、标准库与类的编程风格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2743200"/>
            <a:ext cx="7239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800100" y="2981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09650" y="289560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32E"/>
                </a:solidFill>
                <a:latin typeface="Microsoft YaHei"/>
                <a:ea typeface="Microsoft YaHei"/>
              </a:rPr>
              <a:t>降低门槛的做法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09650" y="3143250"/>
            <a:ext cx="66484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自建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个类练手：学生记录、购物车、银行账户。不要只跟着教材的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Dog / Car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走。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自己造过一遍，下一次才不用想。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3981450"/>
            <a:ext cx="7239000" cy="838200"/>
          </a:xfrm>
          <a:prstGeom prst="roundRect">
            <a:avLst>
              <a:gd name="adj" fmla="val 13636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800100" y="4219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09650" y="413385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09650" y="4381500"/>
            <a:ext cx="66484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方法忘记写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self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忘记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super().__init__()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就用父类属性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属性名前后不一致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把方法当属性调用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4572000"/>
            <a:ext cx="7239000" cy="876300"/>
          </a:xfrm>
          <a:prstGeom prst="roundRect">
            <a:avLst>
              <a:gd name="adj" fmla="val 13043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8200" y="49149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FDCC0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657350" y="4714875"/>
            <a:ext cx="31432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手写一个含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__init__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、实例方法和一个子类的类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并能用自己的话解释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self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到底指向什么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5908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09 / 17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1" name="" descr="&lt;Slide style={{&#10;    width: '1280px', height: '720px', backgroundColor: '#FAFCFE',&#10;    padding: 0, position: 'relative', overflow: 'hidden',&#10;}}&gt;&#10;    &lt;Box style={{ position: 'absolute', left: 0, top: 0, width: '420px', height: '720px', background: '#1F5FA8' }} /&gt;&#10;    &lt;Box style={{ position: 'absolute', left: 0, top: 470, width: '420px', height: '250px', background: '#154477' }} /&gt;&#10;&#10;    &lt;Box style={{ position: 'absolute', left: 56, top: 130, width: '320px', flexDirection: 'column', gap: 16 }}&gt;&#10;        &lt;Text style={{ fontSize: 150, fontWeight: 'bold', color: '#FFFFFF', lineHeight: 0.9 }}&gt;07&lt;/Text&gt;&#10;        &lt;Box style={{ width: 90, height: 5, background: '#E08A15' }} /&gt;&#10;        &lt;Text style={{ fontSize: 30, fontWeight: 'bold', color: '#FFFFFF' }}&gt;函数&lt;/Text&gt;&#10;        &lt;Text style={{ fontSize: 16, color: '#BBD6EA', lineHeight: 1.7 }}&gt;&#10;            教材第 8 章 · W7–W8&lt;br /&gt;&#10;            建议安排 4 次课&#10;        &lt;/Text&gt;&#10;    &lt;/Box&gt;&#10;&#10;    &lt;Box style={{ position: 'absolute', left: 464, top: 48, width: 760, flexDirection: 'column' }}&gt;&#10;        &lt;Text style={{ fontSize: 20, fontWeight: 'bold', color: '#E08A15' }}&gt;分水岭 · 抽象能力的第一次跳跃&lt;/Text&gt;&#10;        &lt;Text style={{ fontSize: 34, fontWeight: 'bold', color: '#16232E', marginTop: 10, lineHeight: 1.35 }}&gt;&#10;            从这里开始，代码不再是&lt;br /&gt;「从上往下写一行算一行」&#10;        &lt;/Text&gt;&#10;    &lt;/Box&gt;&#10;&#10;    &lt;Box style={{ position: 'absolute', left: 464, top: 176, width: 760, height: 336, flexDirection: 'column', gap: 12 }}&gt;&#10;        &lt;Box style={{ background: '#FFFFFF', borderRadius: 12, padding: '14px 20px', flexDirection: 'row', gap: 16, alignItems: 'flex-start' }}&gt;&#10;            &lt;Box style={{ width: 6, height: 6, borderRadius: 3, background: '#E08A15', marginTop: 9 }} /&gt;&#10;            &lt;Box style={{ flex: 1, flexDirection: 'column', gap: 4 }}&gt;&#10;                &lt;Text style={{ fontSize: 17, fontWeight: 'bold', color: '#16232E' }}&gt;四次课的排法&lt;/Text&gt;&#10;                &lt;Text style={{ fontSize: 14, color: '#5A6B7A', lineHeight: 1.55 }}&gt;&#10;                    定义与返回值 → 位置 / 关键字实参与默认值 → 列表传参与 \*args / \*\*kwargs → 模块与导入（4 种写法）+ 函数编写指南&#10;                &lt;/Text&gt;&#10;            &lt;/Box&gt;&#10;        &lt;/Box&gt;&#10;&#10;        &lt;Box style={{ background: '#FFFFFF', borderRadius: 12, padding: '14px 20px', flexDirection: 'row', gap: 16, alignItems: 'flex-start' }}&gt;&#10;            &lt;Box style={{ width: 6, height: 6, borderRadius: 3, background: '#E08A15', marginTop: 9 }} /&gt;&#10;            &lt;Box style={{ flex: 1, flexDirection: 'column', gap: 4 }}&gt;&#10;                &lt;Text style={{ fontSize: 17, fontWeight: 'bold', color: '#16232E' }}&gt;学员真正的卡点&lt;/Text&gt;&#10;                &lt;Text style={{ fontSize: 14, color: '#5A6B7A', lineHeight: 1.55 }}&gt;&#10;                    不是「怎么定义函数」，而是「不知道该拆成几个函数」。&#10;                    对策：先照抄教材 3 个例子，再逐个改需求，最后才自己想拆法。&#10;                &lt;/Text&gt;&#10;            &lt;/Box&gt;&#10;        &lt;/Box&gt;&#10;&#10;        &lt;Box style={{ background: '#FDF3E2', borderRadius: 12, padding: '14px 20px', flexDirection: 'row', gap: 16, alignItems: 'flex-start' }}&gt;&#10;            &lt;Box style={{ width: 6, height: 6, borderRadius: 3, background: '#D9820F', marginTop: 9 }} /&gt;&#10;            &lt;Box style={{ flex: 1, flexDirection: 'column', gap: 4 }}&gt;&#10;                &lt;Text style={{ fontSize: 18, fontWeight: 'bold', color: '#8A5A08' }}&gt;常见错误清单&lt;/Text&gt;&#10;                &lt;Text style={{ fontSize: 14, color: '#5A6B7A', lineHeight: 1.55 }}&gt;&#10;                    函数里改列表会改到原列表 · 默认参数写成可变对象 · 误以为实参被修改就是 bug · 不知道返回值才是函数真正的输出&#10;                &lt;/Text&gt;&#10;            &lt;/Box&gt;&#10;        &lt;/Box&gt;&#10;    &lt;/Box&gt;&#10;&#10;    &lt;Box style={{&#10;        position: 'absolute', left: 464, top: 528, width: 760, height: 88,&#10;        background: '#16232E', borderRadius: 12, padding: '0 24px',&#10;        flexDirection: 'row', alignItems: 'center', gap: 18,&#10;    }}&gt;&#10;        &lt;Text style={{ fontSize: 17, fontWeight: 'bold', color: '#E8B36A' }}&gt;动手项目&lt;/Text&gt;&#10;        &lt;Text style={{ fontSize: 16, color: '#D6E4F0', lineHeight: 1.6 }}&gt;&#10;            魔方消息 8.1–8.3 · 星际争霸 8.4–8.6 · 鸡尾酒 8.7&lt;br /&gt;&#10;            产出 3 个可复用函数 + 2 个自定义模块&#10;        &lt;/Text&gt;&#10;    &lt;/Box&gt;&#10;&#10;    &lt;Box style={{ position: 'absolute', right: 64, bottom: 24, flexDirection: 'row', gap: 40 }}&gt;&#10;        &lt;Text style={{ fontSize: 14, color: '#8A9AAA' }}&gt;Python 阶段 0–1 课程大纲&lt;/Text&gt;&#10;        &lt;Text style={{ fontSize: 14, color: '#8A9AAA' }}&gt;08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0" y="4476750"/>
            <a:ext cx="4000500" cy="2381250"/>
          </a:xfrm>
          <a:prstGeom prst="rect">
            <a:avLst/>
          </a:prstGeom>
          <a:solidFill>
            <a:srgbClr val="154477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304800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3340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33400" y="31337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33400" y="3629025"/>
            <a:ext cx="3048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· W7–W8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建议安排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419600" y="457200"/>
            <a:ext cx="723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分水岭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抽象能力的第一次跳跃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419600" y="781050"/>
            <a:ext cx="723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从这里开始，代码不再是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「从上往下写一行算一行」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419600" y="1676400"/>
            <a:ext cx="72390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4610100" y="18954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819650" y="18097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819650" y="2047875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定义与返回值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位置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关键字实参与默认值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列表传参与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\*args / \*\*kwargs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模块与导入（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种写法）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函数编写指南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419600" y="2800350"/>
            <a:ext cx="72390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4610100" y="3019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819650" y="293370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学员真正的卡点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819650" y="3171825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不是「怎么定义函数」，而是「不知道该拆成几个函数」。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对策：先照抄教材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个例子，再逐个改需求，最后才自己想拆法。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419600" y="3924300"/>
            <a:ext cx="7239000" cy="1019175"/>
          </a:xfrm>
          <a:prstGeom prst="roundRect">
            <a:avLst>
              <a:gd name="adj" fmla="val 11215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4610100" y="4143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819650" y="405765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819650" y="4305300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函数里改列表会改到原列表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默认参数写成可变对象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误以为实参被修改就是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bug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不知道返回值才是函数真正的输出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419600" y="5029200"/>
            <a:ext cx="7239000" cy="838200"/>
          </a:xfrm>
          <a:prstGeom prst="roundRect">
            <a:avLst>
              <a:gd name="adj" fmla="val 13636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648200" y="53530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B36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467350" y="5153025"/>
            <a:ext cx="33147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魔方消息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8.1–8.3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星际争霸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8.4–8.6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鸡尾酒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8.7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产出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个可复用函数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个自定义模块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1440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08 / 17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8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练习题库 · 五档递进共 52 题&lt;/Text&gt;&#10;        &lt;Text style={{ fontSize: 18, color: '#5A6B7A', marginTop: 6 }}&gt;&#10;            每题都有参考答案与解析。卡 15 分钟再看答案，看完必须关掉重写一遍&#10;        &lt;/Text&gt;&#10;    &lt;/Box&gt;&#10;&#10;    &lt;Box style={{ position: 'absolute', left: 64, top: 152, width: '700px', height: 400 }}&gt;&#10;        &lt;svg width='700' height='400' viewBox='0 0 700 400'&gt;&#10;            &lt;line x1='60' y1='340' x2='680' y2='340' stroke='#D8E3EE' strokeWidth='2' /&gt;&#10;&#10;            &lt;rect x='80' y='250' width='104' height='90' rx='6' fill='#1F5FA8' /&gt;&#10;            &lt;text x='132' y='285' fontSize='24' fontWeight='bold' fill='#FFFFFF' textAnchor='middle' fontFamily='Inter'&gt;L1&lt;/text&gt;&#10;            &lt;text x='132' y='315' fontSize='14' fill='#CFE2F5' textAnchor='middle' fontFamily='Inter'&gt;12 题&lt;/text&gt;&#10;            &lt;text x='132' y='366' fontSize='13' fill='#5A6B7A' textAnchor='middle' fontFamily='Inter'&gt;变量 / 列表&lt;/text&gt;&#10;            &lt;text x='132' y='388' fontSize='13' fill='#8A9AAA' textAnchor='middle' fontFamily='Inter'&gt;3 小时&lt;/text&gt;&#10;&#10;            &lt;rect x='204' y='210' width='104' height='130' rx='6' fill='#1F5FA8' /&gt;&#10;            &lt;text x='256' y='252' fontSize='24' fontWeight='bold' fill='#FFFFFF' textAnchor='middle' fontFamily='Inter'&gt;L2&lt;/text&gt;&#10;            &lt;text x='256' y='284' fontSize='14' fill='#CFE2F5' textAnchor='middle' fontFamily='Inter'&gt;16 题&lt;/text&gt;&#10;            &lt;text x='256' y='312' fontSize='13' fill='#5A6B7A' textAnchor='middle' fontFamily='Inter'&gt;循环 / 条件 /&lt;/text&gt;&#10;            &lt;text x='256' y='332' fontSize='13' fill='#5A6B7A' textAnchor='middle' fontFamily='Inter'&gt;字典 / while&lt;/text&gt;&#10;            &lt;text x='256' y='366' fontSize='13' fill='#8A9AAA' textAnchor='middle' fontFamily='Inter'&gt;6 小时&lt;/text&gt;&#10;&#10;            &lt;rect x='328' y='180' width='104' height='160' rx='6' fill='#2F7BC8' /&gt;&#10;            &lt;text x='380' y='228' fontSize='24' fontWeight='bold' fill='#FFFFFF' textAnchor='middle' fontFamily='Inter'&gt;L3&lt;/text&gt;&#10;            &lt;text x='380' y='260' fontSize='14' fill='#FFFFFF' textAnchor='middle' fontFamily='Inter'&gt;8 题&lt;/text&gt;&#10;            &lt;text x='380' y='288' fontSize='13' fill='#EAF3FC' textAnchor='middle' fontFamily='Inter'&gt;函数 / 递归 /&lt;/text&gt;&#10;            &lt;text x='380' y='308' fontSize='13' fill='#EAF3FC' textAnchor='middle' fontFamily='Inter'&gt;装饰器 / 模块&lt;/text&gt;&#10;            &lt;text x='380' y='366' fontSize='13' fill='#8A9AAA' textAnchor='middle' fontFamily='Inter'&gt;4 小时&lt;/text&gt;&#10;&#10;            &lt;rect x='452' y='150' width='104' height='190' rx='6' fill='#0E9B78' /&gt;&#10;            &lt;text x='504' y='205' fontSize='24' fontWeight='bold' fill='#FFFFFF' textAnchor='middle' fontFamily='Inter'&gt;L4&lt;/text&gt;&#10;            &lt;text x='504' y='237' fontSize='14' fill='#FFFFFF' textAnchor='middle' fontFamily='Inter'&gt;8 题&lt;/text&gt;&#10;            &lt;text x='504' y='265' fontSize='13' fill='#D7F0E7' textAnchor='middle' fontFamily='Inter'&gt;类 / 继承 /&lt;/text&gt;&#10;            &lt;text x='504' y='285' fontSize='13' fill='#D7F0E7' textAnchor='middle' fontFamily='Inter'&gt;组合 / dataclass&lt;/text&gt;&#10;            &lt;text x='504' y='366' fontSize='13' fill='#8A9AAA' textAnchor='middle' fontFamily='Inter'&gt;5 小时&lt;/text&gt;&#10;&#10;            &lt;rect x='576' y='112' width='104' height='228' rx='6' fill='#E08A15' /&gt;&#10;            &lt;text x='628' y='175' fontSize='24' fontWeight='bold' fill='#FFFFFF' textAnchor='middle' fontFamily='Inter'&gt;L5&lt;/text&gt;&#10;            &lt;text x='628' y='207' fontSize='14' fill='#FFFFFF' textAnchor='middle' fontFamily='Inter'&gt;8 题&lt;/text&gt;&#10;            &lt;text x='628' y='235' fontSize='13' fill='#FDF0DC' textAnchor='middle' fontFamily='Inter'&gt;文件 / 异常 /&lt;/text&gt;&#10;            &lt;text x='628' y='255' fontSize='13' fill='#FDF0DC' textAnchor='middle' fontFamily='Inter'&gt;JSON / pytest&lt;/text&gt;&#10;            &lt;text x='628' y='366' fontSize='13' fill='#8A9AAA' textAnchor='middle' fontFamily='Inter'&gt;5 小时&lt;/text&gt;&#10;&#10;            &lt;path d='M184 220 L 200 190' stroke='#1F5FA8' strokeWidth='2' fill='none' /&gt;&#10;            &lt;path d='M308 190 L 324 165' stroke='#1F5FA8' strokeWidth='2' fill='none' /&gt;&#10;            &lt;path d='M432 145 L 448 128' stroke='#0E9B78' strokeWidth='2' fill='none' /&gt;&#10;            &lt;path d='M556 105 L 572 96' stroke='#E08A15' strokeWidth='2' fill='none' /&gt;&#10;        &lt;/svg&gt;&#10;    &lt;/Box&gt;&#10;&#10;    &lt;Box style={{ position: 'absolute', right: 64, top: 148, width: 420, flexDirection: 'column', gap: 14 }}&gt;&#10;        &lt;Box style={{ background: '#FFFFFF', border: '1px solid #D8E3EE', borderRadius: 12, padding: 18, flexDirection: 'column', gap: 8 }}&gt;&#10;            &lt;Text style={{ fontSize: 18, fontWeight: 'bold', color: '#1F5FA8' }}&gt;每题的固定三段结构&lt;/Text&gt;&#10;            &lt;Text style={{ fontSize: 15, color: '#5A6B7A', lineHeight: 1.65 }}&gt;&#10;                题目（写清输入输出）→ 参考答案（完整可运行代码，不是伪代码）→ 解析（说明为什么这么写，以及常见错法）&#10;            &lt;/Text&gt;&#10;        &lt;/Box&gt;&#10;&#10;        &lt;Box style={{ background: '#FFFFFF', border: '1px solid #D8E3EE', borderRadius: 12, padding: 18, flexDirection: 'column', gap: 8 }}&gt;&#10;            &lt;Text style={{ fontSize: 18, fontWeight: 'bold', color: '#1F5FA8' }}&gt;重点题（会卡人的）&lt;/Text&gt;&#10;            &lt;Text style={{ fontSize: 15, color: '#5A6B7A', lineHeight: 1.7 }}&gt;&#10;                L2-5 列表引用陷阱&lt;br /&gt;&#10;                L2-14 for-else 写法&lt;br /&gt;&#10;                L3-3 列表传参改与不改&lt;br /&gt;&#10;                L4-3 属性私有化与 @property&lt;br /&gt;&#10;                L5-3 异常 else 子句&#10;            &lt;/Text&gt;&#10;        &lt;/Box&gt;&#10;&#10;        &lt;Box style={{ background: '#FDF3E2', borderRadius: 12, padding: 18, flexDirection: 'column', gap: 8 }}&gt;&#10;            &lt;Text style={{ fontSize: 18, fontWeight: 'bold', color: '#8A5A08' }}&gt;另外有 3 道综合挑战&lt;/Text&gt;&#10;            &lt;Text style={{ fontSize: 15, color: '#5A6B7A', lineHeight: 1.7 }}&gt;&#10;                A 文本词频分析器&lt;br /&gt;&#10;                B 学生成绩管理器&lt;br /&gt;&#10;                C 命令行记事本&lt;br /&gt;&#10;                三道都涉及模块化拆分与 pytest&#10;            &lt;/Text&gt;&#10;        &lt;/Box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3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练习题库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五档递进共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52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每题都有参考答案与解析。卡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分钟再看答案，看完必须关掉重写一遍</a:t>
            </a:r>
            <a:endParaRPr/>
          </a:p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447800"/>
            <a:ext cx="6667500" cy="3810000"/>
          </a:xfrm>
          <a:prstGeom prst="rect">
            <a:avLst/>
          </a:prstGeom>
          <a:ln/>
        </p:spPr>
      </p:pic>
      <p:sp>
        <p:nvSpPr>
          <p:cNvPr id="133" name=""/>
          <p:cNvSpPr/>
          <p:nvPr/>
        </p:nvSpPr>
        <p:spPr>
          <a:xfrm rot="0" flipH="0" flipV="0">
            <a:off x="7581900" y="1409700"/>
            <a:ext cx="4000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753350" y="1581150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每题的固定三段结构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753350" y="1866900"/>
            <a:ext cx="3657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题目（写清输入输出）→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参考答案（完整可运行代码，不是伪代码）→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解析（说明为什么这么写，以及常见错法）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581900" y="2743200"/>
            <a:ext cx="4000500" cy="208597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753350" y="2914650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重点题（会卡人的）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753350" y="3200400"/>
            <a:ext cx="3657600" cy="1457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L2-5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列表引用陷阱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L2-14 for-else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写法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L3-3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列表传参改与不改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L4-3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属性私有化与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@property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L5-3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异常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子句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581900" y="4962525"/>
            <a:ext cx="4000500" cy="1800225"/>
          </a:xfrm>
          <a:prstGeom prst="roundRect">
            <a:avLst>
              <a:gd name="adj" fmla="val 6349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753350" y="5133975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另外有</a:t>
            </a:r>
            <a:r>
              <a:rPr lang="en-US" sz="1350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道综合挑战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753350" y="5419725"/>
            <a:ext cx="36576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文本词频分析器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学生成绩管理器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命令行记事本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三道都涉及模块化拆分与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13 / 17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4" name="" descr="&lt;Slide style={{&#10;    width: '1280px', height: '720px', backgroundColor: '#FAFCFE',&#10;    padding: 0, position: 'relative', overflow: 'hidden',&#10;}}&gt;&#10;    &lt;Box style={{ position: 'absolute', left: 0, top: 0, width: '1280px', height: '136px', background: '#16232E' }} /&gt;&#10;    &lt;Box style={{ position: 'absolute', left: 64, top: 34, width: '1152px', flexDirection: 'column' }}&gt;&#10;        &lt;Text style={{ fontSize: 34, fontWeight: 'bold', color: '#FFFFFF' }}&gt;常见卡点与对策&lt;/Text&gt;&#10;        &lt;Text style={{ fontSize: 17, color: '#A8C4DE', marginTop: 8 }}&gt;&#10;            这六处是零基础学员 90% 会卡住的地方，提前告知比事后补救有效得多&#10;        &lt;/Text&gt;&#10;    &lt;/Box&gt;&#10;&#10;    &lt;Box style={{ position: 'absolute', left: 64, top: 160, width: '1152px', height: 440, flexDirection: 'row', gap: 14 }}&gt;&#10;        &lt;Box style={{ flex: 1, background: '#FFFFFF', border: '1px solid #D8E3EE', borderRadius: 12, padding: 20, flexDirection: 'column', gap: 10 }}&gt;&#10;            &lt;Text style={{ fontSize: 20, fontWeight: 'bold', color: '#E08A15' }}&gt;第 4–7 章&lt;/Text&gt;&#10;            &lt;Text style={{ fontSize: 15, color: '#5A6B7A', lineHeight: 1.6 }}&gt;列表 → if → while，语法密度陡增，缩进错误开始变多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动手练重做一遍，同一道题写三遍直到不用想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E08A15' }}&gt;第 8 章 函数&lt;/Text&gt;&#10;            &lt;Text style={{ fontSize: 15, color: '#5A6B7A', lineHeight: 1.6 }}&gt;抽象思维跳跃，卡在「不知道该拆成几个函数」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先抄教材 3 个例子，再逐个改需求，最后自己拆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E08A15' }}&gt;第 9 章 类&lt;/Text&gt;&#10;            &lt;Text style={{ fontSize: 15, color: '#5A6B7A', lineHeight: 1.6 }}&gt;零基础最劝退的一章，直觉上是「凭空造东西」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允许慢 2 周，造学生 / 购物车 / 账户三个真实类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1F5FA8' }}&gt;第 10 章 文件&lt;/Text&gt;&#10;            &lt;Text style={{ fontSize: 15, color: '#5A6B7A', lineHeight: 1.6 }}&gt;编码报错、路径找不到、JSON 格式写错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全程用 pathlib + with + utf-8，从第一行就写对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1F5FA8' }}&gt;第 11 章 pytest&lt;/Text&gt;&#10;            &lt;Text style={{ fontSize: 15, color: '#5A6B7A', lineHeight: 1.6 }}&gt;装不上、找不到 pytest、不知道测什么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单元 0 就建虚拟环境，只测自己写过的小函数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D1394B' }}&gt;学不下去&lt;/Text&gt;&#10;            &lt;Text style={{ fontSize: 15, color: '#5A6B7A', lineHeight: 1.6 }}&gt;战线太长看不到进展，积极性断崖&lt;/Text&gt;&#10;            &lt;Box style={{ flex: 1, background: '#FDEEF0', borderRadius: 8, padding: '12px 14px', marginTop: 'auto' }}&gt;&#10;                &lt;Text style={{ fontSize: 13, color: '#A85C68', fontWeight: 'bold' }}&gt;对策&lt;/Text&gt;&#10;                &lt;Text style={{ fontSize: 15, color: '#A8323F', lineHeight: 1.6 }}&gt;切回短任务，只做一个 20 行的小程序，两天内见效&lt;/Text&gt;&#10;            &lt;/Box&gt;&#10;        &lt;/Box&gt;&#10;    &lt;/Box&gt;&#10;&#10;    &lt;Box style={{&#10;        position: 'absolute', left: 64, top: 606, width: '1152px', height: 62,&#10;        background: '#EEF5FB', borderRadius: 10, flexDirection: 'row',&#10;        alignItems: 'center', padding: '0 24px', gap: 16,&#10;    }}&gt;&#10;        &lt;Text style={{ fontSize: 16, fontWeight: 'bold', color: '#1F5FA8' }}&gt;通用原则&lt;/Text&gt;&#10;        &lt;Text style={{ fontSize: 16, color: '#3A4A58' }}&gt;&#10;            任何一章卡住超过两周，先降难度而不是硬啃：降级到 L3 题库对应档位，重做一遍再来。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4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0" y="0"/>
            <a:ext cx="12192000" cy="12954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常见卡点与对策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790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A8C4DE"/>
                </a:solidFill>
                <a:latin typeface="Microsoft YaHei"/>
                <a:ea typeface="Microsoft YaHei"/>
              </a:rPr>
              <a:t>这六处是零基础学员</a:t>
            </a:r>
            <a:r>
              <a:rPr lang="en-US" sz="1275">
                <a:solidFill>
                  <a:srgbClr val="A8C4DE"/>
                </a:solidFill>
                <a:latin typeface="Microsoft YaHei"/>
                <a:ea typeface="Microsoft YaHei"/>
              </a:rPr>
              <a:t xml:space="preserve"> 90% </a:t>
            </a:r>
            <a:r>
              <a:rPr lang="zh-CN" sz="1275">
                <a:solidFill>
                  <a:srgbClr val="A8C4DE"/>
                </a:solidFill>
                <a:latin typeface="Microsoft YaHei"/>
                <a:ea typeface="Microsoft YaHei"/>
              </a:rPr>
              <a:t>会卡住的地方，提前告知比事后补救有效得多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4–7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00100" y="2038350"/>
            <a:ext cx="1333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if → while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，语法密度陡增，缩进错误开始变多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00100" y="2962275"/>
            <a:ext cx="1333500" cy="2562225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33450" y="30765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33450" y="3228975"/>
            <a:ext cx="1066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动手练重做一遍，同一道题写三遍直到不用想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2457450" y="1524000"/>
            <a:ext cx="1724025" cy="4191000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647950" y="1714500"/>
            <a:ext cx="1343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2647950" y="2038350"/>
            <a:ext cx="1343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抽象思维跳跃，卡在「不知道该拆成几个函数」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2647950" y="2962275"/>
            <a:ext cx="1343025" cy="2562225"/>
          </a:xfrm>
          <a:prstGeom prst="roundRect">
            <a:avLst>
              <a:gd name="adj" fmla="val 567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781300" y="3076575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2781300" y="3228975"/>
            <a:ext cx="10763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先抄教材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个例子，再逐个改需求，最后自己拆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314825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505325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505325" y="2038350"/>
            <a:ext cx="1333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零基础最劝退的一章，直觉上是「凭空造东西」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505325" y="2962275"/>
            <a:ext cx="1333500" cy="2562225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638675" y="30765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638675" y="3228975"/>
            <a:ext cx="1066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允许慢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周，造学生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购物车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账户三个真实类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162675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353175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文件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353175" y="2038350"/>
            <a:ext cx="133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编码报错、路径找不到、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格式写错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353175" y="2686050"/>
            <a:ext cx="1333500" cy="283845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486525" y="280035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486525" y="2952750"/>
            <a:ext cx="1066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全程用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pathlib + with + utf-8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，从第一行就写对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010525" y="1524000"/>
            <a:ext cx="1724025" cy="4191000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201025" y="1714500"/>
            <a:ext cx="13430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pytest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201025" y="2266950"/>
            <a:ext cx="1343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装不上、找不到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、不知道测什么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201025" y="3190875"/>
            <a:ext cx="1343025" cy="2333625"/>
          </a:xfrm>
          <a:prstGeom prst="roundRect">
            <a:avLst>
              <a:gd name="adj" fmla="val 567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334375" y="3305175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334375" y="3457575"/>
            <a:ext cx="10763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就建虚拟环境，只测自己写过的小函数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9867900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058400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1394B"/>
                </a:solidFill>
                <a:latin typeface="Microsoft YaHei"/>
                <a:ea typeface="Microsoft YaHei"/>
              </a:rPr>
              <a:t>学不下去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058400" y="2038350"/>
            <a:ext cx="133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战线太长看不到进展，积极性断崖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10058400" y="2686050"/>
            <a:ext cx="1333500" cy="2838450"/>
          </a:xfrm>
          <a:prstGeom prst="roundRect">
            <a:avLst>
              <a:gd name="adj" fmla="val 5714"/>
            </a:avLst>
          </a:prstGeom>
          <a:solidFill>
            <a:srgbClr val="FDEEF0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191750" y="280035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5C68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191750" y="2952750"/>
            <a:ext cx="1066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A8323F"/>
                </a:solidFill>
                <a:latin typeface="Microsoft YaHei"/>
                <a:ea typeface="Microsoft YaHei"/>
              </a:rPr>
              <a:t>切回短任务，只做一个</a:t>
            </a:r>
            <a:r>
              <a:rPr lang="en-US" sz="1125">
                <a:solidFill>
                  <a:srgbClr val="A8323F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>
                <a:solidFill>
                  <a:srgbClr val="A8323F"/>
                </a:solidFill>
                <a:latin typeface="Microsoft YaHei"/>
                <a:ea typeface="Microsoft YaHei"/>
              </a:rPr>
              <a:t>行的小程序，两天内见效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577215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8200" y="59721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通用原则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600200" y="5972175"/>
            <a:ext cx="6057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任何一章卡住超过两周，先降难度而不是硬啃：降级到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L3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题库对应档位，重做一遍再来。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14 / 17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综合项目 · 三选一&lt;/Text&gt;&#10;        &lt;Text style={{ fontSize: 18, color: '#5A6B7A', marginTop: 6 }}&gt;&#10;            单元 11 之后花 2–3 周做掉一个。目的不是练新语法，是把 11 章串成一个完整程序&#10;        &lt;/Text&gt;&#10;    &lt;/Box&gt;&#10;&#10;    &lt;Box style={{ position: 'absolute', left: 64, top: 146, width: '1152px', height: 438, flexDirection: 'row', gap: 16 }}&gt;&#10;        &lt;Box style={{&#10;            flex: 1, background: '#FFFFFF', border: '2px solid #E08A15', borderRadius: 12,&#10;            padding: 20, flexDirection: 'column', gap: 12,&#10;        }}&gt;&#10;            &lt;Box style={{ flexDirection: 'row', alignItems: 'center', justifyContent: 'space-between' }}&gt;&#10;                &lt;Text style={{ fontSize: 46, fontWeight: 'bold', color: '#E08A15', lineHeight: 1 }}&gt;A&lt;/Text&gt;&#10;                &lt;Box style={{ background: '#E08A15', borderRadius: 5, padding: '4px 12px' }}&gt;&#10;                    &lt;Text style={{ fontSize: 13, fontWeight: 'bold', color: '#FFFFFF' }}&gt;推荐&lt;/Text&gt;&#10;                &lt;/Box&gt;&#10;            &lt;/Box&gt;&#10;            &lt;Text style={{ fontSize: 21, fontWeight: 'bold', color: '#16232E' }}&gt;个人记账本&lt;/Text&gt;&#10;            &lt;Text style={{ fontSize: 14, color: '#8A9AAA' }}&gt;复习强度：中等 · 2 周&lt;/Text&gt;&#10;            &lt;Box style={{ flex: 1, flexDirection: 'column', gap: 8 }}&gt;&#10;                &lt;Text style={{ fontSize: 15, color: '#5A6B7A', lineHeight: 1.65 }}&gt;&#10;                    把交易记录写进文本文件，读取后汇总金额，按月统计并画成柱状图。&#10;                &lt;/Text&gt;&#10;                &lt;Text style={{ fontSize: 15, color: '#5A6B7A', lineHeight: 1.65 }}&gt;&#10;                    覆盖：文件读写、异常处理、字典与列表、字符串解析。&#10;                &lt;/Text&gt;&#10;                &lt;Text style={{ fontSize: 15, color: '#5A6B7A', lineHeight: 1.65 }}&gt;&#10;                    延伸：把图表导出成图片保存到本地。&#10;                &lt;/Text&gt;&#10;            &lt;/Box&gt;&#10;            &lt;Box style={{ background: '#FDF3E2', borderRadius: 8, padding: '12px 14px', marginTop: 'auto' }}&gt;&#10;                &lt;Text style={{ fontSize: 13, color: '#B07A10' }}&gt;适合&lt;/Text&gt;&#10;                &lt;Text style={{ fontSize: 15, color: '#8A5A08', fontWeight: 'bold' }}&gt;文件与异常还不够熟的学员&lt;/Text&gt;&#10;            &lt;/Box&gt;&#10;        &lt;/Box&gt;&#10;&#10;        &lt;Box style={{&#10;            flex: 1, background: '#FFFFFF', border: '2px solid #1F5FA8', borderRadius: 12,&#10;            padding: 20, flexDirection: 'column', gap: 12,&#10;        }}&gt;&#10;            &lt;Box style={{ flexDirection: 'row', alignItems: 'center', justifyContent: 'space-between' }}&gt;&#10;                &lt;Text style={{ fontSize: 46, fontWeight: 'bold', color: '#1F5FA8', lineHeight: 1 }}&gt;B&lt;/Text&gt;&#10;                &lt;Box style={{ background: '#1F5FA8', borderRadius: 5, padding: '4px 12px' }}&gt;&#10;                    &lt;Text style={{ fontSize: 13, fontWeight: 'bold', color: '#FFFFFF' }}&gt;推荐&lt;/Text&gt;&#10;                &lt;/Box&gt;&#10;            &lt;/Box&gt;&#10;            &lt;Text style={{ fontSize: 21, fontWeight: 'bold', color: '#16232E' }}&gt;学生成绩管理器&lt;/Text&gt;&#10;            &lt;Text style={{ fontSize: 14, color: '#8A9AAA' }}&gt;复习强度：较高 · 3 周&lt;/Text&gt;&#10;            &lt;Box style={{ flex: 1, flexDirection: 'column', gap: 8 }}&gt;&#10;                &lt;Text style={{ fontSize: 15, color: '#5A6B7A', lineHeight: 1.65 }}&gt;&#10;                    增删改查学生成绩，按总分或单科排序，计算平均分与及格率，数据存 JSON。&#10;                &lt;/Text&gt;&#10;                &lt;Text style={{ fontSize: 15, color: '#5A6B7A', lineHeight: 1.65 }}&gt;&#10;                    覆盖：类、@property、异常、JSON、每项操作要有输入校验。&#10;                &lt;/Text&gt;&#10;                &lt;Text style={{ fontSize: 15, color: '#5A6B7A', lineHeight: 1.65 }}&gt;&#10;                    延伸：补 8 条以上 pytest 测试。&#10;                &lt;/Text&gt;&#10;            &lt;/Box&gt;&#10;            &lt;Box style={{ background: '#EEF5FB', borderRadius: 8, padding: '12px 14px', marginTop: 'auto' }}&gt;&#10;                &lt;Text style={{ fontSize: 13, color: '#8A9AAA' }}&gt;适合&lt;/Text&gt;&#10;                &lt;Text style={{ fontSize: 15, color: '#1F5FA8', fontWeight: 'bold' }}&gt;想重点巩固类与面向对象的学员&lt;/Text&gt;&#10;            &lt;/Box&gt;&#10;        &lt;/Box&gt;&#10;&#10;        &lt;Box style={{&#10;            flex: 1, background: '#FFFFFF', border: '1px solid #D8E3EE', borderRadius: 12,&#10;            padding: 20, flexDirection: 'column', gap: 12,&#10;        }}&gt;&#10;            &lt;Box style={{ flexDirection: 'row', alignItems: 'center', justifyContent: 'space-between' }}&gt;&#10;                &lt;Text style={{ fontSize: 46, fontWeight: 'bold', color: '#0E9B78', lineHeight: 1 }}&gt;C&lt;/Text&gt;&#10;            &lt;/Box&gt;&#10;            &lt;Text style={{ fontSize: 21, fontWeight: 'bold', color: '#16232E' }}&gt;命令行记事本&lt;/Text&gt;&#10;            &lt;Text style={{ fontSize: 14, color: '#8A9AAA' }}&gt;复习强度：最高 · 3 周&lt;/Text&gt;&#10;            &lt;Box style={{ flex: 1, flexDirection: 'column', gap: 8 }}&gt;&#10;                &lt;Text style={{ fontSize: 15, color: '#5A6B7A', lineHeight: 1.65 }}&gt;&#10;                    支持 add / list / find / del / edit 五个子命令，数据存 JSON，&#10;                    用 argparse 处理命令行参数。&#10;                &lt;/Text&gt;&#10;                &lt;Text style={{ fontSize: 15, color: '#5A6B7A', lineHeight: 1.65 }}&gt;&#10;                    覆盖：模块化拆分、argparse、异常兜底、测试。&#10;                &lt;/Text&gt;&#10;                &lt;Text style={{ fontSize: 15, color: '#5A6B7A', lineHeight: 1.65 }}&gt;&#10;                    延伸：这是阶段 2 外星人项目的预热，提前练「大项目拆解」的手感。&#10;                &lt;/Text&gt;&#10;            &lt;/Box&gt;&#10;            &lt;Box style={{ background: '#E8F7F1', borderRadius: 8, padding: '12px 14px', marginTop: 'auto' }}&gt;&#10;                &lt;Text style={{ fontSize: 13, color: '#6B9F8C' }}&gt;适合&lt;/Text&gt;&#10;                &lt;Text style={{ fontSize: 15, color: '#0A7A5F', fontWeight: 'bold' }}&gt;想直接衔接阶段 2 的学员&lt;/Text&gt;&#10;            &lt;/Box&gt;&#10;        &lt;/Box&gt;&#10;    &lt;/Box&gt;&#10;&#10;    &lt;Box style={{&#10;        position: 'absolute', left: 64, top: 592, width: '1152px', height: 76,&#10;        background: '#16232E', borderRadius: 12, flexDirection: 'row',&#10;        alignItems: 'center', padding: '0 26px', gap: 20,&#10;    }}&gt;&#10;        &lt;Text style={{ fontSize: 18, fontWeight: 'bold', color: '#E8B36A' }}&gt;统一要求&lt;/Text&gt;&#10;        &lt;Text style={{ fontSize: 16, color: '#D6E4F0', lineHeight: 1.6 }}&gt;&#10;            拆成多个模块 · 补 pytest 测试 · 写 README 说明怎么跑 · 推到公开 git 仓库&#10;            —— 这四条做到位，直接衔接阶段 2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5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综合项目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三选一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之后花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2–3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周做掉一个。目的不是练新语法，是把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章串成一个完整程序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1390650"/>
            <a:ext cx="3552825" cy="417195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25400">
            <a:solidFill>
              <a:srgbClr val="E08A15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3333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08A15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495675" y="1733550"/>
            <a:ext cx="476250" cy="228600"/>
          </a:xfrm>
          <a:prstGeom prst="roundRect">
            <a:avLst>
              <a:gd name="adj" fmla="val 20833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609975" y="1771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3171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个人记账本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00100" y="2590800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复习强度：中等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00100" y="286702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把交易记录写进文本文件，读取后汇总金额，按月统计并画成柱状图。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覆盖：文件读写、异常处理、字典与列表、字符串解析。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00100" y="4162425"/>
            <a:ext cx="31718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延伸：把图表导出成图片保存到本地。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800100" y="4819650"/>
            <a:ext cx="3171825" cy="552450"/>
          </a:xfrm>
          <a:prstGeom prst="roundRect">
            <a:avLst>
              <a:gd name="adj" fmla="val 13793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33450" y="4933950"/>
            <a:ext cx="2905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33450" y="508635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文件与异常还不够熟的学员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314825" y="1390650"/>
            <a:ext cx="3562350" cy="417195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5400">
            <a:solidFill>
              <a:srgbClr val="1F5FA8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505325" y="1581150"/>
            <a:ext cx="304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F5FA8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210425" y="1733550"/>
            <a:ext cx="476250" cy="228600"/>
          </a:xfrm>
          <a:prstGeom prst="roundRect">
            <a:avLst>
              <a:gd name="adj" fmla="val 20833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324725" y="1771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505325" y="222885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学生成绩管理器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505325" y="2590800"/>
            <a:ext cx="318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复习强度：较高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505325" y="2867025"/>
            <a:ext cx="3181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增删改查学生成绩，按总分或单科排序，计算平均分与及格率，数据存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505325" y="3514725"/>
            <a:ext cx="3181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覆盖：类、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@property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、异常、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、每项操作要有输入校验。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505325" y="4162425"/>
            <a:ext cx="31813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延伸：补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条以上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测试。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505325" y="4819650"/>
            <a:ext cx="3181350" cy="552450"/>
          </a:xfrm>
          <a:prstGeom prst="roundRect">
            <a:avLst>
              <a:gd name="adj" fmla="val 13793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638675" y="493395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638675" y="5086350"/>
            <a:ext cx="291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想重点巩固类与面向对象的学员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8029575" y="1390650"/>
            <a:ext cx="3552825" cy="417195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220075" y="1581150"/>
            <a:ext cx="2952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E9B78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220075" y="2228850"/>
            <a:ext cx="3171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命令行记事本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220075" y="2590800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复习强度：最高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220075" y="286702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支持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add / list / find / del / edit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五个子命令，数据存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argparse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处理命令行参数。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220075" y="3514725"/>
            <a:ext cx="31718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覆盖：模块化拆分、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argparse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、异常兜底、测试。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220075" y="387667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延伸：这是阶段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外星人项目的预热，提前练「大项目拆解」的手感。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220075" y="4819650"/>
            <a:ext cx="3171825" cy="552450"/>
          </a:xfrm>
          <a:prstGeom prst="roundRect">
            <a:avLst>
              <a:gd name="adj" fmla="val 13793"/>
            </a:avLst>
          </a:prstGeom>
          <a:solidFill>
            <a:srgbClr val="E8F7F1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53425" y="4933950"/>
            <a:ext cx="2905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9F8C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53425" y="508635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想直接衔接阶段</a:t>
            </a:r>
            <a:r>
              <a:rPr lang="en-US" sz="1125" b="1">
                <a:solidFill>
                  <a:srgbClr val="0A7A5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的学员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563880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57250" y="58959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统一要求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733550" y="5857875"/>
            <a:ext cx="7677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拆成多个模块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补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测试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写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README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说明怎么跑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推到公开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仓库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这四条做到位，直接衔接阶段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15 / 17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3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通过关卡之后 · 阶段 2 长什么样&lt;/Text&gt;&#10;        &lt;Text style={{ fontSize: 18, color: '#5A6B7A', marginTop: 6 }}&gt;&#10;            阶段 1 让你能写，阶段 2 让你做完能交付。下面这条路径是教材下篇第 12–20 章&#10;        &lt;/Text&gt;&#10;    &lt;/Box&gt;&#10;&#10;    &lt;Box style={{ position: 'absolute', left: 64, top: 152, width: '1152px', height: 250 }}&gt;&#10;        &lt;svg width='1152' height='250' viewBox='0 0 1152 250'&gt;&#10;            &lt;rect x='20' y='70' width='200' height='120' rx='10' fill='#1F5FA8' /&gt;&#10;            &lt;text x='120' y='118' fontSize='22' fontWeight='bold' fill='#FFFFFF' textAnchor='middle' fontFamily='Inter'&gt;外星人入侵&lt;/text&gt;&#10;            &lt;text x='120' y='146' fontSize='14' fill='#CFE2F5' textAnchor='middle' fontFamily='Inter'&gt;第 12–14 章&lt;/text&gt;&#10;            &lt;text x='120' y='170' fontSize='13' fill='#CFE2F5' textAnchor='middle' fontFamily='Inter'&gt;pygame · 6–8 周&lt;/text&gt;&#10;&#10;            &lt;path d='M228 130 L 258 130' stroke='#1F5FA8' strokeWidth='3' fill='none' /&gt;&#10;            &lt;path d='M250 124 L 258 130 L 250 136' stroke='#1F5FA8' strokeWidth='3' fill='none' /&gt;&#10;&#10;            &lt;rect x='266' y='70' width='200' height='120' rx='10' fill='#0E9B78' /&gt;&#10;            &lt;text x='366' y='118' fontSize='22' fontWeight='bold' fill='#FFFFFF' textAnchor='middle' fontFamily='Inter'&gt;数据可视化&lt;/text&gt;&#10;            &lt;text x='366' y='146' fontSize='14' fill='#D7F0E7' textAnchor='middle' fontFamily='Inter'&gt;第 15–17 章&lt;/text&gt;&#10;            &lt;text x='366' y='170' fontSize='13' fill='#D7F0E7' textAnchor='middle' fontFamily='Inter'&gt;matplotlib / API · 4–5 周&lt;/text&gt;&#10;&#10;            &lt;path d='M474 130 L 504 130' stroke='#0E9B78' strokeWidth='3' fill='none' /&gt;&#10;            &lt;path d='M496 124 L 504 130 L 496 136' stroke='#0E9B78' strokeWidth='3' fill='none' /&gt;&#10;&#10;            &lt;rect x='512' y='70' width='200' height='120' rx='10' fill='#2F7BC8' /&gt;&#10;            &lt;text x='612' y='118' fontSize='22' fontWeight='bold' fill='#FFFFFF' textAnchor='middle' fontFamily='Inter'&gt;学习笔记 Web&lt;/text&gt;&#10;            &lt;text x='612' y='146' fontSize='14' fill='#EAF3FC' textAnchor='middle' fontFamily='Inter'&gt;第 18–20 章&lt;/text&gt;&#10;            &lt;text x='612' y='170' fontSize='13' fill='#EAF3FC' textAnchor='middle' fontFamily='Inter'&gt;Django · 6–8 周&lt;/text&gt;&#10;&#10;            &lt;path d='M720 130 L 750 130' stroke='#E08A15' strokeWidth='3' fill='none' /&gt;&#10;            &lt;path d='M742 124 L 750 130 L 742 136' stroke='#E08A15' strokeWidth='3' fill='none' /&gt;&#10;&#10;            &lt;rect x='758' y='50' width='180' height='160' rx='10' fill='#E08A15' /&gt;&#10;            &lt;text x='848' y='108' fontSize='22' fontWeight='bold' fill='#FFFFFF' textAnchor='middle' fontFamily='Inter'&gt;工程能力&lt;/text&gt;&#10;            &lt;text x='848' y='136' fontSize='14' fill='#FDF0DC' textAnchor='middle' fontFamily='Inter'&gt;教材外必补&lt;/text&gt;&#10;            &lt;text x='848' y='164' fontSize='13' fill='#FDF0DC' textAnchor='middle' fontFamily='Inter'&gt;Git 分支合并&lt;/text&gt;&#10;            &lt;text x='848' y='184' fontSize='13' fill='#FDF0DC' textAnchor='middle' fontFamily='Inter'&gt;venv 依赖管理&lt;/text&gt;&#10;&#10;            &lt;path d='M946 130 L 976 130' stroke='#5A6B7A' strokeWidth='3' fill='none' /&gt;&#10;            &lt;path d='M968 124 L 976 130 L 968 136' stroke='#5A6B7A' strokeWidth='3' fill='none' /&gt;&#10;&#10;            &lt;rect x='984' y='70' width='150' height='120' rx='10' fill='#16232E' /&gt;&#10;            &lt;text x='1059' y='118' fontSize='20' fontWeight='bold' fill='#FFFFFF' textAnchor='middle' fontFamily='Inter'&gt;上线交付&lt;/text&gt;&#10;            &lt;text x='1059' y='146' fontSize='14' fill='#A8C4DE' textAnchor='middle' fontFamily='Inter'&gt;公开可访问&lt;/text&gt;&#10;            &lt;text x='1059' y='170' fontSize='13' fill='#A8C4DE' textAnchor='middle' fontFamily='Inter'&gt;有 README 和测试&lt;/text&gt;&#10;        &lt;/svg&gt;&#10;    &lt;/Box&gt;&#10;&#10;    &lt;Box style={{ position: 'absolute', left: 64, top: 408, width: '1152px', height: 224, flexDirection: 'row', gap: 16 }}&gt;&#10;        &lt;Box style={{&#10;            flex: 1.2, background: '#FFFFFF', border: '1px solid #D8E3EE', borderRadius: 12,&#10;            padding: 20, flexDirection: 'column', gap: 10,&#10;        }}&gt;&#10;            &lt;Text style={{ fontSize: 18, fontWeight: 'bold', color: '#1F5FA8' }}&gt;阶段 2 与阶段 1 的差别&lt;/Text&gt;&#10;            &lt;Text style={{ fontSize: 15, color: '#5A6B7A', lineHeight: 1.7 }}&gt;&#10;                阶段 1 的产出是「一个能跑的程序」，阶段 2 是「一个有上千行、能被别人接手、能长期改的项目」。&#10;                最大的变化是：代码量超过 300 行后，如果不拆模块，你自己也会找不到东西。&#10;                所以工程能力那一栏虽然标着「教材外」，但它是阶段 2 能不能做完的关键。&#10;            &lt;/Text&gt;&#10;        &lt;/Box&gt;&#10;&#10;        &lt;Box style={{&#10;            flex: 1, background: '#EEF5FB', borderRadius: 12, padding: 18,&#10;            flexDirection: 'column', gap: 8,&#10;        }}&gt;&#10;            &lt;Text style={{ fontSize: 18, fontWeight: 'bold', color: '#1F5FA8' }}&gt;教材没有的内容&lt;/Text&gt;&#10;            &lt;Text style={{ fontSize: 15, color: '#3A4A58', lineHeight: 1.7 }}&gt;&#10;                虚拟环境与依赖管理&lt;br /&gt;&#10;                Git 分支与合并&lt;br /&gt;&#10;                调试与读 traceback&lt;br /&gt;&#10;                代码组织与重构&lt;br /&gt;&#10;                查文档的方法&#10;            &lt;/Text&gt;&#10;        &lt;/Box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6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通过关卡之后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阶段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长什么样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让你能写，阶段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让你做完能交付。下面这条路径是教材下篇第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12–20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447800"/>
            <a:ext cx="10972800" cy="2381250"/>
          </a:xfrm>
          <a:prstGeom prst="rect">
            <a:avLst/>
          </a:prstGeom>
          <a:ln/>
        </p:spPr>
      </p:pic>
      <p:sp>
        <p:nvSpPr>
          <p:cNvPr id="238" name=""/>
          <p:cNvSpPr/>
          <p:nvPr/>
        </p:nvSpPr>
        <p:spPr>
          <a:xfrm rot="0" flipH="0" flipV="0">
            <a:off x="609600" y="3886200"/>
            <a:ext cx="59055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00100" y="4076700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阶段</a:t>
            </a:r>
            <a:r>
              <a:rPr lang="en-US" sz="135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与阶段</a:t>
            </a:r>
            <a:r>
              <a:rPr lang="en-US" sz="135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的差别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5524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的产出是「一个能跑的程序」，阶段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是「一个有上千行、能被别人接手、能长期改的项目」。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最大的变化是：代码量超过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300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行后，如果不拆模块，你自己也会找不到东西。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所以工程能力那一栏虽然标着「教材外」，但它是阶段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能不能做完的关键。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667500" y="3886200"/>
            <a:ext cx="4914900" cy="21336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38950" y="4057650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教材没有的内容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38950" y="4343400"/>
            <a:ext cx="4572000" cy="1457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虚拟环境与依赖管理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Git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分支与合并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调试与读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traceback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代码组织与重构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查文档的方法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16 / 17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6" name="" descr="&lt;Slide style={{&#10;    width: '1280px', height: '720px', backgroundColor: '#FAFCFE',&#10;    padding: 0, position: 'relative', overflow: 'hidden',&#10;}}&gt;&#10;    &lt;Box style={{ position: 'absolute', right: 0, top: 0, width: '420px', height: '720px', background: '#0E9B78' }} /&gt;&#10;    &lt;Box style={{ position: 'absolute', right: 0, top: 470, width: '420px', height: '250px', background: '#0A7A5F' }} /&gt;&#10;&#10;    &lt;Box style={{ position: 'absolute', right: 56, top: 130, width: '320px', flexDirection: 'column', gap: 16, alignItems: 'flex-end' }}&gt;&#10;        &lt;Text style={{ fontSize: 150, fontWeight: 'bold', color: '#FFFFFF', lineHeight: 0.9 }}&gt;08&lt;/Text&gt;&#10;        &lt;Box style={{ width: 90, height: 5, background: '#E08A15' }} /&gt;&#10;        &lt;Text style={{ fontSize: 30, fontWeight: 'bold', color: '#FFFFFF' }}&gt;类&lt;/Text&gt;&#10;        &lt;Text style={{ fontSize: 16, color: '#C6EDE0', lineHeight: 1.7, textAlign: 'right' }}&gt;&#10;            教材第 9 章 · W9–W10&lt;br /&gt;&#10;            允许慢 2 周&#10;        &lt;/Text&gt;&#10;    &lt;/Box&gt;&#10;&#10;    &lt;Box style={{ position: 'absolute', left: 64, top: 48, width: 760, flexDirection: 'column', alignItems: 'flex-start' }}&gt;&#10;        &lt;Text style={{ fontSize: 20, fontWeight: 'bold', color: '#E08A15' }}&gt;最劝退的一章 · 但不能绕开&lt;/Text&gt;&#10;        &lt;Text style={{ fontSize: 34, fontWeight: 'bold', color: '#16232E', marginTop: 10, lineHeight: 1.35 }}&gt;&#10;            Django 的模型、ORM、视图&lt;br /&gt;全部是类，学不会后面必然崩&#10;        &lt;/Text&gt;&#10;    &lt;/Box&gt;&#10;&#10;    &lt;Box style={{ position: 'absolute', left: 64, top: 176, width: 760, height: 336, flexDirection: 'column', gap: 12 }}&gt;&#10;        &lt;Box style={{ background: '#FFFFFF', borderRadius: 12, padding: '14px 20px', flexDirection: 'row', gap: 16, alignItems: 'flex-start', flex: 1 }}&gt;&#10;            &lt;Box style={{ width: 6, height: 6, borderRadius: 3, background: '#0E9B78', marginTop: 9 }} /&gt;&#10;            &lt;Box style={{ flex: 1, flexDirection: 'column', gap: 4 }}&gt;&#10;                &lt;Text style={{ fontSize: 17, fontWeight: 'bold', color: '#16232E' }}&gt;四次课的排法&lt;/Text&gt;&#10;                &lt;Text style={{ fontSize: 14, color: '#5A6B7A', lineHeight: 1.55 }}&gt;&#10;                    类与实例、属性与方法 → __init__ 与默认值属性 → 继承与重写 → 导入类、标准库与类的编程风格&#10;                &lt;/Text&gt;&#10;            &lt;/Box&gt;&#10;        &lt;/Box&gt;&#10;&#10;        &lt;Box style={{ background: '#FFFFFF', borderRadius: 12, padding: '14px 20px', flexDirection: 'row', gap: 16, alignItems: 'flex-start', flex: 1 }}&gt;&#10;            &lt;Box style={{ width: 6, height: 6, borderRadius: 3, background: '#0E9B78', marginTop: 9 }} /&gt;&#10;            &lt;Box style={{ flex: 1, flexDirection: 'column', gap: 4 }}&gt;&#10;                &lt;Text style={{ fontSize: 17, fontWeight: 'bold', color: '#16232E' }}&gt;降低门槛的做法&lt;/Text&gt;&#10;                &lt;Text style={{ fontSize: 14, color: '#5A6B7A', lineHeight: 1.55 }}&gt;&#10;                    自建 3 个类练手：学生记录、购物车、银行账户。不要只跟着教材的 Dog / Car 走。&#10;                    自己造过一遍，下一次才不用想。&#10;                &lt;/Text&gt;&#10;            &lt;/Box&gt;&#10;        &lt;/Box&gt;&#10;&#10;        &lt;Box style={{ background: '#FDF3E2', borderRadius: 12, padding: '14px 20px', flexDirection: 'row', gap: 16, alignItems: 'flex-start', flex: 1 }}&gt;&#10;            &lt;Box style={{ width: 6, height: 6, borderRadius: 3, background: '#D9820F', marginTop: 9 }} /&gt;&#10;            &lt;Box style={{ flex: 1, flexDirection: 'column', gap: 4 }}&gt;&#10;                &lt;Text style={{ fontSize: 18, fontWeight: 'bold', color: '#8A5A08' }}&gt;常见错误清单&lt;/Text&gt;&#10;                &lt;Text style={{ fontSize: 14, color: '#5A6B7A', lineHeight: 1.55 }}&gt;&#10;                    方法忘记写 self · 忘记 super().__init__() 就用父类属性 · 属性名前后不一致 · 把方法当属性调用&#10;                &lt;/Text&gt;&#10;            &lt;/Box&gt;&#10;        &lt;/Box&gt;&#10;    &lt;/Box&gt;&#10;&#10;    &lt;Box style={{&#10;        position: 'absolute', left: 64, top: 540, width: 760, height: 78,&#10;        background: '#16232E', borderRadius: 12, padding: '0 24px',&#10;        flexDirection: 'row', alignItems: 'center', gap: 18,&#10;    }}&gt;&#10;        &lt;Text style={{ fontSize: 17, fontWeight: 'bold', color: '#7FDCC0' }}&gt;过关标准&lt;/Text&gt;&#10;        &lt;Text style={{ fontSize: 15, color: '#D6E4F0', lineHeight: 1.55 }}&gt;&#10;            手写一个含 __init__、实例方法和一个子类的类，并能用自己的话解释 self 指向什么&#10;        &lt;/Text&gt;&#10;    &lt;/Box&gt;&#10;&#10;    &lt;Box style={{ position: 'absolute', left: 64, bottom: 24, flexDirection: 'row', gap: 40 }}&gt;&#10;        &lt;Text style={{ fontSize: 14, color: '#8A9AAA' }}&gt;Python 阶段 0–1 课程大纲&lt;/Text&gt;&#10;        &lt;Text style={{ fontSize: 14, color: '#8A9AAA' }}&gt;09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8191500" y="0"/>
            <a:ext cx="40005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8191500" y="4476750"/>
            <a:ext cx="4000500" cy="2381250"/>
          </a:xfrm>
          <a:prstGeom prst="rect">
            <a:avLst/>
          </a:prstGeom>
          <a:solidFill>
            <a:srgbClr val="0A7A5F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886950" y="1238250"/>
            <a:ext cx="177165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1080135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372850" y="31337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0077450" y="3629025"/>
            <a:ext cx="1581150" cy="628650"/>
          </a:xfrm>
          <a:prstGeom prst="rect"/>
        </p:spPr>
        <p:txBody>
          <a:bodyPr wrap="none" lIns="0" tIns="0" rIns="0" bIns="0"/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· W9–W10</a:t>
            </a:r>
            <a:endParaRPr/>
          </a:p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允许慢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最劝退的一章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但不能绕开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4371975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Django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的模型、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>ORM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、视图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全部是类，学不会后面必然崩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16764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800100" y="18954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09650" y="18097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09650" y="2047875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类与实例、属性与方法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__init__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与默认值属性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继承与重写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导入类、标准库与类的编程风格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2695575"/>
            <a:ext cx="72390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800100" y="2914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09650" y="282892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降低门槛的做法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09650" y="3067050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自建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个类练手：学生记录、购物车、银行账户。不要只跟着教材的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Dog / Car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走。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自己造过一遍，下一次才不用想。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962400"/>
            <a:ext cx="7239000" cy="914400"/>
          </a:xfrm>
          <a:prstGeom prst="roundRect">
            <a:avLst>
              <a:gd name="adj" fmla="val 125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800100" y="41814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009650" y="409575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09650" y="4343400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方法忘记写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self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忘记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super().__init__()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就用父类属性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属性名前后不一致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把方法当属性调用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5143500"/>
            <a:ext cx="7239000" cy="742950"/>
          </a:xfrm>
          <a:prstGeom prst="roundRect">
            <a:avLst>
              <a:gd name="adj" fmla="val 15385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54197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FDCC0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657350" y="5381625"/>
            <a:ext cx="52673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手写一个含</a:t>
            </a:r>
            <a:r>
              <a:rPr lang="en-US" sz="1125">
                <a:solidFill>
                  <a:srgbClr val="D6E4F0"/>
                </a:solidFill>
                <a:latin typeface="Microsoft YaHei"/>
                <a:ea typeface="Microsoft YaHei"/>
              </a:rPr>
              <a:t xml:space="preserve"> __init__</a:t>
            </a: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、实例方法和一个子类的类，并能用自己的话解释</a:t>
            </a:r>
            <a:r>
              <a:rPr lang="en-US" sz="1125">
                <a:solidFill>
                  <a:srgbClr val="D6E4F0"/>
                </a:solidFill>
                <a:latin typeface="Microsoft YaHei"/>
                <a:ea typeface="Microsoft YaHei"/>
              </a:rPr>
              <a:t xml:space="preserve"> self </a:t>
            </a: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指向什么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5908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09 / 17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73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单元 9–10 · 从「能跑」到「靠谱」&lt;/Text&gt;&#10;        &lt;Text style={{ fontSize: 18, color: '#5A6B7A', marginTop: 6 }}&gt;&#10;            程序要处理外部世界：文件会不存在、输入会出错、改代码会改坏旧功能&#10;        &lt;/Text&gt;&#10;    &lt;/Box&gt;&#10;&#10;    &lt;Box style={{ position: 'absolute', left: 64, top: 150, width: '566px', height: 440, flexDirection: 'column' }}&gt;&#10;        &lt;Box style={{&#10;            flex: 1, background: '#FFFFFF', border: '1px solid #D8E3EE', borderRadius: 12,&#10;            padding: 24, flexDirection: 'column', gap: 14,&#10;        }}&gt;&#10;            &lt;Box style={{ flexDirection: 'row', alignItems: 'center', gap: 12 }}&gt;&#10;                &lt;Box style={{ width: 46, height: 46, borderRadius: 8, background: '#1F5FA8', alignItems: 'center', justifyContent: 'center' }}&gt;&#10;                    &lt;Text style={{ fontSize: 22, fontWeight: 'bold', color: '#FFFFFF' }}&gt;9&lt;/Text&gt;&#10;                &lt;/Box&gt;&#10;                &lt;Box style={{ flexDirection: 'column' }}&gt;&#10;                    &lt;Text style={{ fontSize: 21, fontWeight: 'bold', color: '#16232E' }}&gt;文件和异常&lt;/Text&gt;&#10;                    &lt;Text style={{ fontSize: 13, color: '#8A9AAA' }}&gt;教材第 10 章 · W11 · 3 次课&lt;/Text&gt;&#10;                &lt;/Box&gt;&#10;            &lt;/Box&gt;&#10;&#10;            &lt;Box style={{ flex: 1, flexDirection: 'column', gap: 10 }}&gt;&#10;                &lt;Text style={{ fontSize: 16, color: '#3A4A58', lineHeight: 1.65 }}&gt;&#10;                    读取文件、写入与追加、with 语句、异常处理 try / except / else / finally、&#10;                    JSON 存取数据。&#10;                &lt;/Text&gt;&#10;                &lt;Box style={{ flexDirection: 'column', gap: 6 }}&gt;&#10;                    &lt;Text style={{ fontSize: 15, fontWeight: 'bold', color: '#1F5FA8' }}&gt;必须讲透的两个点&lt;/Text&gt;&#10;                    &lt;Text style={{ fontSize: 15, color: '#5A6B7A', lineHeight: 1.6 }}&gt;&#10;                        1. 永远用 with，文件会自动关闭；且必须写 encoding=&quot;utf-8&quot;，否则 Windows 上中文乱码。&#10;                    &lt;/Text&gt;&#10;                    &lt;Text style={{ fontSize: 15, color: '#5A6B7A', lineHeight: 1.6 }}&gt;&#10;                        2. else 子句在没有异常时才执行，适合「只在成功时保存文件」，这是最容易被忽略的用法。&#10;                    &lt;/Text&gt;&#10;                &lt;/Box&gt;&#10;            &lt;/Box&gt;&#10;&#10;            &lt;Box style={{&#10;                background: '#EEF5FB', borderRadius: 8, padding: '12px 14px',&#10;                marginTop: 'auto', flexDirection: 'column', gap: 3,&#10;            }}&gt;&#10;                &lt;Text style={{ fontSize: 13, color: '#8A9AAA' }}&gt;动手项目&lt;/Text&gt;&#10;                &lt;Text style={{ fontSize: 15, color: '#1F5FA8', fontWeight: 'bold' }}&gt;学习笔记管理 10.1–10.13&lt;/Text&gt;&#10;            &lt;/Box&gt;&#10;        &lt;/Box&gt;&#10;    &lt;/Box&gt;&#10;&#10;    &lt;Box style={{ position: 'absolute', right: 64, top: 150, width: '566px', height: 440, flexDirection: 'column' }}&gt;&#10;        &lt;Box style={{&#10;            flex: 1, background: '#FFFFFF', border: '1px solid #D8E3EE', borderRadius: 12,&#10;            padding: 24, flexDirection: 'column', gap: 14,&#10;        }}&gt;&#10;            &lt;Box style={{ flexDirection: 'row', alignItems: 'center', gap: 12 }}&gt;&#10;                &lt;Box style={{ width: 46, height: 46, borderRadius: 8, background: '#0E9B78', alignItems: 'center', justifyContent: 'center' }}&gt;&#10;                    &lt;Text style={{ fontSize: 22, fontWeight: 'bold', color: '#FFFFFF' }}&gt;10&lt;/Text&gt;&#10;                &lt;/Box&gt;&#10;                &lt;Box style={{ flexDirection: 'column' }}&gt;&#10;                    &lt;Text style={{ fontSize: 21, fontWeight: 'bold', color: '#16232E' }}&gt;测试代码&lt;/Text&gt;&#10;                    &lt;Text style={{ fontSize: 13, color: '#8A9AAA' }}&gt;教材第 11 章 · W12 · 3 次课&lt;/Text&gt;&#10;                &lt;/Box&gt;&#10;            &lt;/Box&gt;&#10;&#10;            &lt;Box style={{ flex: 1, flexDirection: 'column', gap: 10 }}&gt;&#10;                &lt;Text style={{ fontSize: 16, color: '#3A4A58', lineHeight: 1.65 }}&gt;&#10;                    为什么测试、pip 安装 pytest、测试函数与断言、测试类、fixture 与参数化。&#10;                &lt;/Text&gt;&#10;                &lt;Box style={{ flexDirection: 'column', gap: 6 }}&gt;&#10;                    &lt;Text style={{ fontSize: 15, fontWeight: 'bold', color: '#0E9B78' }}&gt;必须讲透的两个点&lt;/Text&gt;&#10;                    &lt;Text style={{ fontSize: 15, color: '#5A6B7A', lineHeight: 1.6 }}&gt;&#10;                        1. assert 后面不要写说明文字，pytest 会自动报告失败原因，写了反而覆盖掉。&#10;                    &lt;/Text&gt;&#10;                    &lt;Text style={{ fontSize: 15, color: '#5A6B7A', lineHeight: 1.6 }}&gt;&#10;                        2. 测试的价值在改代码之前。先写测试再改，才能知道有没有改坏东西。&#10;                    &lt;/Text&gt;&#10;                &lt;/Box&gt;&#10;            &lt;/Box&gt;&#10;&#10;            &lt;Box style={{&#10;                background: '#E8F7F1', borderRadius: 8, padding: '12px 14px',&#10;                marginTop: 'auto', flexDirection: 'column', gap: 3,&#10;            }}&gt;&#10;                &lt;Text style={{ fontSize: 13, color: '#6B9F8C' }}&gt;动手项目 + 加练&lt;/Text&gt;&#10;                &lt;Text style={{ fontSize: 15, color: '#0A7A5F', fontWeight: 'bold' }}&gt;&#10;                    投票分析器测试 11.1–11.3，再给单元 7/8/9 的代码补测试&#10;                &lt;/Text&gt;&#10;            &lt;/Box&gt;&#10;        &lt;/Box&gt;&#10;    &lt;/Box&gt;&#10;&#10;    &lt;Box style={{&#10;        position: 'absolute', left: 64, top: 606, width: '1152px', height: 56,&#10;        background: '#16232E', borderRadius: 10, flexDirection: 'row',&#10;        alignItems: 'center', padding: '0 24px', gap: 16,&#10;    }}&gt;&#10;        &lt;Text style={{ fontSize: 17, fontWeight: 'bold', color: '#E8B36A' }}&gt;产出&lt;/Text&gt;&#10;        &lt;Text style={{ fontSize: 16, color: '#D6E4F0' }}&gt;&#10;            一个能存到 JSON 的学习笔记程序 + 一个至少 10 条测试的 pytest 套件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0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9–10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从「能跑」到「靠谱」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程序要处理外部世界：文件会不存在、输入会出错、改代码会改坏旧功能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1428750"/>
            <a:ext cx="539115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838200" y="1657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90600" y="17526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390650" y="1676400"/>
            <a:ext cx="1552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文件和异常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390650" y="192405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W11 · 3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2228850"/>
            <a:ext cx="4933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读取文件、写入与追加、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with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语句、异常处理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try / except / else / finally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存取数据。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38200" y="293370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必须讲透的两个点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38200" y="3162300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永远用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with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，文件会自动关闭；且必须写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encoding="utf-8"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，否则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Windows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上中文乱码。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38200" y="3771900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2. 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子句在没有异常时才执行，适合「只在成功时保存文件」，这是最容易被忽略的用法。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38200" y="4810125"/>
            <a:ext cx="4933950" cy="581025"/>
          </a:xfrm>
          <a:prstGeom prst="roundRect">
            <a:avLst>
              <a:gd name="adj" fmla="val 13115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71550" y="4924425"/>
            <a:ext cx="466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71550" y="510540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学习笔记管理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10.1–10.13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191250" y="1428750"/>
            <a:ext cx="539115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6419850" y="1657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505575" y="17526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972300" y="1676400"/>
            <a:ext cx="1552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测试代码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972300" y="192405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W12 · 3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419850" y="2228850"/>
            <a:ext cx="4933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为什么测试、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pip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安装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pytest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、测试函数与断言、测试类、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fixture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与参数化。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419850" y="293370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9B78"/>
                </a:solidFill>
                <a:latin typeface="Microsoft YaHei"/>
                <a:ea typeface="Microsoft YaHei"/>
              </a:rPr>
              <a:t>必须讲透的两个点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419850" y="3162300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1. assert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后面不要写说明文字，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pytest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会自动报告失败原因，写了反而覆盖掉。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419850" y="3771900"/>
            <a:ext cx="49339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2.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测试的价值在改代码之前。先写测试再改，才能知道有没有改坏东西。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419850" y="4810125"/>
            <a:ext cx="4933950" cy="581025"/>
          </a:xfrm>
          <a:prstGeom prst="roundRect">
            <a:avLst>
              <a:gd name="adj" fmla="val 13115"/>
            </a:avLst>
          </a:prstGeom>
          <a:solidFill>
            <a:srgbClr val="E8F7F1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553200" y="4924425"/>
            <a:ext cx="466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9F8C"/>
                </a:solidFill>
                <a:latin typeface="Microsoft YaHei"/>
                <a:ea typeface="Microsoft YaHei"/>
              </a:rPr>
              <a:t>动手项目</a:t>
            </a:r>
            <a:r>
              <a:rPr lang="en-US" sz="975">
                <a:solidFill>
                  <a:srgbClr val="6B9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6B9F8C"/>
                </a:solidFill>
                <a:latin typeface="Microsoft YaHei"/>
                <a:ea typeface="Microsoft YaHei"/>
              </a:rPr>
              <a:t>加练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553200" y="510540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投票分析器测试</a:t>
            </a:r>
            <a:r>
              <a:rPr lang="en-US" sz="1125" b="1">
                <a:solidFill>
                  <a:srgbClr val="0A7A5F"/>
                </a:solidFill>
                <a:latin typeface="Microsoft YaHei"/>
                <a:ea typeface="Microsoft YaHei"/>
              </a:rPr>
              <a:t xml:space="preserve"> 11.1–11.3</a:t>
            </a: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，再给单元</a:t>
            </a:r>
            <a:r>
              <a:rPr lang="en-US" sz="1125" b="1">
                <a:solidFill>
                  <a:srgbClr val="0A7A5F"/>
                </a:solidFill>
                <a:latin typeface="Microsoft YaHei"/>
                <a:ea typeface="Microsoft YaHei"/>
              </a:rPr>
              <a:t xml:space="preserve"> 7/8/9 </a:t>
            </a: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的代码补测试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577215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59436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B36A"/>
                </a:solidFill>
                <a:latin typeface="Microsoft YaHei"/>
                <a:ea typeface="Microsoft YaHei"/>
              </a:rPr>
              <a:t>产出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314450" y="5943600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一个能存到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的学习笔记程序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一个至少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条测试的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套件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10 / 17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32" name="" descr="&lt;Slide style={{&#10;    width: '1280px', height: '720px', backgroundColor: '#16232E',&#10;    padding: 0, position: 'relative', overflow: 'hidden',&#10;}}&gt;&#10;    &lt;Box style={{ position: 'absolute', left: 0, top: 0, width: '1280px', height: '720px', background: 'linear-gradient(135deg, #16232E 0%, #1F5FA8 100%)', opacity: 0.9 }} /&gt;&#10;    &lt;Box style={{ position: 'absolute', left: 0, top: 560, width: '1280px', height: '160px', background: '#0B1620', opacity: 0.5 }} /&gt;&#10;&#10;    &lt;Box style={{ position: 'absolute', left: 120, top: 150, width: '520px', flexDirection: 'column', gap: 20 }}&gt;&#10;        &lt;Text style={{ fontSize: 190, fontWeight: 'bold', color: '#E08A15', lineHeight: 0.85 }}&gt;11&lt;/Text&gt;&#10;        &lt;Box style={{ width: 120, height: 6, background: '#FFFFFF' }} /&gt;&#10;        &lt;Text style={{ fontSize: 42, fontWeight: 'bold', color: '#FFFFFF', lineHeight: 1.3 }}&gt;&#10;            总复习&lt;br /&gt;+ 关卡验收&#10;        &lt;/Text&gt;&#10;    &lt;/Box&gt;&#10;&#10;    &lt;Box style={{ position: 'absolute', left: 720, top: 150, width: '440px', flexDirection: 'column', gap: 18 }}&gt;&#10;        &lt;Box style={{ background: 'rgba(255,255,255,0.10)', borderRadius: 12, padding: '20px 22px', flexDirection: 'column', gap: 8 }}&gt;&#10;            &lt;Text style={{ fontSize: 20, fontWeight: 'bold', color: '#FFFFFF' }}&gt;课 1 · 串讲&lt;/Text&gt;&#10;            &lt;Text style={{ fontSize: 16, color: '#C9DEEE', lineHeight: 1.7 }}&gt;&#10;                画一张从变量到类的知识图谱，把 11 章串成一条线。&#10;                集中复盘最容易错的十处：缩进、索引、sort、传参、self、super、with、encoding。&#10;            &lt;/Text&gt;&#10;        &lt;/Box&gt;&#10;&#10;        &lt;Box style={{ background: 'rgba(255,255,255,0.10)', borderRadius: 12, padding: '20px 22px', flexDirection: 'column', gap: 8 }}&gt;&#10;            &lt;Text style={{ fontSize: 20, fontWeight: 'bold', color: '#FFFFFF' }}&gt;课 2 · 需求拆解示范&lt;/Text&gt;&#10;            &lt;Text style={{ fontSize: 16, color: '#C9DEEE', lineHeight: 1.7 }}&gt;&#10;                教师当众把一个模糊需求拆成步骤清单，再拆成函数。&#10;                学员看完整过程，这一步是给阶段 2 的大项目做预演。&#10;            &lt;/Text&gt;&#10;        &lt;/Box&gt;&#10;&#10;        &lt;Box style={{ background: '#E08A15', borderRadius: 12, padding: '20px 22px', flexDirection: 'column', gap: 8 }}&gt;&#10;            &lt;Text style={{ fontSize: 20, fontWeight: 'bold', color: '#FFFFFF' }}&gt;课 3 · 关卡 1 现场测评&lt;/Text&gt;&#10;            &lt;Text style={{ fontSize: 16, color: '#FDF0DC', lineHeight: 1.7 }}&gt;&#10;                限时 2 小时，四项任务当场完成。&#10;                不查资料，测的是能不能独立写，不是记不记得住。&#10;            &lt;/Text&gt;&#10;        &lt;/Box&gt;&#10;    &lt;/Box&gt;&#10;&#10;    &lt;Box style={{ position: 'absolute', left: 120, bottom: 60, width: '1040px', flexDirection: 'row', justifyContent: 'space-between', alignItems: 'center' }}&gt;&#10;        &lt;Text style={{ fontSize: 15, color: '#8FB4D8' }}&gt;教材第 1–11 章全部结束 · 约 40 小时 · 52 道练习题&lt;/Text&gt;&#10;        &lt;Text style={{ fontSize: 14, color: '#8FB4D8' }}&gt;11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32E">
                  <a:alpha val="90000"/>
                </a:srgbClr>
              </a:gs>
              <a:gs pos="100000">
                <a:srgbClr val="1F5FA8">
                  <a:alpha val="9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0" y="5334000"/>
            <a:ext cx="12192000" cy="1524000"/>
          </a:xfrm>
          <a:prstGeom prst="rect">
            <a:avLst/>
          </a:prstGeom>
          <a:solidFill>
            <a:srgbClr val="0B1620">
              <a:alpha val="50000"/>
            </a:srgbClr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143000" y="1428750"/>
            <a:ext cx="4953000" cy="1847850"/>
          </a:xfrm>
          <a:prstGeom prst="rect"/>
        </p:spPr>
        <p:txBody>
          <a:bodyPr wrap="none" lIns="0" tIns="0" rIns="0" bIns="0"/>
          <a:p>
            <a:pPr>
              <a:lnSpc>
                <a:spcPct val="85000"/>
              </a:lnSpc>
            </a:pPr>
            <a:r>
              <a:rPr lang="en-US" sz="14250" b="1">
                <a:solidFill>
                  <a:srgbClr val="E08A15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143000" y="3467100"/>
            <a:ext cx="1143000" cy="57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43000" y="3714750"/>
            <a:ext cx="4953000" cy="12573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总复习</a:t>
            </a:r>
            <a:endParaRPr/>
          </a:p>
          <a:p>
            <a:pPr>
              <a:lnSpc>
                <a:spcPct val="130000"/>
              </a:lnSpc>
            </a:pP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关卡验收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6858000" y="1428750"/>
            <a:ext cx="4191000" cy="161925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067550" y="1619250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串讲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067550" y="1924050"/>
            <a:ext cx="3771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画一张从变量到类的知识图谱，把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章串成一条线。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集中复盘最容易错的十处：缩进、索引、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sort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、传参、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self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super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with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encoding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858000" y="3219450"/>
            <a:ext cx="4191000" cy="131445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067550" y="3409950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需求拆解示范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067550" y="3714750"/>
            <a:ext cx="3771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教师当众把一个模糊需求拆成步骤清单，再拆成函数。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学员看完整过程，这一步是给阶段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的大项目做预演。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858000" y="4705350"/>
            <a:ext cx="4191000" cy="1314450"/>
          </a:xfrm>
          <a:prstGeom prst="roundRect">
            <a:avLst>
              <a:gd name="adj" fmla="val 8696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067550" y="4895850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关卡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现场测评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067550" y="5200650"/>
            <a:ext cx="3771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FDF0DC"/>
                </a:solidFill>
                <a:latin typeface="Microsoft YaHei"/>
                <a:ea typeface="Microsoft YaHei"/>
              </a:rPr>
              <a:t>限时</a:t>
            </a:r>
            <a:r>
              <a:rPr lang="en-US" sz="1200">
                <a:solidFill>
                  <a:srgbClr val="FDF0DC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FDF0DC"/>
                </a:solidFill>
                <a:latin typeface="Microsoft YaHei"/>
                <a:ea typeface="Microsoft YaHei"/>
              </a:rPr>
              <a:t>小时，四项任务当场完成。</a:t>
            </a:r>
            <a:r>
              <a:rPr lang="en-US" sz="1200">
                <a:solidFill>
                  <a:srgbClr val="FDF0D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DF0DC"/>
                </a:solidFill>
                <a:latin typeface="Microsoft YaHei"/>
                <a:ea typeface="Microsoft YaHei"/>
              </a:rPr>
              <a:t>不查资料，测的是能不能独立写，不是记不记得住。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43000" y="6115050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教材第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1–11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章全部结束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小时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· 52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道练习题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0591800" y="6124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B4D8"/>
                </a:solidFill>
                <a:latin typeface="Microsoft YaHei"/>
                <a:ea typeface="Microsoft YaHei"/>
              </a:rPr>
              <a:t>11 / 17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50" name="" descr="&lt;Slide style={{&#10;    width: '1280px', height: '720px', backgroundColor: '#FAFCFE',&#10;    padding: 0, position: 'relative', overflow: 'hidden',&#10;}}&gt;&#10;    &lt;Box style={{ position: 'absolute', left: 64, top: 36, width: '1152px', flexDirection: 'column' }}&gt;&#10;        &lt;Box style={{ flexDirection: 'row', alignItems: 'center', gap: 16 }}&gt;&#10;            &lt;Box style={{ background: '#E08A15', borderRadius: 6, padding: '6px 16px' }}&gt;&#10;                &lt;Text style={{ fontSize: 15, fontWeight: 'bold', color: '#FFFFFF', letterSpacing: 2 }}&gt;关卡 1&lt;/Text&gt;&#10;            &lt;/Box&gt;&#10;            &lt;Text style={{ fontSize: 34, fontWeight: 'bold', color: '#16232E' }}&gt;四项全部达标，才准进入阶段 2&lt;/Text&gt;&#10;        &lt;/Box&gt;&#10;        &lt;Text style={{ fontSize: 17, color: '#5A6B7A', marginTop: 8 }}&gt;&#10;            限时 2 小时、不查资料、当场完成。测的不是记忆力，是能不能独立动手。&#10;        &lt;/Text&gt;&#10;    &lt;/Box&gt;&#10;&#10;    &lt;Box style={{ position: 'absolute', left: 64, top: 148, width: '1152px', height: 396, flexDirection: 'row', gap: 14 }}&gt;&#10;        &lt;Box style={{&#10;            flex: 1, background: '#FFFFFF', border: '1px solid #D8E3EE', borderTop: '5px solid #1F5FA8',&#10;            borderRadius: 12, padding: 22, flexDirection: 'column', gap: 12,&#10;        }}&gt;&#10;            &lt;Text style={{ fontSize: 62, fontWeight: 'bold', color: '#1F5FA8', lineHeight: 1 }}&gt;1&lt;/Text&gt;&#10;            &lt;Text style={{ fontSize: 19, fontWeight: 'bold', color: '#16232E' }}&gt;手写猜数字游戏&lt;/Text&gt;&#10;            &lt;Box style={{ flex: 1, flexDirection: 'column', gap: 8, marginTop: 2 }}&gt;&#10;                &lt;Text style={{ fontSize: 15, color: '#5A6B7A', lineHeight: 1.65 }}&gt;&#10;                    10 分钟内不查资料写出完整程序。&#10;                &lt;/Text&gt;&#10;                &lt;Text style={{ fontSize: 15, color: '#5A6B7A', lineHeight: 1.65 }}&gt;&#10;                    必须用到 while 循环、input()、if 判断、随机数。&#10;                &lt;/Text&gt;&#10;                &lt;Text style={{ fontSize: 15, color: '#5A6B7A', lineHeight: 1.65 }}&gt;&#10;                    输入非数字不能崩溃，要有处理。&#10;                &lt;/Text&gt;&#10;            &lt;/Box&gt;&#10;            &lt;Box style={{ background: '#EEF5FB', borderRadius: 6, padding: '8px 12px', marginTop: 'auto' }}&gt;&#10;                &lt;Text style={{ fontSize: 14, color: '#1F5FA8', fontWeight: 'bold' }}&gt;考：循环 + 输入校验&lt;/Text&gt;&#10;            &lt;/Box&gt;&#10;        &lt;/Box&gt;&#10;&#10;        &lt;Box style={{&#10;            flex: 1, background: '#FFFFFF', border: '1px solid #D8E3EE', borderTop: '5px solid #1F5FA8',&#10;            borderRadius: 12, padding: 22, flexDirection: 'column', gap: 12,&#10;        }}&gt;&#10;            &lt;Text style={{ fontSize: 62, fontWeight: 'bold', color: '#1F5FA8', lineHeight: 1 }}&gt;2&lt;/Text&gt;&#10;            &lt;Text style={{ fontSize: 19, fontWeight: 'bold', color: '#16232E' }}&gt;手写一个类&lt;/Text&gt;&#10;            &lt;Box style={{ flex: 1, flexDirection: 'column', gap: 8, marginTop: 2 }}&gt;&#10;                &lt;Text style={{ fontSize: 15, color: '#5A6B7A', lineHeight: 1.65 }}&gt;&#10;                    含 __init__、至少两个实例方法、一个子类。&#10;                &lt;/Text&gt;&#10;                &lt;Text style={{ fontSize: 15, color: '#5A6B7A', lineHeight: 1.65 }}&gt;&#10;                    子类要重写父类的方法。&#10;                &lt;/Text&gt;&#10;                &lt;Text style={{ fontSize: 15, color: '#5A6B7A', lineHeight: 1.65 }}&gt;&#10;                    能口述 self 指向什么才算过。&#10;                &lt;/Text&gt;&#10;            &lt;/Box&gt;&#10;            &lt;Box style={{ background: '#EEF5FB', borderRadius: 6, padding: '8px 12px', marginTop: 'auto' }}&gt;&#10;                &lt;Text style={{ fontSize: 14, color: '#1F5FA8', fontWeight: 'bold' }}&gt;考：面向对象建模&lt;/Text&gt;&#10;            &lt;/Box&gt;&#10;        &lt;/Box&gt;&#10;&#10;        &lt;Box style={{&#10;            flex: 1, background: '#FFFFFF', border: '1px solid #D8E3EE', borderTop: '5px solid #0E9B78',&#10;            borderRadius: 12, padding: 22, flexDirection: 'column', gap: 12,&#10;        }}&gt;&#10;            &lt;Text style={{ fontSize: 62, fontWeight: 'bold', color: '#0E9B78', lineHeight: 1 }}&gt;3&lt;/Text&gt;&#10;            &lt;Text style={{ fontSize: 19, fontWeight: 'bold', color: '#16232E' }}&gt;写 pytest 测试&lt;/Text&gt;&#10;            &lt;Box style={{ flex: 1, flexDirection: 'column', gap: 8, marginTop: 2 }}&gt;&#10;                &lt;Text style={{ fontSize: 15, color: '#5A6B7A', lineHeight: 1.65 }}&gt;&#10;                    给单元 7 写过的任意一个函数写 3 条测试。&#10;                &lt;/Text&gt;&#10;                &lt;Text style={{ fontSize: 15, color: '#5A6B7A', lineHeight: 1.65 }}&gt;&#10;                    包含一条正常输入、一条边界、一条异常。&#10;                &lt;/Text&gt;&#10;                &lt;Text style={{ fontSize: 15, color: '#5A6B7A', lineHeight: 1.65 }}&gt;&#10;                    pytest 运行全部通过。&#10;                &lt;/Text&gt;&#10;            &lt;/Box&gt;&#10;            &lt;Box style={{ background: '#E8F7F1', borderRadius: 6, padding: '8px 12px', marginTop: 'auto' }}&gt;&#10;                &lt;Text style={{ fontSize: 14, color: '#0A7A5F', fontWeight: 'bold' }}&gt;考：工程习惯&lt;/Text&gt;&#10;            &lt;/Box&gt;&#10;        &lt;/Box&gt;&#10;&#10;        &lt;Box style={{&#10;            flex: 1, background: '#FFFFFF', border: '1px solid #D8E3EE', borderTop: '5px solid #E08A15',&#10;            borderRadius: 12, padding: 22, flexDirection: 'column', gap: 12,&#10;        }}&gt;&#10;            &lt;Text style={{ fontSize: 62, fontWeight: 'bold', color: '#E08A15', lineHeight: 1 }}&gt;4&lt;/Text&gt;&#10;            &lt;Text style={{ fontSize: 19, fontWeight: 'bold', color: '#16232E' }}&gt;排错能力&lt;/Text&gt;&#10;            &lt;Box style={{ flex: 1, flexDirection: 'column', gap: 8, marginTop: 2 }}&gt;&#10;                &lt;Text style={{ fontSize: 15, color: '#5A6B7A', lineHeight: 1.65 }}&gt;&#10;                    给一段 30 行、含 3 个 bug 的脚本。&#10;                &lt;/Text&gt;&#10;                &lt;Text style={{ fontSize: 15, color: '#5A6B7A', lineHeight: 1.65 }}&gt;&#10;                    分别修复缩进错误、变量名错误、逻辑错误。&#10;                &lt;/Text&gt;&#10;                &lt;Text style={{ fontSize: 15, color: '#5A6B7A', lineHeight: 1.65 }}&gt;&#10;                    要求能读懂 traceback 定位到行。&#10;                &lt;/Text&gt;&#10;            &lt;/Box&gt;&#10;            &lt;Box style={{ background: '#FDF3E2', borderRadius: 6, padding: '8px 12px', marginTop: 'auto' }}&gt;&#10;                &lt;Text style={{ fontSize: 14, color: '#8A5A08', fontWeight: 'bold' }}&gt;考：读报错的能力&lt;/Text&gt;&#10;            &lt;/Box&gt;&#10;        &lt;/Box&gt;&#10;    &lt;/Box&gt;&#10;&#10;    &lt;Box style={{&#10;        position: 'absolute', left: 64, top: 564, width: '1152px', height: 100,&#10;        background: '#16232E', borderRadius: 12, flexDirection: 'row',&#10;        alignItems: 'center', padding: '0 28px', gap: 22,&#10;    }}&gt;&#10;        &lt;Text style={{ fontSize: 52, fontWeight: 'bold', color: '#E08A15', lineHeight: 1 }}&gt;4/4&lt;/Text&gt;&#10;        &lt;Box style={{ width: 2, height: 56, background: '#3A5064' }} /&gt;&#10;        &lt;Text style={{ fontSize: 17, color: '#D6E4F0', lineHeight: 1.65 }}&gt;&#10;            四项全部达标 = 你已经能独立写代码了，准予进入阶段 2（pygame → 数据可视化 → Django）。&lt;br /&gt;&#10;            任何一项不达标：只补那一项，一周内重测，不要整体重学。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2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09600" y="400050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FFFFF"/>
                </a:solidFill>
                <a:latin typeface="Microsoft YaHei"/>
                <a:ea typeface="Microsoft YaHei"/>
              </a:rPr>
              <a:t>关卡</a:t>
            </a:r>
            <a:r>
              <a:rPr lang="en-US" sz="1125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562100" y="342900"/>
            <a:ext cx="4514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四项全部达标，才准进入阶段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8096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A6B7A"/>
                </a:solidFill>
                <a:latin typeface="Microsoft YaHei"/>
                <a:ea typeface="Microsoft YaHei"/>
              </a:rPr>
              <a:t>限时</a:t>
            </a:r>
            <a:r>
              <a:rPr lang="en-US" sz="127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75">
                <a:solidFill>
                  <a:srgbClr val="5A6B7A"/>
                </a:solidFill>
                <a:latin typeface="Microsoft YaHei"/>
                <a:ea typeface="Microsoft YaHei"/>
              </a:rPr>
              <a:t>小时、不查资料、当场完成。测的不是记忆力，是能不能独立动手。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1457325"/>
            <a:ext cx="2647950" cy="37719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09600" y="1457325"/>
            <a:ext cx="2647950" cy="3771900"/>
          </a:xfrm>
          <a:custGeom>
            <a:pathLst>
              <a:path w="278" h="396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7"/>
                  <a:pt x="274" y="5"/>
                  <a:pt x="271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19150" y="1666875"/>
            <a:ext cx="22288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F5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19150" y="24955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手写猜数字游戏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19150" y="2847975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分钟内不查资料写出完整程序。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19150" y="320992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必须用到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while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循环、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input()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if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判断、随机数。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19150" y="3857625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输入非数字不能崩溃，要有处理。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819150" y="4657725"/>
            <a:ext cx="2228850" cy="314325"/>
          </a:xfrm>
          <a:prstGeom prst="roundRect">
            <a:avLst>
              <a:gd name="adj" fmla="val 18182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33450" y="4733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5FA8"/>
                </a:solidFill>
                <a:latin typeface="Microsoft YaHei"/>
                <a:ea typeface="Microsoft YaHei"/>
              </a:rPr>
              <a:t>考：循环</a:t>
            </a:r>
            <a:r>
              <a:rPr lang="en-US" sz="105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 b="1">
                <a:solidFill>
                  <a:srgbClr val="1F5FA8"/>
                </a:solidFill>
                <a:latin typeface="Microsoft YaHei"/>
                <a:ea typeface="Microsoft YaHei"/>
              </a:rPr>
              <a:t>输入校验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3390900" y="1457325"/>
            <a:ext cx="2638425" cy="3771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3390900" y="1457325"/>
            <a:ext cx="2638425" cy="3771900"/>
          </a:xfrm>
          <a:custGeom>
            <a:pathLst>
              <a:path w="277" h="396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7"/>
                  <a:pt x="273" y="5"/>
                  <a:pt x="270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600450" y="1666875"/>
            <a:ext cx="22193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F5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600450" y="24955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手写一个类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600450" y="2847975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含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__init__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、至少两个实例方法、一个子类。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3600450" y="3495675"/>
            <a:ext cx="2219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子类要重写父类的方法。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600450" y="3857625"/>
            <a:ext cx="2219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能口述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self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指向什么才算过。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3600450" y="4657725"/>
            <a:ext cx="2219325" cy="314325"/>
          </a:xfrm>
          <a:prstGeom prst="roundRect">
            <a:avLst>
              <a:gd name="adj" fmla="val 18182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714750" y="4733925"/>
            <a:ext cx="199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5FA8"/>
                </a:solidFill>
                <a:latin typeface="Microsoft YaHei"/>
                <a:ea typeface="Microsoft YaHei"/>
              </a:rPr>
              <a:t>考：面向对象建模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162675" y="1457325"/>
            <a:ext cx="2647950" cy="37719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6162675" y="1457325"/>
            <a:ext cx="2647950" cy="3771900"/>
          </a:xfrm>
          <a:custGeom>
            <a:pathLst>
              <a:path w="278" h="396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7"/>
                  <a:pt x="274" y="5"/>
                  <a:pt x="271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0E9B7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372225" y="1666875"/>
            <a:ext cx="22288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0E9B7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372225" y="24955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写</a:t>
            </a:r>
            <a:r>
              <a:rPr lang="en-US" sz="1425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372225" y="284797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给单元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写过的任意一个函数写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条测试。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372225" y="349567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包含一条正常输入、一条边界、一条异常。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372225" y="4143375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pytest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运行全部通过。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372225" y="4657725"/>
            <a:ext cx="2228850" cy="314325"/>
          </a:xfrm>
          <a:prstGeom prst="roundRect">
            <a:avLst>
              <a:gd name="adj" fmla="val 18182"/>
            </a:avLst>
          </a:prstGeom>
          <a:solidFill>
            <a:srgbClr val="E8F7F1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486525" y="4733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A7A5F"/>
                </a:solidFill>
                <a:latin typeface="Microsoft YaHei"/>
                <a:ea typeface="Microsoft YaHei"/>
              </a:rPr>
              <a:t>考：工程习惯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8943975" y="1457325"/>
            <a:ext cx="2638425" cy="3771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8943975" y="1457325"/>
            <a:ext cx="2638425" cy="3771900"/>
          </a:xfrm>
          <a:custGeom>
            <a:pathLst>
              <a:path w="277" h="396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7"/>
                  <a:pt x="273" y="5"/>
                  <a:pt x="270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E08A15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9153525" y="1666875"/>
            <a:ext cx="22193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E08A15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153525" y="24955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排错能力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9153525" y="2847975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给一段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行、含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的脚本。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153525" y="3495675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分别修复缩进错误、变量名错误、逻辑错误。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9153525" y="4143375"/>
            <a:ext cx="2219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要求能读懂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traceback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定位到行。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9153525" y="4657725"/>
            <a:ext cx="2219325" cy="314325"/>
          </a:xfrm>
          <a:prstGeom prst="roundRect">
            <a:avLst>
              <a:gd name="adj" fmla="val 18182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9267825" y="4733925"/>
            <a:ext cx="199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5A08"/>
                </a:solidFill>
                <a:latin typeface="Microsoft YaHei"/>
                <a:ea typeface="Microsoft YaHei"/>
              </a:rPr>
              <a:t>考：读报错的能力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5372100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76300" y="5553075"/>
            <a:ext cx="8477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E08A15"/>
                </a:solidFill>
                <a:latin typeface="Microsoft YaHei"/>
                <a:ea typeface="Microsoft YaHei"/>
              </a:rPr>
              <a:t>4/4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1933575" y="5581650"/>
            <a:ext cx="19050" cy="533400"/>
          </a:xfrm>
          <a:prstGeom prst="rect">
            <a:avLst/>
          </a:prstGeom>
          <a:solidFill>
            <a:srgbClr val="3A5064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2162175" y="5524500"/>
            <a:ext cx="708660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四项全部达标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你已经能独立写代码了，准予进入阶段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pygame →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数据可视化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→ Django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）。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任何一项不达标：只补那一项，一周内重测，不要整体重学。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12 / 17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98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练习题库 · 五档递进共 52 题&lt;/Text&gt;&#10;        &lt;Text style={{ fontSize: 18, color: '#5A6B7A', marginTop: 6 }}&gt;&#10;            每题都有参考答案与解析。卡 15 分钟再看答案，看完必须关掉重写一遍&#10;        &lt;/Text&gt;&#10;    &lt;/Box&gt;&#10;&#10;    &lt;Box style={{ position: 'absolute', left: 64, top: 152, width: '700px', height: 400 }}&gt;&#10;        &lt;svg width='700' height='400' viewBox='0 0 700 400'&gt;&#10;            &lt;line x1='60' y1='340' x2='680' y2='340' stroke='#D8E3EE' strokeWidth='2' /&gt;&#10;&#10;            &lt;rect x='80' y='250' width='104' height='90' rx='6' fill='#1F5FA8' /&gt;&#10;            &lt;text x='132' y='285' fontSize='24' fontWeight='bold' fill='#FFFFFF' textAnchor='middle' fontFamily='Inter'&gt;L1&lt;/text&gt;&#10;            &lt;text x='132' y='315' fontSize='14' fill='#CFE2F5' textAnchor='middle' fontFamily='Inter'&gt;12 题&lt;/text&gt;&#10;            &lt;text x='132' y='366' fontSize='13' fill='#5A6B7A' textAnchor='middle' fontFamily='Inter'&gt;变量 / 列表&lt;/text&gt;&#10;            &lt;text x='132' y='388' fontSize='13' fill='#8A9AAA' textAnchor='middle' fontFamily='Inter'&gt;3 小时&lt;/text&gt;&#10;&#10;            &lt;rect x='204' y='210' width='104' height='130' rx='6' fill='#1F5FA8' /&gt;&#10;            &lt;text x='256' y='252' fontSize='24' fontWeight='bold' fill='#FFFFFF' textAnchor='middle' fontFamily='Inter'&gt;L2&lt;/text&gt;&#10;            &lt;text x='256' y='284' fontSize='14' fill='#CFE2F5' textAnchor='middle' fontFamily='Inter'&gt;16 题&lt;/text&gt;&#10;            &lt;text x='256' y='312' fontSize='13' fill='#5A6B7A' textAnchor='middle' fontFamily='Inter'&gt;循环 / 条件 /&lt;/text&gt;&#10;            &lt;text x='256' y='332' fontSize='13' fill='#5A6B7A' textAnchor='middle' fontFamily='Inter'&gt;字典 / while&lt;/text&gt;&#10;            &lt;text x='256' y='366' fontSize='13' fill='#8A9AAA' textAnchor='middle' fontFamily='Inter'&gt;6 小时&lt;/text&gt;&#10;&#10;            &lt;rect x='328' y='180' width='104' height='160' rx='6' fill='#2F7BC8' /&gt;&#10;            &lt;text x='380' y='228' fontSize='24' fontWeight='bold' fill='#FFFFFF' textAnchor='middle' fontFamily='Inter'&gt;L3&lt;/text&gt;&#10;            &lt;text x='380' y='260' fontSize='14' fill='#FFFFFF' textAnchor='middle' fontFamily='Inter'&gt;8 题&lt;/text&gt;&#10;            &lt;text x='380' y='288' fontSize='13' fill='#EAF3FC' textAnchor='middle' fontFamily='Inter'&gt;函数 / 递归 /&lt;/text&gt;&#10;            &lt;text x='380' y='308' fontSize='13' fill='#EAF3FC' textAnchor='middle' fontFamily='Inter'&gt;装饰器 / 模块&lt;/text&gt;&#10;            &lt;text x='380' y='366' fontSize='13' fill='#8A9AAA' textAnchor='middle' fontFamily='Inter'&gt;4 小时&lt;/text&gt;&#10;&#10;            &lt;rect x='452' y='150' width='104' height='190' rx='6' fill='#0E9B78' /&gt;&#10;            &lt;text x='504' y='205' fontSize='24' fontWeight='bold' fill='#FFFFFF' textAnchor='middle' fontFamily='Inter'&gt;L4&lt;/text&gt;&#10;            &lt;text x='504' y='237' fontSize='14' fill='#FFFFFF' textAnchor='middle' fontFamily='Inter'&gt;8 题&lt;/text&gt;&#10;            &lt;text x='504' y='265' fontSize='13' fill='#D7F0E7' textAnchor='middle' fontFamily='Inter'&gt;类 / 继承 /&lt;/text&gt;&#10;            &lt;text x='504' y='285' fontSize='13' fill='#D7F0E7' textAnchor='middle' fontFamily='Inter'&gt;组合 / dataclass&lt;/text&gt;&#10;            &lt;text x='504' y='366' fontSize='13' fill='#8A9AAA' textAnchor='middle' fontFamily='Inter'&gt;5 小时&lt;/text&gt;&#10;&#10;            &lt;rect x='576' y='112' width='104' height='228' rx='6' fill='#E08A15' /&gt;&#10;            &lt;text x='628' y='175' fontSize='24' fontWeight='bold' fill='#FFFFFF' textAnchor='middle' fontFamily='Inter'&gt;L5&lt;/text&gt;&#10;            &lt;text x='628' y='207' fontSize='14' fill='#FFFFFF' textAnchor='middle' fontFamily='Inter'&gt;8 题&lt;/text&gt;&#10;            &lt;text x='628' y='235' fontSize='13' fill='#FDF0DC' textAnchor='middle' fontFamily='Inter'&gt;文件 / 异常 /&lt;/text&gt;&#10;            &lt;text x='628' y='255' fontSize='13' fill='#FDF0DC' textAnchor='middle' fontFamily='Inter'&gt;JSON / pytest&lt;/text&gt;&#10;            &lt;text x='628' y='366' fontSize='13' fill='#8A9AAA' textAnchor='middle' fontFamily='Inter'&gt;5 小时&lt;/text&gt;&#10;&#10;            &lt;path d='M184 220 L 200 190' stroke='#1F5FA8' strokeWidth='2' fill='none' /&gt;&#10;            &lt;path d='M308 190 L 324 165' stroke='#1F5FA8' strokeWidth='2' fill='none' /&gt;&#10;            &lt;path d='M432 145 L 448 128' stroke='#0E9B78' strokeWidth='2' fill='none' /&gt;&#10;            &lt;path d='M556 105 L 572 96' stroke='#E08A15' strokeWidth='2' fill='none' /&gt;&#10;        &lt;/svg&gt;&#10;    &lt;/Box&gt;&#10;&#10;    &lt;Box style={{ position: 'absolute', right: 64, top: 152, width: 420, flexDirection: 'column', gap: 14 }}&gt;&#10;        &lt;Box style={{ background: '#FFFFFF', border: '1px solid #D8E3EE', borderRadius: 12, padding: 20, flexDirection: 'column', gap: 8 }}&gt;&#10;            &lt;Text style={{ fontSize: 18, fontWeight: 'bold', color: '#1F5FA8' }}&gt;每题的固定三段结构&lt;/Text&gt;&#10;            &lt;Text style={{ fontSize: 15, color: '#5A6B7A', lineHeight: 1.65 }}&gt;&#10;                题目（写清输入输出）→ 参考答案（完整可运行代码，不是伪代码）→ 解析（说明为什么这么写，以及常见错法）&#10;            &lt;/Text&gt;&#10;        &lt;/Box&gt;&#10;&#10;        &lt;Box style={{ background: '#FFFFFF', border: '1px solid #D8E3EE', borderRadius: 12, padding: 20, flexDirection: 'column', gap: 8 }}&gt;&#10;            &lt;Text style={{ fontSize: 18, fontWeight: 'bold', color: '#1F5FA8' }}&gt;重点题（会卡人的）&lt;/Text&gt;&#10;            &lt;Text style={{ fontSize: 15, color: '#5A6B7A', lineHeight: 1.7 }}&gt;&#10;                L2-5 列表引用陷阱&lt;br /&gt;&#10;                L2-14 for-else 写法&lt;br /&gt;&#10;                L3-3 列表传参改与不改&lt;br /&gt;&#10;                L4-3 属性私有化与 @property&lt;br /&gt;&#10;                L5-3 异常 else 子句&#10;            &lt;/Text&gt;&#10;        &lt;/Box&gt;&#10;&#10;        &lt;Box style={{ background: '#FDF3E2', borderRadius: 12, padding: 20, flexDirection: 'column', gap: 8 }}&gt;&#10;            &lt;Text style={{ fontSize: 18, fontWeight: 'bold', color: '#8A5A08' }}&gt;另外有 3 道综合挑战&lt;/Text&gt;&#10;            &lt;Text style={{ fontSize: 15, color: '#5A6B7A', lineHeight: 1.7 }}&gt;&#10;                A 文本词频分析器&lt;br /&gt;&#10;                B 学生成绩管理器&lt;br /&gt;&#10;                C 命令行记事本&lt;br /&gt;&#10;                三道都涉及模块化拆分与 pytest&#10;            &lt;/Text&gt;&#10;        &lt;/Box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3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练习题库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五档递进共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52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每题都有参考答案与解析。卡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分钟再看答案，看完必须关掉重写一遍</a:t>
            </a:r>
            <a:endParaRPr/>
          </a:p>
        </p:txBody>
      </p:sp>
      <p:pic>
        <p:nvPicPr>
          <p:cNvPr id="4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447800"/>
            <a:ext cx="6667500" cy="3810000"/>
          </a:xfrm>
          <a:prstGeom prst="rect">
            <a:avLst/>
          </a:prstGeom>
          <a:ln/>
        </p:spPr>
      </p:pic>
      <p:sp>
        <p:nvSpPr>
          <p:cNvPr id="403" name=""/>
          <p:cNvSpPr/>
          <p:nvPr/>
        </p:nvSpPr>
        <p:spPr>
          <a:xfrm rot="0" flipH="0" flipV="0">
            <a:off x="7581900" y="1447800"/>
            <a:ext cx="4000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772400" y="1638300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每题的固定三段结构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772400" y="1924050"/>
            <a:ext cx="3619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题目（写清输入输出）→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参考答案（完整可运行代码，不是伪代码）→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解析（说明为什么这么写，以及常见错法）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7581900" y="2819400"/>
            <a:ext cx="400050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772400" y="3009900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重点题（会卡人的）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772400" y="3295650"/>
            <a:ext cx="3619500" cy="1457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L2-5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列表引用陷阱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L2-14 for-else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写法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L3-3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列表传参改与不改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L4-3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属性私有化与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@property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L5-3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异常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子句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7581900" y="5076825"/>
            <a:ext cx="4000500" cy="1838325"/>
          </a:xfrm>
          <a:custGeom>
            <a:pathLst>
              <a:path w="420" h="193">
                <a:moveTo>
                  <a:pt x="408" y="0"/>
                </a:moveTo>
                <a:cubicBezTo>
                  <a:pt x="415" y="0"/>
                  <a:pt x="420" y="5"/>
                  <a:pt x="420" y="12"/>
                </a:cubicBezTo>
                <a:lnTo>
                  <a:pt x="420" y="181"/>
                </a:lnTo>
                <a:cubicBezTo>
                  <a:pt x="420" y="183"/>
                  <a:pt x="419" y="185"/>
                  <a:pt x="418" y="187"/>
                </a:cubicBezTo>
                <a:lnTo>
                  <a:pt x="2" y="187"/>
                </a:lnTo>
                <a:cubicBezTo>
                  <a:pt x="1" y="185"/>
                  <a:pt x="0" y="183"/>
                  <a:pt x="0" y="181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408" y="0"/>
                </a:lnTo>
                <a:close/>
              </a:path>
            </a:pathLst>
          </a:custGeom>
          <a:solidFill>
            <a:srgbClr val="FDF3E2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772400" y="526732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另外有</a:t>
            </a:r>
            <a:r>
              <a:rPr lang="en-US" sz="1350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道综合挑战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772400" y="5553075"/>
            <a:ext cx="36195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文本词频分析器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学生成绩管理器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命令行记事本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三道都涉及模块化拆分与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13 / 17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14" name="" descr="&lt;Slide style={{&#10;    width: '1280px', height: '720px', backgroundColor: '#FAFCFE',&#10;    padding: 0, position: 'relative', overflow: 'hidden',&#10;}}&gt;&#10;    &lt;Box style={{ position: 'absolute', left: 0, top: 0, width: '1280px', height: '136px', background: '#16232E' }} /&gt;&#10;    &lt;Box style={{ position: 'absolute', left: 64, top: 34, width: '1152px', flexDirection: 'column' }}&gt;&#10;        &lt;Text style={{ fontSize: 34, fontWeight: 'bold', color: '#FFFFFF' }}&gt;常见卡点与对策&lt;/Text&gt;&#10;        &lt;Text style={{ fontSize: 17, color: '#A8C4DE', marginTop: 8 }}&gt;&#10;            这六处是零基础学员 90% 会卡住的地方，提前告知比事后补救有效得多&#10;        &lt;/Text&gt;&#10;    &lt;/Box&gt;&#10;&#10;    &lt;Box style={{ position: 'absolute', left: 64, top: 166, width: '1152px', height: 420, flexDirection: 'row', gap: 14 }}&gt;&#10;        &lt;Box style={{ flex: 1, background: '#FFFFFF', border: '1px solid #D8E3EE', borderRadius: 12, padding: 20, flexDirection: 'column', gap: 10 }}&gt;&#10;            &lt;Text style={{ fontSize: 20, fontWeight: 'bold', color: '#E08A15' }}&gt;第 4–7 章&lt;/Text&gt;&#10;            &lt;Text style={{ fontSize: 15, color: '#5A6B7A', lineHeight: 1.6 }}&gt;列表 → if → while，语法密度陡增，缩进错误开始变多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动手练重做一遍，同一道题写三遍直到不用想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E08A15' }}&gt;第 8 章 函数&lt;/Text&gt;&#10;            &lt;Text style={{ fontSize: 15, color: '#5A6B7A', lineHeight: 1.6 }}&gt;抽象思维跳跃，卡在「不知道该拆成几个函数」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先抄教材 3 个例子，再逐个改需求，最后自己拆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E08A15' }}&gt;第 9 章 类&lt;/Text&gt;&#10;            &lt;Text style={{ fontSize: 15, color: '#5A6B7A', lineHeight: 1.6 }}&gt;零基础最劝退的一章，直觉上是「凭空造东西」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允许慢 2 周，造学生 / 购物车 / 账户三个真实类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1F5FA8' }}&gt;第 10 章 文件&lt;/Text&gt;&#10;            &lt;Text style={{ fontSize: 15, color: '#5A6B7A', lineHeight: 1.6 }}&gt;编码报错、路径找不到、JSON 格式写错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全程用 pathlib + with + utf-8，从第一行就写对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1F5FA8' }}&gt;第 11 章 pytest&lt;/Text&gt;&#10;            &lt;Text style={{ fontSize: 15, color: '#5A6B7A', lineHeight: 1.6 }}&gt;装不上、找不到 pytest、不知道测什么&lt;/Text&gt;&#10;            &lt;Box style={{ flex: 1, background: '#EEF5FB', borderRadius: 8, padding: '12px 14px', marginTop: 'auto' }}&gt;&#10;                &lt;Text style={{ fontSize: 13, color: '#8A9AAA', fontWeight: 'bold' }}&gt;对策&lt;/Text&gt;&#10;                &lt;Text style={{ fontSize: 15, color: '#1F5FA8', lineHeight: 1.6 }}&gt;单元 0 就建虚拟环境，只测自己写过的小函数&lt;/Text&gt;&#10;            &lt;/Box&gt;&#10;        &lt;/Box&gt;&#10;&#10;        &lt;Box style={{ flex: 1, background: '#FFFFFF', border: '1px solid #D8E3EE', borderRadius: 12, padding: 20, flexDirection: 'column', gap: 10 }}&gt;&#10;            &lt;Text style={{ fontSize: 20, fontWeight: 'bold', color: '#D1394B' }}&gt;学不下去&lt;/Text&gt;&#10;            &lt;Text style={{ fontSize: 15, color: '#5A6B7A', lineHeight: 1.6 }}&gt;战线太长看不到进展，积极性断崖&lt;/Text&gt;&#10;            &lt;Box style={{ flex: 1, background: '#FDEEF0', borderRadius: 8, padding: '12px 14px', marginTop: 'auto' }}&gt;&#10;                &lt;Text style={{ fontSize: 13, color: '#A85C68', fontWeight: 'bold' }}&gt;对策&lt;/Text&gt;&#10;                &lt;Text style={{ fontSize: 15, color: '#A8323F', lineHeight: 1.6 }}&gt;切回短任务，只做一个 20 行的小程序，两天内见效&lt;/Text&gt;&#10;            &lt;/Box&gt;&#10;        &lt;/Box&gt;&#10;    &lt;/Box&gt;&#10;&#10;    &lt;Box style={{&#10;        position: 'absolute', left: 64, top: 606, width: '1152px', height: 62,&#10;        background: '#EEF5FB', borderRadius: 10, flexDirection: 'row',&#10;        alignItems: 'center', padding: '0 24px', gap: 16,&#10;    }}&gt;&#10;        &lt;Text style={{ fontSize: 16, fontWeight: 'bold', color: '#1F5FA8' }}&gt;通用原则&lt;/Text&gt;&#10;        &lt;Text style={{ fontSize: 16, color: '#3A4A58' }}&gt;&#10;            任何一章卡住超过两周，先降难度而不是硬啃：降级到 L3 题库对应档位，重做一遍再来。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4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0" y="0"/>
            <a:ext cx="12192000" cy="12954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常见卡点与对策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09600" y="790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A8C4DE"/>
                </a:solidFill>
                <a:latin typeface="Microsoft YaHei"/>
                <a:ea typeface="Microsoft YaHei"/>
              </a:rPr>
              <a:t>这六处是零基础学员</a:t>
            </a:r>
            <a:r>
              <a:rPr lang="en-US" sz="1275">
                <a:solidFill>
                  <a:srgbClr val="A8C4DE"/>
                </a:solidFill>
                <a:latin typeface="Microsoft YaHei"/>
                <a:ea typeface="Microsoft YaHei"/>
              </a:rPr>
              <a:t xml:space="preserve"> 90% </a:t>
            </a:r>
            <a:r>
              <a:rPr lang="zh-CN" sz="1275">
                <a:solidFill>
                  <a:srgbClr val="A8C4DE"/>
                </a:solidFill>
                <a:latin typeface="Microsoft YaHei"/>
                <a:ea typeface="Microsoft YaHei"/>
              </a:rPr>
              <a:t>会卡住的地方，提前告知比事后补救有效得多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1581150"/>
            <a:ext cx="171450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00100" y="17716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4–7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00100" y="2095500"/>
            <a:ext cx="1333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if → while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，语法密度陡增，缩进错误开始变多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800100" y="3019425"/>
            <a:ext cx="1333500" cy="2371725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33450" y="313372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933450" y="3286125"/>
            <a:ext cx="1066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动手练重做一遍，同一道题写三遍直到不用想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2457450" y="1581150"/>
            <a:ext cx="1724025" cy="4000500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2647950" y="1771650"/>
            <a:ext cx="1343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2647950" y="2095500"/>
            <a:ext cx="1343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抽象思维跳跃，卡在「不知道该拆成几个函数」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2647950" y="3019425"/>
            <a:ext cx="1343025" cy="2371725"/>
          </a:xfrm>
          <a:prstGeom prst="roundRect">
            <a:avLst>
              <a:gd name="adj" fmla="val 567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2781300" y="3133725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2781300" y="3286125"/>
            <a:ext cx="10763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先抄教材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个例子，再逐个改需求，最后自己拆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4314825" y="1581150"/>
            <a:ext cx="171450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505325" y="17716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4505325" y="2095500"/>
            <a:ext cx="1333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零基础最劝退的一章，直觉上是「凭空造东西」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4505325" y="3019425"/>
            <a:ext cx="1333500" cy="2371725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638675" y="313372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638675" y="3286125"/>
            <a:ext cx="1066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允许慢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周，造学生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购物车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账户三个真实类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162675" y="1581150"/>
            <a:ext cx="171450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353175" y="17716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文件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353175" y="2095500"/>
            <a:ext cx="133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编码报错、路径找不到、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格式写错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353175" y="2743200"/>
            <a:ext cx="1333500" cy="264795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486525" y="285750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486525" y="3009900"/>
            <a:ext cx="1066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全程用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pathlib + with + utf-8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，从第一行就写对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8010525" y="1581150"/>
            <a:ext cx="1724025" cy="4000500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201025" y="1771650"/>
            <a:ext cx="13430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pytest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201025" y="2324100"/>
            <a:ext cx="1343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装不上、找不到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、不知道测什么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8201025" y="3248025"/>
            <a:ext cx="1343025" cy="2143125"/>
          </a:xfrm>
          <a:prstGeom prst="roundRect">
            <a:avLst>
              <a:gd name="adj" fmla="val 5674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334375" y="3362325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334375" y="3514725"/>
            <a:ext cx="10763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就建虚拟环境，只测自己写过的小函数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9867900" y="1581150"/>
            <a:ext cx="171450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0058400" y="17716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1394B"/>
                </a:solidFill>
                <a:latin typeface="Microsoft YaHei"/>
                <a:ea typeface="Microsoft YaHei"/>
              </a:rPr>
              <a:t>学不下去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0058400" y="2095500"/>
            <a:ext cx="133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战线太长看不到进展，积极性断崖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10058400" y="2743200"/>
            <a:ext cx="1333500" cy="2647950"/>
          </a:xfrm>
          <a:prstGeom prst="roundRect">
            <a:avLst>
              <a:gd name="adj" fmla="val 5714"/>
            </a:avLst>
          </a:prstGeom>
          <a:solidFill>
            <a:srgbClr val="FDEEF0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0191750" y="285750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5C68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191750" y="3009900"/>
            <a:ext cx="1066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A8323F"/>
                </a:solidFill>
                <a:latin typeface="Microsoft YaHei"/>
                <a:ea typeface="Microsoft YaHei"/>
              </a:rPr>
              <a:t>切回短任务，只做一个</a:t>
            </a:r>
            <a:r>
              <a:rPr lang="en-US" sz="1125">
                <a:solidFill>
                  <a:srgbClr val="A8323F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>
                <a:solidFill>
                  <a:srgbClr val="A8323F"/>
                </a:solidFill>
                <a:latin typeface="Microsoft YaHei"/>
                <a:ea typeface="Microsoft YaHei"/>
              </a:rPr>
              <a:t>行的小程序，两天内见效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577215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38200" y="59721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通用原则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600200" y="5972175"/>
            <a:ext cx="6057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任何一章卡住超过两周，先降难度而不是硬啃：降级到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L3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题库对应档位，重做一遍再来。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14 / 17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60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综合项目 · 三选一&lt;/Text&gt;&#10;        &lt;Text style={{ fontSize: 18, color: '#5A6B7A', marginTop: 6 }}&gt;&#10;            单元 11 之后花 2–3 周做掉一个。目的不是练新语法，是把 11 章串成一个完整程序&#10;        &lt;/Text&gt;&#10;    &lt;/Box&gt;&#10;&#10;    &lt;Box style={{ position: 'absolute', left: 64, top: 152, width: '1152px', height: 420, flexDirection: 'row', gap: 16 }}&gt;&#10;        &lt;Box style={{&#10;            flex: 1, background: '#FFFFFF', border: '2px solid #E08A15', borderRadius: 12,&#10;            padding: 24, flexDirection: 'column', gap: 14,&#10;        }}&gt;&#10;            &lt;Box style={{ flexDirection: 'row', alignItems: 'center', justifyContent: 'space-between' }}&gt;&#10;                &lt;Text style={{ fontSize: 46, fontWeight: 'bold', color: '#E08A15', lineHeight: 1 }}&gt;A&lt;/Text&gt;&#10;                &lt;Box style={{ background: '#E08A15', borderRadius: 5, padding: '4px 12px' }}&gt;&#10;                    &lt;Text style={{ fontSize: 13, fontWeight: 'bold', color: '#FFFFFF' }}&gt;推荐&lt;/Text&gt;&#10;                &lt;/Box&gt;&#10;            &lt;/Box&gt;&#10;            &lt;Text style={{ fontSize: 21, fontWeight: 'bold', color: '#16232E' }}&gt;个人记账本&lt;/Text&gt;&#10;            &lt;Text style={{ fontSize: 14, color: '#8A9AAA' }}&gt;复习强度：中等 · 2 周&lt;/Text&gt;&#10;            &lt;Box style={{ flex: 1, flexDirection: 'column', gap: 8 }}&gt;&#10;                &lt;Text style={{ fontSize: 15, color: '#5A6B7A', lineHeight: 1.65 }}&gt;&#10;                    把交易记录写进文本文件，读取后汇总金额，按月统计并画成柱状图。&#10;                &lt;/Text&gt;&#10;                &lt;Text style={{ fontSize: 15, color: '#5A6B7A', lineHeight: 1.65 }}&gt;&#10;                    覆盖：文件读写、异常处理、字典与列表、字符串解析。&#10;                &lt;/Text&gt;&#10;                &lt;Text style={{ fontSize: 15, color: '#5A6B7A', lineHeight: 1.65 }}&gt;&#10;                    延伸：把图表导出成图片保存到本地。&#10;                &lt;/Text&gt;&#10;            &lt;/Box&gt;&#10;            &lt;Box style={{ background: '#FDF3E2', borderRadius: 8, padding: '12px 14px', marginTop: 'auto' }}&gt;&#10;                &lt;Text style={{ fontSize: 13, color: '#B07A10' }}&gt;适合&lt;/Text&gt;&#10;                &lt;Text style={{ fontSize: 15, color: '#8A5A08', fontWeight: 'bold' }}&gt;文件与异常还不够熟的学员&lt;/Text&gt;&#10;            &lt;/Box&gt;&#10;        &lt;/Box&gt;&#10;&#10;        &lt;Box style={{&#10;            flex: 1, background: '#FFFFFF', border: '2px solid #1F5FA8', borderRadius: 12,&#10;            padding: 24, flexDirection: 'column', gap: 14,&#10;        }}&gt;&#10;            &lt;Box style={{ flexDirection: 'row', alignItems: 'center', justifyContent: 'space-between' }}&gt;&#10;                &lt;Text style={{ fontSize: 46, fontWeight: 'bold', color: '#1F5FA8', lineHeight: 1 }}&gt;B&lt;/Text&gt;&#10;                &lt;Box style={{ background: '#1F5FA8', borderRadius: 5, padding: '4px 12px' }}&gt;&#10;                    &lt;Text style={{ fontSize: 13, fontWeight: 'bold', color: '#FFFFFF' }}&gt;推荐&lt;/Text&gt;&#10;                &lt;/Box&gt;&#10;            &lt;/Box&gt;&#10;            &lt;Text style={{ fontSize: 21, fontWeight: 'bold', color: '#16232E' }}&gt;学生成绩管理器&lt;/Text&gt;&#10;            &lt;Text style={{ fontSize: 14, color: '#8A9AAA' }}&gt;复习强度：较高 · 3 周&lt;/Text&gt;&#10;            &lt;Box style={{ flex: 1, flexDirection: 'column', gap: 8 }}&gt;&#10;                &lt;Text style={{ fontSize: 15, color: '#5A6B7A', lineHeight: 1.65 }}&gt;&#10;                    增删改查学生成绩，按总分或单科排序，计算平均分与及格率，数据存 JSON。&#10;                &lt;/Text&gt;&#10;                &lt;Text style={{ fontSize: 15, color: '#5A6B7A', lineHeight: 1.65 }}&gt;&#10;                    覆盖：类、@property、异常、JSON、每项操作要有输入校验。&#10;                &lt;/Text&gt;&#10;                &lt;Text style={{ fontSize: 15, color: '#5A6B7A', lineHeight: 1.65 }}&gt;&#10;                    延伸：补 8 条以上 pytest 测试。&#10;                &lt;/Text&gt;&#10;            &lt;/Box&gt;&#10;            &lt;Box style={{ background: '#EEF5FB', borderRadius: 8, padding: '12px 14px', marginTop: 'auto' }}&gt;&#10;                &lt;Text style={{ fontSize: 13, color: '#8A9AAA' }}&gt;适合&lt;/Text&gt;&#10;                &lt;Text style={{ fontSize: 15, color: '#1F5FA8', fontWeight: 'bold' }}&gt;想重点巩固类与面向对象的学员&lt;/Text&gt;&#10;            &lt;/Box&gt;&#10;        &lt;/Box&gt;&#10;&#10;        &lt;Box style={{&#10;            flex: 1, background: '#FFFFFF', border: '1px solid #D8E3EE', borderRadius: 12,&#10;            padding: 24, flexDirection: 'column', gap: 14,&#10;        }}&gt;&#10;            &lt;Box style={{ flexDirection: 'row', alignItems: 'center', justifyContent: 'space-between' }}&gt;&#10;                &lt;Text style={{ fontSize: 46, fontWeight: 'bold', color: '#0E9B78', lineHeight: 1 }}&gt;C&lt;/Text&gt;&#10;            &lt;/Box&gt;&#10;            &lt;Text style={{ fontSize: 21, fontWeight: 'bold', color: '#16232E' }}&gt;命令行记事本&lt;/Text&gt;&#10;            &lt;Text style={{ fontSize: 14, color: '#8A9AAA' }}&gt;复习强度：最高 · 3 周&lt;/Text&gt;&#10;            &lt;Box style={{ flex: 1, flexDirection: 'column', gap: 8 }}&gt;&#10;                &lt;Text style={{ fontSize: 15, color: '#5A6B7A', lineHeight: 1.65 }}&gt;&#10;                    支持 add / list / find / del / edit 五个子命令，数据存 JSON，&#10;                    用 argparse 处理命令行参数。&#10;                &lt;/Text&gt;&#10;                &lt;Text style={{ fontSize: 15, color: '#5A6B7A', lineHeight: 1.65 }}&gt;&#10;                    覆盖：模块化拆分、argparse、异常兜底、测试。&#10;                &lt;/Text&gt;&#10;                &lt;Text style={{ fontSize: 15, color: '#5A6B7A', lineHeight: 1.65 }}&gt;&#10;                    延伸：这是阶段 2 外星人项目的预热，提前练「大项目拆解」的手感。&#10;                &lt;/Text&gt;&#10;            &lt;/Box&gt;&#10;            &lt;Box style={{ background: '#E8F7F1', borderRadius: 8, padding: '12px 14px', marginTop: 'auto' }}&gt;&#10;                &lt;Text style={{ fontSize: 13, color: '#6B9F8C' }}&gt;适合&lt;/Text&gt;&#10;                &lt;Text style={{ fontSize: 15, color: '#0A7A5F', fontWeight: 'bold' }}&gt;想直接衔接阶段 2 的学员&lt;/Text&gt;&#10;            &lt;/Box&gt;&#10;        &lt;/Box&gt;&#10;    &lt;/Box&gt;&#10;&#10;    &lt;Box style={{&#10;        position: 'absolute', left: 64, top: 592, width: '1152px', height: 76,&#10;        background: '#16232E', borderRadius: 12, flexDirection: 'row',&#10;        alignItems: 'center', padding: '0 26px', gap: 20,&#10;    }}&gt;&#10;        &lt;Text style={{ fontSize: 18, fontWeight: 'bold', color: '#E8B36A' }}&gt;统一要求&lt;/Text&gt;&#10;        &lt;Text style={{ fontSize: 16, color: '#D6E4F0', lineHeight: 1.6 }}&gt;&#10;            拆成多个模块 · 补 pytest 测试 · 写 README 说明怎么跑 · 推到公开 git 仓库&#10;            —— 这四条做到位，直接衔接阶段 2&#10;        &lt;/Text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5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综合项目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三选一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之后花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2–3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周做掉一个。目的不是练新语法，是把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章串成一个完整程序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09600" y="1447800"/>
            <a:ext cx="3552825" cy="4067175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25400">
            <a:solidFill>
              <a:srgbClr val="E08A15"/>
            </a:solidFill>
            <a:prstDash val="solid"/>
          </a:ln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38200" y="1676400"/>
            <a:ext cx="3333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08A15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3457575" y="1828800"/>
            <a:ext cx="476250" cy="228600"/>
          </a:xfrm>
          <a:prstGeom prst="roundRect">
            <a:avLst>
              <a:gd name="adj" fmla="val 20833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3571875" y="18669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38200" y="2343150"/>
            <a:ext cx="3095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个人记账本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38200" y="27241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复习强度：中等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38200" y="3019425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把交易记录写进文本文件，读取后汇总金额，按月统计并画成柱状图。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38200" y="3667125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覆盖：文件读写、异常处理、字典与列表、字符串解析。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30956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延伸：把图表导出成图片保存到本地。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838200" y="4733925"/>
            <a:ext cx="3095625" cy="552450"/>
          </a:xfrm>
          <a:prstGeom prst="roundRect">
            <a:avLst>
              <a:gd name="adj" fmla="val 13793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71550" y="484822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71550" y="5000625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文件与异常还不够熟的学员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4314825" y="1447800"/>
            <a:ext cx="3562350" cy="4067175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5400">
            <a:solidFill>
              <a:srgbClr val="1F5FA8"/>
            </a:solidFill>
            <a:prstDash val="solid"/>
          </a:ln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543425" y="1676400"/>
            <a:ext cx="304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F5FA8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7172325" y="1828800"/>
            <a:ext cx="476250" cy="228600"/>
          </a:xfrm>
          <a:prstGeom prst="roundRect">
            <a:avLst>
              <a:gd name="adj" fmla="val 20833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286625" y="18669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543425" y="2343150"/>
            <a:ext cx="310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学生成绩管理器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543425" y="27241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复习强度：较高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4543425" y="3019425"/>
            <a:ext cx="3105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增删改查学生成绩，按总分或单科排序，计算平均分与及格率，数据存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543425" y="3667125"/>
            <a:ext cx="3105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覆盖：类、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@property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、异常、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、每项操作要有输入校验。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4543425" y="4314825"/>
            <a:ext cx="31051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延伸：补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条以上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测试。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4543425" y="4733925"/>
            <a:ext cx="3105150" cy="552450"/>
          </a:xfrm>
          <a:prstGeom prst="roundRect">
            <a:avLst>
              <a:gd name="adj" fmla="val 13793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4676775" y="4848225"/>
            <a:ext cx="2838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676775" y="5000625"/>
            <a:ext cx="2838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想重点巩固类与面向对象的学员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8029575" y="1447800"/>
            <a:ext cx="3552825" cy="4352925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258175" y="1676400"/>
            <a:ext cx="2952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E9B78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258175" y="2343150"/>
            <a:ext cx="3095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命令行记事本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258175" y="27241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复习强度：最高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258175" y="3019425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支持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add / list / find / del / edit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五个子命令，数据存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argparse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处理命令行参数。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258175" y="3667125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覆盖：模块化拆分、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argparse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、异常兜底、测试。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258175" y="4314825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延伸：这是阶段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外星人项目的预热，提前练「大项目拆解」的手感。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8258175" y="5019675"/>
            <a:ext cx="3095625" cy="552450"/>
          </a:xfrm>
          <a:prstGeom prst="roundRect">
            <a:avLst>
              <a:gd name="adj" fmla="val 13793"/>
            </a:avLst>
          </a:prstGeom>
          <a:solidFill>
            <a:srgbClr val="E8F7F1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91525" y="513397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9F8C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391525" y="5286375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想直接衔接阶段</a:t>
            </a:r>
            <a:r>
              <a:rPr lang="en-US" sz="1125" b="1">
                <a:solidFill>
                  <a:srgbClr val="0A7A5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的学员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563880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57250" y="58959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统一要求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733550" y="5857875"/>
            <a:ext cx="7677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拆成多个模块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补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测试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写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README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说明怎么跑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推到公开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仓库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这四条做到位，直接衔接阶段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15 / 17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03" name="" descr="&lt;Slide style={{&#10;    width: '1280px', height: '720px', backgroundColor: '#FAFCFE',&#10;    padding: 0, position: 'relative', overflow: 'hidden',&#10;}}&gt;&#10;    &lt;Box style={{ position: 'absolute', left: 64, top: 40, width: '1152px', flexDirection: 'column' }}&gt;&#10;        &lt;Text style={{ fontSize: 36, fontWeight: 'bold', color: '#16232E' }}&gt;通过关卡之后 · 阶段 2 长什么样&lt;/Text&gt;&#10;        &lt;Text style={{ fontSize: 18, color: '#5A6B7A', marginTop: 6 }}&gt;&#10;            阶段 1 让你能写，阶段 2 让你做完能交付。下面这条路径是教材下篇第 12–20 章&#10;        &lt;/Text&gt;&#10;    &lt;/Box&gt;&#10;&#10;    &lt;Box style={{ position: 'absolute', left: 64, top: 152, width: '1152px', height: 250 }}&gt;&#10;        &lt;svg width='1152' height='250' viewBox='0 0 1152 250'&gt;&#10;            &lt;rect x='20' y='70' width='200' height='120' rx='10' fill='#1F5FA8' /&gt;&#10;            &lt;text x='120' y='118' fontSize='22' fontWeight='bold' fill='#FFFFFF' textAnchor='middle' fontFamily='Inter'&gt;外星人入侵&lt;/text&gt;&#10;            &lt;text x='120' y='146' fontSize='14' fill='#CFE2F5' textAnchor='middle' fontFamily='Inter'&gt;第 12–14 章&lt;/text&gt;&#10;            &lt;text x='120' y='170' fontSize='13' fill='#CFE2F5' textAnchor='middle' fontFamily='Inter'&gt;pygame · 6–8 周&lt;/text&gt;&#10;&#10;            &lt;path d='M228 130 L 258 130' stroke='#1F5FA8' strokeWidth='3' fill='none' /&gt;&#10;            &lt;path d='M250 124 L 258 130 L 250 136' stroke='#1F5FA8' strokeWidth='3' fill='none' /&gt;&#10;&#10;            &lt;rect x='266' y='70' width='200' height='120' rx='10' fill='#0E9B78' /&gt;&#10;            &lt;text x='366' y='118' fontSize='22' fontWeight='bold' fill='#FFFFFF' textAnchor='middle' fontFamily='Inter'&gt;数据可视化&lt;/text&gt;&#10;            &lt;text x='366' y='146' fontSize='14' fill='#D7F0E7' textAnchor='middle' fontFamily='Inter'&gt;第 15–17 章&lt;/text&gt;&#10;            &lt;text x='366' y='170' fontSize='13' fill='#D7F0E7' textAnchor='middle' fontFamily='Inter'&gt;matplotlib / API · 4–5 周&lt;/text&gt;&#10;&#10;            &lt;path d='M474 130 L 504 130' stroke='#0E9B78' strokeWidth='3' fill='none' /&gt;&#10;            &lt;path d='M496 124 L 504 130 L 496 136' stroke='#0E9B78' strokeWidth='3' fill='none' /&gt;&#10;&#10;            &lt;rect x='512' y='70' width='200' height='120' rx='10' fill='#2F7BC8' /&gt;&#10;            &lt;text x='612' y='118' fontSize='22' fontWeight='bold' fill='#FFFFFF' textAnchor='middle' fontFamily='Inter'&gt;学习笔记 Web&lt;/text&gt;&#10;            &lt;text x='612' y='146' fontSize='14' fill='#EAF3FC' textAnchor='middle' fontFamily='Inter'&gt;第 18–20 章&lt;/text&gt;&#10;            &lt;text x='612' y='170' fontSize='13' fill='#EAF3FC' textAnchor='middle' fontFamily='Inter'&gt;Django · 6–8 周&lt;/text&gt;&#10;&#10;            &lt;path d='M720 130 L 750 130' stroke='#E08A15' strokeWidth='3' fill='none' /&gt;&#10;            &lt;path d='M742 124 L 750 130 L 742 136' stroke='#E08A15' strokeWidth='3' fill='none' /&gt;&#10;&#10;            &lt;rect x='758' y='50' width='180' height='160' rx='10' fill='#E08A15' /&gt;&#10;            &lt;text x='848' y='108' fontSize='22' fontWeight='bold' fill='#FFFFFF' textAnchor='middle' fontFamily='Inter'&gt;工程能力&lt;/text&gt;&#10;            &lt;text x='848' y='136' fontSize='14' fill='#FDF0DC' textAnchor='middle' fontFamily='Inter'&gt;教材外必补&lt;/text&gt;&#10;            &lt;text x='848' y='164' fontSize='13' fill='#FDF0DC' textAnchor='middle' fontFamily='Inter'&gt;Git 分支合并&lt;/text&gt;&#10;            &lt;text x='848' y='184' fontSize='13' fill='#FDF0DC' textAnchor='middle' fontFamily='Inter'&gt;venv 依赖管理&lt;/text&gt;&#10;&#10;            &lt;path d='M946 130 L 976 130' stroke='#5A6B7A' strokeWidth='3' fill='none' /&gt;&#10;            &lt;path d='M968 124 L 976 130 L 968 136' stroke='#5A6B7A' strokeWidth='3' fill='none' /&gt;&#10;&#10;            &lt;rect x='984' y='70' width='150' height='120' rx='10' fill='#16232E' /&gt;&#10;            &lt;text x='1059' y='118' fontSize='20' fontWeight='bold' fill='#FFFFFF' textAnchor='middle' fontFamily='Inter'&gt;上线交付&lt;/text&gt;&#10;            &lt;text x='1059' y='146' fontSize='14' fill='#A8C4DE' textAnchor='middle' fontFamily='Inter'&gt;公开可访问&lt;/text&gt;&#10;            &lt;text x='1059' y='170' fontSize='13' fill='#A8C4DE' textAnchor='middle' fontFamily='Inter'&gt;有 README 和测试&lt;/text&gt;&#10;        &lt;/svg&gt;&#10;    &lt;/Box&gt;&#10;&#10;    &lt;Box style={{ position: 'absolute', left: 64, top: 424, width: '1152px', height: 188, flexDirection: 'row', gap: 16 }}&gt;&#10;        &lt;Box style={{&#10;            flex: 1.2, background: '#FFFFFF', border: '1px solid #D8E3EE', borderRadius: 12,&#10;            padding: 20, flexDirection: 'column', gap: 10,&#10;        }}&gt;&#10;            &lt;Text style={{ fontSize: 18, fontWeight: 'bold', color: '#1F5FA8' }}&gt;阶段 2 与阶段 1 的差别&lt;/Text&gt;&#10;            &lt;Text style={{ fontSize: 15, color: '#5A6B7A', lineHeight: 1.7 }}&gt;&#10;                阶段 1 的产出是「一个能跑的程序」，阶段 2 是「一个有上千行、能被别人接手、能长期改的项目」。&#10;                最大的变化是：代码量超过 300 行后，如果不拆模块，你自己也会找不到东西。&#10;                所以工程能力那一栏虽然标着「教材外」，但它是阶段 2 能不能做完的关键。&#10;            &lt;/Text&gt;&#10;        &lt;/Box&gt;&#10;&#10;        &lt;Box style={{&#10;            flex: 1, background: '#EEF5FB', borderRadius: 12, padding: 20,&#10;            flexDirection: 'column', gap: 10,&#10;        }}&gt;&#10;            &lt;Text style={{ fontSize: 18, fontWeight: 'bold', color: '#1F5FA8' }}&gt;教材没有的内容&lt;/Text&gt;&#10;            &lt;Text style={{ fontSize: 15, color: '#3A4A58', lineHeight: 1.7 }}&gt;&#10;                虚拟环境与依赖管理&lt;br /&gt;&#10;                Git 分支与合并&lt;br /&gt;&#10;                调试与读 traceback&lt;br /&gt;&#10;                代码组织与重构&lt;br /&gt;&#10;                查官方文档的方法&#10;            &lt;/Text&gt;&#10;        &lt;/Box&gt;&#10;    &lt;/Box&gt;&#10;&#10;    &lt;Box style={{&#10;        position: 'absolute', left: 64, bottom: 24, width: '1152px',&#10;        flexDirection: 'row', justifyContent: 'space-between', alignItems: 'center',&#10;    }}&gt;&#10;        &lt;Text style={{ fontSize: 14, color: '#8A9AAA' }}&gt;Python 阶段 0–1 课程大纲&lt;/Text&gt;&#10;        &lt;Text style={{ fontSize: 14, color: '#8A9AAA' }}&gt;16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通过关卡之后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阶段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长什么样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让你能写，阶段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让你做完能交付。下面这条路径是教材下篇第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12–20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pic>
        <p:nvPicPr>
          <p:cNvPr id="5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447800"/>
            <a:ext cx="10972800" cy="2381250"/>
          </a:xfrm>
          <a:prstGeom prst="rect">
            <a:avLst/>
          </a:prstGeom>
          <a:ln/>
        </p:spPr>
      </p:pic>
      <p:sp>
        <p:nvSpPr>
          <p:cNvPr id="508" name=""/>
          <p:cNvSpPr/>
          <p:nvPr/>
        </p:nvSpPr>
        <p:spPr>
          <a:xfrm rot="0" flipH="0" flipV="0">
            <a:off x="609600" y="4038600"/>
            <a:ext cx="5905500" cy="185737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00100" y="4229100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阶段</a:t>
            </a:r>
            <a:r>
              <a:rPr lang="en-US" sz="135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与阶段</a:t>
            </a:r>
            <a:r>
              <a:rPr lang="en-US" sz="135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的差别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00100" y="4533900"/>
            <a:ext cx="5524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的产出是「一个能跑的程序」，阶段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是「一个有上千行、能被别人接手、能长期改的项目」。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最大的变化是：代码量超过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300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行后，如果不拆模块，你自己也会找不到东西。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所以工程能力那一栏虽然标着「教材外」，但它是阶段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能不能做完的关键。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667500" y="4038600"/>
            <a:ext cx="4914900" cy="2143125"/>
          </a:xfrm>
          <a:prstGeom prst="roundRect">
            <a:avLst>
              <a:gd name="adj" fmla="val 5333"/>
            </a:avLst>
          </a:prstGeom>
          <a:solidFill>
            <a:srgbClr val="EEF5FB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858000" y="4229100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教材没有的内容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858000" y="4533900"/>
            <a:ext cx="4533900" cy="1457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虚拟环境与依赖管理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Git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分支与合并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调试与读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traceback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代码组织与重构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查官方文档的方法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0–1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16 / 17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16" name="" descr="&lt;Slide style={{&#10;    width: '1280px', height: '720px', backgroundColor: '#FAFCFE',&#10;    padding: 0, position: 'relative', overflow: 'hidden',&#10;}}&gt;&#10;    &lt;Box style={{ position: 'absolute', left: 0, top: 0, width: '1280px', height: '720px', background: '#16232E' }} /&gt;&#10;    &lt;Box style={{ position: 'absolute', left: 0, top: 0, width: '1280px', height: '400px', background: 'linear-gradient(135deg, #1F5FA8 0%, #0E9B78 100%)', opacity: 0.55 }} /&gt;&#10;    &lt;Box style={{ position: 'absolute', left: 0, top: 380, width: '1280px', height: '4px', background: '#E08A15' }} /&gt;&#10;&#10;    &lt;Box style={{ position: 'absolute', left: 120, top: 148, width: '1040px', flexDirection: 'column', gap: 26 }}&gt;&#10;        &lt;Text style={{ fontSize: 52, fontWeight: 'bold', color: '#FFFFFF', lineHeight: 1.35, textAlign: 'center' }}&gt;&#10;            今天就把环境装好，把 hello.py 敲出来&#10;        &lt;/Text&gt;&#10;        &lt;Text style={{ fontSize: 21, color: '#C9DEEE', lineHeight: 1.7, textAlign: 'center' }}&gt;&#10;            路线图、课表、12 份讲义、52 道题库，都已经备好。&lt;br /&gt;&#10;            剩下的只有一件事：从单元 0 的第一个下午开始。&#10;        &lt;/Text&gt;&#10;&#10;        &lt;Box style={{ flexDirection: 'row', gap: 18, marginTop: 12, justifyContent: 'center' }}&gt;&#10;            &lt;Box style={{ background: 'rgba(255,255,255,0.12)', borderRadius: 12, padding: '20px 26px', width: 330, flexDirection: 'column', gap: 8 }}&gt;&#10;                &lt;Text style={{ fontSize: 15, color: '#8FB4D8', fontWeight: 'bold' }}&gt;配套材料&lt;/Text&gt;&#10;                &lt;Text style={{ fontSize: 15, color: '#E4EEF7', lineHeight: 1.75 }}&gt;&#10;                    python-learning-roadmap.html&lt;br /&gt;&#10;                    python-course-syllabus.html&lt;br /&gt;&#10;                    course/ 12 份单元讲义&lt;br /&gt;&#10;                    exercises/ 分阶题库 52 题&#10;                &lt;/Text&gt;&#10;            &lt;/Box&gt;&#10;&#10;            &lt;Box style={{ background: 'rgba(255,255,255,0.12)', borderRadius: 12, padding: '20px 26px', width: 330, flexDirection: 'column', gap: 8 }}&gt;&#10;                &lt;Text style={{ fontSize: 15, color: '#8FB4D8', fontWeight: 'bold' }}&gt;第一个单元做什么&lt;/Text&gt;&#10;                &lt;Text style={{ fontSize: 15, color: '#E4EEF7', lineHeight: 1.75 }}&gt;&#10;                    装 Python + VS Code 扩展&lt;br /&gt;&#10;                    跑通 hello.py&lt;br /&gt;&#10;                    git init 并完成首次提交&lt;br /&gt;&#10;                    建好三个练习目录&#10;                &lt;/Text&gt;&#10;            &lt;/Box&gt;&#10;&#10;            &lt;Box style={{ background: '#E08A15', borderRadius: 12, padding: '20px 26px', width: 330, flexDirection: 'column', gap: 8 }}&gt;&#10;                &lt;Text style={{ fontSize: 15, color: '#FDF0DC', fontWeight: 'bold' }}&gt;记住这一句&lt;/Text&gt;&#10;                &lt;Text style={{ fontSize: 17, color: '#FFFFFF', lineHeight: 1.75 }}&gt;&#10;                    看完不算会，敲出来才算。&lt;br /&gt;&#10;                    报错不是失败，是教程。&#10;                &lt;/Text&gt;&#10;            &lt;/Box&gt;&#10;        &lt;/Box&gt;&#10;    &lt;/Box&gt;&#10;&#10;    &lt;Box style={{&#10;        position: 'absolute', left: 120, bottom: 48, width: '1040px',&#10;        flexDirection: 'row', justifyContent: 'space-between', alignItems: 'center',&#10;    }}&gt;&#10;        &lt;Text style={{ fontSize: 14, color: '#7C93A8' }}&gt;依据《Python 编程：从入门到实践（第 3 版）》中文版上篇第 1–11 章&lt;/Text&gt;&#10;        &lt;Text style={{ fontSize: 14, color: '#7C93A8' }}&gt;17 / 1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0" y="0"/>
            <a:ext cx="12192000" cy="3810000"/>
          </a:xfrm>
          <a:prstGeom prst="rect">
            <a:avLst/>
          </a:prstGeom>
          <a:gradFill>
            <a:gsLst>
              <a:gs pos="0">
                <a:srgbClr val="1F5FA8">
                  <a:alpha val="55000"/>
                </a:srgbClr>
              </a:gs>
              <a:gs pos="100000">
                <a:srgbClr val="0E9B78">
                  <a:alpha val="5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0" y="3619500"/>
            <a:ext cx="12192000" cy="38100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143000" y="1409700"/>
            <a:ext cx="9906000" cy="80962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今天就把环境装好，把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hello.py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敲出来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143000" y="2466975"/>
            <a:ext cx="9906000" cy="8191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575">
                <a:solidFill>
                  <a:srgbClr val="C9DEEE"/>
                </a:solidFill>
                <a:latin typeface="Microsoft YaHei"/>
                <a:ea typeface="Microsoft YaHei"/>
              </a:rPr>
              <a:t>路线图、课表、</a:t>
            </a:r>
            <a:r>
              <a:rPr lang="en-US" sz="1575">
                <a:solidFill>
                  <a:srgbClr val="C9DEEE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575">
                <a:solidFill>
                  <a:srgbClr val="C9DEEE"/>
                </a:solidFill>
                <a:latin typeface="Microsoft YaHei"/>
                <a:ea typeface="Microsoft YaHei"/>
              </a:rPr>
              <a:t>份讲义、</a:t>
            </a:r>
            <a:r>
              <a:rPr lang="en-US" sz="1575">
                <a:solidFill>
                  <a:srgbClr val="C9DEEE"/>
                </a:solidFill>
                <a:latin typeface="Microsoft YaHei"/>
                <a:ea typeface="Microsoft YaHei"/>
              </a:rPr>
              <a:t xml:space="preserve">52 </a:t>
            </a:r>
            <a:r>
              <a:rPr lang="zh-CN" sz="1575">
                <a:solidFill>
                  <a:srgbClr val="C9DEEE"/>
                </a:solidFill>
                <a:latin typeface="Microsoft YaHei"/>
                <a:ea typeface="Microsoft YaHei"/>
              </a:rPr>
              <a:t>道题库，都已经备好。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575">
                <a:solidFill>
                  <a:srgbClr val="C9DEEE"/>
                </a:solidFill>
                <a:latin typeface="Microsoft YaHei"/>
                <a:ea typeface="Microsoft YaHei"/>
              </a:rPr>
              <a:t>剩下的只有一件事：从单元</a:t>
            </a:r>
            <a:r>
              <a:rPr lang="en-US" sz="1575">
                <a:solidFill>
                  <a:srgbClr val="C9DEEE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575">
                <a:solidFill>
                  <a:srgbClr val="C9DEEE"/>
                </a:solidFill>
                <a:latin typeface="Microsoft YaHei"/>
                <a:ea typeface="Microsoft YaHei"/>
              </a:rPr>
              <a:t>的第一个下午开始。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1209675" y="3648075"/>
            <a:ext cx="3143250" cy="182880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457325" y="3838575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4D8"/>
                </a:solidFill>
                <a:latin typeface="Microsoft YaHei"/>
                <a:ea typeface="Microsoft YaHei"/>
              </a:rPr>
              <a:t>配套材料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457325" y="4086225"/>
            <a:ext cx="2647950" cy="12001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>python-learning-roadmap.html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>python-course-syllabus.html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 xml:space="preserve">course/ 12 </a:t>
            </a: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份单元讲义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 xml:space="preserve">exercises/ </a:t>
            </a: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分阶题库</a:t>
            </a: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 xml:space="preserve"> 52 </a:t>
            </a: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4524375" y="3648075"/>
            <a:ext cx="3143250" cy="182880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772025" y="3838575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4D8"/>
                </a:solidFill>
                <a:latin typeface="Microsoft YaHei"/>
                <a:ea typeface="Microsoft YaHei"/>
              </a:rPr>
              <a:t>第一个单元做什么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772025" y="4086225"/>
            <a:ext cx="2647950" cy="12001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装</a:t>
            </a: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 xml:space="preserve"> Python + VS Code </a:t>
            </a: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扩展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跑通</a:t>
            </a: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 xml:space="preserve"> hello.py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E4EEF7"/>
                </a:solidFill>
                <a:latin typeface="Microsoft YaHei"/>
                <a:ea typeface="Microsoft YaHei"/>
              </a:rPr>
              <a:t xml:space="preserve">git init </a:t>
            </a: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并完成首次提交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E4EEF7"/>
                </a:solidFill>
                <a:latin typeface="Microsoft YaHei"/>
                <a:ea typeface="Microsoft YaHei"/>
              </a:rPr>
              <a:t>建好三个练习目录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839075" y="3648075"/>
            <a:ext cx="3143250" cy="1828800"/>
          </a:xfrm>
          <a:prstGeom prst="roundRect">
            <a:avLst>
              <a:gd name="adj" fmla="val 6250"/>
            </a:avLst>
          </a:prstGeom>
          <a:solidFill>
            <a:srgbClr val="E08A15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086725" y="3838575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DF0DC"/>
                </a:solidFill>
                <a:latin typeface="Microsoft YaHei"/>
                <a:ea typeface="Microsoft YaHei"/>
              </a:rPr>
              <a:t>记住这一句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086725" y="4086225"/>
            <a:ext cx="2647950" cy="685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看完不算会，敲出来才算。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报错不是失败，是教程。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143000" y="6238875"/>
            <a:ext cx="423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93A8"/>
                </a:solidFill>
                <a:latin typeface="Microsoft YaHei"/>
                <a:ea typeface="Microsoft YaHei"/>
              </a:rPr>
              <a:t>依据《</a:t>
            </a:r>
            <a:r>
              <a:rPr lang="en-US" sz="1050">
                <a:solidFill>
                  <a:srgbClr val="7C93A8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7C93A8"/>
                </a:solidFill>
                <a:latin typeface="Microsoft YaHei"/>
                <a:ea typeface="Microsoft YaHei"/>
              </a:rPr>
              <a:t>编程：从入门到实践（第</a:t>
            </a:r>
            <a:r>
              <a:rPr lang="en-US" sz="1050">
                <a:solidFill>
                  <a:srgbClr val="7C93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7C93A8"/>
                </a:solidFill>
                <a:latin typeface="Microsoft YaHei"/>
                <a:ea typeface="Microsoft YaHei"/>
              </a:rPr>
              <a:t>版）》中文版上篇第</a:t>
            </a:r>
            <a:r>
              <a:rPr lang="en-US" sz="1050">
                <a:solidFill>
                  <a:srgbClr val="7C93A8"/>
                </a:solidFill>
                <a:latin typeface="Microsoft YaHei"/>
                <a:ea typeface="Microsoft YaHei"/>
              </a:rPr>
              <a:t xml:space="preserve"> 1–11 </a:t>
            </a:r>
            <a:r>
              <a:rPr lang="zh-CN" sz="1050">
                <a:solidFill>
                  <a:srgbClr val="7C93A8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0591800" y="6238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93A8"/>
                </a:solidFill>
                <a:latin typeface="Microsoft YaHei"/>
                <a:ea typeface="Microsoft YaHei"/>
              </a:rPr>
              <a:t>17 / 17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2026-10-14T19:21:10Z</dcterms:created>
  <dcterms:modified xsi:type="dcterms:W3CDTF">2026-10-14T19:21:10Z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{"AIGC":{"Label":"1","ContentProducer":"00119111010856365494821B355","ProduceID":"01a13a12ffd37f508d9950ee9a6c6ebc","ReservedCode1":"","ContentPropagator":"00119111010856365494821B355","PropagateID":"01a13a12ffd37f508d9950ee9a6c6ebc","ReservedCode2":""}}</vt:lpwstr>
  </property>
</Properties>
</file>